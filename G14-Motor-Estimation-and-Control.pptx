
<file path=[Content_Types].xml><?xml version="1.0" encoding="utf-8"?>
<Types xmlns="http://schemas.openxmlformats.org/package/2006/content-types">
  <Default Extension="bin" ContentType="application/vnd.openxmlformats-officedocument.oleObject"/>
  <Default Extension="jfif" ContentType="image/png"/>
  <Default Extension="jpeg" ContentType="image/jpeg"/>
  <Default Extension="mp4" ContentType="video/mp4"/>
  <Default Extension="png" ContentType="image/png"/>
  <Default Extension="rels" ContentType="application/vnd.openxmlformats-package.relationships+xml"/>
  <Default Extension="vml" ContentType="application/vnd.openxmlformats-officedocument.vmlDrawing"/>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4"/>
  </p:notesMasterIdLst>
  <p:sldIdLst>
    <p:sldId id="264" r:id="rId2"/>
    <p:sldId id="256" r:id="rId3"/>
    <p:sldId id="258" r:id="rId4"/>
    <p:sldId id="279" r:id="rId5"/>
    <p:sldId id="280" r:id="rId6"/>
    <p:sldId id="283" r:id="rId7"/>
    <p:sldId id="284" r:id="rId8"/>
    <p:sldId id="285" r:id="rId9"/>
    <p:sldId id="286" r:id="rId10"/>
    <p:sldId id="278" r:id="rId11"/>
    <p:sldId id="259" r:id="rId12"/>
    <p:sldId id="260" r:id="rId13"/>
    <p:sldId id="269" r:id="rId14"/>
    <p:sldId id="271" r:id="rId15"/>
    <p:sldId id="277" r:id="rId16"/>
    <p:sldId id="272" r:id="rId17"/>
    <p:sldId id="273" r:id="rId18"/>
    <p:sldId id="274" r:id="rId19"/>
    <p:sldId id="275" r:id="rId20"/>
    <p:sldId id="276" r:id="rId21"/>
    <p:sldId id="268" r:id="rId22"/>
    <p:sldId id="270" r:id="rId23"/>
    <p:sldId id="287" r:id="rId24"/>
    <p:sldId id="288" r:id="rId25"/>
    <p:sldId id="289" r:id="rId26"/>
    <p:sldId id="290" r:id="rId27"/>
    <p:sldId id="257" r:id="rId28"/>
    <p:sldId id="291" r:id="rId29"/>
    <p:sldId id="292" r:id="rId30"/>
    <p:sldId id="261" r:id="rId31"/>
    <p:sldId id="262" r:id="rId32"/>
    <p:sldId id="263" r:id="rId3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89D8F"/>
    <a:srgbClr val="2BB5A5"/>
    <a:srgbClr val="1D3456"/>
    <a:srgbClr val="E07A5F"/>
    <a:srgbClr val="495A66"/>
    <a:srgbClr val="35E9D5"/>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4713" autoAdjust="0"/>
    <p:restoredTop sz="94726"/>
  </p:normalViewPr>
  <p:slideViewPr>
    <p:cSldViewPr snapToGrid="0" snapToObjects="1">
      <p:cViewPr>
        <p:scale>
          <a:sx n="75" d="100"/>
          <a:sy n="75" d="100"/>
        </p:scale>
        <p:origin x="528" y="12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drawings/_rels/vmlDrawing1.vml.rels><?xml version="1.0" encoding="UTF-8" standalone="yes"?>
<Relationships xmlns="http://schemas.openxmlformats.org/package/2006/relationships"><Relationship Id="rId3" Type="http://schemas.openxmlformats.org/officeDocument/2006/relationships/image" Target="../media/image3.wmf"/><Relationship Id="rId2" Type="http://schemas.openxmlformats.org/officeDocument/2006/relationships/image" Target="../media/image2.wmf"/><Relationship Id="rId1" Type="http://schemas.openxmlformats.org/officeDocument/2006/relationships/image" Target="../media/image1.wmf"/></Relationships>
</file>

<file path=ppt/drawings/_rels/vmlDrawing2.v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image" Target="../media/image1.wmf"/></Relationships>
</file>

<file path=ppt/drawings/_rels/vmlDrawing3.vml.rels><?xml version="1.0" encoding="UTF-8" standalone="yes"?>
<Relationships xmlns="http://schemas.openxmlformats.org/package/2006/relationships"><Relationship Id="rId3" Type="http://schemas.openxmlformats.org/officeDocument/2006/relationships/image" Target="../media/image18.wmf"/><Relationship Id="rId2" Type="http://schemas.openxmlformats.org/officeDocument/2006/relationships/image" Target="../media/image17.wmf"/><Relationship Id="rId1" Type="http://schemas.openxmlformats.org/officeDocument/2006/relationships/image" Target="../media/image1.wmf"/><Relationship Id="rId6" Type="http://schemas.openxmlformats.org/officeDocument/2006/relationships/image" Target="../media/image21.wmf"/><Relationship Id="rId5" Type="http://schemas.openxmlformats.org/officeDocument/2006/relationships/image" Target="../media/image20.wmf"/><Relationship Id="rId4" Type="http://schemas.openxmlformats.org/officeDocument/2006/relationships/image" Target="../media/image19.wmf"/></Relationships>
</file>

<file path=ppt/drawings/_rels/vmlDrawing4.vml.rels><?xml version="1.0" encoding="UTF-8" standalone="yes"?>
<Relationships xmlns="http://schemas.openxmlformats.org/package/2006/relationships"><Relationship Id="rId3" Type="http://schemas.openxmlformats.org/officeDocument/2006/relationships/image" Target="../media/image18.wmf"/><Relationship Id="rId2" Type="http://schemas.openxmlformats.org/officeDocument/2006/relationships/image" Target="../media/image17.wmf"/><Relationship Id="rId1" Type="http://schemas.openxmlformats.org/officeDocument/2006/relationships/image" Target="../media/image1.wmf"/><Relationship Id="rId6" Type="http://schemas.openxmlformats.org/officeDocument/2006/relationships/image" Target="../media/image21.wmf"/><Relationship Id="rId5" Type="http://schemas.openxmlformats.org/officeDocument/2006/relationships/image" Target="../media/image20.wmf"/><Relationship Id="rId4" Type="http://schemas.openxmlformats.org/officeDocument/2006/relationships/image" Target="../media/image19.wmf"/></Relationships>
</file>

<file path=ppt/drawings/_rels/vmlDrawing5.vml.rels><?xml version="1.0" encoding="UTF-8" standalone="yes"?>
<Relationships xmlns="http://schemas.openxmlformats.org/package/2006/relationships"><Relationship Id="rId1" Type="http://schemas.openxmlformats.org/officeDocument/2006/relationships/image" Target="../media/image1.wmf"/></Relationships>
</file>

<file path=ppt/drawings/_rels/vmlDrawing6.vml.rels><?xml version="1.0" encoding="UTF-8" standalone="yes"?>
<Relationships xmlns="http://schemas.openxmlformats.org/package/2006/relationships"><Relationship Id="rId1" Type="http://schemas.openxmlformats.org/officeDocument/2006/relationships/image" Target="../media/image21.wmf"/></Relationships>
</file>

<file path=ppt/drawings/_rels/vmlDrawing7.vml.rels><?xml version="1.0" encoding="UTF-8" standalone="yes"?>
<Relationships xmlns="http://schemas.openxmlformats.org/package/2006/relationships"><Relationship Id="rId1" Type="http://schemas.openxmlformats.org/officeDocument/2006/relationships/image" Target="../media/image1.wmf"/></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2627E84-D2AA-6141-A287-75DE22FFF9BC}" type="datetimeFigureOut">
              <a:rPr lang="en-US" smtClean="0"/>
              <a:t>6/29/2026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40D98A5-68E3-3A4A-A4C9-A2BAE67B4762}" type="slidenum">
              <a:rPr lang="en-US" smtClean="0"/>
              <a:t>‹#›</a:t>
            </a:fld>
            <a:endParaRPr lang="en-US" dirty="0"/>
          </a:p>
        </p:txBody>
      </p:sp>
    </p:spTree>
    <p:extLst>
      <p:ext uri="{BB962C8B-B14F-4D97-AF65-F5344CB8AC3E}">
        <p14:creationId xmlns:p14="http://schemas.microsoft.com/office/powerpoint/2010/main" val="35980794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th-TH" dirty="0"/>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40D98A5-68E3-3A4A-A4C9-A2BAE67B4762}" type="slidenum">
              <a:rPr lang="en-US" smtClean="0"/>
              <a:t>11</a:t>
            </a:fld>
            <a:endParaRPr lang="en-US" dirty="0"/>
          </a:p>
        </p:txBody>
      </p:sp>
    </p:spTree>
    <p:extLst>
      <p:ext uri="{BB962C8B-B14F-4D97-AF65-F5344CB8AC3E}">
        <p14:creationId xmlns:p14="http://schemas.microsoft.com/office/powerpoint/2010/main" val="160107693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th-TH" dirty="0"/>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40D98A5-68E3-3A4A-A4C9-A2BAE67B4762}" type="slidenum">
              <a:rPr lang="en-US" smtClean="0"/>
              <a:t>16</a:t>
            </a:fld>
            <a:endParaRPr lang="en-US" dirty="0"/>
          </a:p>
        </p:txBody>
      </p:sp>
    </p:spTree>
    <p:extLst>
      <p:ext uri="{BB962C8B-B14F-4D97-AF65-F5344CB8AC3E}">
        <p14:creationId xmlns:p14="http://schemas.microsoft.com/office/powerpoint/2010/main" val="193521461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8F74D0-B207-AC86-B11A-65600542BD4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890758-0CBB-AF28-2171-D1CB7F23EDB1}"/>
              </a:ext>
            </a:extLst>
          </p:cNvPr>
          <p:cNvSpPr>
            <a:spLocks noGrp="1" noRot="1" noChangeAspect="1"/>
          </p:cNvSpPr>
          <p:nvPr>
            <p:ph type="sldImg"/>
          </p:nvPr>
        </p:nvSpPr>
        <p:spPr/>
        <p:txBody>
          <a:bodyPr/>
          <a:lstStyle/>
          <a:p>
            <a:endParaRPr lang="th-TH" dirty="0"/>
          </a:p>
        </p:txBody>
      </p:sp>
      <p:sp>
        <p:nvSpPr>
          <p:cNvPr id="3" name="Notes Placeholder 2">
            <a:extLst>
              <a:ext uri="{FF2B5EF4-FFF2-40B4-BE49-F238E27FC236}">
                <a16:creationId xmlns:a16="http://schemas.microsoft.com/office/drawing/2014/main" id="{08B7E1F7-4659-4114-5682-0887F82C64A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790B0E5-8EB2-F150-6BBB-424CD630912E}"/>
              </a:ext>
            </a:extLst>
          </p:cNvPr>
          <p:cNvSpPr>
            <a:spLocks noGrp="1"/>
          </p:cNvSpPr>
          <p:nvPr>
            <p:ph type="sldNum" sz="quarter" idx="5"/>
          </p:nvPr>
        </p:nvSpPr>
        <p:spPr/>
        <p:txBody>
          <a:bodyPr/>
          <a:lstStyle/>
          <a:p>
            <a:fld id="{D40D98A5-68E3-3A4A-A4C9-A2BAE67B4762}" type="slidenum">
              <a:rPr lang="en-US" smtClean="0"/>
              <a:t>17</a:t>
            </a:fld>
            <a:endParaRPr lang="en-US" dirty="0"/>
          </a:p>
        </p:txBody>
      </p:sp>
    </p:spTree>
    <p:extLst>
      <p:ext uri="{BB962C8B-B14F-4D97-AF65-F5344CB8AC3E}">
        <p14:creationId xmlns:p14="http://schemas.microsoft.com/office/powerpoint/2010/main" val="208708237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B62FE5-A636-5AC3-AD8A-A70E5E725C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2940BB4-2310-3AFE-A62C-78E763B7F7F8}"/>
              </a:ext>
            </a:extLst>
          </p:cNvPr>
          <p:cNvSpPr>
            <a:spLocks noGrp="1" noRot="1" noChangeAspect="1"/>
          </p:cNvSpPr>
          <p:nvPr>
            <p:ph type="sldImg"/>
          </p:nvPr>
        </p:nvSpPr>
        <p:spPr/>
        <p:txBody>
          <a:bodyPr/>
          <a:lstStyle/>
          <a:p>
            <a:endParaRPr lang="th-TH" dirty="0"/>
          </a:p>
        </p:txBody>
      </p:sp>
      <p:sp>
        <p:nvSpPr>
          <p:cNvPr id="3" name="Notes Placeholder 2">
            <a:extLst>
              <a:ext uri="{FF2B5EF4-FFF2-40B4-BE49-F238E27FC236}">
                <a16:creationId xmlns:a16="http://schemas.microsoft.com/office/drawing/2014/main" id="{FC96589A-25DA-E970-0B8D-54E17B0859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F02E534-223F-7F4D-FB25-03FBD89700FD}"/>
              </a:ext>
            </a:extLst>
          </p:cNvPr>
          <p:cNvSpPr>
            <a:spLocks noGrp="1"/>
          </p:cNvSpPr>
          <p:nvPr>
            <p:ph type="sldNum" sz="quarter" idx="5"/>
          </p:nvPr>
        </p:nvSpPr>
        <p:spPr/>
        <p:txBody>
          <a:bodyPr/>
          <a:lstStyle/>
          <a:p>
            <a:fld id="{D40D98A5-68E3-3A4A-A4C9-A2BAE67B4762}" type="slidenum">
              <a:rPr lang="en-US" smtClean="0"/>
              <a:t>18</a:t>
            </a:fld>
            <a:endParaRPr lang="en-US" dirty="0"/>
          </a:p>
        </p:txBody>
      </p:sp>
    </p:spTree>
    <p:extLst>
      <p:ext uri="{BB962C8B-B14F-4D97-AF65-F5344CB8AC3E}">
        <p14:creationId xmlns:p14="http://schemas.microsoft.com/office/powerpoint/2010/main" val="20396753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17A640-77A3-8AC4-C75F-5A81BB67305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48B5DF-D2B2-9FFF-0CC4-604F2E8B900D}"/>
              </a:ext>
            </a:extLst>
          </p:cNvPr>
          <p:cNvSpPr>
            <a:spLocks noGrp="1" noRot="1" noChangeAspect="1"/>
          </p:cNvSpPr>
          <p:nvPr>
            <p:ph type="sldImg"/>
          </p:nvPr>
        </p:nvSpPr>
        <p:spPr/>
        <p:txBody>
          <a:bodyPr/>
          <a:lstStyle/>
          <a:p>
            <a:endParaRPr lang="th-TH" dirty="0"/>
          </a:p>
        </p:txBody>
      </p:sp>
      <p:sp>
        <p:nvSpPr>
          <p:cNvPr id="3" name="Notes Placeholder 2">
            <a:extLst>
              <a:ext uri="{FF2B5EF4-FFF2-40B4-BE49-F238E27FC236}">
                <a16:creationId xmlns:a16="http://schemas.microsoft.com/office/drawing/2014/main" id="{8070800B-6DC8-D3A5-FF43-96D902E669D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00CBA8D-FC32-EE58-C56F-EE6B41FEBB3B}"/>
              </a:ext>
            </a:extLst>
          </p:cNvPr>
          <p:cNvSpPr>
            <a:spLocks noGrp="1"/>
          </p:cNvSpPr>
          <p:nvPr>
            <p:ph type="sldNum" sz="quarter" idx="5"/>
          </p:nvPr>
        </p:nvSpPr>
        <p:spPr/>
        <p:txBody>
          <a:bodyPr/>
          <a:lstStyle/>
          <a:p>
            <a:fld id="{D40D98A5-68E3-3A4A-A4C9-A2BAE67B4762}" type="slidenum">
              <a:rPr lang="en-US" smtClean="0"/>
              <a:t>19</a:t>
            </a:fld>
            <a:endParaRPr lang="en-US" dirty="0"/>
          </a:p>
        </p:txBody>
      </p:sp>
    </p:spTree>
    <p:extLst>
      <p:ext uri="{BB962C8B-B14F-4D97-AF65-F5344CB8AC3E}">
        <p14:creationId xmlns:p14="http://schemas.microsoft.com/office/powerpoint/2010/main" val="250384501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9F23E-E80D-6ED2-D18B-4EF18FC30A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37A91CA-106F-AE16-E121-0F6B9E02D5C5}"/>
              </a:ext>
            </a:extLst>
          </p:cNvPr>
          <p:cNvSpPr>
            <a:spLocks noGrp="1" noRot="1" noChangeAspect="1"/>
          </p:cNvSpPr>
          <p:nvPr>
            <p:ph type="sldImg"/>
          </p:nvPr>
        </p:nvSpPr>
        <p:spPr/>
        <p:txBody>
          <a:bodyPr/>
          <a:lstStyle/>
          <a:p>
            <a:endParaRPr lang="th-TH" dirty="0"/>
          </a:p>
        </p:txBody>
      </p:sp>
      <p:sp>
        <p:nvSpPr>
          <p:cNvPr id="3" name="Notes Placeholder 2">
            <a:extLst>
              <a:ext uri="{FF2B5EF4-FFF2-40B4-BE49-F238E27FC236}">
                <a16:creationId xmlns:a16="http://schemas.microsoft.com/office/drawing/2014/main" id="{373F878D-EB80-3913-E285-898107613E5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E2C6DAD-1796-B20C-DD0C-465D04D7B055}"/>
              </a:ext>
            </a:extLst>
          </p:cNvPr>
          <p:cNvSpPr>
            <a:spLocks noGrp="1"/>
          </p:cNvSpPr>
          <p:nvPr>
            <p:ph type="sldNum" sz="quarter" idx="5"/>
          </p:nvPr>
        </p:nvSpPr>
        <p:spPr/>
        <p:txBody>
          <a:bodyPr/>
          <a:lstStyle/>
          <a:p>
            <a:fld id="{D40D98A5-68E3-3A4A-A4C9-A2BAE67B4762}" type="slidenum">
              <a:rPr lang="en-US" smtClean="0"/>
              <a:t>20</a:t>
            </a:fld>
            <a:endParaRPr lang="en-US" dirty="0"/>
          </a:p>
        </p:txBody>
      </p:sp>
    </p:spTree>
    <p:extLst>
      <p:ext uri="{BB962C8B-B14F-4D97-AF65-F5344CB8AC3E}">
        <p14:creationId xmlns:p14="http://schemas.microsoft.com/office/powerpoint/2010/main" val="15198547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sz="1200"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sz="1200" dirty="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sz="1200" dirty="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sz="1200" dirty="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sz="1200" dirty="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sz="1200" dirty="0"/>
          </a:p>
        </p:txBody>
      </p:sp>
    </p:spTree>
    <p:extLst>
      <p:ext uri="{BB962C8B-B14F-4D97-AF65-F5344CB8AC3E}">
        <p14:creationId xmlns:p14="http://schemas.microsoft.com/office/powerpoint/2010/main" val="368497295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6/29/2026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6/29/2026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6/29/2026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6/29/2026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6/29/2026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6/29/2026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6/29/2026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6/29/2026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6/29/2026</a:t>
            </a:fld>
            <a:endParaRPr lang="en-US" dirty="0"/>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dirty="0"/>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2.wmf"/><Relationship Id="rId3" Type="http://schemas.openxmlformats.org/officeDocument/2006/relationships/video" Target="../media/media1.mp4"/><Relationship Id="rId7" Type="http://schemas.openxmlformats.org/officeDocument/2006/relationships/image" Target="../media/image5.png"/><Relationship Id="rId12" Type="http://schemas.openxmlformats.org/officeDocument/2006/relationships/oleObject" Target="../embeddings/oleObject2.bin"/><Relationship Id="rId2" Type="http://schemas.microsoft.com/office/2007/relationships/media" Target="../media/media1.mp4"/><Relationship Id="rId1" Type="http://schemas.openxmlformats.org/officeDocument/2006/relationships/vmlDrawing" Target="../drawings/vmlDrawing1.vml"/><Relationship Id="rId6" Type="http://schemas.openxmlformats.org/officeDocument/2006/relationships/image" Target="../media/image4.png"/><Relationship Id="rId11" Type="http://schemas.openxmlformats.org/officeDocument/2006/relationships/image" Target="../media/image1.wmf"/><Relationship Id="rId5" Type="http://schemas.openxmlformats.org/officeDocument/2006/relationships/image" Target="../media/image1.png"/><Relationship Id="rId15" Type="http://schemas.openxmlformats.org/officeDocument/2006/relationships/image" Target="../media/image3.wmf"/><Relationship Id="rId10" Type="http://schemas.openxmlformats.org/officeDocument/2006/relationships/oleObject" Target="../embeddings/oleObject1.bin"/><Relationship Id="rId4" Type="http://schemas.openxmlformats.org/officeDocument/2006/relationships/slideLayout" Target="../slideLayouts/slideLayout7.xml"/><Relationship Id="rId9" Type="http://schemas.openxmlformats.org/officeDocument/2006/relationships/image" Target="../media/image510.png"/><Relationship Id="rId14" Type="http://schemas.openxmlformats.org/officeDocument/2006/relationships/oleObject" Target="../embeddings/oleObject3.bin"/></Relationships>
</file>

<file path=ppt/slides/_rels/slide4.xml.rels><?xml version="1.0" encoding="UTF-8" standalone="yes"?>
<Relationships xmlns="http://schemas.openxmlformats.org/package/2006/relationships"><Relationship Id="rId8" Type="http://schemas.openxmlformats.org/officeDocument/2006/relationships/image" Target="../media/image10.png"/><Relationship Id="rId13" Type="http://schemas.openxmlformats.org/officeDocument/2006/relationships/image" Target="../media/image8.png"/><Relationship Id="rId3" Type="http://schemas.openxmlformats.org/officeDocument/2006/relationships/video" Target="../media/media2.mp4"/><Relationship Id="rId7" Type="http://schemas.openxmlformats.org/officeDocument/2006/relationships/image" Target="../media/image9.png"/><Relationship Id="rId12" Type="http://schemas.openxmlformats.org/officeDocument/2006/relationships/image" Target="../media/image14.png"/><Relationship Id="rId17" Type="http://schemas.openxmlformats.org/officeDocument/2006/relationships/image" Target="../media/image16.png"/><Relationship Id="rId2" Type="http://schemas.microsoft.com/office/2007/relationships/media" Target="../media/media2.mp4"/><Relationship Id="rId16" Type="http://schemas.openxmlformats.org/officeDocument/2006/relationships/image" Target="../media/image7.wmf"/><Relationship Id="rId1" Type="http://schemas.openxmlformats.org/officeDocument/2006/relationships/vmlDrawing" Target="../drawings/vmlDrawing2.vml"/><Relationship Id="rId6" Type="http://schemas.openxmlformats.org/officeDocument/2006/relationships/image" Target="../media/image1.wmf"/><Relationship Id="rId11" Type="http://schemas.openxmlformats.org/officeDocument/2006/relationships/image" Target="../media/image13.png"/><Relationship Id="rId5" Type="http://schemas.openxmlformats.org/officeDocument/2006/relationships/oleObject" Target="../embeddings/oleObject1.bin"/><Relationship Id="rId15" Type="http://schemas.openxmlformats.org/officeDocument/2006/relationships/oleObject" Target="../embeddings/oleObject4.bin"/><Relationship Id="rId10" Type="http://schemas.openxmlformats.org/officeDocument/2006/relationships/image" Target="../media/image12.png"/><Relationship Id="rId4" Type="http://schemas.openxmlformats.org/officeDocument/2006/relationships/slideLayout" Target="../slideLayouts/slideLayout7.xml"/><Relationship Id="rId9" Type="http://schemas.openxmlformats.org/officeDocument/2006/relationships/image" Target="../media/image11.png"/><Relationship Id="rId14" Type="http://schemas.openxmlformats.org/officeDocument/2006/relationships/image" Target="../media/image15.png"/></Relationships>
</file>

<file path=ppt/slides/_rels/slide5.xml.rels><?xml version="1.0" encoding="UTF-8" standalone="yes"?>
<Relationships xmlns="http://schemas.openxmlformats.org/package/2006/relationships"><Relationship Id="rId8" Type="http://schemas.openxmlformats.org/officeDocument/2006/relationships/image" Target="../media/image21.png"/><Relationship Id="rId13" Type="http://schemas.openxmlformats.org/officeDocument/2006/relationships/oleObject" Target="../embeddings/oleObject6.bin"/><Relationship Id="rId18" Type="http://schemas.openxmlformats.org/officeDocument/2006/relationships/oleObject" Target="../embeddings/oleObject8.bin"/><Relationship Id="rId3" Type="http://schemas.openxmlformats.org/officeDocument/2006/relationships/oleObject" Target="../embeddings/oleObject1.bin"/><Relationship Id="rId21" Type="http://schemas.openxmlformats.org/officeDocument/2006/relationships/image" Target="../media/image21.wmf"/><Relationship Id="rId7" Type="http://schemas.openxmlformats.org/officeDocument/2006/relationships/image" Target="../media/image20.png"/><Relationship Id="rId12" Type="http://schemas.openxmlformats.org/officeDocument/2006/relationships/image" Target="../media/image17.wmf"/><Relationship Id="rId17" Type="http://schemas.openxmlformats.org/officeDocument/2006/relationships/image" Target="../media/image19.wmf"/><Relationship Id="rId2" Type="http://schemas.openxmlformats.org/officeDocument/2006/relationships/slideLayout" Target="../slideLayouts/slideLayout7.xml"/><Relationship Id="rId16" Type="http://schemas.openxmlformats.org/officeDocument/2006/relationships/oleObject" Target="../embeddings/oleObject7.bin"/><Relationship Id="rId20" Type="http://schemas.openxmlformats.org/officeDocument/2006/relationships/oleObject" Target="../embeddings/oleObject9.bin"/><Relationship Id="rId1" Type="http://schemas.openxmlformats.org/officeDocument/2006/relationships/vmlDrawing" Target="../drawings/vmlDrawing3.vml"/><Relationship Id="rId6" Type="http://schemas.openxmlformats.org/officeDocument/2006/relationships/image" Target="../media/image10.png"/><Relationship Id="rId11" Type="http://schemas.openxmlformats.org/officeDocument/2006/relationships/oleObject" Target="../embeddings/oleObject5.bin"/><Relationship Id="rId5" Type="http://schemas.openxmlformats.org/officeDocument/2006/relationships/image" Target="../media/image19.png"/><Relationship Id="rId15" Type="http://schemas.openxmlformats.org/officeDocument/2006/relationships/image" Target="../media/image26.png"/><Relationship Id="rId23" Type="http://schemas.openxmlformats.org/officeDocument/2006/relationships/image" Target="../media/image25.png"/><Relationship Id="rId10" Type="http://schemas.openxmlformats.org/officeDocument/2006/relationships/image" Target="../media/image23.png"/><Relationship Id="rId19" Type="http://schemas.openxmlformats.org/officeDocument/2006/relationships/image" Target="../media/image20.wmf"/><Relationship Id="rId4" Type="http://schemas.openxmlformats.org/officeDocument/2006/relationships/image" Target="../media/image1.wmf"/><Relationship Id="rId9" Type="http://schemas.openxmlformats.org/officeDocument/2006/relationships/image" Target="../media/image22.png"/><Relationship Id="rId14" Type="http://schemas.openxmlformats.org/officeDocument/2006/relationships/image" Target="../media/image18.wmf"/><Relationship Id="rId22" Type="http://schemas.openxmlformats.org/officeDocument/2006/relationships/image" Target="../media/image24.png"/></Relationships>
</file>

<file path=ppt/slides/_rels/slide6.xml.rels><?xml version="1.0" encoding="UTF-8" standalone="yes"?>
<Relationships xmlns="http://schemas.openxmlformats.org/package/2006/relationships"><Relationship Id="rId8" Type="http://schemas.openxmlformats.org/officeDocument/2006/relationships/image" Target="../media/image21.png"/><Relationship Id="rId13" Type="http://schemas.openxmlformats.org/officeDocument/2006/relationships/oleObject" Target="../embeddings/oleObject6.bin"/><Relationship Id="rId18" Type="http://schemas.openxmlformats.org/officeDocument/2006/relationships/oleObject" Target="../embeddings/oleObject8.bin"/><Relationship Id="rId3" Type="http://schemas.openxmlformats.org/officeDocument/2006/relationships/oleObject" Target="../embeddings/oleObject1.bin"/><Relationship Id="rId21" Type="http://schemas.openxmlformats.org/officeDocument/2006/relationships/image" Target="../media/image21.wmf"/><Relationship Id="rId7" Type="http://schemas.openxmlformats.org/officeDocument/2006/relationships/image" Target="../media/image20.png"/><Relationship Id="rId12" Type="http://schemas.openxmlformats.org/officeDocument/2006/relationships/image" Target="../media/image17.wmf"/><Relationship Id="rId17" Type="http://schemas.openxmlformats.org/officeDocument/2006/relationships/image" Target="../media/image19.wmf"/><Relationship Id="rId2" Type="http://schemas.openxmlformats.org/officeDocument/2006/relationships/slideLayout" Target="../slideLayouts/slideLayout7.xml"/><Relationship Id="rId16" Type="http://schemas.openxmlformats.org/officeDocument/2006/relationships/oleObject" Target="../embeddings/oleObject7.bin"/><Relationship Id="rId20" Type="http://schemas.openxmlformats.org/officeDocument/2006/relationships/oleObject" Target="../embeddings/oleObject9.bin"/><Relationship Id="rId1" Type="http://schemas.openxmlformats.org/officeDocument/2006/relationships/vmlDrawing" Target="../drawings/vmlDrawing4.vml"/><Relationship Id="rId6" Type="http://schemas.openxmlformats.org/officeDocument/2006/relationships/image" Target="../media/image10.png"/><Relationship Id="rId11" Type="http://schemas.openxmlformats.org/officeDocument/2006/relationships/oleObject" Target="../embeddings/oleObject5.bin"/><Relationship Id="rId5" Type="http://schemas.openxmlformats.org/officeDocument/2006/relationships/image" Target="../media/image19.png"/><Relationship Id="rId15" Type="http://schemas.openxmlformats.org/officeDocument/2006/relationships/image" Target="../media/image26.png"/><Relationship Id="rId23" Type="http://schemas.openxmlformats.org/officeDocument/2006/relationships/image" Target="../media/image28.png"/><Relationship Id="rId10" Type="http://schemas.openxmlformats.org/officeDocument/2006/relationships/image" Target="../media/image23.png"/><Relationship Id="rId19" Type="http://schemas.openxmlformats.org/officeDocument/2006/relationships/image" Target="../media/image20.wmf"/><Relationship Id="rId4" Type="http://schemas.openxmlformats.org/officeDocument/2006/relationships/image" Target="../media/image1.wmf"/><Relationship Id="rId9" Type="http://schemas.openxmlformats.org/officeDocument/2006/relationships/image" Target="../media/image22.png"/><Relationship Id="rId14" Type="http://schemas.openxmlformats.org/officeDocument/2006/relationships/image" Target="../media/image18.wmf"/><Relationship Id="rId22" Type="http://schemas.openxmlformats.org/officeDocument/2006/relationships/image" Target="../media/image27.png"/></Relationships>
</file>

<file path=ppt/slides/_rels/slide7.xml.rels><?xml version="1.0" encoding="UTF-8" standalone="yes"?>
<Relationships xmlns="http://schemas.openxmlformats.org/package/2006/relationships"><Relationship Id="rId8" Type="http://schemas.openxmlformats.org/officeDocument/2006/relationships/image" Target="../media/image36.png"/><Relationship Id="rId13" Type="http://schemas.openxmlformats.org/officeDocument/2006/relationships/image" Target="../media/image29.png"/><Relationship Id="rId3" Type="http://schemas.openxmlformats.org/officeDocument/2006/relationships/oleObject" Target="../embeddings/oleObject1.bin"/><Relationship Id="rId7" Type="http://schemas.openxmlformats.org/officeDocument/2006/relationships/image" Target="../media/image35.png"/><Relationship Id="rId12" Type="http://schemas.openxmlformats.org/officeDocument/2006/relationships/image" Target="../media/image40.png"/><Relationship Id="rId2" Type="http://schemas.openxmlformats.org/officeDocument/2006/relationships/slideLayout" Target="../slideLayouts/slideLayout7.xml"/><Relationship Id="rId1" Type="http://schemas.openxmlformats.org/officeDocument/2006/relationships/vmlDrawing" Target="../drawings/vmlDrawing5.vml"/><Relationship Id="rId6" Type="http://schemas.openxmlformats.org/officeDocument/2006/relationships/image" Target="../media/image10.png"/><Relationship Id="rId11" Type="http://schemas.openxmlformats.org/officeDocument/2006/relationships/image" Target="../media/image39.png"/><Relationship Id="rId5" Type="http://schemas.openxmlformats.org/officeDocument/2006/relationships/image" Target="../media/image34.png"/><Relationship Id="rId10" Type="http://schemas.openxmlformats.org/officeDocument/2006/relationships/image" Target="../media/image38.png"/><Relationship Id="rId4" Type="http://schemas.openxmlformats.org/officeDocument/2006/relationships/image" Target="../media/image1.wmf"/><Relationship Id="rId9" Type="http://schemas.openxmlformats.org/officeDocument/2006/relationships/image" Target="../media/image37.png"/><Relationship Id="rId14" Type="http://schemas.openxmlformats.org/officeDocument/2006/relationships/image" Target="../media/image30.png"/></Relationships>
</file>

<file path=ppt/slides/_rels/slide8.xml.rels><?xml version="1.0" encoding="UTF-8" standalone="yes"?>
<Relationships xmlns="http://schemas.openxmlformats.org/package/2006/relationships"><Relationship Id="rId8" Type="http://schemas.openxmlformats.org/officeDocument/2006/relationships/image" Target="../media/image47.png"/><Relationship Id="rId3" Type="http://schemas.openxmlformats.org/officeDocument/2006/relationships/image" Target="../media/image32.png"/><Relationship Id="rId7" Type="http://schemas.openxmlformats.org/officeDocument/2006/relationships/image" Target="../media/image41.png"/><Relationship Id="rId2" Type="http://schemas.openxmlformats.org/officeDocument/2006/relationships/image" Target="../media/image31.png"/><Relationship Id="rId1" Type="http://schemas.openxmlformats.org/officeDocument/2006/relationships/slideLayout" Target="../slideLayouts/slideLayout7.xml"/><Relationship Id="rId6" Type="http://schemas.openxmlformats.org/officeDocument/2006/relationships/image" Target="../media/image33.png"/><Relationship Id="rId5" Type="http://schemas.openxmlformats.org/officeDocument/2006/relationships/image" Target="../media/image44.png"/><Relationship Id="rId10" Type="http://schemas.openxmlformats.org/officeDocument/2006/relationships/image" Target="../media/image43.png"/><Relationship Id="rId4" Type="http://schemas.openxmlformats.org/officeDocument/2006/relationships/image" Target="../media/image26.png"/><Relationship Id="rId9" Type="http://schemas.openxmlformats.org/officeDocument/2006/relationships/image" Target="../media/image42.png"/></Relationships>
</file>

<file path=ppt/slides/_rels/slide9.xml.rels><?xml version="1.0" encoding="UTF-8" standalone="yes"?>
<Relationships xmlns="http://schemas.openxmlformats.org/package/2006/relationships"><Relationship Id="rId3" Type="http://schemas.openxmlformats.org/officeDocument/2006/relationships/oleObject" Target="../embeddings/oleObject9.bin"/><Relationship Id="rId2" Type="http://schemas.openxmlformats.org/officeDocument/2006/relationships/slideLayout" Target="../slideLayouts/slideLayout7.xml"/><Relationship Id="rId1" Type="http://schemas.openxmlformats.org/officeDocument/2006/relationships/vmlDrawing" Target="../drawings/vmlDrawing6.vml"/><Relationship Id="rId6" Type="http://schemas.openxmlformats.org/officeDocument/2006/relationships/image" Target="../media/image410.png"/><Relationship Id="rId5" Type="http://schemas.openxmlformats.org/officeDocument/2006/relationships/image" Target="../media/image26.png"/><Relationship Id="rId4" Type="http://schemas.openxmlformats.org/officeDocument/2006/relationships/image" Target="../media/image21.wmf"/></Relationships>
</file>

<file path=ppt/slides/_rels/slide10.xml.rels><?xml version="1.0" encoding="UTF-8" standalone="yes"?>
<Relationships xmlns="http://schemas.openxmlformats.org/package/2006/relationships"><Relationship Id="rId8" Type="http://schemas.openxmlformats.org/officeDocument/2006/relationships/image" Target="../media/image52.png"/><Relationship Id="rId3" Type="http://schemas.openxmlformats.org/officeDocument/2006/relationships/image" Target="../media/image10.png"/><Relationship Id="rId7" Type="http://schemas.openxmlformats.org/officeDocument/2006/relationships/image" Target="../media/image51.png"/><Relationship Id="rId2" Type="http://schemas.openxmlformats.org/officeDocument/2006/relationships/image" Target="../media/image9.png"/><Relationship Id="rId1" Type="http://schemas.openxmlformats.org/officeDocument/2006/relationships/slideLayout" Target="../slideLayouts/slideLayout7.xml"/><Relationship Id="rId6" Type="http://schemas.openxmlformats.org/officeDocument/2006/relationships/image" Target="../media/image50.png"/><Relationship Id="rId11" Type="http://schemas.openxmlformats.org/officeDocument/2006/relationships/image" Target="../media/image54.png"/><Relationship Id="rId5" Type="http://schemas.openxmlformats.org/officeDocument/2006/relationships/image" Target="../media/image36.png"/><Relationship Id="rId10" Type="http://schemas.openxmlformats.org/officeDocument/2006/relationships/image" Target="../media/image53.png"/><Relationship Id="rId4" Type="http://schemas.openxmlformats.org/officeDocument/2006/relationships/image" Target="../media/image35.png"/><Relationship Id="rId9" Type="http://schemas.openxmlformats.org/officeDocument/2006/relationships/image" Target="../media/image14.png"/></Relationships>
</file>

<file path=ppt/slides/_rels/slide11.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notesSlide" Target="../notesSlides/notesSlide1.xml"/><Relationship Id="rId1" Type="http://schemas.openxmlformats.org/officeDocument/2006/relationships/slideLayout" Target="../slideLayouts/slideLayout7.xml"/><Relationship Id="rId5" Type="http://schemas.openxmlformats.org/officeDocument/2006/relationships/image" Target="../media/image120.png"/><Relationship Id="rId4" Type="http://schemas.openxmlformats.org/officeDocument/2006/relationships/image" Target="../media/image110.png"/></Relationships>
</file>

<file path=ppt/slides/_rels/slide12.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image" Target="../media/image130.png"/><Relationship Id="rId1" Type="http://schemas.openxmlformats.org/officeDocument/2006/relationships/slideLayout" Target="../slideLayouts/slideLayout7.xml"/><Relationship Id="rId4" Type="http://schemas.openxmlformats.org/officeDocument/2006/relationships/image" Target="../media/image150.png"/></Relationships>
</file>

<file path=ppt/slides/_rels/slide13.xml.rels><?xml version="1.0" encoding="UTF-8" standalone="yes"?>
<Relationships xmlns="http://schemas.openxmlformats.org/package/2006/relationships"><Relationship Id="rId2" Type="http://schemas.openxmlformats.org/officeDocument/2006/relationships/image" Target="../media/image160.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80.png"/><Relationship Id="rId2" Type="http://schemas.openxmlformats.org/officeDocument/2006/relationships/image" Target="../media/image170.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00.png"/><Relationship Id="rId2" Type="http://schemas.openxmlformats.org/officeDocument/2006/relationships/image" Target="../media/image190.png"/><Relationship Id="rId1" Type="http://schemas.openxmlformats.org/officeDocument/2006/relationships/slideLayout" Target="../slideLayouts/slideLayout7.xml"/><Relationship Id="rId6" Type="http://schemas.openxmlformats.org/officeDocument/2006/relationships/image" Target="../media/image230.png"/><Relationship Id="rId5" Type="http://schemas.openxmlformats.org/officeDocument/2006/relationships/image" Target="../media/image220.png"/><Relationship Id="rId4" Type="http://schemas.openxmlformats.org/officeDocument/2006/relationships/image" Target="../media/image210.png"/></Relationships>
</file>

<file path=ppt/slides/_rels/slide16.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250.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270.pn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46.png"/></Relationships>
</file>

<file path=ppt/slides/_rels/slide21.xml.rels><?xml version="1.0" encoding="UTF-8" standalone="yes"?>
<Relationships xmlns="http://schemas.openxmlformats.org/package/2006/relationships"><Relationship Id="rId8" Type="http://schemas.openxmlformats.org/officeDocument/2006/relationships/image" Target="../media/image55.png"/><Relationship Id="rId13" Type="http://schemas.openxmlformats.org/officeDocument/2006/relationships/image" Target="../media/image60.png"/><Relationship Id="rId3" Type="http://schemas.openxmlformats.org/officeDocument/2006/relationships/notesSlide" Target="../notesSlides/notesSlide7.xml"/><Relationship Id="rId7" Type="http://schemas.openxmlformats.org/officeDocument/2006/relationships/image" Target="../media/image1.wmf"/><Relationship Id="rId12" Type="http://schemas.openxmlformats.org/officeDocument/2006/relationships/image" Target="../media/image59.png"/><Relationship Id="rId17" Type="http://schemas.openxmlformats.org/officeDocument/2006/relationships/image" Target="../media/image63.png"/><Relationship Id="rId2" Type="http://schemas.openxmlformats.org/officeDocument/2006/relationships/slideLayout" Target="../slideLayouts/slideLayout7.xml"/><Relationship Id="rId16" Type="http://schemas.openxmlformats.org/officeDocument/2006/relationships/image" Target="../media/image29.png"/><Relationship Id="rId1" Type="http://schemas.openxmlformats.org/officeDocument/2006/relationships/vmlDrawing" Target="../drawings/vmlDrawing7.vml"/><Relationship Id="rId6" Type="http://schemas.openxmlformats.org/officeDocument/2006/relationships/oleObject" Target="../embeddings/oleObject1.bin"/><Relationship Id="rId11" Type="http://schemas.openxmlformats.org/officeDocument/2006/relationships/image" Target="../media/image58.png"/><Relationship Id="rId5" Type="http://schemas.openxmlformats.org/officeDocument/2006/relationships/image" Target="../media/image49.png"/><Relationship Id="rId15" Type="http://schemas.openxmlformats.org/officeDocument/2006/relationships/image" Target="../media/image62.png"/><Relationship Id="rId10" Type="http://schemas.openxmlformats.org/officeDocument/2006/relationships/image" Target="../media/image57.png"/><Relationship Id="rId4" Type="http://schemas.openxmlformats.org/officeDocument/2006/relationships/image" Target="../media/image48.png"/><Relationship Id="rId9" Type="http://schemas.openxmlformats.org/officeDocument/2006/relationships/image" Target="../media/image56.png"/><Relationship Id="rId14" Type="http://schemas.openxmlformats.org/officeDocument/2006/relationships/image" Target="../media/image61.png"/></Relationships>
</file>

<file path=ppt/slides/_rels/slide22.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65.png"/></Relationships>
</file>

<file path=ppt/slides/_rels/slide23.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9.xml"/><Relationship Id="rId1" Type="http://schemas.openxmlformats.org/officeDocument/2006/relationships/slideLayout" Target="../slideLayouts/slideLayout7.xml"/><Relationship Id="rId4" Type="http://schemas.openxmlformats.org/officeDocument/2006/relationships/image" Target="../media/image67.png"/></Relationships>
</file>

<file path=ppt/slides/_rels/slide24.xml.rels><?xml version="1.0" encoding="UTF-8" standalone="yes"?>
<Relationships xmlns="http://schemas.openxmlformats.org/package/2006/relationships"><Relationship Id="rId3" Type="http://schemas.openxmlformats.org/officeDocument/2006/relationships/image" Target="../media/image68.jfif"/><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69.jfif"/><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71.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66928" y="502920"/>
            <a:ext cx="17780" cy="5852160"/>
          </a:xfrm>
          <a:prstGeom prst="rect">
            <a:avLst/>
          </a:prstGeom>
          <a:solidFill>
            <a:srgbClr val="D9D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66928" y="502920"/>
            <a:ext cx="30480" cy="56692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822960"/>
            <a:ext cx="10607040" cy="169277"/>
          </a:xfrm>
          <a:prstGeom prst="rect">
            <a:avLst/>
          </a:prstGeom>
          <a:noFill/>
        </p:spPr>
        <p:txBody>
          <a:bodyPr wrap="square" lIns="0" tIns="0" rIns="0" bIns="0" anchor="t">
            <a:spAutoFit/>
          </a:bodyPr>
          <a:lstStyle/>
          <a:p>
            <a:r>
              <a:rPr sz="1100" dirty="0">
                <a:solidFill>
                  <a:srgbClr val="2A9D8F"/>
                </a:solidFill>
                <a:latin typeface="Consolas"/>
              </a:rPr>
              <a:t>AI IN ELECTRICAL ENGINEERING</a:t>
            </a:r>
            <a:r>
              <a:rPr lang="th-TH" sz="1100" dirty="0">
                <a:solidFill>
                  <a:srgbClr val="2A9D8F"/>
                </a:solidFill>
                <a:latin typeface="Consolas"/>
              </a:rPr>
              <a:t>  </a:t>
            </a:r>
            <a:r>
              <a:rPr lang="en-US" altLang="zh-CN" sz="1100" dirty="0">
                <a:solidFill>
                  <a:srgbClr val="289D8F"/>
                </a:solidFill>
                <a:latin typeface="Calibri"/>
              </a:rPr>
              <a:t>|   Group 14   |    30 June 2026    |</a:t>
            </a:r>
            <a:endParaRPr lang="en-US" sz="1100" b="0" dirty="0">
              <a:solidFill>
                <a:srgbClr val="289D8F"/>
              </a:solidFill>
              <a:latin typeface="Calibri"/>
            </a:endParaRPr>
          </a:p>
        </p:txBody>
      </p:sp>
      <p:sp>
        <p:nvSpPr>
          <p:cNvPr id="5" name="TextBox 4"/>
          <p:cNvSpPr txBox="1"/>
          <p:nvPr/>
        </p:nvSpPr>
        <p:spPr>
          <a:xfrm>
            <a:off x="868680" y="1280160"/>
            <a:ext cx="7589520" cy="569002"/>
          </a:xfrm>
          <a:prstGeom prst="rect">
            <a:avLst/>
          </a:prstGeom>
          <a:noFill/>
        </p:spPr>
        <p:txBody>
          <a:bodyPr wrap="square" lIns="0" tIns="0" rIns="0" bIns="0" anchor="t">
            <a:spAutoFit/>
          </a:bodyPr>
          <a:lstStyle/>
          <a:p>
            <a:pPr algn="l">
              <a:lnSpc>
                <a:spcPct val="104000"/>
              </a:lnSpc>
              <a:spcBef>
                <a:spcPts val="0"/>
              </a:spcBef>
              <a:spcAft>
                <a:spcPts val="600"/>
              </a:spcAft>
            </a:pPr>
            <a:r>
              <a:rPr lang="en-US" altLang="zh-CN" sz="3800" b="1" dirty="0">
                <a:solidFill>
                  <a:srgbClr val="1D3557"/>
                </a:solidFill>
                <a:latin typeface="Georgia"/>
              </a:rPr>
              <a:t>Motor Estimation and Control</a:t>
            </a:r>
            <a:endParaRPr sz="3800" b="1" dirty="0">
              <a:solidFill>
                <a:srgbClr val="1D3557"/>
              </a:solidFill>
              <a:latin typeface="Georgia"/>
            </a:endParaRPr>
          </a:p>
        </p:txBody>
      </p:sp>
      <p:sp>
        <p:nvSpPr>
          <p:cNvPr id="7" name="TextBox 6"/>
          <p:cNvSpPr txBox="1"/>
          <p:nvPr/>
        </p:nvSpPr>
        <p:spPr>
          <a:xfrm>
            <a:off x="868680" y="5008839"/>
            <a:ext cx="8199120" cy="1537409"/>
          </a:xfrm>
          <a:prstGeom prst="rect">
            <a:avLst/>
          </a:prstGeom>
          <a:noFill/>
        </p:spPr>
        <p:txBody>
          <a:bodyPr wrap="square" lIns="0" tIns="0" rIns="0" bIns="0" anchor="t">
            <a:spAutoFit/>
          </a:bodyPr>
          <a:lstStyle/>
          <a:p>
            <a:pPr>
              <a:lnSpc>
                <a:spcPct val="112000"/>
              </a:lnSpc>
              <a:spcAft>
                <a:spcPts val="200"/>
              </a:spcAft>
            </a:pPr>
            <a:r>
              <a:rPr lang="en-US" sz="1400" b="1" i="0" dirty="0">
                <a:solidFill>
                  <a:schemeClr val="bg2">
                    <a:lumMod val="25000"/>
                  </a:schemeClr>
                </a:solidFill>
                <a:effectLst/>
              </a:rPr>
              <a:t>Members</a:t>
            </a:r>
            <a:br>
              <a:rPr lang="en-US" sz="1400" b="0" i="0" dirty="0">
                <a:solidFill>
                  <a:schemeClr val="bg2">
                    <a:lumMod val="25000"/>
                  </a:schemeClr>
                </a:solidFill>
                <a:effectLst/>
              </a:rPr>
            </a:br>
            <a:r>
              <a:rPr lang="en-US" sz="1400" b="0" i="0" dirty="0">
                <a:solidFill>
                  <a:schemeClr val="bg2">
                    <a:lumMod val="25000"/>
                  </a:schemeClr>
                </a:solidFill>
                <a:effectLst/>
              </a:rPr>
              <a:t>Riad Mohamed </a:t>
            </a:r>
            <a:r>
              <a:rPr lang="en-US" sz="1400" b="0" i="0" dirty="0" err="1">
                <a:solidFill>
                  <a:schemeClr val="bg2">
                    <a:lumMod val="25000"/>
                  </a:schemeClr>
                </a:solidFill>
                <a:effectLst/>
              </a:rPr>
              <a:t>Attou</a:t>
            </a:r>
            <a:r>
              <a:rPr lang="en-US" sz="1400" b="0" i="0" dirty="0">
                <a:solidFill>
                  <a:schemeClr val="bg2">
                    <a:lumMod val="25000"/>
                  </a:schemeClr>
                </a:solidFill>
                <a:effectLst/>
              </a:rPr>
              <a:t> 3125999081</a:t>
            </a:r>
          </a:p>
          <a:p>
            <a:pPr>
              <a:lnSpc>
                <a:spcPct val="112000"/>
              </a:lnSpc>
              <a:spcAft>
                <a:spcPts val="200"/>
              </a:spcAft>
            </a:pPr>
            <a:r>
              <a:rPr lang="en-US" sz="1400" b="0" i="0" dirty="0">
                <a:solidFill>
                  <a:schemeClr val="bg2">
                    <a:lumMod val="25000"/>
                  </a:schemeClr>
                </a:solidFill>
                <a:effectLst/>
              </a:rPr>
              <a:t>Phanpasorn Laor-iam 3125999087</a:t>
            </a:r>
          </a:p>
          <a:p>
            <a:pPr>
              <a:lnSpc>
                <a:spcPct val="112000"/>
              </a:lnSpc>
              <a:spcAft>
                <a:spcPts val="200"/>
              </a:spcAft>
            </a:pPr>
            <a:r>
              <a:rPr lang="en-US" sz="1400" b="0" i="0" dirty="0" err="1">
                <a:solidFill>
                  <a:schemeClr val="bg2">
                    <a:lumMod val="25000"/>
                  </a:schemeClr>
                </a:solidFill>
                <a:effectLst/>
              </a:rPr>
              <a:t>Paweekorn</a:t>
            </a:r>
            <a:r>
              <a:rPr lang="en-US" sz="1400" b="0" i="0" dirty="0">
                <a:solidFill>
                  <a:schemeClr val="bg2">
                    <a:lumMod val="25000"/>
                  </a:schemeClr>
                </a:solidFill>
                <a:effectLst/>
              </a:rPr>
              <a:t> </a:t>
            </a:r>
            <a:r>
              <a:rPr lang="en-US" sz="1400" b="0" i="0" dirty="0" err="1">
                <a:solidFill>
                  <a:schemeClr val="bg2">
                    <a:lumMod val="25000"/>
                  </a:schemeClr>
                </a:solidFill>
                <a:effectLst/>
              </a:rPr>
              <a:t>Buasakorn</a:t>
            </a:r>
            <a:r>
              <a:rPr lang="en-US" sz="1400" b="0" i="0" dirty="0">
                <a:solidFill>
                  <a:schemeClr val="bg2">
                    <a:lumMod val="25000"/>
                  </a:schemeClr>
                </a:solidFill>
                <a:effectLst/>
              </a:rPr>
              <a:t> 3125999096</a:t>
            </a:r>
          </a:p>
          <a:p>
            <a:pPr>
              <a:lnSpc>
                <a:spcPct val="112000"/>
              </a:lnSpc>
              <a:spcAft>
                <a:spcPts val="200"/>
              </a:spcAft>
            </a:pPr>
            <a:r>
              <a:rPr lang="en-US" sz="1400" b="0" i="0" dirty="0">
                <a:solidFill>
                  <a:schemeClr val="bg2">
                    <a:lumMod val="25000"/>
                  </a:schemeClr>
                </a:solidFill>
                <a:effectLst/>
              </a:rPr>
              <a:t>Alessandro </a:t>
            </a:r>
            <a:r>
              <a:rPr lang="en-US" sz="1400" b="0" i="0" dirty="0" err="1">
                <a:solidFill>
                  <a:schemeClr val="bg2">
                    <a:lumMod val="25000"/>
                  </a:schemeClr>
                </a:solidFill>
                <a:effectLst/>
              </a:rPr>
              <a:t>Carlino</a:t>
            </a:r>
            <a:r>
              <a:rPr lang="en-US" sz="1400" b="0" i="0" dirty="0">
                <a:solidFill>
                  <a:schemeClr val="bg2">
                    <a:lumMod val="25000"/>
                  </a:schemeClr>
                </a:solidFill>
                <a:effectLst/>
              </a:rPr>
              <a:t> 3125999080</a:t>
            </a:r>
          </a:p>
          <a:p>
            <a:pPr>
              <a:lnSpc>
                <a:spcPct val="112000"/>
              </a:lnSpc>
              <a:spcAft>
                <a:spcPts val="200"/>
              </a:spcAft>
            </a:pPr>
            <a:r>
              <a:rPr lang="en-US" sz="1400" b="0" i="0" dirty="0">
                <a:solidFill>
                  <a:schemeClr val="bg2">
                    <a:lumMod val="25000"/>
                  </a:schemeClr>
                </a:solidFill>
                <a:effectLst/>
              </a:rPr>
              <a:t>Vladimir </a:t>
            </a:r>
            <a:r>
              <a:rPr lang="en-US" sz="1400" b="0" i="0" dirty="0" err="1">
                <a:solidFill>
                  <a:schemeClr val="bg2">
                    <a:lumMod val="25000"/>
                  </a:schemeClr>
                </a:solidFill>
                <a:effectLst/>
              </a:rPr>
              <a:t>Serezhin</a:t>
            </a:r>
            <a:r>
              <a:rPr lang="en-US" sz="1400" b="0" i="0" dirty="0">
                <a:solidFill>
                  <a:schemeClr val="bg2">
                    <a:lumMod val="25000"/>
                  </a:schemeClr>
                </a:solidFill>
                <a:effectLst/>
              </a:rPr>
              <a:t> 3126999010</a:t>
            </a:r>
            <a:endParaRPr lang="en-US" sz="1400" b="1" dirty="0">
              <a:solidFill>
                <a:schemeClr val="bg2">
                  <a:lumMod val="25000"/>
                </a:schemeClr>
              </a:solidFill>
            </a:endParaRPr>
          </a:p>
        </p:txBody>
      </p:sp>
      <p:sp>
        <p:nvSpPr>
          <p:cNvPr id="10" name="TextBox 9">
            <a:extLst>
              <a:ext uri="{FF2B5EF4-FFF2-40B4-BE49-F238E27FC236}">
                <a16:creationId xmlns:a16="http://schemas.microsoft.com/office/drawing/2014/main" id="{5350081E-8BA2-468B-A031-E203BBFBBF92}"/>
              </a:ext>
            </a:extLst>
          </p:cNvPr>
          <p:cNvSpPr txBox="1"/>
          <p:nvPr/>
        </p:nvSpPr>
        <p:spPr>
          <a:xfrm>
            <a:off x="868680" y="2044060"/>
            <a:ext cx="8630920" cy="642612"/>
          </a:xfrm>
          <a:prstGeom prst="rect">
            <a:avLst/>
          </a:prstGeom>
          <a:noFill/>
        </p:spPr>
        <p:txBody>
          <a:bodyPr wrap="square" lIns="0" tIns="0" rIns="0" bIns="0" anchor="t">
            <a:spAutoFit/>
          </a:bodyPr>
          <a:lstStyle/>
          <a:p>
            <a:pPr>
              <a:lnSpc>
                <a:spcPct val="120000"/>
              </a:lnSpc>
            </a:pPr>
            <a:r>
              <a:rPr lang="en-US" altLang="zh-CN" dirty="0">
                <a:solidFill>
                  <a:srgbClr val="4A5A66"/>
                </a:solidFill>
                <a:latin typeface="Calibri"/>
              </a:rPr>
              <a:t>Professor Mohamad A. </a:t>
            </a:r>
            <a:r>
              <a:rPr lang="en-US" altLang="zh-CN" dirty="0" err="1">
                <a:solidFill>
                  <a:srgbClr val="4A5A66"/>
                </a:solidFill>
                <a:latin typeface="Calibri"/>
              </a:rPr>
              <a:t>Houran</a:t>
            </a:r>
            <a:r>
              <a:rPr lang="en-US" altLang="zh-CN" dirty="0">
                <a:solidFill>
                  <a:srgbClr val="4A5A66"/>
                </a:solidFill>
                <a:latin typeface="Calibri"/>
              </a:rPr>
              <a:t>    |    Course: AI for Electrical Engineering</a:t>
            </a:r>
          </a:p>
          <a:p>
            <a:pPr>
              <a:lnSpc>
                <a:spcPct val="120000"/>
              </a:lnSpc>
            </a:pPr>
            <a:endParaRPr sz="1800" b="0" dirty="0">
              <a:solidFill>
                <a:srgbClr val="4A5A66"/>
              </a:solidFill>
              <a:latin typeface="Calibri"/>
            </a:endParaRPr>
          </a:p>
        </p:txBody>
      </p:sp>
      <p:cxnSp>
        <p:nvCxnSpPr>
          <p:cNvPr id="13" name="Straight Connector 12">
            <a:extLst>
              <a:ext uri="{FF2B5EF4-FFF2-40B4-BE49-F238E27FC236}">
                <a16:creationId xmlns:a16="http://schemas.microsoft.com/office/drawing/2014/main" id="{424364F0-FA4D-4B69-A131-38EEEEA884C6}"/>
              </a:ext>
            </a:extLst>
          </p:cNvPr>
          <p:cNvCxnSpPr/>
          <p:nvPr/>
        </p:nvCxnSpPr>
        <p:spPr>
          <a:xfrm>
            <a:off x="868680" y="1900004"/>
            <a:ext cx="9017000" cy="0"/>
          </a:xfrm>
          <a:prstGeom prst="line">
            <a:avLst/>
          </a:prstGeom>
          <a:ln>
            <a:solidFill>
              <a:schemeClr val="bg2">
                <a:lumMod val="7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289719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66928" y="502920"/>
            <a:ext cx="17780" cy="5852160"/>
          </a:xfrm>
          <a:prstGeom prst="rect">
            <a:avLst/>
          </a:prstGeom>
          <a:solidFill>
            <a:srgbClr val="D9D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66928" y="502920"/>
            <a:ext cx="30480" cy="56692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548640"/>
            <a:ext cx="10607040" cy="320040"/>
          </a:xfrm>
          <a:prstGeom prst="rect">
            <a:avLst/>
          </a:prstGeom>
          <a:noFill/>
        </p:spPr>
        <p:txBody>
          <a:bodyPr wrap="square" lIns="0" tIns="0" rIns="0" bIns="0" anchor="t">
            <a:spAutoFit/>
          </a:bodyPr>
          <a:lstStyle/>
          <a:p>
            <a:pPr>
              <a:lnSpc>
                <a:spcPct val="100000"/>
              </a:lnSpc>
            </a:pPr>
            <a:r>
              <a:rPr sz="1100">
                <a:solidFill>
                  <a:srgbClr val="2A9D8F"/>
                </a:solidFill>
                <a:latin typeface="Consolas"/>
              </a:rPr>
              <a:t>TABLE OF CONTENTS</a:t>
            </a:r>
          </a:p>
        </p:txBody>
      </p:sp>
      <p:sp>
        <p:nvSpPr>
          <p:cNvPr id="5" name="TextBox 4"/>
          <p:cNvSpPr txBox="1"/>
          <p:nvPr/>
        </p:nvSpPr>
        <p:spPr>
          <a:xfrm>
            <a:off x="868680" y="932688"/>
            <a:ext cx="10607040" cy="412805"/>
          </a:xfrm>
          <a:prstGeom prst="rect">
            <a:avLst/>
          </a:prstGeom>
          <a:noFill/>
        </p:spPr>
        <p:txBody>
          <a:bodyPr wrap="square" lIns="0" tIns="0" rIns="0" bIns="0" anchor="t">
            <a:spAutoFit/>
          </a:bodyPr>
          <a:lstStyle/>
          <a:p>
            <a:pPr algn="l">
              <a:lnSpc>
                <a:spcPct val="102000"/>
              </a:lnSpc>
              <a:spcBef>
                <a:spcPts val="0"/>
              </a:spcBef>
              <a:spcAft>
                <a:spcPts val="600"/>
              </a:spcAft>
            </a:pPr>
            <a:r>
              <a:rPr lang="en-US" sz="2800" b="1" dirty="0">
                <a:solidFill>
                  <a:srgbClr val="1D3557"/>
                </a:solidFill>
                <a:latin typeface="Georgia"/>
              </a:rPr>
              <a:t>Contents</a:t>
            </a:r>
            <a:endParaRPr sz="2800" b="1" dirty="0">
              <a:solidFill>
                <a:srgbClr val="1D3557"/>
              </a:solidFill>
              <a:latin typeface="Georgia"/>
            </a:endParaRPr>
          </a:p>
        </p:txBody>
      </p:sp>
      <p:sp>
        <p:nvSpPr>
          <p:cNvPr id="6" name="Rounded Rectangle 5"/>
          <p:cNvSpPr/>
          <p:nvPr/>
        </p:nvSpPr>
        <p:spPr>
          <a:xfrm>
            <a:off x="868680" y="1828800"/>
            <a:ext cx="5202936" cy="1371600"/>
          </a:xfrm>
          <a:prstGeom prst="roundRect">
            <a:avLst>
              <a:gd name="adj" fmla="val 6000"/>
            </a:avLst>
          </a:prstGeom>
          <a:solidFill>
            <a:srgbClr val="FFFFFF"/>
          </a:solidFill>
          <a:ln w="12700">
            <a:solidFill>
              <a:srgbClr val="D9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51560" y="1975104"/>
            <a:ext cx="640080" cy="1097280"/>
          </a:xfrm>
          <a:prstGeom prst="rect">
            <a:avLst/>
          </a:prstGeom>
          <a:noFill/>
        </p:spPr>
        <p:txBody>
          <a:bodyPr wrap="square" lIns="0" tIns="0" rIns="0" bIns="0" anchor="t">
            <a:spAutoFit/>
          </a:bodyPr>
          <a:lstStyle/>
          <a:p>
            <a:pPr algn="l">
              <a:lnSpc>
                <a:spcPct val="100000"/>
              </a:lnSpc>
              <a:spcBef>
                <a:spcPts val="0"/>
              </a:spcBef>
              <a:spcAft>
                <a:spcPts val="600"/>
              </a:spcAft>
            </a:pPr>
            <a:r>
              <a:rPr sz="3000" b="1">
                <a:solidFill>
                  <a:srgbClr val="E07A5F"/>
                </a:solidFill>
                <a:latin typeface="Georgia"/>
              </a:rPr>
              <a:t>I</a:t>
            </a:r>
          </a:p>
        </p:txBody>
      </p:sp>
      <p:sp>
        <p:nvSpPr>
          <p:cNvPr id="8" name="TextBox 7"/>
          <p:cNvSpPr txBox="1"/>
          <p:nvPr/>
        </p:nvSpPr>
        <p:spPr>
          <a:xfrm>
            <a:off x="1051560" y="2483915"/>
            <a:ext cx="4151376" cy="265329"/>
          </a:xfrm>
          <a:prstGeom prst="rect">
            <a:avLst/>
          </a:prstGeom>
          <a:noFill/>
        </p:spPr>
        <p:txBody>
          <a:bodyPr wrap="square" lIns="0" tIns="0" rIns="0" bIns="0" anchor="t">
            <a:spAutoFit/>
          </a:bodyPr>
          <a:lstStyle/>
          <a:p>
            <a:pPr algn="l">
              <a:lnSpc>
                <a:spcPct val="102000"/>
              </a:lnSpc>
              <a:spcBef>
                <a:spcPts val="0"/>
              </a:spcBef>
              <a:spcAft>
                <a:spcPts val="600"/>
              </a:spcAft>
            </a:pPr>
            <a:r>
              <a:rPr lang="en-US" sz="1800" b="1" noProof="1">
                <a:solidFill>
                  <a:srgbClr val="1D3557"/>
                </a:solidFill>
                <a:latin typeface="Georgia"/>
              </a:rPr>
              <a:t>Problem Formulation</a:t>
            </a:r>
          </a:p>
        </p:txBody>
      </p:sp>
      <p:sp>
        <p:nvSpPr>
          <p:cNvPr id="9" name="Rounded Rectangle 8"/>
          <p:cNvSpPr/>
          <p:nvPr/>
        </p:nvSpPr>
        <p:spPr>
          <a:xfrm>
            <a:off x="6272784" y="1828800"/>
            <a:ext cx="5202936" cy="1371600"/>
          </a:xfrm>
          <a:prstGeom prst="roundRect">
            <a:avLst>
              <a:gd name="adj" fmla="val 6000"/>
            </a:avLst>
          </a:prstGeom>
          <a:solidFill>
            <a:srgbClr val="FFFFFF"/>
          </a:solidFill>
          <a:ln w="12700">
            <a:solidFill>
              <a:srgbClr val="D9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55664" y="1975104"/>
            <a:ext cx="640080" cy="1097280"/>
          </a:xfrm>
          <a:prstGeom prst="rect">
            <a:avLst/>
          </a:prstGeom>
          <a:noFill/>
        </p:spPr>
        <p:txBody>
          <a:bodyPr wrap="square" lIns="0" tIns="0" rIns="0" bIns="0" anchor="t">
            <a:spAutoFit/>
          </a:bodyPr>
          <a:lstStyle/>
          <a:p>
            <a:pPr algn="l">
              <a:lnSpc>
                <a:spcPct val="100000"/>
              </a:lnSpc>
              <a:spcBef>
                <a:spcPts val="0"/>
              </a:spcBef>
              <a:spcAft>
                <a:spcPts val="600"/>
              </a:spcAft>
            </a:pPr>
            <a:r>
              <a:rPr sz="3000" b="1">
                <a:solidFill>
                  <a:srgbClr val="E07A5F"/>
                </a:solidFill>
                <a:latin typeface="Georgia"/>
              </a:rPr>
              <a:t>II</a:t>
            </a:r>
          </a:p>
        </p:txBody>
      </p:sp>
      <p:sp>
        <p:nvSpPr>
          <p:cNvPr id="11" name="TextBox 10"/>
          <p:cNvSpPr txBox="1"/>
          <p:nvPr/>
        </p:nvSpPr>
        <p:spPr>
          <a:xfrm>
            <a:off x="6455664" y="2457113"/>
            <a:ext cx="4151376" cy="547842"/>
          </a:xfrm>
          <a:prstGeom prst="rect">
            <a:avLst/>
          </a:prstGeom>
          <a:noFill/>
        </p:spPr>
        <p:txBody>
          <a:bodyPr wrap="square" lIns="0" tIns="0" rIns="0" bIns="0" anchor="t">
            <a:spAutoFit/>
          </a:bodyPr>
          <a:lstStyle/>
          <a:p>
            <a:pPr algn="l">
              <a:lnSpc>
                <a:spcPct val="102000"/>
              </a:lnSpc>
              <a:spcBef>
                <a:spcPts val="0"/>
              </a:spcBef>
              <a:spcAft>
                <a:spcPts val="600"/>
              </a:spcAft>
            </a:pPr>
            <a:r>
              <a:rPr lang="en-US" sz="1800" b="1" noProof="1">
                <a:solidFill>
                  <a:srgbClr val="1D3557"/>
                </a:solidFill>
                <a:latin typeface="Georgia"/>
              </a:rPr>
              <a:t>Machine Learning Replaced Reference Feedforward</a:t>
            </a:r>
          </a:p>
        </p:txBody>
      </p:sp>
      <p:sp>
        <p:nvSpPr>
          <p:cNvPr id="12" name="Rounded Rectangle 11"/>
          <p:cNvSpPr/>
          <p:nvPr/>
        </p:nvSpPr>
        <p:spPr>
          <a:xfrm>
            <a:off x="868680" y="3401568"/>
            <a:ext cx="5202936" cy="1371600"/>
          </a:xfrm>
          <a:prstGeom prst="roundRect">
            <a:avLst>
              <a:gd name="adj" fmla="val 6000"/>
            </a:avLst>
          </a:prstGeom>
          <a:solidFill>
            <a:srgbClr val="FFFFFF"/>
          </a:solidFill>
          <a:ln w="12700">
            <a:solidFill>
              <a:srgbClr val="D9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051560" y="3547872"/>
            <a:ext cx="640080" cy="1097280"/>
          </a:xfrm>
          <a:prstGeom prst="rect">
            <a:avLst/>
          </a:prstGeom>
          <a:noFill/>
        </p:spPr>
        <p:txBody>
          <a:bodyPr wrap="square" lIns="0" tIns="0" rIns="0" bIns="0" anchor="t">
            <a:spAutoFit/>
          </a:bodyPr>
          <a:lstStyle/>
          <a:p>
            <a:pPr algn="l">
              <a:lnSpc>
                <a:spcPct val="100000"/>
              </a:lnSpc>
              <a:spcBef>
                <a:spcPts val="0"/>
              </a:spcBef>
              <a:spcAft>
                <a:spcPts val="600"/>
              </a:spcAft>
            </a:pPr>
            <a:r>
              <a:rPr sz="3000" b="1">
                <a:solidFill>
                  <a:srgbClr val="E07A5F"/>
                </a:solidFill>
                <a:latin typeface="Georgia"/>
              </a:rPr>
              <a:t>III</a:t>
            </a:r>
          </a:p>
        </p:txBody>
      </p:sp>
      <p:sp>
        <p:nvSpPr>
          <p:cNvPr id="14" name="TextBox 13"/>
          <p:cNvSpPr txBox="1"/>
          <p:nvPr/>
        </p:nvSpPr>
        <p:spPr>
          <a:xfrm>
            <a:off x="1131570" y="4012017"/>
            <a:ext cx="4677156" cy="547842"/>
          </a:xfrm>
          <a:prstGeom prst="rect">
            <a:avLst/>
          </a:prstGeom>
          <a:noFill/>
        </p:spPr>
        <p:txBody>
          <a:bodyPr wrap="square" lIns="0" tIns="0" rIns="0" bIns="0" anchor="t">
            <a:spAutoFit/>
          </a:bodyPr>
          <a:lstStyle/>
          <a:p>
            <a:pPr algn="l">
              <a:lnSpc>
                <a:spcPct val="102000"/>
              </a:lnSpc>
              <a:spcBef>
                <a:spcPts val="0"/>
              </a:spcBef>
              <a:spcAft>
                <a:spcPts val="600"/>
              </a:spcAft>
            </a:pPr>
            <a:r>
              <a:rPr lang="en-US" sz="1800" b="1" noProof="1">
                <a:solidFill>
                  <a:srgbClr val="1D3557"/>
                </a:solidFill>
                <a:latin typeface="Georgia"/>
              </a:rPr>
              <a:t>Residual Reinforcement Learning for Speed Control</a:t>
            </a:r>
          </a:p>
        </p:txBody>
      </p:sp>
      <p:sp>
        <p:nvSpPr>
          <p:cNvPr id="15" name="Rounded Rectangle 14"/>
          <p:cNvSpPr/>
          <p:nvPr/>
        </p:nvSpPr>
        <p:spPr>
          <a:xfrm>
            <a:off x="6272784" y="3401568"/>
            <a:ext cx="5202936" cy="1371600"/>
          </a:xfrm>
          <a:prstGeom prst="roundRect">
            <a:avLst>
              <a:gd name="adj" fmla="val 6000"/>
            </a:avLst>
          </a:prstGeom>
          <a:solidFill>
            <a:srgbClr val="FFFFFF"/>
          </a:solidFill>
          <a:ln w="12700">
            <a:solidFill>
              <a:srgbClr val="D9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455664" y="3547872"/>
            <a:ext cx="640080" cy="1097280"/>
          </a:xfrm>
          <a:prstGeom prst="rect">
            <a:avLst/>
          </a:prstGeom>
          <a:noFill/>
        </p:spPr>
        <p:txBody>
          <a:bodyPr wrap="square" lIns="0" tIns="0" rIns="0" bIns="0" anchor="t">
            <a:spAutoFit/>
          </a:bodyPr>
          <a:lstStyle/>
          <a:p>
            <a:pPr algn="l">
              <a:lnSpc>
                <a:spcPct val="100000"/>
              </a:lnSpc>
              <a:spcBef>
                <a:spcPts val="0"/>
              </a:spcBef>
              <a:spcAft>
                <a:spcPts val="600"/>
              </a:spcAft>
            </a:pPr>
            <a:r>
              <a:rPr sz="3000" b="1">
                <a:solidFill>
                  <a:srgbClr val="E07A5F"/>
                </a:solidFill>
                <a:latin typeface="Georgia"/>
              </a:rPr>
              <a:t>IV</a:t>
            </a:r>
          </a:p>
        </p:txBody>
      </p:sp>
      <p:sp>
        <p:nvSpPr>
          <p:cNvPr id="17" name="TextBox 16"/>
          <p:cNvSpPr txBox="1"/>
          <p:nvPr/>
        </p:nvSpPr>
        <p:spPr>
          <a:xfrm>
            <a:off x="6455664" y="3988730"/>
            <a:ext cx="5020056" cy="553998"/>
          </a:xfrm>
          <a:prstGeom prst="rect">
            <a:avLst/>
          </a:prstGeom>
          <a:noFill/>
        </p:spPr>
        <p:txBody>
          <a:bodyPr wrap="square" lIns="0" tIns="0" rIns="0" bIns="0" anchor="t">
            <a:spAutoFit/>
          </a:bodyPr>
          <a:lstStyle/>
          <a:p>
            <a:pPr>
              <a:spcAft>
                <a:spcPts val="400"/>
              </a:spcAft>
            </a:pPr>
            <a:r>
              <a:rPr lang="en-US" sz="1800" b="1" dirty="0">
                <a:solidFill>
                  <a:srgbClr val="1D3456"/>
                </a:solidFill>
                <a:latin typeface="Georgia"/>
              </a:rPr>
              <a:t>Soft Actor-Critic </a:t>
            </a:r>
            <a:r>
              <a:rPr lang="en-US" sz="1800" b="1" noProof="1">
                <a:solidFill>
                  <a:srgbClr val="1D3557"/>
                </a:solidFill>
                <a:latin typeface="Georgia"/>
              </a:rPr>
              <a:t>Reinforcement Learning</a:t>
            </a:r>
            <a:r>
              <a:rPr lang="en-US" sz="1800" b="1" dirty="0">
                <a:solidFill>
                  <a:srgbClr val="1D3456"/>
                </a:solidFill>
                <a:latin typeface="Georgia"/>
              </a:rPr>
              <a:t> (SAC-RL) on Controller</a:t>
            </a:r>
            <a:endParaRPr sz="1700" b="1" dirty="0">
              <a:solidFill>
                <a:srgbClr val="1D3456"/>
              </a:solidFill>
              <a:latin typeface="Georgia"/>
            </a:endParaRPr>
          </a:p>
        </p:txBody>
      </p:sp>
      <p:sp>
        <p:nvSpPr>
          <p:cNvPr id="18" name="Rounded Rectangle 14">
            <a:extLst>
              <a:ext uri="{FF2B5EF4-FFF2-40B4-BE49-F238E27FC236}">
                <a16:creationId xmlns:a16="http://schemas.microsoft.com/office/drawing/2014/main" id="{57639E3C-FA4E-4CF1-B45A-BD6E44E1039E}"/>
              </a:ext>
            </a:extLst>
          </p:cNvPr>
          <p:cNvSpPr/>
          <p:nvPr/>
        </p:nvSpPr>
        <p:spPr>
          <a:xfrm>
            <a:off x="868680" y="4983480"/>
            <a:ext cx="5202936" cy="1371600"/>
          </a:xfrm>
          <a:prstGeom prst="roundRect">
            <a:avLst>
              <a:gd name="adj" fmla="val 6000"/>
            </a:avLst>
          </a:prstGeom>
          <a:solidFill>
            <a:srgbClr val="FFFFFF"/>
          </a:solidFill>
          <a:ln w="12700">
            <a:solidFill>
              <a:srgbClr val="D9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a:extLst>
              <a:ext uri="{FF2B5EF4-FFF2-40B4-BE49-F238E27FC236}">
                <a16:creationId xmlns:a16="http://schemas.microsoft.com/office/drawing/2014/main" id="{E32E1EFE-F78B-48B7-B436-86C5A28DC3AA}"/>
              </a:ext>
            </a:extLst>
          </p:cNvPr>
          <p:cNvSpPr txBox="1"/>
          <p:nvPr/>
        </p:nvSpPr>
        <p:spPr>
          <a:xfrm>
            <a:off x="1051560" y="5129784"/>
            <a:ext cx="640080" cy="461665"/>
          </a:xfrm>
          <a:prstGeom prst="rect">
            <a:avLst/>
          </a:prstGeom>
          <a:noFill/>
        </p:spPr>
        <p:txBody>
          <a:bodyPr wrap="square" lIns="0" tIns="0" rIns="0" bIns="0" anchor="t">
            <a:spAutoFit/>
          </a:bodyPr>
          <a:lstStyle/>
          <a:p>
            <a:pPr algn="l">
              <a:lnSpc>
                <a:spcPct val="100000"/>
              </a:lnSpc>
              <a:spcBef>
                <a:spcPts val="0"/>
              </a:spcBef>
              <a:spcAft>
                <a:spcPts val="600"/>
              </a:spcAft>
            </a:pPr>
            <a:r>
              <a:rPr lang="en-US" sz="3000" b="1" dirty="0">
                <a:solidFill>
                  <a:srgbClr val="E07A5F"/>
                </a:solidFill>
                <a:latin typeface="Georgia"/>
              </a:rPr>
              <a:t>V</a:t>
            </a:r>
            <a:endParaRPr sz="3000" b="1" dirty="0">
              <a:solidFill>
                <a:srgbClr val="E07A5F"/>
              </a:solidFill>
              <a:latin typeface="Georgia"/>
            </a:endParaRPr>
          </a:p>
        </p:txBody>
      </p:sp>
      <p:sp>
        <p:nvSpPr>
          <p:cNvPr id="20" name="TextBox 19">
            <a:extLst>
              <a:ext uri="{FF2B5EF4-FFF2-40B4-BE49-F238E27FC236}">
                <a16:creationId xmlns:a16="http://schemas.microsoft.com/office/drawing/2014/main" id="{74E9CB1B-CAE9-4686-87B1-08ACD742B934}"/>
              </a:ext>
            </a:extLst>
          </p:cNvPr>
          <p:cNvSpPr txBox="1"/>
          <p:nvPr/>
        </p:nvSpPr>
        <p:spPr>
          <a:xfrm>
            <a:off x="1131570" y="5707935"/>
            <a:ext cx="4677156" cy="265329"/>
          </a:xfrm>
          <a:prstGeom prst="rect">
            <a:avLst/>
          </a:prstGeom>
          <a:noFill/>
        </p:spPr>
        <p:txBody>
          <a:bodyPr wrap="square" lIns="0" tIns="0" rIns="0" bIns="0" anchor="t">
            <a:spAutoFit/>
          </a:bodyPr>
          <a:lstStyle/>
          <a:p>
            <a:pPr algn="l">
              <a:lnSpc>
                <a:spcPct val="102000"/>
              </a:lnSpc>
              <a:spcBef>
                <a:spcPts val="0"/>
              </a:spcBef>
              <a:spcAft>
                <a:spcPts val="600"/>
              </a:spcAft>
            </a:pPr>
            <a:r>
              <a:rPr lang="en-US" sz="1800" b="1" dirty="0">
                <a:solidFill>
                  <a:srgbClr val="1D3557"/>
                </a:solidFill>
                <a:latin typeface="Georgia"/>
              </a:rPr>
              <a:t>Denoise the speed of a nonlinear plant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BFAF6"/>
        </a:solidFill>
        <a:effectLst/>
      </p:bgPr>
    </p:bg>
    <p:spTree>
      <p:nvGrpSpPr>
        <p:cNvPr id="1" name=""/>
        <p:cNvGrpSpPr/>
        <p:nvPr/>
      </p:nvGrpSpPr>
      <p:grpSpPr>
        <a:xfrm>
          <a:off x="0" y="0"/>
          <a:ext cx="0" cy="0"/>
          <a:chOff x="0" y="0"/>
          <a:chExt cx="0" cy="0"/>
        </a:xfrm>
      </p:grpSpPr>
      <p:sp>
        <p:nvSpPr>
          <p:cNvPr id="2" name="Rectangle 1"/>
          <p:cNvSpPr/>
          <p:nvPr/>
        </p:nvSpPr>
        <p:spPr>
          <a:xfrm>
            <a:off x="566928" y="502920"/>
            <a:ext cx="17780" cy="5852160"/>
          </a:xfrm>
          <a:prstGeom prst="rect">
            <a:avLst/>
          </a:prstGeom>
          <a:solidFill>
            <a:srgbClr val="D9D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3" name="Rectangle 2"/>
          <p:cNvSpPr/>
          <p:nvPr/>
        </p:nvSpPr>
        <p:spPr>
          <a:xfrm>
            <a:off x="566928" y="502920"/>
            <a:ext cx="30480" cy="56692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4" name="TextBox 3"/>
          <p:cNvSpPr txBox="1"/>
          <p:nvPr/>
        </p:nvSpPr>
        <p:spPr>
          <a:xfrm>
            <a:off x="868680" y="548640"/>
            <a:ext cx="10607040" cy="169277"/>
          </a:xfrm>
          <a:prstGeom prst="rect">
            <a:avLst/>
          </a:prstGeom>
          <a:noFill/>
        </p:spPr>
        <p:txBody>
          <a:bodyPr wrap="square" lIns="0" tIns="0" rIns="0" bIns="0" anchor="t">
            <a:spAutoFit/>
          </a:bodyPr>
          <a:lstStyle/>
          <a:p>
            <a:pPr>
              <a:lnSpc>
                <a:spcPct val="100000"/>
              </a:lnSpc>
            </a:pPr>
            <a:r>
              <a:rPr lang="en-US" sz="1100" b="1" noProof="1">
                <a:solidFill>
                  <a:srgbClr val="E07A5F"/>
                </a:solidFill>
                <a:latin typeface="Consolas"/>
              </a:rPr>
              <a:t>A1  </a:t>
            </a:r>
            <a:r>
              <a:rPr lang="en-US" sz="1100" b="1" noProof="1">
                <a:solidFill>
                  <a:srgbClr val="2A9D8F"/>
                </a:solidFill>
                <a:latin typeface="Consolas"/>
              </a:rPr>
              <a:t>Vertical Pendulum Control</a:t>
            </a:r>
            <a:r>
              <a:rPr lang="en-US" sz="1100" noProof="1">
                <a:solidFill>
                  <a:srgbClr val="2A9D8F"/>
                </a:solidFill>
                <a:latin typeface="Consolas"/>
              </a:rPr>
              <a:t> - Introduction</a:t>
            </a:r>
          </a:p>
        </p:txBody>
      </p:sp>
      <p:sp>
        <p:nvSpPr>
          <p:cNvPr id="62" name="TextBox 61">
            <a:extLst>
              <a:ext uri="{FF2B5EF4-FFF2-40B4-BE49-F238E27FC236}">
                <a16:creationId xmlns:a16="http://schemas.microsoft.com/office/drawing/2014/main" id="{94F8AA02-4EDF-E48D-5C80-B00E2F9F72D7}"/>
              </a:ext>
            </a:extLst>
          </p:cNvPr>
          <p:cNvSpPr txBox="1"/>
          <p:nvPr/>
        </p:nvSpPr>
        <p:spPr>
          <a:xfrm>
            <a:off x="868680" y="960120"/>
            <a:ext cx="10607040" cy="412805"/>
          </a:xfrm>
          <a:prstGeom prst="rect">
            <a:avLst/>
          </a:prstGeom>
          <a:noFill/>
        </p:spPr>
        <p:txBody>
          <a:bodyPr wrap="square" lIns="0" tIns="0" rIns="0" bIns="0" anchor="t">
            <a:spAutoFit/>
          </a:bodyPr>
          <a:lstStyle/>
          <a:p>
            <a:pPr algn="l">
              <a:lnSpc>
                <a:spcPct val="102000"/>
              </a:lnSpc>
              <a:spcBef>
                <a:spcPts val="0"/>
              </a:spcBef>
              <a:spcAft>
                <a:spcPts val="600"/>
              </a:spcAft>
            </a:pPr>
            <a:r>
              <a:rPr lang="en-US" sz="2800" b="1" noProof="1">
                <a:solidFill>
                  <a:srgbClr val="1D3557"/>
                </a:solidFill>
                <a:latin typeface="Georgia"/>
              </a:rPr>
              <a:t>Problem Formulation</a:t>
            </a:r>
          </a:p>
        </p:txBody>
      </p:sp>
      <p:sp>
        <p:nvSpPr>
          <p:cNvPr id="63" name="TextBox 62">
            <a:extLst>
              <a:ext uri="{FF2B5EF4-FFF2-40B4-BE49-F238E27FC236}">
                <a16:creationId xmlns:a16="http://schemas.microsoft.com/office/drawing/2014/main" id="{269A41D6-6C3E-66BA-CD58-07C035DE5429}"/>
              </a:ext>
            </a:extLst>
          </p:cNvPr>
          <p:cNvSpPr txBox="1"/>
          <p:nvPr/>
        </p:nvSpPr>
        <p:spPr>
          <a:xfrm>
            <a:off x="906780" y="1461856"/>
            <a:ext cx="10970278" cy="775597"/>
          </a:xfrm>
          <a:prstGeom prst="rect">
            <a:avLst/>
          </a:prstGeom>
          <a:noFill/>
        </p:spPr>
        <p:txBody>
          <a:bodyPr wrap="square" lIns="0" tIns="0" rIns="0" bIns="0" anchor="t">
            <a:spAutoFit/>
          </a:bodyPr>
          <a:lstStyle/>
          <a:p>
            <a:pPr>
              <a:lnSpc>
                <a:spcPct val="120000"/>
              </a:lnSpc>
            </a:pPr>
            <a:r>
              <a:rPr lang="th-TH" sz="1400" dirty="0"/>
              <a:t>Our work focused on the speed control of a brushed DC motor with a vertical pendulum using several control techniques. To make the project accessible and easy to understand, we used Python to derive the system dynamics by modeling the mathematical equations and validated the correctness of the mathematical model using Simulink Multibody.</a:t>
            </a:r>
            <a:endParaRPr lang="en-US" sz="1400" noProof="1">
              <a:solidFill>
                <a:srgbClr val="1D3557"/>
              </a:solidFill>
            </a:endParaRPr>
          </a:p>
        </p:txBody>
      </p:sp>
      <mc:AlternateContent xmlns:mc="http://schemas.openxmlformats.org/markup-compatibility/2006" xmlns:a14="http://schemas.microsoft.com/office/drawing/2010/main">
        <mc:Choice Requires="a14">
          <p:graphicFrame>
            <p:nvGraphicFramePr>
              <p:cNvPr id="68" name="Table 67">
                <a:extLst>
                  <a:ext uri="{FF2B5EF4-FFF2-40B4-BE49-F238E27FC236}">
                    <a16:creationId xmlns:a16="http://schemas.microsoft.com/office/drawing/2014/main" id="{23321865-6DE8-7F96-8782-E4168BE9C3FE}"/>
                  </a:ext>
                </a:extLst>
              </p:cNvPr>
              <p:cNvGraphicFramePr>
                <a:graphicFrameLocks noGrp="1"/>
              </p:cNvGraphicFramePr>
              <p:nvPr>
                <p:extLst>
                  <p:ext uri="{D42A27DB-BD31-4B8C-83A1-F6EECF244321}">
                    <p14:modId xmlns:p14="http://schemas.microsoft.com/office/powerpoint/2010/main" val="2602769045"/>
                  </p:ext>
                </p:extLst>
              </p:nvPr>
            </p:nvGraphicFramePr>
            <p:xfrm>
              <a:off x="8935661" y="2161072"/>
              <a:ext cx="2960389" cy="3291840"/>
            </p:xfrm>
            <a:graphic>
              <a:graphicData uri="http://schemas.openxmlformats.org/drawingml/2006/table">
                <a:tbl>
                  <a:tblPr>
                    <a:tableStyleId>{5C22544A-7EE6-4342-B048-85BDC9FD1C3A}</a:tableStyleId>
                  </a:tblPr>
                  <a:tblGrid>
                    <a:gridCol w="633361">
                      <a:extLst>
                        <a:ext uri="{9D8B030D-6E8A-4147-A177-3AD203B41FA5}">
                          <a16:colId xmlns:a16="http://schemas.microsoft.com/office/drawing/2014/main" val="20000"/>
                        </a:ext>
                      </a:extLst>
                    </a:gridCol>
                    <a:gridCol w="1333500">
                      <a:extLst>
                        <a:ext uri="{9D8B030D-6E8A-4147-A177-3AD203B41FA5}">
                          <a16:colId xmlns:a16="http://schemas.microsoft.com/office/drawing/2014/main" val="20001"/>
                        </a:ext>
                      </a:extLst>
                    </a:gridCol>
                    <a:gridCol w="993528">
                      <a:extLst>
                        <a:ext uri="{9D8B030D-6E8A-4147-A177-3AD203B41FA5}">
                          <a16:colId xmlns:a16="http://schemas.microsoft.com/office/drawing/2014/main" val="1959305102"/>
                        </a:ext>
                      </a:extLst>
                    </a:gridCol>
                  </a:tblGrid>
                  <a:tr h="411480">
                    <a:tc>
                      <a:txBody>
                        <a:bodyPr/>
                        <a:lstStyle/>
                        <a:p>
                          <a:pPr algn="ctr"/>
                          <a:r>
                            <a:rPr lang="en-US" sz="1200" b="0" noProof="1">
                              <a:solidFill>
                                <a:srgbClr val="1D3557"/>
                              </a:solidFill>
                              <a:latin typeface="+mn-lt"/>
                            </a:rPr>
                            <a:t>Symbol</a:t>
                          </a:r>
                        </a:p>
                      </a:txBody>
                      <a:tcPr marL="73152" marT="27432" marB="27432" anchor="ctr">
                        <a:solidFill>
                          <a:srgbClr val="FBFAF6"/>
                        </a:solidFill>
                      </a:tcPr>
                    </a:tc>
                    <a:tc>
                      <a:txBody>
                        <a:bodyPr/>
                        <a:lstStyle/>
                        <a:p>
                          <a:pPr algn="ctr"/>
                          <a:r>
                            <a:rPr lang="en-US" sz="1200" b="0" noProof="1">
                              <a:solidFill>
                                <a:srgbClr val="4A5A66"/>
                              </a:solidFill>
                              <a:latin typeface="+mn-lt"/>
                            </a:rPr>
                            <a:t>Description</a:t>
                          </a:r>
                        </a:p>
                      </a:txBody>
                      <a:tcPr marL="73152" marT="27432" marB="27432" anchor="ctr">
                        <a:solidFill>
                          <a:srgbClr val="FBFAF6"/>
                        </a:solidFill>
                      </a:tcPr>
                    </a:tc>
                    <a:tc>
                      <a:txBody>
                        <a:bodyPr/>
                        <a:lstStyle/>
                        <a:p>
                          <a:pPr algn="ctr"/>
                          <a:r>
                            <a:rPr lang="en-US" sz="1200" b="0" noProof="1">
                              <a:solidFill>
                                <a:srgbClr val="4A5A66"/>
                              </a:solidFill>
                              <a:latin typeface="+mn-lt"/>
                            </a:rPr>
                            <a:t>Value</a:t>
                          </a:r>
                        </a:p>
                      </a:txBody>
                      <a:tcPr marL="73152" marT="27432" marB="27432" anchor="ctr">
                        <a:solidFill>
                          <a:srgbClr val="FBFAF6"/>
                        </a:solidFill>
                      </a:tcPr>
                    </a:tc>
                    <a:extLst>
                      <a:ext uri="{0D108BD9-81ED-4DB2-BD59-A6C34878D82A}">
                        <a16:rowId xmlns:a16="http://schemas.microsoft.com/office/drawing/2014/main" val="2612851237"/>
                      </a:ext>
                    </a:extLst>
                  </a:tr>
                  <a:tr h="411480">
                    <a:tc>
                      <a:txBody>
                        <a:bodyPr/>
                        <a:lstStyle/>
                        <a:p>
                          <a:pPr algn="ctr"/>
                          <a:r>
                            <a:rPr lang="en-US" sz="1200" b="0" noProof="1">
                              <a:solidFill>
                                <a:srgbClr val="1D3557"/>
                              </a:solidFill>
                              <a:latin typeface="+mn-lt"/>
                            </a:rPr>
                            <a:t>L</a:t>
                          </a:r>
                        </a:p>
                      </a:txBody>
                      <a:tcPr marL="73152" marT="27432" marB="27432" anchor="ctr">
                        <a:solidFill>
                          <a:srgbClr val="FBFAF6"/>
                        </a:solidFill>
                      </a:tcPr>
                    </a:tc>
                    <a:tc>
                      <a:txBody>
                        <a:bodyPr/>
                        <a:lstStyle/>
                        <a:p>
                          <a:r>
                            <a:rPr lang="en-US" sz="1200" b="0" noProof="1">
                              <a:solidFill>
                                <a:srgbClr val="4A5A66"/>
                              </a:solidFill>
                              <a:latin typeface="+mn-lt"/>
                            </a:rPr>
                            <a:t>Motor inductance</a:t>
                          </a:r>
                        </a:p>
                      </a:txBody>
                      <a:tcPr marL="73152" marT="27432" marB="27432" anchor="ctr">
                        <a:solidFill>
                          <a:srgbClr val="FBFAF6"/>
                        </a:solidFill>
                      </a:tcPr>
                    </a:tc>
                    <a:tc>
                      <a:txBody>
                        <a:bodyPr/>
                        <a:lstStyle/>
                        <a:p>
                          <a:pPr algn="ctr"/>
                          <a:r>
                            <a:rPr lang="en-US" sz="1200" b="0" noProof="1">
                              <a:solidFill>
                                <a:srgbClr val="4A5A66"/>
                              </a:solidFill>
                              <a:latin typeface="+mn-lt"/>
                            </a:rPr>
                            <a:t>4.0e-3</a:t>
                          </a:r>
                        </a:p>
                      </a:txBody>
                      <a:tcPr marL="73152" marT="27432" marB="27432" anchor="ctr">
                        <a:solidFill>
                          <a:srgbClr val="FBFAF6"/>
                        </a:solidFill>
                      </a:tcPr>
                    </a:tc>
                    <a:extLst>
                      <a:ext uri="{0D108BD9-81ED-4DB2-BD59-A6C34878D82A}">
                        <a16:rowId xmlns:a16="http://schemas.microsoft.com/office/drawing/2014/main" val="10000"/>
                      </a:ext>
                    </a:extLst>
                  </a:tr>
                  <a:tr h="411480">
                    <a:tc>
                      <a:txBody>
                        <a:bodyPr/>
                        <a:lstStyle/>
                        <a:p>
                          <a:pPr/>
                          <a14:m>
                            <m:oMathPara xmlns:m="http://schemas.openxmlformats.org/officeDocument/2006/math">
                              <m:oMathParaPr>
                                <m:jc m:val="centerGroup"/>
                              </m:oMathParaPr>
                              <m:oMath xmlns:m="http://schemas.openxmlformats.org/officeDocument/2006/math">
                                <m:sSub>
                                  <m:sSubPr>
                                    <m:ctrlPr>
                                      <a:rPr lang="en-US" sz="1200" b="0" i="1" noProof="1" smtClean="0">
                                        <a:solidFill>
                                          <a:srgbClr val="1D3557"/>
                                        </a:solidFill>
                                        <a:latin typeface="Cambria Math" panose="02040503050406030204" pitchFamily="18" charset="0"/>
                                      </a:rPr>
                                    </m:ctrlPr>
                                  </m:sSubPr>
                                  <m:e>
                                    <m:r>
                                      <a:rPr lang="en-US" sz="1200" b="0" i="1" noProof="1" smtClean="0">
                                        <a:solidFill>
                                          <a:srgbClr val="1D3557"/>
                                        </a:solidFill>
                                        <a:latin typeface="Cambria Math" panose="02040503050406030204" pitchFamily="18" charset="0"/>
                                      </a:rPr>
                                      <m:t>𝑉</m:t>
                                    </m:r>
                                  </m:e>
                                  <m:sub>
                                    <m:r>
                                      <a:rPr lang="en-US" sz="1200" b="0" i="1" noProof="1" smtClean="0">
                                        <a:solidFill>
                                          <a:srgbClr val="1D3557"/>
                                        </a:solidFill>
                                        <a:latin typeface="Cambria Math" panose="02040503050406030204" pitchFamily="18" charset="0"/>
                                      </a:rPr>
                                      <m:t>𝑖𝑛</m:t>
                                    </m:r>
                                  </m:sub>
                                </m:sSub>
                              </m:oMath>
                            </m:oMathPara>
                          </a14:m>
                          <a:endParaRPr lang="en-US" sz="1200" b="0" noProof="1">
                            <a:solidFill>
                              <a:srgbClr val="1D3557"/>
                            </a:solidFill>
                            <a:latin typeface="+mn-lt"/>
                          </a:endParaRPr>
                        </a:p>
                      </a:txBody>
                      <a:tcPr marL="73152" marT="27432" marB="27432" anchor="ctr">
                        <a:solidFill>
                          <a:srgbClr val="FBFAF6"/>
                        </a:solidFill>
                      </a:tcPr>
                    </a:tc>
                    <a:tc>
                      <a:txBody>
                        <a:bodyPr/>
                        <a:lstStyle/>
                        <a:p>
                          <a:r>
                            <a:rPr lang="en-US" sz="1200" b="0" noProof="1">
                              <a:solidFill>
                                <a:srgbClr val="4A5A66"/>
                              </a:solidFill>
                              <a:latin typeface="+mn-lt"/>
                            </a:rPr>
                            <a:t>Input voltage</a:t>
                          </a:r>
                        </a:p>
                      </a:txBody>
                      <a:tcPr marL="73152" marT="27432" marB="27432" anchor="ctr">
                        <a:solidFill>
                          <a:srgbClr val="FBFAF6"/>
                        </a:solidFill>
                      </a:tcPr>
                    </a:tc>
                    <a:tc>
                      <a:txBody>
                        <a:bodyPr/>
                        <a:lstStyle/>
                        <a:p>
                          <a:pPr algn="ctr"/>
                          <a:r>
                            <a:rPr lang="en-US" sz="1200" b="0" noProof="1">
                              <a:solidFill>
                                <a:srgbClr val="4A5A66"/>
                              </a:solidFill>
                              <a:latin typeface="+mn-lt"/>
                            </a:rPr>
                            <a:t>[-12.0, 12.0]</a:t>
                          </a:r>
                        </a:p>
                      </a:txBody>
                      <a:tcPr marL="73152" marT="27432" marB="27432" anchor="ctr">
                        <a:solidFill>
                          <a:srgbClr val="FBFAF6"/>
                        </a:solidFill>
                      </a:tcPr>
                    </a:tc>
                    <a:extLst>
                      <a:ext uri="{0D108BD9-81ED-4DB2-BD59-A6C34878D82A}">
                        <a16:rowId xmlns:a16="http://schemas.microsoft.com/office/drawing/2014/main" val="10001"/>
                      </a:ext>
                    </a:extLst>
                  </a:tr>
                  <a:tr h="411480">
                    <a:tc>
                      <a:txBody>
                        <a:bodyPr/>
                        <a:lstStyle/>
                        <a:p>
                          <a:pPr algn="ctr"/>
                          <a:r>
                            <a:rPr lang="en-US" sz="1200" b="0" noProof="1">
                              <a:solidFill>
                                <a:srgbClr val="1D3557"/>
                              </a:solidFill>
                              <a:latin typeface="+mn-lt"/>
                            </a:rPr>
                            <a:t>R</a:t>
                          </a:r>
                          <a:endParaRPr lang="en-US" sz="1200" b="0" i="1" noProof="1">
                            <a:solidFill>
                              <a:srgbClr val="1D3557"/>
                            </a:solidFill>
                            <a:latin typeface="+mn-lt"/>
                          </a:endParaRPr>
                        </a:p>
                      </a:txBody>
                      <a:tcPr marL="73152" marT="27432" marB="27432" anchor="ctr">
                        <a:solidFill>
                          <a:srgbClr val="FBFAF6"/>
                        </a:solidFill>
                      </a:tcPr>
                    </a:tc>
                    <a:tc>
                      <a:txBody>
                        <a:bodyPr/>
                        <a:lstStyle/>
                        <a:p>
                          <a:r>
                            <a:rPr lang="en-US" sz="1200" b="0" noProof="1">
                              <a:solidFill>
                                <a:srgbClr val="4A5A66"/>
                              </a:solidFill>
                              <a:latin typeface="+mn-lt"/>
                            </a:rPr>
                            <a:t>Motor Resistancce</a:t>
                          </a:r>
                        </a:p>
                      </a:txBody>
                      <a:tcPr marL="73152" marT="27432" marB="27432" anchor="ctr">
                        <a:solidFill>
                          <a:srgbClr val="FBFAF6"/>
                        </a:solidFill>
                      </a:tcPr>
                    </a:tc>
                    <a:tc>
                      <a:txBody>
                        <a:bodyPr/>
                        <a:lstStyle/>
                        <a:p>
                          <a:pPr algn="ctr"/>
                          <a:r>
                            <a:rPr lang="en-US" sz="1200" b="0" noProof="1">
                              <a:solidFill>
                                <a:srgbClr val="4A5A66"/>
                              </a:solidFill>
                              <a:latin typeface="+mn-lt"/>
                            </a:rPr>
                            <a:t>3.0</a:t>
                          </a:r>
                        </a:p>
                      </a:txBody>
                      <a:tcPr marL="73152" marT="27432" marB="27432" anchor="ctr">
                        <a:solidFill>
                          <a:srgbClr val="FBFAF6"/>
                        </a:solidFill>
                      </a:tcPr>
                    </a:tc>
                    <a:extLst>
                      <a:ext uri="{0D108BD9-81ED-4DB2-BD59-A6C34878D82A}">
                        <a16:rowId xmlns:a16="http://schemas.microsoft.com/office/drawing/2014/main" val="10002"/>
                      </a:ext>
                    </a:extLst>
                  </a:tr>
                  <a:tr h="411480">
                    <a:tc>
                      <a:txBody>
                        <a:bodyPr/>
                        <a:lstStyle/>
                        <a:p>
                          <a:pPr algn="ctr"/>
                          <a14:m>
                            <m:oMath xmlns:m="http://schemas.openxmlformats.org/officeDocument/2006/math">
                              <m:sSub>
                                <m:sSubPr>
                                  <m:ctrlPr>
                                    <a:rPr lang="en-US" sz="1200" b="0" i="1" noProof="1" smtClean="0">
                                      <a:solidFill>
                                        <a:srgbClr val="1D3557"/>
                                      </a:solidFill>
                                      <a:latin typeface="Cambria Math" panose="02040503050406030204" pitchFamily="18" charset="0"/>
                                    </a:rPr>
                                  </m:ctrlPr>
                                </m:sSubPr>
                                <m:e>
                                  <m:r>
                                    <a:rPr lang="en-US" sz="1200" b="0" i="1" noProof="1" smtClean="0">
                                      <a:solidFill>
                                        <a:srgbClr val="1D3557"/>
                                      </a:solidFill>
                                      <a:latin typeface="Cambria Math" panose="02040503050406030204" pitchFamily="18" charset="0"/>
                                    </a:rPr>
                                    <m:t>𝐾</m:t>
                                  </m:r>
                                </m:e>
                                <m:sub>
                                  <m:r>
                                    <a:rPr lang="en-US" sz="1200" b="0" i="1" noProof="1" smtClean="0">
                                      <a:solidFill>
                                        <a:srgbClr val="1D3557"/>
                                      </a:solidFill>
                                      <a:latin typeface="Cambria Math" panose="02040503050406030204" pitchFamily="18" charset="0"/>
                                    </a:rPr>
                                    <m:t>𝑏</m:t>
                                  </m:r>
                                </m:sub>
                              </m:sSub>
                            </m:oMath>
                          </a14:m>
                          <a:r>
                            <a:rPr lang="en-US" sz="1200" b="0" noProof="1">
                              <a:solidFill>
                                <a:srgbClr val="1D3557"/>
                              </a:solidFill>
                              <a:latin typeface="+mn-lt"/>
                            </a:rPr>
                            <a:t>, </a:t>
                          </a:r>
                          <a14:m>
                            <m:oMath xmlns:m="http://schemas.openxmlformats.org/officeDocument/2006/math">
                              <m:sSub>
                                <m:sSubPr>
                                  <m:ctrlPr>
                                    <a:rPr lang="en-US" sz="1200" b="0" i="1" noProof="1" smtClean="0">
                                      <a:solidFill>
                                        <a:srgbClr val="1D3557"/>
                                      </a:solidFill>
                                      <a:latin typeface="Cambria Math" panose="02040503050406030204" pitchFamily="18" charset="0"/>
                                    </a:rPr>
                                  </m:ctrlPr>
                                </m:sSubPr>
                                <m:e>
                                  <m:r>
                                    <a:rPr lang="en-US" sz="1200" b="0" i="1" noProof="1" smtClean="0">
                                      <a:solidFill>
                                        <a:srgbClr val="1D3557"/>
                                      </a:solidFill>
                                      <a:latin typeface="Cambria Math" panose="02040503050406030204" pitchFamily="18" charset="0"/>
                                    </a:rPr>
                                    <m:t>𝐾</m:t>
                                  </m:r>
                                </m:e>
                                <m:sub>
                                  <m:r>
                                    <a:rPr lang="en-US" sz="1200" b="0" i="1" noProof="1" smtClean="0">
                                      <a:solidFill>
                                        <a:srgbClr val="1D3557"/>
                                      </a:solidFill>
                                      <a:latin typeface="Cambria Math" panose="02040503050406030204" pitchFamily="18" charset="0"/>
                                    </a:rPr>
                                    <m:t>𝑡</m:t>
                                  </m:r>
                                </m:sub>
                              </m:sSub>
                            </m:oMath>
                          </a14:m>
                          <a:endParaRPr lang="en-US" sz="1200" b="0" noProof="1">
                            <a:solidFill>
                              <a:srgbClr val="1D3557"/>
                            </a:solidFill>
                            <a:latin typeface="+mn-lt"/>
                          </a:endParaRPr>
                        </a:p>
                      </a:txBody>
                      <a:tcPr marL="73152" marT="27432" marB="27432" anchor="ctr">
                        <a:solidFill>
                          <a:srgbClr val="FBFAF6"/>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0" noProof="1">
                              <a:solidFill>
                                <a:srgbClr val="4A5A66"/>
                              </a:solidFill>
                              <a:latin typeface="+mn-lt"/>
                            </a:rPr>
                            <a:t>Motor Constant</a:t>
                          </a:r>
                        </a:p>
                      </a:txBody>
                      <a:tcPr marL="73152" marT="27432" marB="27432" anchor="ctr">
                        <a:solidFill>
                          <a:srgbClr val="FBFAF6"/>
                        </a:solidFill>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200" b="0" noProof="1">
                              <a:solidFill>
                                <a:srgbClr val="4A5A66"/>
                              </a:solidFill>
                              <a:latin typeface="+mn-lt"/>
                            </a:rPr>
                            <a:t>0.05</a:t>
                          </a:r>
                        </a:p>
                      </a:txBody>
                      <a:tcPr marL="73152" marT="27432" marB="27432" anchor="ctr">
                        <a:solidFill>
                          <a:srgbClr val="FBFAF6"/>
                        </a:solidFill>
                      </a:tcPr>
                    </a:tc>
                    <a:extLst>
                      <a:ext uri="{0D108BD9-81ED-4DB2-BD59-A6C34878D82A}">
                        <a16:rowId xmlns:a16="http://schemas.microsoft.com/office/drawing/2014/main" val="10003"/>
                      </a:ext>
                    </a:extLst>
                  </a:tr>
                  <a:tr h="411480">
                    <a:tc>
                      <a:txBody>
                        <a:bodyPr/>
                        <a:lstStyle/>
                        <a:p>
                          <a:pPr algn="ctr"/>
                          <a14:m>
                            <m:oMathPara xmlns:m="http://schemas.openxmlformats.org/officeDocument/2006/math">
                              <m:oMathParaPr>
                                <m:jc m:val="centerGroup"/>
                              </m:oMathParaPr>
                              <m:oMath xmlns:m="http://schemas.openxmlformats.org/officeDocument/2006/math">
                                <m:sSub>
                                  <m:sSubPr>
                                    <m:ctrlPr>
                                      <a:rPr lang="en-US" sz="1200" b="0" i="1" noProof="1" smtClean="0">
                                        <a:solidFill>
                                          <a:srgbClr val="1D3557"/>
                                        </a:solidFill>
                                        <a:latin typeface="Cambria Math" panose="02040503050406030204" pitchFamily="18" charset="0"/>
                                      </a:rPr>
                                    </m:ctrlPr>
                                  </m:sSubPr>
                                  <m:e>
                                    <m:r>
                                      <a:rPr lang="en-US" sz="1200" b="0" i="1" noProof="1" smtClean="0">
                                        <a:solidFill>
                                          <a:srgbClr val="1D3557"/>
                                        </a:solidFill>
                                        <a:latin typeface="Cambria Math" panose="02040503050406030204" pitchFamily="18" charset="0"/>
                                      </a:rPr>
                                      <m:t>𝐽</m:t>
                                    </m:r>
                                  </m:e>
                                  <m:sub>
                                    <m:r>
                                      <a:rPr lang="en-US" sz="1200" b="0" i="1" noProof="1" smtClean="0">
                                        <a:solidFill>
                                          <a:srgbClr val="1D3557"/>
                                        </a:solidFill>
                                        <a:latin typeface="Cambria Math" panose="02040503050406030204" pitchFamily="18" charset="0"/>
                                      </a:rPr>
                                      <m:t>𝑒𝑓</m:t>
                                    </m:r>
                                  </m:sub>
                                </m:sSub>
                              </m:oMath>
                            </m:oMathPara>
                          </a14:m>
                          <a:endParaRPr lang="en-US" sz="1200" b="0" noProof="1">
                            <a:solidFill>
                              <a:srgbClr val="1D3557"/>
                            </a:solidFill>
                            <a:latin typeface="+mn-lt"/>
                          </a:endParaRPr>
                        </a:p>
                      </a:txBody>
                      <a:tcPr marL="73152" marT="27432" marB="27432" anchor="ctr">
                        <a:solidFill>
                          <a:srgbClr val="FBFAF6"/>
                        </a:solidFill>
                      </a:tcPr>
                    </a:tc>
                    <a:tc>
                      <a:txBody>
                        <a:bodyPr/>
                        <a:lstStyle/>
                        <a:p>
                          <a:r>
                            <a:rPr lang="en-US" sz="1200" b="0" noProof="1">
                              <a:solidFill>
                                <a:srgbClr val="4A5A66"/>
                              </a:solidFill>
                              <a:latin typeface="+mn-lt"/>
                            </a:rPr>
                            <a:t>Total Inertia</a:t>
                          </a:r>
                        </a:p>
                      </a:txBody>
                      <a:tcPr marL="73152" marT="27432" marB="27432" anchor="ctr">
                        <a:solidFill>
                          <a:srgbClr val="FBFAF6"/>
                        </a:solidFill>
                      </a:tcPr>
                    </a:tc>
                    <a:tc>
                      <a:txBody>
                        <a:bodyPr/>
                        <a:lstStyle/>
                        <a:p>
                          <a:pPr algn="ctr"/>
                          <a:r>
                            <a:rPr lang="en-US" sz="1200" b="0" noProof="1">
                              <a:solidFill>
                                <a:srgbClr val="4A5A66"/>
                              </a:solidFill>
                              <a:latin typeface="+mn-lt"/>
                            </a:rPr>
                            <a:t>7.04e-5</a:t>
                          </a:r>
                        </a:p>
                      </a:txBody>
                      <a:tcPr marL="73152" marT="27432" marB="27432" anchor="ctr">
                        <a:solidFill>
                          <a:srgbClr val="FBFAF6"/>
                        </a:solidFill>
                      </a:tcPr>
                    </a:tc>
                    <a:extLst>
                      <a:ext uri="{0D108BD9-81ED-4DB2-BD59-A6C34878D82A}">
                        <a16:rowId xmlns:a16="http://schemas.microsoft.com/office/drawing/2014/main" val="10004"/>
                      </a:ext>
                    </a:extLst>
                  </a:tr>
                  <a:tr h="411480">
                    <a:tc>
                      <a:txBody>
                        <a:bodyPr/>
                        <a:lstStyle/>
                        <a:p>
                          <a:pPr algn="ctr"/>
                          <a:r>
                            <a:rPr lang="en-US" sz="1200" b="0" i="0" noProof="1">
                              <a:solidFill>
                                <a:srgbClr val="495A66"/>
                              </a:solidFill>
                              <a:latin typeface="+mn-lt"/>
                            </a:rPr>
                            <a:t>m</a:t>
                          </a:r>
                        </a:p>
                      </a:txBody>
                      <a:tcPr marL="73152" marT="27432" marB="27432" anchor="ctr">
                        <a:solidFill>
                          <a:srgbClr val="FBFAF6"/>
                        </a:solidFill>
                      </a:tcPr>
                    </a:tc>
                    <a:tc>
                      <a:txBody>
                        <a:bodyPr/>
                        <a:lstStyle/>
                        <a:p>
                          <a:r>
                            <a:rPr lang="en-US" sz="1200" b="0" i="0" kern="1200" dirty="0">
                              <a:solidFill>
                                <a:srgbClr val="495A66"/>
                              </a:solidFill>
                              <a:effectLst/>
                              <a:latin typeface="+mn-lt"/>
                              <a:ea typeface="+mn-ea"/>
                              <a:cs typeface="+mn-cs"/>
                            </a:rPr>
                            <a:t>End effector mass</a:t>
                          </a:r>
                          <a:endParaRPr lang="en-US" sz="1200" b="1" noProof="1">
                            <a:solidFill>
                              <a:srgbClr val="495A66"/>
                            </a:solidFill>
                            <a:latin typeface="+mn-lt"/>
                          </a:endParaRPr>
                        </a:p>
                      </a:txBody>
                      <a:tcPr marL="73152" marT="27432" marB="27432" anchor="ctr">
                        <a:solidFill>
                          <a:srgbClr val="FBFAF6"/>
                        </a:solidFill>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200" b="0" noProof="1">
                              <a:solidFill>
                                <a:srgbClr val="4A5A66"/>
                              </a:solidFill>
                              <a:latin typeface="+mn-lt"/>
                            </a:rPr>
                            <a:t>0.05</a:t>
                          </a:r>
                        </a:p>
                      </a:txBody>
                      <a:tcPr marL="73152" marT="27432" marB="27432" anchor="ctr">
                        <a:solidFill>
                          <a:srgbClr val="FBFAF6"/>
                        </a:solidFill>
                      </a:tcPr>
                    </a:tc>
                    <a:extLst>
                      <a:ext uri="{0D108BD9-81ED-4DB2-BD59-A6C34878D82A}">
                        <a16:rowId xmlns:a16="http://schemas.microsoft.com/office/drawing/2014/main" val="3264284527"/>
                      </a:ext>
                    </a:extLst>
                  </a:tr>
                  <a:tr h="411480">
                    <a:tc>
                      <a:txBody>
                        <a:bodyPr/>
                        <a:lstStyle/>
                        <a:p>
                          <a:pPr algn="ctr"/>
                          <a14:m>
                            <m:oMathPara xmlns:m="http://schemas.openxmlformats.org/officeDocument/2006/math">
                              <m:oMathParaPr>
                                <m:jc m:val="centerGroup"/>
                              </m:oMathParaPr>
                              <m:oMath xmlns:m="http://schemas.openxmlformats.org/officeDocument/2006/math">
                                <m:sSub>
                                  <m:sSubPr>
                                    <m:ctrlPr>
                                      <a:rPr lang="en-US" sz="1200" b="0" i="1" noProof="1" smtClean="0">
                                        <a:solidFill>
                                          <a:srgbClr val="495A66"/>
                                        </a:solidFill>
                                        <a:latin typeface="Cambria Math" panose="02040503050406030204" pitchFamily="18" charset="0"/>
                                      </a:rPr>
                                    </m:ctrlPr>
                                  </m:sSubPr>
                                  <m:e>
                                    <m:r>
                                      <a:rPr lang="en-US" sz="1200" b="0" i="1" noProof="1" smtClean="0">
                                        <a:solidFill>
                                          <a:srgbClr val="495A66"/>
                                        </a:solidFill>
                                        <a:latin typeface="Cambria Math" panose="02040503050406030204" pitchFamily="18" charset="0"/>
                                      </a:rPr>
                                      <m:t>𝑙</m:t>
                                    </m:r>
                                  </m:e>
                                  <m:sub>
                                    <m:r>
                                      <a:rPr lang="en-US" sz="1200" b="0" i="1" noProof="1" smtClean="0">
                                        <a:solidFill>
                                          <a:srgbClr val="495A66"/>
                                        </a:solidFill>
                                        <a:latin typeface="Cambria Math" panose="02040503050406030204" pitchFamily="18" charset="0"/>
                                      </a:rPr>
                                      <m:t>𝑐𝑚</m:t>
                                    </m:r>
                                  </m:sub>
                                </m:sSub>
                              </m:oMath>
                            </m:oMathPara>
                          </a14:m>
                          <a:endParaRPr lang="en-US" sz="1200" b="0" i="0" noProof="1">
                            <a:solidFill>
                              <a:srgbClr val="495A66"/>
                            </a:solidFill>
                            <a:latin typeface="+mn-lt"/>
                          </a:endParaRPr>
                        </a:p>
                      </a:txBody>
                      <a:tcPr marL="73152" marT="27432" marB="27432" anchor="ctr">
                        <a:solidFill>
                          <a:srgbClr val="FBFAF6"/>
                        </a:solidFill>
                      </a:tcPr>
                    </a:tc>
                    <a:tc>
                      <a:txBody>
                        <a:bodyPr/>
                        <a:lstStyle/>
                        <a:p>
                          <a:r>
                            <a:rPr lang="en-US" sz="1200" b="0" noProof="1">
                              <a:solidFill>
                                <a:srgbClr val="495A66"/>
                              </a:solidFill>
                              <a:latin typeface="+mn-lt"/>
                            </a:rPr>
                            <a:t>Rod length</a:t>
                          </a:r>
                        </a:p>
                      </a:txBody>
                      <a:tcPr marL="73152" marT="27432" marB="27432" anchor="ctr">
                        <a:solidFill>
                          <a:srgbClr val="FBFAF6"/>
                        </a:solidFill>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200" b="0" noProof="1">
                              <a:solidFill>
                                <a:srgbClr val="4A5A66"/>
                              </a:solidFill>
                              <a:latin typeface="+mn-lt"/>
                            </a:rPr>
                            <a:t>0.1</a:t>
                          </a:r>
                        </a:p>
                      </a:txBody>
                      <a:tcPr marL="73152" marT="27432" marB="27432" anchor="ctr">
                        <a:solidFill>
                          <a:srgbClr val="FBFAF6"/>
                        </a:solidFill>
                      </a:tcPr>
                    </a:tc>
                    <a:extLst>
                      <a:ext uri="{0D108BD9-81ED-4DB2-BD59-A6C34878D82A}">
                        <a16:rowId xmlns:a16="http://schemas.microsoft.com/office/drawing/2014/main" val="39505957"/>
                      </a:ext>
                    </a:extLst>
                  </a:tr>
                </a:tbl>
              </a:graphicData>
            </a:graphic>
          </p:graphicFrame>
        </mc:Choice>
        <mc:Fallback xmlns="">
          <p:graphicFrame>
            <p:nvGraphicFramePr>
              <p:cNvPr id="68" name="Table 67">
                <a:extLst>
                  <a:ext uri="{FF2B5EF4-FFF2-40B4-BE49-F238E27FC236}">
                    <a16:creationId xmlns:a16="http://schemas.microsoft.com/office/drawing/2014/main" id="{23321865-6DE8-7F96-8782-E4168BE9C3FE}"/>
                  </a:ext>
                </a:extLst>
              </p:cNvPr>
              <p:cNvGraphicFramePr>
                <a:graphicFrameLocks noGrp="1"/>
              </p:cNvGraphicFramePr>
              <p:nvPr>
                <p:extLst>
                  <p:ext uri="{D42A27DB-BD31-4B8C-83A1-F6EECF244321}">
                    <p14:modId xmlns:p14="http://schemas.microsoft.com/office/powerpoint/2010/main" val="2602769045"/>
                  </p:ext>
                </p:extLst>
              </p:nvPr>
            </p:nvGraphicFramePr>
            <p:xfrm>
              <a:off x="8935661" y="2161072"/>
              <a:ext cx="2960389" cy="3291840"/>
            </p:xfrm>
            <a:graphic>
              <a:graphicData uri="http://schemas.openxmlformats.org/drawingml/2006/table">
                <a:tbl>
                  <a:tblPr>
                    <a:tableStyleId>{5C22544A-7EE6-4342-B048-85BDC9FD1C3A}</a:tableStyleId>
                  </a:tblPr>
                  <a:tblGrid>
                    <a:gridCol w="633361">
                      <a:extLst>
                        <a:ext uri="{9D8B030D-6E8A-4147-A177-3AD203B41FA5}">
                          <a16:colId xmlns:a16="http://schemas.microsoft.com/office/drawing/2014/main" val="20000"/>
                        </a:ext>
                      </a:extLst>
                    </a:gridCol>
                    <a:gridCol w="1333500">
                      <a:extLst>
                        <a:ext uri="{9D8B030D-6E8A-4147-A177-3AD203B41FA5}">
                          <a16:colId xmlns:a16="http://schemas.microsoft.com/office/drawing/2014/main" val="20001"/>
                        </a:ext>
                      </a:extLst>
                    </a:gridCol>
                    <a:gridCol w="993528">
                      <a:extLst>
                        <a:ext uri="{9D8B030D-6E8A-4147-A177-3AD203B41FA5}">
                          <a16:colId xmlns:a16="http://schemas.microsoft.com/office/drawing/2014/main" val="1959305102"/>
                        </a:ext>
                      </a:extLst>
                    </a:gridCol>
                  </a:tblGrid>
                  <a:tr h="411480">
                    <a:tc>
                      <a:txBody>
                        <a:bodyPr/>
                        <a:lstStyle/>
                        <a:p>
                          <a:pPr algn="ctr"/>
                          <a:r>
                            <a:rPr lang="en-US" sz="1200" b="0" noProof="1">
                              <a:solidFill>
                                <a:srgbClr val="1D3557"/>
                              </a:solidFill>
                              <a:latin typeface="+mn-lt"/>
                            </a:rPr>
                            <a:t>Symbol</a:t>
                          </a:r>
                        </a:p>
                      </a:txBody>
                      <a:tcPr marL="73152" marT="27432" marB="27432" anchor="ctr">
                        <a:solidFill>
                          <a:srgbClr val="FBFAF6"/>
                        </a:solidFill>
                      </a:tcPr>
                    </a:tc>
                    <a:tc>
                      <a:txBody>
                        <a:bodyPr/>
                        <a:lstStyle/>
                        <a:p>
                          <a:pPr algn="ctr"/>
                          <a:r>
                            <a:rPr lang="en-US" sz="1200" b="0" noProof="1">
                              <a:solidFill>
                                <a:srgbClr val="4A5A66"/>
                              </a:solidFill>
                              <a:latin typeface="+mn-lt"/>
                            </a:rPr>
                            <a:t>Description</a:t>
                          </a:r>
                        </a:p>
                      </a:txBody>
                      <a:tcPr marL="73152" marT="27432" marB="27432" anchor="ctr">
                        <a:solidFill>
                          <a:srgbClr val="FBFAF6"/>
                        </a:solidFill>
                      </a:tcPr>
                    </a:tc>
                    <a:tc>
                      <a:txBody>
                        <a:bodyPr/>
                        <a:lstStyle/>
                        <a:p>
                          <a:pPr algn="ctr"/>
                          <a:r>
                            <a:rPr lang="en-US" sz="1200" b="0" noProof="1">
                              <a:solidFill>
                                <a:srgbClr val="4A5A66"/>
                              </a:solidFill>
                              <a:latin typeface="+mn-lt"/>
                            </a:rPr>
                            <a:t>Value</a:t>
                          </a:r>
                        </a:p>
                      </a:txBody>
                      <a:tcPr marL="73152" marT="27432" marB="27432" anchor="ctr">
                        <a:solidFill>
                          <a:srgbClr val="FBFAF6"/>
                        </a:solidFill>
                      </a:tcPr>
                    </a:tc>
                    <a:extLst>
                      <a:ext uri="{0D108BD9-81ED-4DB2-BD59-A6C34878D82A}">
                        <a16:rowId xmlns:a16="http://schemas.microsoft.com/office/drawing/2014/main" val="2612851237"/>
                      </a:ext>
                    </a:extLst>
                  </a:tr>
                  <a:tr h="411480">
                    <a:tc>
                      <a:txBody>
                        <a:bodyPr/>
                        <a:lstStyle/>
                        <a:p>
                          <a:pPr algn="ctr"/>
                          <a:r>
                            <a:rPr lang="en-US" sz="1200" b="0" noProof="1">
                              <a:solidFill>
                                <a:srgbClr val="1D3557"/>
                              </a:solidFill>
                              <a:latin typeface="+mn-lt"/>
                            </a:rPr>
                            <a:t>L</a:t>
                          </a:r>
                        </a:p>
                      </a:txBody>
                      <a:tcPr marL="73152" marT="27432" marB="27432" anchor="ctr">
                        <a:solidFill>
                          <a:srgbClr val="FBFAF6"/>
                        </a:solidFill>
                      </a:tcPr>
                    </a:tc>
                    <a:tc>
                      <a:txBody>
                        <a:bodyPr/>
                        <a:lstStyle/>
                        <a:p>
                          <a:r>
                            <a:rPr lang="en-US" sz="1200" b="0" noProof="1">
                              <a:solidFill>
                                <a:srgbClr val="4A5A66"/>
                              </a:solidFill>
                              <a:latin typeface="+mn-lt"/>
                            </a:rPr>
                            <a:t>Motor inductance</a:t>
                          </a:r>
                        </a:p>
                      </a:txBody>
                      <a:tcPr marL="73152" marT="27432" marB="27432" anchor="ctr">
                        <a:solidFill>
                          <a:srgbClr val="FBFAF6"/>
                        </a:solidFill>
                      </a:tcPr>
                    </a:tc>
                    <a:tc>
                      <a:txBody>
                        <a:bodyPr/>
                        <a:lstStyle/>
                        <a:p>
                          <a:pPr algn="ctr"/>
                          <a:r>
                            <a:rPr lang="en-US" sz="1200" b="0" noProof="1">
                              <a:solidFill>
                                <a:srgbClr val="4A5A66"/>
                              </a:solidFill>
                              <a:latin typeface="+mn-lt"/>
                            </a:rPr>
                            <a:t>4.0e-3</a:t>
                          </a:r>
                        </a:p>
                      </a:txBody>
                      <a:tcPr marL="73152" marT="27432" marB="27432" anchor="ctr">
                        <a:solidFill>
                          <a:srgbClr val="FBFAF6"/>
                        </a:solidFill>
                      </a:tcPr>
                    </a:tc>
                    <a:extLst>
                      <a:ext uri="{0D108BD9-81ED-4DB2-BD59-A6C34878D82A}">
                        <a16:rowId xmlns:a16="http://schemas.microsoft.com/office/drawing/2014/main" val="10000"/>
                      </a:ext>
                    </a:extLst>
                  </a:tr>
                  <a:tr h="411480">
                    <a:tc>
                      <a:txBody>
                        <a:bodyPr/>
                        <a:lstStyle/>
                        <a:p>
                          <a:endParaRPr lang="th-TH"/>
                        </a:p>
                      </a:txBody>
                      <a:tcPr marL="73152" marT="27432" marB="27432" anchor="ctr">
                        <a:blipFill>
                          <a:blip r:embed="rId5"/>
                          <a:stretch>
                            <a:fillRect l="-962" t="-200000" r="-370192" b="-500000"/>
                          </a:stretch>
                        </a:blipFill>
                      </a:tcPr>
                    </a:tc>
                    <a:tc>
                      <a:txBody>
                        <a:bodyPr/>
                        <a:lstStyle/>
                        <a:p>
                          <a:r>
                            <a:rPr lang="en-US" sz="1200" b="0" noProof="1">
                              <a:solidFill>
                                <a:srgbClr val="4A5A66"/>
                              </a:solidFill>
                              <a:latin typeface="+mn-lt"/>
                            </a:rPr>
                            <a:t>Input voltage</a:t>
                          </a:r>
                        </a:p>
                      </a:txBody>
                      <a:tcPr marL="73152" marT="27432" marB="27432" anchor="ctr">
                        <a:solidFill>
                          <a:srgbClr val="FBFAF6"/>
                        </a:solidFill>
                      </a:tcPr>
                    </a:tc>
                    <a:tc>
                      <a:txBody>
                        <a:bodyPr/>
                        <a:lstStyle/>
                        <a:p>
                          <a:pPr algn="ctr"/>
                          <a:r>
                            <a:rPr lang="en-US" sz="1200" b="0" noProof="1">
                              <a:solidFill>
                                <a:srgbClr val="4A5A66"/>
                              </a:solidFill>
                              <a:latin typeface="+mn-lt"/>
                            </a:rPr>
                            <a:t>[-12.0, 12.0]</a:t>
                          </a:r>
                        </a:p>
                      </a:txBody>
                      <a:tcPr marL="73152" marT="27432" marB="27432" anchor="ctr">
                        <a:solidFill>
                          <a:srgbClr val="FBFAF6"/>
                        </a:solidFill>
                      </a:tcPr>
                    </a:tc>
                    <a:extLst>
                      <a:ext uri="{0D108BD9-81ED-4DB2-BD59-A6C34878D82A}">
                        <a16:rowId xmlns:a16="http://schemas.microsoft.com/office/drawing/2014/main" val="10001"/>
                      </a:ext>
                    </a:extLst>
                  </a:tr>
                  <a:tr h="411480">
                    <a:tc>
                      <a:txBody>
                        <a:bodyPr/>
                        <a:lstStyle/>
                        <a:p>
                          <a:pPr algn="ctr"/>
                          <a:r>
                            <a:rPr lang="en-US" sz="1200" b="0" noProof="1">
                              <a:solidFill>
                                <a:srgbClr val="1D3557"/>
                              </a:solidFill>
                              <a:latin typeface="+mn-lt"/>
                            </a:rPr>
                            <a:t>R</a:t>
                          </a:r>
                          <a:endParaRPr lang="en-US" sz="1200" b="0" i="1" noProof="1">
                            <a:solidFill>
                              <a:srgbClr val="1D3557"/>
                            </a:solidFill>
                            <a:latin typeface="+mn-lt"/>
                          </a:endParaRPr>
                        </a:p>
                      </a:txBody>
                      <a:tcPr marL="73152" marT="27432" marB="27432" anchor="ctr">
                        <a:solidFill>
                          <a:srgbClr val="FBFAF6"/>
                        </a:solidFill>
                      </a:tcPr>
                    </a:tc>
                    <a:tc>
                      <a:txBody>
                        <a:bodyPr/>
                        <a:lstStyle/>
                        <a:p>
                          <a:r>
                            <a:rPr lang="en-US" sz="1200" b="0" noProof="1">
                              <a:solidFill>
                                <a:srgbClr val="4A5A66"/>
                              </a:solidFill>
                              <a:latin typeface="+mn-lt"/>
                            </a:rPr>
                            <a:t>Motor Resistancce</a:t>
                          </a:r>
                        </a:p>
                      </a:txBody>
                      <a:tcPr marL="73152" marT="27432" marB="27432" anchor="ctr">
                        <a:solidFill>
                          <a:srgbClr val="FBFAF6"/>
                        </a:solidFill>
                      </a:tcPr>
                    </a:tc>
                    <a:tc>
                      <a:txBody>
                        <a:bodyPr/>
                        <a:lstStyle/>
                        <a:p>
                          <a:pPr algn="ctr"/>
                          <a:r>
                            <a:rPr lang="en-US" sz="1200" b="0" noProof="1">
                              <a:solidFill>
                                <a:srgbClr val="4A5A66"/>
                              </a:solidFill>
                              <a:latin typeface="+mn-lt"/>
                            </a:rPr>
                            <a:t>3.0</a:t>
                          </a:r>
                        </a:p>
                      </a:txBody>
                      <a:tcPr marL="73152" marT="27432" marB="27432" anchor="ctr">
                        <a:solidFill>
                          <a:srgbClr val="FBFAF6"/>
                        </a:solidFill>
                      </a:tcPr>
                    </a:tc>
                    <a:extLst>
                      <a:ext uri="{0D108BD9-81ED-4DB2-BD59-A6C34878D82A}">
                        <a16:rowId xmlns:a16="http://schemas.microsoft.com/office/drawing/2014/main" val="10002"/>
                      </a:ext>
                    </a:extLst>
                  </a:tr>
                  <a:tr h="411480">
                    <a:tc>
                      <a:txBody>
                        <a:bodyPr/>
                        <a:lstStyle/>
                        <a:p>
                          <a:endParaRPr lang="th-TH"/>
                        </a:p>
                      </a:txBody>
                      <a:tcPr marL="73152" marT="27432" marB="27432" anchor="ctr">
                        <a:blipFill>
                          <a:blip r:embed="rId5"/>
                          <a:stretch>
                            <a:fillRect l="-962" t="-405970" r="-370192" b="-305970"/>
                          </a:stretch>
                        </a:blip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0" noProof="1">
                              <a:solidFill>
                                <a:srgbClr val="4A5A66"/>
                              </a:solidFill>
                              <a:latin typeface="+mn-lt"/>
                            </a:rPr>
                            <a:t>Motor Constant</a:t>
                          </a:r>
                        </a:p>
                      </a:txBody>
                      <a:tcPr marL="73152" marT="27432" marB="27432" anchor="ctr">
                        <a:solidFill>
                          <a:srgbClr val="FBFAF6"/>
                        </a:solidFill>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200" b="0" noProof="1">
                              <a:solidFill>
                                <a:srgbClr val="4A5A66"/>
                              </a:solidFill>
                              <a:latin typeface="+mn-lt"/>
                            </a:rPr>
                            <a:t>0.05</a:t>
                          </a:r>
                        </a:p>
                      </a:txBody>
                      <a:tcPr marL="73152" marT="27432" marB="27432" anchor="ctr">
                        <a:solidFill>
                          <a:srgbClr val="FBFAF6"/>
                        </a:solidFill>
                      </a:tcPr>
                    </a:tc>
                    <a:extLst>
                      <a:ext uri="{0D108BD9-81ED-4DB2-BD59-A6C34878D82A}">
                        <a16:rowId xmlns:a16="http://schemas.microsoft.com/office/drawing/2014/main" val="10003"/>
                      </a:ext>
                    </a:extLst>
                  </a:tr>
                  <a:tr h="411480">
                    <a:tc>
                      <a:txBody>
                        <a:bodyPr/>
                        <a:lstStyle/>
                        <a:p>
                          <a:endParaRPr lang="th-TH"/>
                        </a:p>
                      </a:txBody>
                      <a:tcPr marL="73152" marT="27432" marB="27432" anchor="ctr">
                        <a:blipFill>
                          <a:blip r:embed="rId5"/>
                          <a:stretch>
                            <a:fillRect l="-962" t="-498529" r="-370192" b="-201471"/>
                          </a:stretch>
                        </a:blipFill>
                      </a:tcPr>
                    </a:tc>
                    <a:tc>
                      <a:txBody>
                        <a:bodyPr/>
                        <a:lstStyle/>
                        <a:p>
                          <a:r>
                            <a:rPr lang="en-US" sz="1200" b="0" noProof="1">
                              <a:solidFill>
                                <a:srgbClr val="4A5A66"/>
                              </a:solidFill>
                              <a:latin typeface="+mn-lt"/>
                            </a:rPr>
                            <a:t>Total Inertia</a:t>
                          </a:r>
                        </a:p>
                      </a:txBody>
                      <a:tcPr marL="73152" marT="27432" marB="27432" anchor="ctr">
                        <a:solidFill>
                          <a:srgbClr val="FBFAF6"/>
                        </a:solidFill>
                      </a:tcPr>
                    </a:tc>
                    <a:tc>
                      <a:txBody>
                        <a:bodyPr/>
                        <a:lstStyle/>
                        <a:p>
                          <a:pPr algn="ctr"/>
                          <a:r>
                            <a:rPr lang="en-US" sz="1200" b="0" noProof="1">
                              <a:solidFill>
                                <a:srgbClr val="4A5A66"/>
                              </a:solidFill>
                              <a:latin typeface="+mn-lt"/>
                            </a:rPr>
                            <a:t>7.04e-5</a:t>
                          </a:r>
                        </a:p>
                      </a:txBody>
                      <a:tcPr marL="73152" marT="27432" marB="27432" anchor="ctr">
                        <a:solidFill>
                          <a:srgbClr val="FBFAF6"/>
                        </a:solidFill>
                      </a:tcPr>
                    </a:tc>
                    <a:extLst>
                      <a:ext uri="{0D108BD9-81ED-4DB2-BD59-A6C34878D82A}">
                        <a16:rowId xmlns:a16="http://schemas.microsoft.com/office/drawing/2014/main" val="10004"/>
                      </a:ext>
                    </a:extLst>
                  </a:tr>
                  <a:tr h="411480">
                    <a:tc>
                      <a:txBody>
                        <a:bodyPr/>
                        <a:lstStyle/>
                        <a:p>
                          <a:pPr algn="ctr"/>
                          <a:r>
                            <a:rPr lang="en-US" sz="1200" b="0" i="0" noProof="1">
                              <a:solidFill>
                                <a:srgbClr val="495A66"/>
                              </a:solidFill>
                              <a:latin typeface="+mn-lt"/>
                            </a:rPr>
                            <a:t>m</a:t>
                          </a:r>
                        </a:p>
                      </a:txBody>
                      <a:tcPr marL="73152" marT="27432" marB="27432" anchor="ctr">
                        <a:solidFill>
                          <a:srgbClr val="FBFAF6"/>
                        </a:solidFill>
                      </a:tcPr>
                    </a:tc>
                    <a:tc>
                      <a:txBody>
                        <a:bodyPr/>
                        <a:lstStyle/>
                        <a:p>
                          <a:r>
                            <a:rPr lang="en-US" sz="1200" b="0" i="0" kern="1200" dirty="0">
                              <a:solidFill>
                                <a:srgbClr val="495A66"/>
                              </a:solidFill>
                              <a:effectLst/>
                              <a:latin typeface="+mn-lt"/>
                              <a:ea typeface="+mn-ea"/>
                              <a:cs typeface="+mn-cs"/>
                            </a:rPr>
                            <a:t>End effector mass</a:t>
                          </a:r>
                          <a:endParaRPr lang="en-US" sz="1200" b="1" noProof="1">
                            <a:solidFill>
                              <a:srgbClr val="495A66"/>
                            </a:solidFill>
                            <a:latin typeface="+mn-lt"/>
                          </a:endParaRPr>
                        </a:p>
                      </a:txBody>
                      <a:tcPr marL="73152" marT="27432" marB="27432" anchor="ctr">
                        <a:solidFill>
                          <a:srgbClr val="FBFAF6"/>
                        </a:solidFill>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200" b="0" noProof="1">
                              <a:solidFill>
                                <a:srgbClr val="4A5A66"/>
                              </a:solidFill>
                              <a:latin typeface="+mn-lt"/>
                            </a:rPr>
                            <a:t>0.05</a:t>
                          </a:r>
                        </a:p>
                      </a:txBody>
                      <a:tcPr marL="73152" marT="27432" marB="27432" anchor="ctr">
                        <a:solidFill>
                          <a:srgbClr val="FBFAF6"/>
                        </a:solidFill>
                      </a:tcPr>
                    </a:tc>
                    <a:extLst>
                      <a:ext uri="{0D108BD9-81ED-4DB2-BD59-A6C34878D82A}">
                        <a16:rowId xmlns:a16="http://schemas.microsoft.com/office/drawing/2014/main" val="3264284527"/>
                      </a:ext>
                    </a:extLst>
                  </a:tr>
                  <a:tr h="411480">
                    <a:tc>
                      <a:txBody>
                        <a:bodyPr/>
                        <a:lstStyle/>
                        <a:p>
                          <a:endParaRPr lang="th-TH"/>
                        </a:p>
                      </a:txBody>
                      <a:tcPr marL="73152" marT="27432" marB="27432" anchor="ctr">
                        <a:blipFill>
                          <a:blip r:embed="rId5"/>
                          <a:stretch>
                            <a:fillRect l="-962" t="-697059" r="-370192" b="-2941"/>
                          </a:stretch>
                        </a:blipFill>
                      </a:tcPr>
                    </a:tc>
                    <a:tc>
                      <a:txBody>
                        <a:bodyPr/>
                        <a:lstStyle/>
                        <a:p>
                          <a:r>
                            <a:rPr lang="en-US" sz="1200" b="0" noProof="1">
                              <a:solidFill>
                                <a:srgbClr val="495A66"/>
                              </a:solidFill>
                              <a:latin typeface="+mn-lt"/>
                            </a:rPr>
                            <a:t>Rod length</a:t>
                          </a:r>
                        </a:p>
                      </a:txBody>
                      <a:tcPr marL="73152" marT="27432" marB="27432" anchor="ctr">
                        <a:solidFill>
                          <a:srgbClr val="FBFAF6"/>
                        </a:solidFill>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200" b="0" noProof="1">
                              <a:solidFill>
                                <a:srgbClr val="4A5A66"/>
                              </a:solidFill>
                              <a:latin typeface="+mn-lt"/>
                            </a:rPr>
                            <a:t>0.1</a:t>
                          </a:r>
                        </a:p>
                      </a:txBody>
                      <a:tcPr marL="73152" marT="27432" marB="27432" anchor="ctr">
                        <a:solidFill>
                          <a:srgbClr val="FBFAF6"/>
                        </a:solidFill>
                      </a:tcPr>
                    </a:tc>
                    <a:extLst>
                      <a:ext uri="{0D108BD9-81ED-4DB2-BD59-A6C34878D82A}">
                        <a16:rowId xmlns:a16="http://schemas.microsoft.com/office/drawing/2014/main" val="39505957"/>
                      </a:ext>
                    </a:extLst>
                  </a:tr>
                </a:tbl>
              </a:graphicData>
            </a:graphic>
          </p:graphicFrame>
        </mc:Fallback>
      </mc:AlternateContent>
      <p:pic>
        <p:nvPicPr>
          <p:cNvPr id="5" name="20260627-0703-22.6454049">
            <a:hlinkClick r:id="" action="ppaction://media"/>
            <a:extLst>
              <a:ext uri="{FF2B5EF4-FFF2-40B4-BE49-F238E27FC236}">
                <a16:creationId xmlns:a16="http://schemas.microsoft.com/office/drawing/2014/main" id="{A2B1766F-C7C8-960B-6241-727B8F88E8BA}"/>
              </a:ext>
            </a:extLst>
          </p:cNvPr>
          <p:cNvPicPr>
            <a:picLocks noChangeAspect="1"/>
          </p:cNvPicPr>
          <p:nvPr>
            <a:videoFile r:link="rId3"/>
            <p:extLst>
              <p:ext uri="{DAA4B4D4-6D71-4841-9C94-3DE7FCFB9230}">
                <p14:media xmlns:p14="http://schemas.microsoft.com/office/powerpoint/2010/main" r:embed="rId2"/>
              </p:ext>
            </p:extLst>
          </p:nvPr>
        </p:nvPicPr>
        <p:blipFill>
          <a:blip r:embed="rId6"/>
          <a:stretch>
            <a:fillRect/>
          </a:stretch>
        </p:blipFill>
        <p:spPr>
          <a:xfrm>
            <a:off x="1062650" y="2484916"/>
            <a:ext cx="3146331" cy="2663765"/>
          </a:xfrm>
          <a:prstGeom prst="rect">
            <a:avLst/>
          </a:prstGeom>
        </p:spPr>
      </p:pic>
      <p:pic>
        <p:nvPicPr>
          <p:cNvPr id="6" name="Picture 5">
            <a:extLst>
              <a:ext uri="{FF2B5EF4-FFF2-40B4-BE49-F238E27FC236}">
                <a16:creationId xmlns:a16="http://schemas.microsoft.com/office/drawing/2014/main" id="{895FB6E7-070A-A08B-7BF0-A6790AE51D0B}"/>
              </a:ext>
            </a:extLst>
          </p:cNvPr>
          <p:cNvPicPr>
            <a:picLocks noChangeAspect="1"/>
          </p:cNvPicPr>
          <p:nvPr/>
        </p:nvPicPr>
        <p:blipFill>
          <a:blip r:embed="rId7"/>
          <a:stretch>
            <a:fillRect/>
          </a:stretch>
        </p:blipFill>
        <p:spPr>
          <a:xfrm>
            <a:off x="4610054" y="5706508"/>
            <a:ext cx="7378975" cy="971667"/>
          </a:xfrm>
          <a:prstGeom prst="rect">
            <a:avLst/>
          </a:prstGeom>
        </p:spPr>
      </p:pic>
      <p:cxnSp>
        <p:nvCxnSpPr>
          <p:cNvPr id="8" name="Straight Arrow Connector 7">
            <a:extLst>
              <a:ext uri="{FF2B5EF4-FFF2-40B4-BE49-F238E27FC236}">
                <a16:creationId xmlns:a16="http://schemas.microsoft.com/office/drawing/2014/main" id="{05C91524-7A58-AC70-9646-E62F0E73B9B1}"/>
              </a:ext>
            </a:extLst>
          </p:cNvPr>
          <p:cNvCxnSpPr>
            <a:cxnSpLocks/>
          </p:cNvCxnSpPr>
          <p:nvPr/>
        </p:nvCxnSpPr>
        <p:spPr>
          <a:xfrm>
            <a:off x="1340498" y="5710318"/>
            <a:ext cx="648615"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p:sp>
        <p:nvSpPr>
          <p:cNvPr id="10" name="Rounded Rectangle 16">
            <a:extLst>
              <a:ext uri="{FF2B5EF4-FFF2-40B4-BE49-F238E27FC236}">
                <a16:creationId xmlns:a16="http://schemas.microsoft.com/office/drawing/2014/main" id="{F9F60AE9-D4FB-948E-B853-CB035493C576}"/>
              </a:ext>
            </a:extLst>
          </p:cNvPr>
          <p:cNvSpPr/>
          <p:nvPr/>
        </p:nvSpPr>
        <p:spPr>
          <a:xfrm>
            <a:off x="1989113" y="5470591"/>
            <a:ext cx="1748391" cy="475701"/>
          </a:xfrm>
          <a:prstGeom prst="roundRect">
            <a:avLst/>
          </a:prstGeom>
          <a:ln w="15875">
            <a:solidFill>
              <a:srgbClr val="1D3456"/>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noProof="1">
                <a:solidFill>
                  <a:srgbClr val="1D3456"/>
                </a:solidFill>
              </a:rPr>
              <a:t>Math model plant</a:t>
            </a:r>
          </a:p>
        </p:txBody>
      </p:sp>
      <p:sp>
        <p:nvSpPr>
          <p:cNvPr id="11" name="Rounded Rectangle 16">
            <a:extLst>
              <a:ext uri="{FF2B5EF4-FFF2-40B4-BE49-F238E27FC236}">
                <a16:creationId xmlns:a16="http://schemas.microsoft.com/office/drawing/2014/main" id="{9C18896D-19AF-1B42-09B8-6A50AC355202}"/>
              </a:ext>
            </a:extLst>
          </p:cNvPr>
          <p:cNvSpPr/>
          <p:nvPr/>
        </p:nvSpPr>
        <p:spPr>
          <a:xfrm>
            <a:off x="1970805" y="6178161"/>
            <a:ext cx="1748391" cy="475701"/>
          </a:xfrm>
          <a:prstGeom prst="roundRect">
            <a:avLst/>
          </a:prstGeom>
          <a:ln w="15875">
            <a:solidFill>
              <a:srgbClr val="1D3456"/>
            </a:solidFill>
          </a:ln>
        </p:spPr>
        <p:style>
          <a:lnRef idx="2">
            <a:schemeClr val="accent6"/>
          </a:lnRef>
          <a:fillRef idx="1">
            <a:schemeClr val="lt1"/>
          </a:fillRef>
          <a:effectRef idx="0">
            <a:schemeClr val="accent6"/>
          </a:effectRef>
          <a:fontRef idx="minor">
            <a:schemeClr val="dk1"/>
          </a:fontRef>
        </p:style>
        <p:txBody>
          <a:bodyPr rtlCol="0" anchor="ctr"/>
          <a:lstStyle/>
          <a:p>
            <a:r>
              <a:rPr lang="en-US" sz="1600" noProof="1">
                <a:solidFill>
                  <a:srgbClr val="1D3456"/>
                </a:solidFill>
              </a:rPr>
              <a:t>       Simulink</a:t>
            </a:r>
          </a:p>
        </p:txBody>
      </p:sp>
      <p:cxnSp>
        <p:nvCxnSpPr>
          <p:cNvPr id="15" name="Straight Arrow Connector 14">
            <a:extLst>
              <a:ext uri="{FF2B5EF4-FFF2-40B4-BE49-F238E27FC236}">
                <a16:creationId xmlns:a16="http://schemas.microsoft.com/office/drawing/2014/main" id="{34E3325A-716F-208C-9DF0-D7C5AA8040E1}"/>
              </a:ext>
            </a:extLst>
          </p:cNvPr>
          <p:cNvCxnSpPr>
            <a:cxnSpLocks/>
            <a:endCxn id="11" idx="1"/>
          </p:cNvCxnSpPr>
          <p:nvPr/>
        </p:nvCxnSpPr>
        <p:spPr>
          <a:xfrm>
            <a:off x="1567042" y="6416012"/>
            <a:ext cx="403763"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22" name="Straight Arrow Connector 21">
            <a:extLst>
              <a:ext uri="{FF2B5EF4-FFF2-40B4-BE49-F238E27FC236}">
                <a16:creationId xmlns:a16="http://schemas.microsoft.com/office/drawing/2014/main" id="{CF87CB7E-B7FE-2C36-4A7C-5E2FA560CCB7}"/>
              </a:ext>
            </a:extLst>
          </p:cNvPr>
          <p:cNvCxnSpPr>
            <a:cxnSpLocks/>
          </p:cNvCxnSpPr>
          <p:nvPr/>
        </p:nvCxnSpPr>
        <p:spPr>
          <a:xfrm>
            <a:off x="1573392" y="5706508"/>
            <a:ext cx="0" cy="701700"/>
          </a:xfrm>
          <a:prstGeom prst="straightConnector1">
            <a:avLst/>
          </a:prstGeom>
          <a:ln w="15875">
            <a:solidFill>
              <a:srgbClr val="1D3456"/>
            </a:solidFill>
            <a:tailEnd type="none"/>
          </a:ln>
          <a:effectLst/>
        </p:spPr>
        <p:style>
          <a:lnRef idx="2">
            <a:schemeClr val="accent1"/>
          </a:lnRef>
          <a:fillRef idx="0">
            <a:schemeClr val="accent1"/>
          </a:fillRef>
          <a:effectRef idx="1">
            <a:schemeClr val="accent1"/>
          </a:effectRef>
          <a:fontRef idx="minor">
            <a:schemeClr val="tx1"/>
          </a:fontRef>
        </p:style>
      </p:cxnSp>
      <p:pic>
        <p:nvPicPr>
          <p:cNvPr id="1026" name="Picture 2" descr="MATLAB - Wikipedia">
            <a:extLst>
              <a:ext uri="{FF2B5EF4-FFF2-40B4-BE49-F238E27FC236}">
                <a16:creationId xmlns:a16="http://schemas.microsoft.com/office/drawing/2014/main" id="{BD5616FD-29BB-03BA-5243-6DD731E9BCBE}"/>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159226" y="6253372"/>
            <a:ext cx="363377" cy="325277"/>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80CBC826-4B04-4549-F7D9-95E8E7688B47}"/>
                  </a:ext>
                </a:extLst>
              </p:cNvPr>
              <p:cNvSpPr txBox="1"/>
              <p:nvPr/>
            </p:nvSpPr>
            <p:spPr>
              <a:xfrm>
                <a:off x="1408049" y="5420226"/>
                <a:ext cx="433708"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400" b="0" i="1" noProof="1" dirty="0" smtClean="0">
                          <a:solidFill>
                            <a:srgbClr val="1D3456"/>
                          </a:solidFill>
                          <a:latin typeface="Cambria Math" panose="02040503050406030204" pitchFamily="18" charset="0"/>
                        </a:rPr>
                        <m:t>3.5 </m:t>
                      </m:r>
                      <m:r>
                        <a:rPr lang="en-US" sz="1400" b="0" i="1" noProof="1" dirty="0" smtClean="0">
                          <a:solidFill>
                            <a:srgbClr val="1D3456"/>
                          </a:solidFill>
                          <a:latin typeface="Cambria Math" panose="02040503050406030204" pitchFamily="18" charset="0"/>
                        </a:rPr>
                        <m:t>𝑉</m:t>
                      </m:r>
                    </m:oMath>
                  </m:oMathPara>
                </a14:m>
                <a:endParaRPr lang="en-US" sz="1400" noProof="1"/>
              </a:p>
            </p:txBody>
          </p:sp>
        </mc:Choice>
        <mc:Fallback xmlns="">
          <p:sp>
            <p:nvSpPr>
              <p:cNvPr id="33" name="TextBox 32">
                <a:extLst>
                  <a:ext uri="{FF2B5EF4-FFF2-40B4-BE49-F238E27FC236}">
                    <a16:creationId xmlns:a16="http://schemas.microsoft.com/office/drawing/2014/main" id="{80CBC826-4B04-4549-F7D9-95E8E7688B47}"/>
                  </a:ext>
                </a:extLst>
              </p:cNvPr>
              <p:cNvSpPr txBox="1">
                <a:spLocks noRot="1" noChangeAspect="1" noMove="1" noResize="1" noEditPoints="1" noAdjustHandles="1" noChangeArrowheads="1" noChangeShapeType="1" noTextEdit="1"/>
              </p:cNvSpPr>
              <p:nvPr/>
            </p:nvSpPr>
            <p:spPr>
              <a:xfrm>
                <a:off x="1408049" y="5420226"/>
                <a:ext cx="433708" cy="215444"/>
              </a:xfrm>
              <a:prstGeom prst="rect">
                <a:avLst/>
              </a:prstGeom>
              <a:blipFill>
                <a:blip r:embed="rId9"/>
                <a:stretch>
                  <a:fillRect l="-8451" r="-7042" b="-8571"/>
                </a:stretch>
              </a:blipFill>
            </p:spPr>
            <p:txBody>
              <a:bodyPr/>
              <a:lstStyle/>
              <a:p>
                <a:r>
                  <a:rPr lang="th-TH">
                    <a:noFill/>
                  </a:rPr>
                  <a:t> </a:t>
                </a:r>
              </a:p>
            </p:txBody>
          </p:sp>
        </mc:Fallback>
      </mc:AlternateContent>
      <p:cxnSp>
        <p:nvCxnSpPr>
          <p:cNvPr id="34" name="Straight Arrow Connector 33">
            <a:extLst>
              <a:ext uri="{FF2B5EF4-FFF2-40B4-BE49-F238E27FC236}">
                <a16:creationId xmlns:a16="http://schemas.microsoft.com/office/drawing/2014/main" id="{95B4EB69-44B6-5DCA-FF8F-D3F8B7A19537}"/>
              </a:ext>
            </a:extLst>
          </p:cNvPr>
          <p:cNvCxnSpPr>
            <a:cxnSpLocks/>
          </p:cNvCxnSpPr>
          <p:nvPr/>
        </p:nvCxnSpPr>
        <p:spPr>
          <a:xfrm>
            <a:off x="3761112" y="5710318"/>
            <a:ext cx="648615"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40" name="Straight Arrow Connector 39">
            <a:extLst>
              <a:ext uri="{FF2B5EF4-FFF2-40B4-BE49-F238E27FC236}">
                <a16:creationId xmlns:a16="http://schemas.microsoft.com/office/drawing/2014/main" id="{0A321A8D-349C-CB28-4698-F41C6EDCD7C1}"/>
              </a:ext>
            </a:extLst>
          </p:cNvPr>
          <p:cNvCxnSpPr>
            <a:cxnSpLocks/>
          </p:cNvCxnSpPr>
          <p:nvPr/>
        </p:nvCxnSpPr>
        <p:spPr>
          <a:xfrm>
            <a:off x="3737504" y="6437767"/>
            <a:ext cx="648615"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p:graphicFrame>
        <p:nvGraphicFramePr>
          <p:cNvPr id="41" name="Object 40">
            <a:extLst>
              <a:ext uri="{FF2B5EF4-FFF2-40B4-BE49-F238E27FC236}">
                <a16:creationId xmlns:a16="http://schemas.microsoft.com/office/drawing/2014/main" id="{CCAED91B-8F91-A305-4FDE-71ECB08966BC}"/>
              </a:ext>
            </a:extLst>
          </p:cNvPr>
          <p:cNvGraphicFramePr>
            <a:graphicFrameLocks noChangeAspect="1"/>
          </p:cNvGraphicFramePr>
          <p:nvPr>
            <p:extLst>
              <p:ext uri="{D42A27DB-BD31-4B8C-83A1-F6EECF244321}">
                <p14:modId xmlns:p14="http://schemas.microsoft.com/office/powerpoint/2010/main" val="433576497"/>
              </p:ext>
            </p:extLst>
          </p:nvPr>
        </p:nvGraphicFramePr>
        <p:xfrm>
          <a:off x="6534150" y="3338513"/>
          <a:ext cx="139700" cy="228600"/>
        </p:xfrm>
        <a:graphic>
          <a:graphicData uri="http://schemas.openxmlformats.org/presentationml/2006/ole">
            <mc:AlternateContent xmlns:mc="http://schemas.openxmlformats.org/markup-compatibility/2006">
              <mc:Choice xmlns:v="urn:schemas-microsoft-com:vml" Requires="v">
                <p:oleObj spid="_x0000_s1059" name="Equation" r:id="rId10" imgW="139680" imgH="228600" progId="Equation.DSMT4">
                  <p:embed/>
                </p:oleObj>
              </mc:Choice>
              <mc:Fallback>
                <p:oleObj name="Equation" r:id="rId10" imgW="139680" imgH="228600" progId="Equation.DSMT4">
                  <p:embed/>
                  <p:pic>
                    <p:nvPicPr>
                      <p:cNvPr id="0" name=""/>
                      <p:cNvPicPr/>
                      <p:nvPr/>
                    </p:nvPicPr>
                    <p:blipFill>
                      <a:blip r:embed="rId11"/>
                      <a:stretch>
                        <a:fillRect/>
                      </a:stretch>
                    </p:blipFill>
                    <p:spPr>
                      <a:xfrm>
                        <a:off x="6534150" y="3338513"/>
                        <a:ext cx="139700" cy="228600"/>
                      </a:xfrm>
                      <a:prstGeom prst="rect">
                        <a:avLst/>
                      </a:prstGeom>
                    </p:spPr>
                  </p:pic>
                </p:oleObj>
              </mc:Fallback>
            </mc:AlternateContent>
          </a:graphicData>
        </a:graphic>
      </p:graphicFrame>
      <p:sp>
        <p:nvSpPr>
          <p:cNvPr id="42" name="TextBox 41">
            <a:extLst>
              <a:ext uri="{FF2B5EF4-FFF2-40B4-BE49-F238E27FC236}">
                <a16:creationId xmlns:a16="http://schemas.microsoft.com/office/drawing/2014/main" id="{B72E20B9-8014-56E6-A38A-A9C9EFB7FC0E}"/>
              </a:ext>
            </a:extLst>
          </p:cNvPr>
          <p:cNvSpPr txBox="1"/>
          <p:nvPr/>
        </p:nvSpPr>
        <p:spPr>
          <a:xfrm>
            <a:off x="4409726" y="2442959"/>
            <a:ext cx="3390665" cy="241285"/>
          </a:xfrm>
          <a:prstGeom prst="rect">
            <a:avLst/>
          </a:prstGeom>
          <a:noFill/>
        </p:spPr>
        <p:txBody>
          <a:bodyPr wrap="square" lIns="0" tIns="0" rIns="0" bIns="0" anchor="t">
            <a:spAutoFit/>
          </a:bodyPr>
          <a:lstStyle/>
          <a:p>
            <a:pPr>
              <a:lnSpc>
                <a:spcPct val="120000"/>
              </a:lnSpc>
            </a:pPr>
            <a:r>
              <a:rPr lang="en-US" sz="1400" b="1" noProof="1">
                <a:solidFill>
                  <a:srgbClr val="1D3557"/>
                </a:solidFill>
              </a:rPr>
              <a:t>Motor with vertical pendulum dynamic</a:t>
            </a:r>
          </a:p>
        </p:txBody>
      </p:sp>
      <p:sp>
        <p:nvSpPr>
          <p:cNvPr id="46" name="TextBox 45">
            <a:extLst>
              <a:ext uri="{FF2B5EF4-FFF2-40B4-BE49-F238E27FC236}">
                <a16:creationId xmlns:a16="http://schemas.microsoft.com/office/drawing/2014/main" id="{72CF1BA2-B081-951A-E13E-6C08C2018657}"/>
              </a:ext>
            </a:extLst>
          </p:cNvPr>
          <p:cNvSpPr txBox="1"/>
          <p:nvPr/>
        </p:nvSpPr>
        <p:spPr>
          <a:xfrm>
            <a:off x="4565346" y="2773175"/>
            <a:ext cx="4173419" cy="1533946"/>
          </a:xfrm>
          <a:prstGeom prst="rect">
            <a:avLst/>
          </a:prstGeom>
          <a:noFill/>
        </p:spPr>
        <p:txBody>
          <a:bodyPr wrap="square" lIns="0" tIns="0" rIns="0" bIns="0" anchor="t">
            <a:spAutoFit/>
          </a:bodyPr>
          <a:lstStyle/>
          <a:p>
            <a:pPr>
              <a:lnSpc>
                <a:spcPct val="120000"/>
              </a:lnSpc>
            </a:pPr>
            <a:r>
              <a:rPr lang="en-US" sz="1400" dirty="0"/>
              <a:t>Applying Kirchhoff's voltage law to the armature circuit:</a:t>
            </a:r>
          </a:p>
          <a:p>
            <a:pPr>
              <a:lnSpc>
                <a:spcPct val="120000"/>
              </a:lnSpc>
            </a:pPr>
            <a:endParaRPr lang="en-US" sz="1400" dirty="0"/>
          </a:p>
          <a:p>
            <a:pPr>
              <a:lnSpc>
                <a:spcPct val="120000"/>
              </a:lnSpc>
            </a:pPr>
            <a:endParaRPr lang="en-US" sz="1400" dirty="0"/>
          </a:p>
          <a:p>
            <a:pPr>
              <a:lnSpc>
                <a:spcPct val="120000"/>
              </a:lnSpc>
            </a:pPr>
            <a:endParaRPr lang="en-US" sz="1400" dirty="0"/>
          </a:p>
          <a:p>
            <a:pPr>
              <a:lnSpc>
                <a:spcPct val="120000"/>
              </a:lnSpc>
            </a:pPr>
            <a:r>
              <a:rPr lang="en-US" sz="1400" dirty="0"/>
              <a:t>The net torque balance on the motor shaft with an attached rod of mass</a:t>
            </a:r>
          </a:p>
        </p:txBody>
      </p:sp>
      <p:graphicFrame>
        <p:nvGraphicFramePr>
          <p:cNvPr id="47" name="Object 46">
            <a:extLst>
              <a:ext uri="{FF2B5EF4-FFF2-40B4-BE49-F238E27FC236}">
                <a16:creationId xmlns:a16="http://schemas.microsoft.com/office/drawing/2014/main" id="{705FB2E5-6584-CF97-1D24-A2EE1FE64A4F}"/>
              </a:ext>
            </a:extLst>
          </p:cNvPr>
          <p:cNvGraphicFramePr>
            <a:graphicFrameLocks noChangeAspect="1"/>
          </p:cNvGraphicFramePr>
          <p:nvPr>
            <p:extLst>
              <p:ext uri="{D42A27DB-BD31-4B8C-83A1-F6EECF244321}">
                <p14:modId xmlns:p14="http://schemas.microsoft.com/office/powerpoint/2010/main" val="3941117347"/>
              </p:ext>
            </p:extLst>
          </p:nvPr>
        </p:nvGraphicFramePr>
        <p:xfrm>
          <a:off x="4610054" y="3111500"/>
          <a:ext cx="1727200" cy="571500"/>
        </p:xfrm>
        <a:graphic>
          <a:graphicData uri="http://schemas.openxmlformats.org/presentationml/2006/ole">
            <mc:AlternateContent xmlns:mc="http://schemas.openxmlformats.org/markup-compatibility/2006">
              <mc:Choice xmlns:v="urn:schemas-microsoft-com:vml" Requires="v">
                <p:oleObj spid="_x0000_s1060" name="Equation" r:id="rId12" imgW="1726920" imgH="571320" progId="Equation.DSMT4">
                  <p:embed/>
                </p:oleObj>
              </mc:Choice>
              <mc:Fallback>
                <p:oleObj name="Equation" r:id="rId12" imgW="1726920" imgH="571320" progId="Equation.DSMT4">
                  <p:embed/>
                  <p:pic>
                    <p:nvPicPr>
                      <p:cNvPr id="0" name=""/>
                      <p:cNvPicPr/>
                      <p:nvPr/>
                    </p:nvPicPr>
                    <p:blipFill>
                      <a:blip r:embed="rId13"/>
                      <a:stretch>
                        <a:fillRect/>
                      </a:stretch>
                    </p:blipFill>
                    <p:spPr>
                      <a:xfrm>
                        <a:off x="4610054" y="3111500"/>
                        <a:ext cx="1727200" cy="571500"/>
                      </a:xfrm>
                      <a:prstGeom prst="rect">
                        <a:avLst/>
                      </a:prstGeom>
                    </p:spPr>
                  </p:pic>
                </p:oleObj>
              </mc:Fallback>
            </mc:AlternateContent>
          </a:graphicData>
        </a:graphic>
      </p:graphicFrame>
      <p:graphicFrame>
        <p:nvGraphicFramePr>
          <p:cNvPr id="48" name="Object 47">
            <a:extLst>
              <a:ext uri="{FF2B5EF4-FFF2-40B4-BE49-F238E27FC236}">
                <a16:creationId xmlns:a16="http://schemas.microsoft.com/office/drawing/2014/main" id="{45865715-8709-178D-2243-C131E2469F9D}"/>
              </a:ext>
            </a:extLst>
          </p:cNvPr>
          <p:cNvGraphicFramePr>
            <a:graphicFrameLocks noChangeAspect="1"/>
          </p:cNvGraphicFramePr>
          <p:nvPr>
            <p:extLst>
              <p:ext uri="{D42A27DB-BD31-4B8C-83A1-F6EECF244321}">
                <p14:modId xmlns:p14="http://schemas.microsoft.com/office/powerpoint/2010/main" val="2227816257"/>
              </p:ext>
            </p:extLst>
          </p:nvPr>
        </p:nvGraphicFramePr>
        <p:xfrm>
          <a:off x="4610054" y="4414838"/>
          <a:ext cx="2616200" cy="571500"/>
        </p:xfrm>
        <a:graphic>
          <a:graphicData uri="http://schemas.openxmlformats.org/presentationml/2006/ole">
            <mc:AlternateContent xmlns:mc="http://schemas.openxmlformats.org/markup-compatibility/2006">
              <mc:Choice xmlns:v="urn:schemas-microsoft-com:vml" Requires="v">
                <p:oleObj spid="_x0000_s1061" name="Equation" r:id="rId14" imgW="2616120" imgH="571320" progId="Equation.DSMT4">
                  <p:embed/>
                </p:oleObj>
              </mc:Choice>
              <mc:Fallback>
                <p:oleObj name="Equation" r:id="rId14" imgW="2616120" imgH="571320" progId="Equation.DSMT4">
                  <p:embed/>
                  <p:pic>
                    <p:nvPicPr>
                      <p:cNvPr id="0" name=""/>
                      <p:cNvPicPr/>
                      <p:nvPr/>
                    </p:nvPicPr>
                    <p:blipFill>
                      <a:blip r:embed="rId15"/>
                      <a:stretch>
                        <a:fillRect/>
                      </a:stretch>
                    </p:blipFill>
                    <p:spPr>
                      <a:xfrm>
                        <a:off x="4610054" y="4414838"/>
                        <a:ext cx="2616200" cy="571500"/>
                      </a:xfrm>
                      <a:prstGeom prst="rect">
                        <a:avLst/>
                      </a:prstGeom>
                    </p:spPr>
                  </p:pic>
                </p:oleObj>
              </mc:Fallback>
            </mc:AlternateContent>
          </a:graphicData>
        </a:graphic>
      </p:graphicFrame>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050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5"/>
                </p:tgtEl>
              </p:cMediaNode>
            </p:video>
            <p:seq concurrent="1" nextAc="seek">
              <p:cTn id="8" restart="whenNotActive" fill="hold" evtFilter="cancelBubble" nodeType="interactiveSeq">
                <p:stCondLst>
                  <p:cond evt="onClick" delay="0">
                    <p:tgtEl>
                      <p:spTgt spid="5"/>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5"/>
                                        </p:tgtEl>
                                      </p:cBhvr>
                                    </p:cmd>
                                  </p:childTnLst>
                                </p:cTn>
                              </p:par>
                            </p:childTnLst>
                          </p:cTn>
                        </p:par>
                      </p:childTnLst>
                    </p:cTn>
                  </p:par>
                </p:childTnLst>
              </p:cTn>
              <p:nextCondLst>
                <p:cond evt="onClick" delay="0">
                  <p:tgtEl>
                    <p:spTgt spid="5"/>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BFAF6"/>
        </a:solidFill>
        <a:effectLst/>
      </p:bgPr>
    </p:bg>
    <p:spTree>
      <p:nvGrpSpPr>
        <p:cNvPr id="1" name=""/>
        <p:cNvGrpSpPr/>
        <p:nvPr/>
      </p:nvGrpSpPr>
      <p:grpSpPr>
        <a:xfrm>
          <a:off x="0" y="0"/>
          <a:ext cx="0" cy="0"/>
          <a:chOff x="0" y="0"/>
          <a:chExt cx="0" cy="0"/>
        </a:xfrm>
      </p:grpSpPr>
      <p:sp>
        <p:nvSpPr>
          <p:cNvPr id="2" name="Rectangle 1"/>
          <p:cNvSpPr/>
          <p:nvPr/>
        </p:nvSpPr>
        <p:spPr>
          <a:xfrm>
            <a:off x="566928" y="502920"/>
            <a:ext cx="17780" cy="5852160"/>
          </a:xfrm>
          <a:prstGeom prst="rect">
            <a:avLst/>
          </a:prstGeom>
          <a:solidFill>
            <a:srgbClr val="D9D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3" name="Rectangle 2"/>
          <p:cNvSpPr/>
          <p:nvPr/>
        </p:nvSpPr>
        <p:spPr>
          <a:xfrm>
            <a:off x="566928" y="502920"/>
            <a:ext cx="30480" cy="56692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4" name="TextBox 3"/>
          <p:cNvSpPr txBox="1"/>
          <p:nvPr/>
        </p:nvSpPr>
        <p:spPr>
          <a:xfrm>
            <a:off x="868680" y="548640"/>
            <a:ext cx="10607040" cy="169277"/>
          </a:xfrm>
          <a:prstGeom prst="rect">
            <a:avLst/>
          </a:prstGeom>
          <a:noFill/>
        </p:spPr>
        <p:txBody>
          <a:bodyPr wrap="square" lIns="0" tIns="0" rIns="0" bIns="0" anchor="t">
            <a:spAutoFit/>
          </a:bodyPr>
          <a:lstStyle/>
          <a:p>
            <a:pPr>
              <a:lnSpc>
                <a:spcPct val="100000"/>
              </a:lnSpc>
            </a:pPr>
            <a:r>
              <a:rPr lang="en-US" sz="1100" b="1" noProof="1">
                <a:solidFill>
                  <a:srgbClr val="E07A5F"/>
                </a:solidFill>
                <a:latin typeface="Consolas"/>
              </a:rPr>
              <a:t>A2  </a:t>
            </a:r>
            <a:r>
              <a:rPr lang="en-US" sz="1100" b="1" noProof="1">
                <a:solidFill>
                  <a:srgbClr val="2A9D8F"/>
                </a:solidFill>
                <a:latin typeface="Consolas"/>
              </a:rPr>
              <a:t>Vertical Pendulum Control</a:t>
            </a:r>
            <a:r>
              <a:rPr lang="en-US" sz="1100" noProof="1">
                <a:solidFill>
                  <a:srgbClr val="2A9D8F"/>
                </a:solidFill>
                <a:latin typeface="Consolas"/>
              </a:rPr>
              <a:t> - Introduction</a:t>
            </a:r>
          </a:p>
        </p:txBody>
      </p:sp>
      <p:sp>
        <p:nvSpPr>
          <p:cNvPr id="62" name="TextBox 61">
            <a:extLst>
              <a:ext uri="{FF2B5EF4-FFF2-40B4-BE49-F238E27FC236}">
                <a16:creationId xmlns:a16="http://schemas.microsoft.com/office/drawing/2014/main" id="{94F8AA02-4EDF-E48D-5C80-B00E2F9F72D7}"/>
              </a:ext>
            </a:extLst>
          </p:cNvPr>
          <p:cNvSpPr txBox="1"/>
          <p:nvPr/>
        </p:nvSpPr>
        <p:spPr>
          <a:xfrm>
            <a:off x="868680" y="960120"/>
            <a:ext cx="10607040" cy="412805"/>
          </a:xfrm>
          <a:prstGeom prst="rect">
            <a:avLst/>
          </a:prstGeom>
          <a:noFill/>
        </p:spPr>
        <p:txBody>
          <a:bodyPr wrap="square" lIns="0" tIns="0" rIns="0" bIns="0" anchor="t">
            <a:spAutoFit/>
          </a:bodyPr>
          <a:lstStyle/>
          <a:p>
            <a:pPr algn="l">
              <a:lnSpc>
                <a:spcPct val="102000"/>
              </a:lnSpc>
              <a:spcBef>
                <a:spcPts val="0"/>
              </a:spcBef>
              <a:spcAft>
                <a:spcPts val="600"/>
              </a:spcAft>
            </a:pPr>
            <a:r>
              <a:rPr lang="en-US" sz="2800" b="1" noProof="1">
                <a:solidFill>
                  <a:srgbClr val="1D3557"/>
                </a:solidFill>
                <a:latin typeface="Georgia"/>
              </a:rPr>
              <a:t>Classical Control</a:t>
            </a:r>
          </a:p>
        </p:txBody>
      </p:sp>
      <p:graphicFrame>
        <p:nvGraphicFramePr>
          <p:cNvPr id="41" name="Object 40">
            <a:extLst>
              <a:ext uri="{FF2B5EF4-FFF2-40B4-BE49-F238E27FC236}">
                <a16:creationId xmlns:a16="http://schemas.microsoft.com/office/drawing/2014/main" id="{CCAED91B-8F91-A305-4FDE-71ECB08966BC}"/>
              </a:ext>
            </a:extLst>
          </p:cNvPr>
          <p:cNvGraphicFramePr>
            <a:graphicFrameLocks noChangeAspect="1"/>
          </p:cNvGraphicFramePr>
          <p:nvPr>
            <p:extLst>
              <p:ext uri="{D42A27DB-BD31-4B8C-83A1-F6EECF244321}">
                <p14:modId xmlns:p14="http://schemas.microsoft.com/office/powerpoint/2010/main" val="2363767473"/>
              </p:ext>
            </p:extLst>
          </p:nvPr>
        </p:nvGraphicFramePr>
        <p:xfrm>
          <a:off x="6461561" y="2625651"/>
          <a:ext cx="139700" cy="228600"/>
        </p:xfrm>
        <a:graphic>
          <a:graphicData uri="http://schemas.openxmlformats.org/presentationml/2006/ole">
            <mc:AlternateContent xmlns:mc="http://schemas.openxmlformats.org/markup-compatibility/2006">
              <mc:Choice xmlns:v="urn:schemas-microsoft-com:vml" Requires="v">
                <p:oleObj spid="_x0000_s2072" name="Equation" r:id="rId5" imgW="139680" imgH="228600" progId="Equation.DSMT4">
                  <p:embed/>
                </p:oleObj>
              </mc:Choice>
              <mc:Fallback>
                <p:oleObj name="Equation" r:id="rId5" imgW="139680" imgH="228600" progId="Equation.DSMT4">
                  <p:embed/>
                  <p:pic>
                    <p:nvPicPr>
                      <p:cNvPr id="41" name="Object 40">
                        <a:extLst>
                          <a:ext uri="{FF2B5EF4-FFF2-40B4-BE49-F238E27FC236}">
                            <a16:creationId xmlns:a16="http://schemas.microsoft.com/office/drawing/2014/main" id="{CCAED91B-8F91-A305-4FDE-71ECB08966BC}"/>
                          </a:ext>
                        </a:extLst>
                      </p:cNvPr>
                      <p:cNvPicPr/>
                      <p:nvPr/>
                    </p:nvPicPr>
                    <p:blipFill>
                      <a:blip r:embed="rId6"/>
                      <a:stretch>
                        <a:fillRect/>
                      </a:stretch>
                    </p:blipFill>
                    <p:spPr>
                      <a:xfrm>
                        <a:off x="6461561" y="2625651"/>
                        <a:ext cx="139700" cy="228600"/>
                      </a:xfrm>
                      <a:prstGeom prst="rect">
                        <a:avLst/>
                      </a:prstGeom>
                    </p:spPr>
                  </p:pic>
                </p:oleObj>
              </mc:Fallback>
            </mc:AlternateContent>
          </a:graphicData>
        </a:graphic>
      </p:graphicFrame>
      <p:sp>
        <p:nvSpPr>
          <p:cNvPr id="7" name="Rounded Rectangle 6">
            <a:extLst>
              <a:ext uri="{FF2B5EF4-FFF2-40B4-BE49-F238E27FC236}">
                <a16:creationId xmlns:a16="http://schemas.microsoft.com/office/drawing/2014/main" id="{E4258681-E236-223A-DEF1-FA5DD78CC9BC}"/>
              </a:ext>
            </a:extLst>
          </p:cNvPr>
          <p:cNvSpPr/>
          <p:nvPr/>
        </p:nvSpPr>
        <p:spPr>
          <a:xfrm>
            <a:off x="2036123" y="2560714"/>
            <a:ext cx="1104826" cy="479453"/>
          </a:xfrm>
          <a:prstGeom prst="roundRect">
            <a:avLst/>
          </a:prstGeom>
          <a:ln w="15875">
            <a:solidFill>
              <a:srgbClr val="1D3456"/>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noProof="1">
                <a:solidFill>
                  <a:srgbClr val="1D3456"/>
                </a:solidFill>
              </a:rPr>
              <a:t>PI</a:t>
            </a:r>
          </a:p>
        </p:txBody>
      </p:sp>
      <p:cxnSp>
        <p:nvCxnSpPr>
          <p:cNvPr id="9" name="Straight Arrow Connector 8">
            <a:extLst>
              <a:ext uri="{FF2B5EF4-FFF2-40B4-BE49-F238E27FC236}">
                <a16:creationId xmlns:a16="http://schemas.microsoft.com/office/drawing/2014/main" id="{0B82E056-1DCB-3D81-01FB-D4D716735852}"/>
              </a:ext>
            </a:extLst>
          </p:cNvPr>
          <p:cNvCxnSpPr>
            <a:cxnSpLocks/>
          </p:cNvCxnSpPr>
          <p:nvPr/>
        </p:nvCxnSpPr>
        <p:spPr>
          <a:xfrm>
            <a:off x="3140949" y="2807773"/>
            <a:ext cx="72000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6F3014C8-3576-C2EE-BC23-348549369764}"/>
                  </a:ext>
                </a:extLst>
              </p:cNvPr>
              <p:cNvSpPr txBox="1"/>
              <p:nvPr/>
            </p:nvSpPr>
            <p:spPr>
              <a:xfrm>
                <a:off x="3265091" y="2560714"/>
                <a:ext cx="434799"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400" i="1" noProof="1" dirty="0" smtClean="0">
                              <a:solidFill>
                                <a:srgbClr val="1D3456"/>
                              </a:solidFill>
                              <a:latin typeface="Cambria Math" panose="02040503050406030204" pitchFamily="18" charset="0"/>
                            </a:rPr>
                          </m:ctrlPr>
                        </m:sSubPr>
                        <m:e>
                          <m:r>
                            <a:rPr lang="en-US" sz="1400" b="0" i="1" noProof="1" dirty="0" smtClean="0">
                              <a:solidFill>
                                <a:srgbClr val="1D3456"/>
                              </a:solidFill>
                              <a:latin typeface="Cambria Math" panose="02040503050406030204" pitchFamily="18" charset="0"/>
                            </a:rPr>
                            <m:t>𝑉</m:t>
                          </m:r>
                        </m:e>
                        <m:sub>
                          <m:r>
                            <a:rPr lang="en-US" sz="1400" b="0" i="1" noProof="1" dirty="0" smtClean="0">
                              <a:solidFill>
                                <a:srgbClr val="1D3456"/>
                              </a:solidFill>
                              <a:latin typeface="Cambria Math" panose="02040503050406030204" pitchFamily="18" charset="0"/>
                            </a:rPr>
                            <m:t>𝑏𝑎𝑠𝑒</m:t>
                          </m:r>
                        </m:sub>
                      </m:sSub>
                    </m:oMath>
                  </m:oMathPara>
                </a14:m>
                <a:endParaRPr lang="en-US" sz="1400" noProof="1"/>
              </a:p>
            </p:txBody>
          </p:sp>
        </mc:Choice>
        <mc:Fallback xmlns="">
          <p:sp>
            <p:nvSpPr>
              <p:cNvPr id="12" name="TextBox 11">
                <a:extLst>
                  <a:ext uri="{FF2B5EF4-FFF2-40B4-BE49-F238E27FC236}">
                    <a16:creationId xmlns:a16="http://schemas.microsoft.com/office/drawing/2014/main" id="{6F3014C8-3576-C2EE-BC23-348549369764}"/>
                  </a:ext>
                </a:extLst>
              </p:cNvPr>
              <p:cNvSpPr txBox="1">
                <a:spLocks noRot="1" noChangeAspect="1" noMove="1" noResize="1" noEditPoints="1" noAdjustHandles="1" noChangeArrowheads="1" noChangeShapeType="1" noTextEdit="1"/>
              </p:cNvSpPr>
              <p:nvPr/>
            </p:nvSpPr>
            <p:spPr>
              <a:xfrm>
                <a:off x="3265091" y="2560714"/>
                <a:ext cx="434799" cy="215444"/>
              </a:xfrm>
              <a:prstGeom prst="rect">
                <a:avLst/>
              </a:prstGeom>
              <a:blipFill>
                <a:blip r:embed="rId7"/>
                <a:stretch>
                  <a:fillRect l="-9859" r="-1408" b="-17143"/>
                </a:stretch>
              </a:blipFill>
            </p:spPr>
            <p:txBody>
              <a:bodyPr/>
              <a:lstStyle/>
              <a:p>
                <a:r>
                  <a:rPr lang="th-TH">
                    <a:noFill/>
                  </a:rPr>
                  <a:t> </a:t>
                </a:r>
              </a:p>
            </p:txBody>
          </p:sp>
        </mc:Fallback>
      </mc:AlternateContent>
      <p:sp>
        <p:nvSpPr>
          <p:cNvPr id="13" name="Oval 12">
            <a:extLst>
              <a:ext uri="{FF2B5EF4-FFF2-40B4-BE49-F238E27FC236}">
                <a16:creationId xmlns:a16="http://schemas.microsoft.com/office/drawing/2014/main" id="{F20866D8-CA06-DD35-915A-B46D505330E8}"/>
              </a:ext>
            </a:extLst>
          </p:cNvPr>
          <p:cNvSpPr/>
          <p:nvPr/>
        </p:nvSpPr>
        <p:spPr>
          <a:xfrm>
            <a:off x="3850091" y="2672773"/>
            <a:ext cx="270000" cy="270000"/>
          </a:xfrm>
          <a:prstGeom prst="ellipse">
            <a:avLst/>
          </a:prstGeom>
          <a:noFill/>
          <a:ln w="15875">
            <a:solidFill>
              <a:srgbClr val="1D34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14" name="TextBox 13">
            <a:extLst>
              <a:ext uri="{FF2B5EF4-FFF2-40B4-BE49-F238E27FC236}">
                <a16:creationId xmlns:a16="http://schemas.microsoft.com/office/drawing/2014/main" id="{AAD3D876-07B2-732E-9668-0161505C38C8}"/>
              </a:ext>
            </a:extLst>
          </p:cNvPr>
          <p:cNvSpPr txBox="1"/>
          <p:nvPr/>
        </p:nvSpPr>
        <p:spPr>
          <a:xfrm>
            <a:off x="3835050" y="2615774"/>
            <a:ext cx="300082" cy="369332"/>
          </a:xfrm>
          <a:prstGeom prst="rect">
            <a:avLst/>
          </a:prstGeom>
          <a:noFill/>
        </p:spPr>
        <p:txBody>
          <a:bodyPr wrap="none" rtlCol="0">
            <a:spAutoFit/>
          </a:bodyPr>
          <a:lstStyle/>
          <a:p>
            <a:r>
              <a:rPr lang="en-US" noProof="1">
                <a:solidFill>
                  <a:srgbClr val="1D3456"/>
                </a:solidFill>
              </a:rPr>
              <a:t>+</a:t>
            </a: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93823AE9-6AE3-7101-E0D2-277DE84CFEDB}"/>
                  </a:ext>
                </a:extLst>
              </p:cNvPr>
              <p:cNvSpPr txBox="1"/>
              <p:nvPr/>
            </p:nvSpPr>
            <p:spPr>
              <a:xfrm>
                <a:off x="4262341" y="2573172"/>
                <a:ext cx="157992"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400" b="0" i="1" noProof="1" dirty="0" smtClean="0">
                          <a:solidFill>
                            <a:srgbClr val="1D3456"/>
                          </a:solidFill>
                          <a:latin typeface="Cambria Math" panose="02040503050406030204" pitchFamily="18" charset="0"/>
                        </a:rPr>
                        <m:t>𝑉</m:t>
                      </m:r>
                    </m:oMath>
                  </m:oMathPara>
                </a14:m>
                <a:endParaRPr lang="en-US" sz="1400" noProof="1"/>
              </a:p>
            </p:txBody>
          </p:sp>
        </mc:Choice>
        <mc:Fallback xmlns="">
          <p:sp>
            <p:nvSpPr>
              <p:cNvPr id="16" name="TextBox 15">
                <a:extLst>
                  <a:ext uri="{FF2B5EF4-FFF2-40B4-BE49-F238E27FC236}">
                    <a16:creationId xmlns:a16="http://schemas.microsoft.com/office/drawing/2014/main" id="{93823AE9-6AE3-7101-E0D2-277DE84CFEDB}"/>
                  </a:ext>
                </a:extLst>
              </p:cNvPr>
              <p:cNvSpPr txBox="1">
                <a:spLocks noRot="1" noChangeAspect="1" noMove="1" noResize="1" noEditPoints="1" noAdjustHandles="1" noChangeArrowheads="1" noChangeShapeType="1" noTextEdit="1"/>
              </p:cNvSpPr>
              <p:nvPr/>
            </p:nvSpPr>
            <p:spPr>
              <a:xfrm>
                <a:off x="4262341" y="2573172"/>
                <a:ext cx="157992" cy="215444"/>
              </a:xfrm>
              <a:prstGeom prst="rect">
                <a:avLst/>
              </a:prstGeom>
              <a:blipFill>
                <a:blip r:embed="rId8"/>
                <a:stretch>
                  <a:fillRect l="-26923" r="-19231" b="-5714"/>
                </a:stretch>
              </a:blipFill>
            </p:spPr>
            <p:txBody>
              <a:bodyPr/>
              <a:lstStyle/>
              <a:p>
                <a:r>
                  <a:rPr lang="th-TH">
                    <a:noFill/>
                  </a:rPr>
                  <a:t> </a:t>
                </a:r>
              </a:p>
            </p:txBody>
          </p:sp>
        </mc:Fallback>
      </mc:AlternateContent>
      <p:sp>
        <p:nvSpPr>
          <p:cNvPr id="17" name="Rounded Rectangle 16">
            <a:extLst>
              <a:ext uri="{FF2B5EF4-FFF2-40B4-BE49-F238E27FC236}">
                <a16:creationId xmlns:a16="http://schemas.microsoft.com/office/drawing/2014/main" id="{F353305D-51DE-5BC1-1731-F736DB2DC8E3}"/>
              </a:ext>
            </a:extLst>
          </p:cNvPr>
          <p:cNvSpPr/>
          <p:nvPr/>
        </p:nvSpPr>
        <p:spPr>
          <a:xfrm>
            <a:off x="5501468" y="2555360"/>
            <a:ext cx="1104826" cy="479453"/>
          </a:xfrm>
          <a:prstGeom prst="roundRect">
            <a:avLst/>
          </a:prstGeom>
          <a:ln w="15875">
            <a:solidFill>
              <a:srgbClr val="1D3456"/>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noProof="1">
                <a:solidFill>
                  <a:srgbClr val="1D3456"/>
                </a:solidFill>
              </a:rPr>
              <a:t>Plant</a:t>
            </a:r>
          </a:p>
          <a:p>
            <a:pPr algn="ctr"/>
            <a:r>
              <a:rPr lang="en-US" sz="1300" noProof="1">
                <a:solidFill>
                  <a:srgbClr val="1D3456"/>
                </a:solidFill>
              </a:rPr>
              <a:t>(Motor+Rod)</a:t>
            </a:r>
          </a:p>
        </p:txBody>
      </p:sp>
      <p:cxnSp>
        <p:nvCxnSpPr>
          <p:cNvPr id="18" name="Straight Arrow Connector 17">
            <a:extLst>
              <a:ext uri="{FF2B5EF4-FFF2-40B4-BE49-F238E27FC236}">
                <a16:creationId xmlns:a16="http://schemas.microsoft.com/office/drawing/2014/main" id="{F4E28CF7-B1E2-960A-3689-EB1272426E85}"/>
              </a:ext>
            </a:extLst>
          </p:cNvPr>
          <p:cNvCxnSpPr>
            <a:cxnSpLocks/>
          </p:cNvCxnSpPr>
          <p:nvPr/>
        </p:nvCxnSpPr>
        <p:spPr>
          <a:xfrm>
            <a:off x="6606294" y="2796182"/>
            <a:ext cx="63000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0F72E701-555B-BE59-63B1-1E1E610B4D33}"/>
                  </a:ext>
                </a:extLst>
              </p:cNvPr>
              <p:cNvSpPr txBox="1"/>
              <p:nvPr/>
            </p:nvSpPr>
            <p:spPr>
              <a:xfrm>
                <a:off x="6921294" y="2568049"/>
                <a:ext cx="173894"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400" b="0" i="1" noProof="1" dirty="0" smtClean="0">
                          <a:solidFill>
                            <a:srgbClr val="1D3456"/>
                          </a:solidFill>
                          <a:latin typeface="Cambria Math" panose="02040503050406030204" pitchFamily="18" charset="0"/>
                          <a:ea typeface="Cambria Math" panose="02040503050406030204" pitchFamily="18" charset="0"/>
                        </a:rPr>
                        <m:t>𝜔</m:t>
                      </m:r>
                    </m:oMath>
                  </m:oMathPara>
                </a14:m>
                <a:endParaRPr lang="en-US" sz="1400" noProof="1"/>
              </a:p>
            </p:txBody>
          </p:sp>
        </mc:Choice>
        <mc:Fallback xmlns="">
          <p:sp>
            <p:nvSpPr>
              <p:cNvPr id="19" name="TextBox 18">
                <a:extLst>
                  <a:ext uri="{FF2B5EF4-FFF2-40B4-BE49-F238E27FC236}">
                    <a16:creationId xmlns:a16="http://schemas.microsoft.com/office/drawing/2014/main" id="{0F72E701-555B-BE59-63B1-1E1E610B4D33}"/>
                  </a:ext>
                </a:extLst>
              </p:cNvPr>
              <p:cNvSpPr txBox="1">
                <a:spLocks noRot="1" noChangeAspect="1" noMove="1" noResize="1" noEditPoints="1" noAdjustHandles="1" noChangeArrowheads="1" noChangeShapeType="1" noTextEdit="1"/>
              </p:cNvSpPr>
              <p:nvPr/>
            </p:nvSpPr>
            <p:spPr>
              <a:xfrm>
                <a:off x="6921294" y="2568049"/>
                <a:ext cx="173894" cy="215444"/>
              </a:xfrm>
              <a:prstGeom prst="rect">
                <a:avLst/>
              </a:prstGeom>
              <a:blipFill>
                <a:blip r:embed="rId9"/>
                <a:stretch>
                  <a:fillRect l="-13793" r="-10345"/>
                </a:stretch>
              </a:blipFill>
            </p:spPr>
            <p:txBody>
              <a:bodyPr/>
              <a:lstStyle/>
              <a:p>
                <a:r>
                  <a:rPr lang="th-TH">
                    <a:noFill/>
                  </a:rPr>
                  <a:t> </a:t>
                </a:r>
              </a:p>
            </p:txBody>
          </p:sp>
        </mc:Fallback>
      </mc:AlternateContent>
      <p:sp>
        <p:nvSpPr>
          <p:cNvPr id="20" name="Oval 19">
            <a:extLst>
              <a:ext uri="{FF2B5EF4-FFF2-40B4-BE49-F238E27FC236}">
                <a16:creationId xmlns:a16="http://schemas.microsoft.com/office/drawing/2014/main" id="{5674C1B9-F37E-BD10-983A-B05F9F3F0371}"/>
              </a:ext>
            </a:extLst>
          </p:cNvPr>
          <p:cNvSpPr/>
          <p:nvPr/>
        </p:nvSpPr>
        <p:spPr>
          <a:xfrm>
            <a:off x="1492499" y="2687485"/>
            <a:ext cx="270000" cy="270000"/>
          </a:xfrm>
          <a:prstGeom prst="ellipse">
            <a:avLst/>
          </a:prstGeom>
          <a:noFill/>
          <a:ln w="15875">
            <a:solidFill>
              <a:srgbClr val="1D34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FA5890D9-4E3C-600D-A24E-5E2C18BA0EA4}"/>
                  </a:ext>
                </a:extLst>
              </p:cNvPr>
              <p:cNvSpPr txBox="1"/>
              <p:nvPr/>
            </p:nvSpPr>
            <p:spPr>
              <a:xfrm>
                <a:off x="1540135" y="2703575"/>
                <a:ext cx="174727"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400" b="1" i="1" noProof="1" dirty="0" smtClean="0">
                          <a:solidFill>
                            <a:srgbClr val="1D3456"/>
                          </a:solidFill>
                          <a:latin typeface="Cambria Math" panose="02040503050406030204" pitchFamily="18" charset="0"/>
                          <a:ea typeface="Cambria Math" panose="02040503050406030204" pitchFamily="18" charset="0"/>
                        </a:rPr>
                        <m:t>±</m:t>
                      </m:r>
                    </m:oMath>
                  </m:oMathPara>
                </a14:m>
                <a:endParaRPr lang="en-US" sz="1400" b="1" noProof="1">
                  <a:solidFill>
                    <a:srgbClr val="1D3456"/>
                  </a:solidFill>
                </a:endParaRPr>
              </a:p>
            </p:txBody>
          </p:sp>
        </mc:Choice>
        <mc:Fallback xmlns="">
          <p:sp>
            <p:nvSpPr>
              <p:cNvPr id="21" name="TextBox 20">
                <a:extLst>
                  <a:ext uri="{FF2B5EF4-FFF2-40B4-BE49-F238E27FC236}">
                    <a16:creationId xmlns:a16="http://schemas.microsoft.com/office/drawing/2014/main" id="{FA5890D9-4E3C-600D-A24E-5E2C18BA0EA4}"/>
                  </a:ext>
                </a:extLst>
              </p:cNvPr>
              <p:cNvSpPr txBox="1">
                <a:spLocks noRot="1" noChangeAspect="1" noMove="1" noResize="1" noEditPoints="1" noAdjustHandles="1" noChangeArrowheads="1" noChangeShapeType="1" noTextEdit="1"/>
              </p:cNvSpPr>
              <p:nvPr/>
            </p:nvSpPr>
            <p:spPr>
              <a:xfrm>
                <a:off x="1540135" y="2703575"/>
                <a:ext cx="174727" cy="215444"/>
              </a:xfrm>
              <a:prstGeom prst="rect">
                <a:avLst/>
              </a:prstGeom>
              <a:blipFill>
                <a:blip r:embed="rId10"/>
                <a:stretch>
                  <a:fillRect l="-32143" r="-28571" b="-16667"/>
                </a:stretch>
              </a:blipFill>
            </p:spPr>
            <p:txBody>
              <a:bodyPr/>
              <a:lstStyle/>
              <a:p>
                <a:r>
                  <a:rPr lang="th-TH">
                    <a:noFill/>
                  </a:rPr>
                  <a:t> </a:t>
                </a:r>
              </a:p>
            </p:txBody>
          </p:sp>
        </mc:Fallback>
      </mc:AlternateContent>
      <p:cxnSp>
        <p:nvCxnSpPr>
          <p:cNvPr id="23" name="Straight Arrow Connector 22">
            <a:extLst>
              <a:ext uri="{FF2B5EF4-FFF2-40B4-BE49-F238E27FC236}">
                <a16:creationId xmlns:a16="http://schemas.microsoft.com/office/drawing/2014/main" id="{46D04668-3D4C-44E5-6A92-2F5F266AE550}"/>
              </a:ext>
            </a:extLst>
          </p:cNvPr>
          <p:cNvCxnSpPr>
            <a:cxnSpLocks/>
          </p:cNvCxnSpPr>
          <p:nvPr/>
        </p:nvCxnSpPr>
        <p:spPr>
          <a:xfrm>
            <a:off x="6847927" y="2799000"/>
            <a:ext cx="0" cy="630000"/>
          </a:xfrm>
          <a:prstGeom prst="straightConnector1">
            <a:avLst/>
          </a:prstGeom>
          <a:ln w="15875">
            <a:solidFill>
              <a:srgbClr val="1D3456"/>
            </a:solidFill>
            <a:headEnd type="oval"/>
            <a:tailEnd type="none"/>
          </a:ln>
          <a:effectLst/>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F1E3046E-E61A-AA0F-13B4-546FACA07A60}"/>
              </a:ext>
            </a:extLst>
          </p:cNvPr>
          <p:cNvCxnSpPr>
            <a:cxnSpLocks/>
          </p:cNvCxnSpPr>
          <p:nvPr/>
        </p:nvCxnSpPr>
        <p:spPr>
          <a:xfrm>
            <a:off x="1627498" y="3429000"/>
            <a:ext cx="5220429" cy="0"/>
          </a:xfrm>
          <a:prstGeom prst="straightConnector1">
            <a:avLst/>
          </a:prstGeom>
          <a:ln w="15875">
            <a:solidFill>
              <a:srgbClr val="1D3456"/>
            </a:solidFill>
            <a:tailEnd type="none"/>
          </a:ln>
          <a:effectLst/>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BCA4788A-95F3-3DC9-0148-37495AF35FDA}"/>
              </a:ext>
            </a:extLst>
          </p:cNvPr>
          <p:cNvCxnSpPr>
            <a:cxnSpLocks/>
          </p:cNvCxnSpPr>
          <p:nvPr/>
        </p:nvCxnSpPr>
        <p:spPr>
          <a:xfrm>
            <a:off x="1632641" y="2957486"/>
            <a:ext cx="0" cy="471514"/>
          </a:xfrm>
          <a:prstGeom prst="straightConnector1">
            <a:avLst/>
          </a:prstGeom>
          <a:ln w="15875">
            <a:solidFill>
              <a:srgbClr val="1D3456"/>
            </a:solidFill>
            <a:headEnd type="triangle"/>
            <a:tailEnd type="none"/>
          </a:ln>
          <a:effectLst/>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DADF1287-4185-6692-091E-8CEF4E40ABA6}"/>
              </a:ext>
            </a:extLst>
          </p:cNvPr>
          <p:cNvCxnSpPr>
            <a:cxnSpLocks/>
          </p:cNvCxnSpPr>
          <p:nvPr/>
        </p:nvCxnSpPr>
        <p:spPr>
          <a:xfrm>
            <a:off x="843884" y="2814755"/>
            <a:ext cx="648615"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EC587742-C036-B3D1-4A58-7513C919D212}"/>
                  </a:ext>
                </a:extLst>
              </p:cNvPr>
              <p:cNvSpPr txBox="1"/>
              <p:nvPr/>
            </p:nvSpPr>
            <p:spPr>
              <a:xfrm>
                <a:off x="906780" y="2592329"/>
                <a:ext cx="243848"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en-US" sz="1400" b="0" i="1" noProof="1" dirty="0" smtClean="0">
                              <a:solidFill>
                                <a:srgbClr val="1D3456"/>
                              </a:solidFill>
                              <a:latin typeface="Cambria Math" panose="02040503050406030204" pitchFamily="18" charset="0"/>
                              <a:ea typeface="Cambria Math" panose="02040503050406030204" pitchFamily="18" charset="0"/>
                            </a:rPr>
                          </m:ctrlPr>
                        </m:sSupPr>
                        <m:e>
                          <m:r>
                            <a:rPr lang="en-US" sz="1400" b="0" i="1" noProof="1" dirty="0" smtClean="0">
                              <a:solidFill>
                                <a:srgbClr val="1D3456"/>
                              </a:solidFill>
                              <a:latin typeface="Cambria Math" panose="02040503050406030204" pitchFamily="18" charset="0"/>
                              <a:ea typeface="Cambria Math" panose="02040503050406030204" pitchFamily="18" charset="0"/>
                            </a:rPr>
                            <m:t>𝜔</m:t>
                          </m:r>
                        </m:e>
                        <m:sup>
                          <m:r>
                            <a:rPr lang="en-US" sz="1400" b="0" i="1" noProof="1" dirty="0" smtClean="0">
                              <a:solidFill>
                                <a:srgbClr val="1D3456"/>
                              </a:solidFill>
                              <a:latin typeface="Cambria Math" panose="02040503050406030204" pitchFamily="18" charset="0"/>
                              <a:ea typeface="Cambria Math" panose="02040503050406030204" pitchFamily="18" charset="0"/>
                            </a:rPr>
                            <m:t>∗</m:t>
                          </m:r>
                        </m:sup>
                      </m:sSup>
                    </m:oMath>
                  </m:oMathPara>
                </a14:m>
                <a:endParaRPr lang="en-US" sz="1400" noProof="1"/>
              </a:p>
            </p:txBody>
          </p:sp>
        </mc:Choice>
        <mc:Fallback xmlns="">
          <p:sp>
            <p:nvSpPr>
              <p:cNvPr id="27" name="TextBox 26">
                <a:extLst>
                  <a:ext uri="{FF2B5EF4-FFF2-40B4-BE49-F238E27FC236}">
                    <a16:creationId xmlns:a16="http://schemas.microsoft.com/office/drawing/2014/main" id="{EC587742-C036-B3D1-4A58-7513C919D212}"/>
                  </a:ext>
                </a:extLst>
              </p:cNvPr>
              <p:cNvSpPr txBox="1">
                <a:spLocks noRot="1" noChangeAspect="1" noMove="1" noResize="1" noEditPoints="1" noAdjustHandles="1" noChangeArrowheads="1" noChangeShapeType="1" noTextEdit="1"/>
              </p:cNvSpPr>
              <p:nvPr/>
            </p:nvSpPr>
            <p:spPr>
              <a:xfrm>
                <a:off x="906780" y="2592329"/>
                <a:ext cx="243848" cy="215444"/>
              </a:xfrm>
              <a:prstGeom prst="rect">
                <a:avLst/>
              </a:prstGeom>
              <a:blipFill>
                <a:blip r:embed="rId11"/>
                <a:stretch>
                  <a:fillRect l="-12500"/>
                </a:stretch>
              </a:blipFill>
            </p:spPr>
            <p:txBody>
              <a:bodyPr/>
              <a:lstStyle/>
              <a:p>
                <a:r>
                  <a:rPr lang="th-TH">
                    <a:noFill/>
                  </a:rPr>
                  <a:t> </a:t>
                </a:r>
              </a:p>
            </p:txBody>
          </p:sp>
        </mc:Fallback>
      </mc:AlternateContent>
      <mc:AlternateContent xmlns:mc="http://schemas.openxmlformats.org/markup-compatibility/2006" xmlns:a14="http://schemas.microsoft.com/office/drawing/2010/main">
        <mc:Choice Requires="a14">
          <p:sp>
            <p:nvSpPr>
              <p:cNvPr id="35" name="Rounded Rectangle 54">
                <a:extLst>
                  <a:ext uri="{FF2B5EF4-FFF2-40B4-BE49-F238E27FC236}">
                    <a16:creationId xmlns:a16="http://schemas.microsoft.com/office/drawing/2014/main" id="{4DEDDC96-D493-B3F3-BA6E-59E41C8EB3D8}"/>
                  </a:ext>
                </a:extLst>
              </p:cNvPr>
              <p:cNvSpPr/>
              <p:nvPr/>
            </p:nvSpPr>
            <p:spPr>
              <a:xfrm>
                <a:off x="4552091" y="2555360"/>
                <a:ext cx="679377" cy="479453"/>
              </a:xfrm>
              <a:prstGeom prst="roundRect">
                <a:avLst/>
              </a:prstGeom>
              <a:ln w="15875">
                <a:solidFill>
                  <a:srgbClr val="1D3456"/>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200" noProof="1">
                    <a:solidFill>
                      <a:srgbClr val="1D3456"/>
                    </a:solidFill>
                  </a:rPr>
                  <a:t>Clip to </a:t>
                </a:r>
                <a14:m>
                  <m:oMath xmlns:m="http://schemas.openxmlformats.org/officeDocument/2006/math">
                    <m:r>
                      <a:rPr lang="en-US" sz="1200" i="1" noProof="1" dirty="0" smtClean="0">
                        <a:solidFill>
                          <a:srgbClr val="1D3456"/>
                        </a:solidFill>
                        <a:latin typeface="Cambria Math" panose="02040503050406030204" pitchFamily="18" charset="0"/>
                        <a:ea typeface="Cambria Math" panose="02040503050406030204" pitchFamily="18" charset="0"/>
                      </a:rPr>
                      <m:t>±</m:t>
                    </m:r>
                    <m:r>
                      <a:rPr lang="en-US" sz="1200" b="0" i="1" noProof="1" dirty="0" smtClean="0">
                        <a:solidFill>
                          <a:srgbClr val="1D3456"/>
                        </a:solidFill>
                        <a:latin typeface="Cambria Math" panose="02040503050406030204" pitchFamily="18" charset="0"/>
                        <a:ea typeface="Cambria Math" panose="02040503050406030204" pitchFamily="18" charset="0"/>
                      </a:rPr>
                      <m:t>12</m:t>
                    </m:r>
                    <m:r>
                      <a:rPr lang="en-US" sz="1200" b="0" i="1" noProof="1" dirty="0" smtClean="0">
                        <a:solidFill>
                          <a:srgbClr val="1D3456"/>
                        </a:solidFill>
                        <a:latin typeface="Cambria Math" panose="02040503050406030204" pitchFamily="18" charset="0"/>
                        <a:ea typeface="Cambria Math" panose="02040503050406030204" pitchFamily="18" charset="0"/>
                      </a:rPr>
                      <m:t>𝑉</m:t>
                    </m:r>
                  </m:oMath>
                </a14:m>
                <a:endParaRPr lang="en-US" sz="1200" noProof="1">
                  <a:solidFill>
                    <a:srgbClr val="1D3456"/>
                  </a:solidFill>
                </a:endParaRPr>
              </a:p>
            </p:txBody>
          </p:sp>
        </mc:Choice>
        <mc:Fallback xmlns="">
          <p:sp>
            <p:nvSpPr>
              <p:cNvPr id="35" name="Rounded Rectangle 54">
                <a:extLst>
                  <a:ext uri="{FF2B5EF4-FFF2-40B4-BE49-F238E27FC236}">
                    <a16:creationId xmlns:a16="http://schemas.microsoft.com/office/drawing/2014/main" id="{4DEDDC96-D493-B3F3-BA6E-59E41C8EB3D8}"/>
                  </a:ext>
                </a:extLst>
              </p:cNvPr>
              <p:cNvSpPr>
                <a:spLocks noRot="1" noChangeAspect="1" noMove="1" noResize="1" noEditPoints="1" noAdjustHandles="1" noChangeArrowheads="1" noChangeShapeType="1" noTextEdit="1"/>
              </p:cNvSpPr>
              <p:nvPr/>
            </p:nvSpPr>
            <p:spPr>
              <a:xfrm>
                <a:off x="4552091" y="2555360"/>
                <a:ext cx="679377" cy="479453"/>
              </a:xfrm>
              <a:prstGeom prst="roundRect">
                <a:avLst/>
              </a:prstGeom>
              <a:blipFill>
                <a:blip r:embed="rId12"/>
                <a:stretch>
                  <a:fillRect/>
                </a:stretch>
              </a:blipFill>
              <a:ln w="15875">
                <a:solidFill>
                  <a:srgbClr val="1D3456"/>
                </a:solidFill>
              </a:ln>
            </p:spPr>
            <p:txBody>
              <a:bodyPr/>
              <a:lstStyle/>
              <a:p>
                <a:r>
                  <a:rPr lang="th-TH">
                    <a:noFill/>
                  </a:rPr>
                  <a:t> </a:t>
                </a:r>
              </a:p>
            </p:txBody>
          </p:sp>
        </mc:Fallback>
      </mc:AlternateContent>
      <p:cxnSp>
        <p:nvCxnSpPr>
          <p:cNvPr id="36" name="Straight Arrow Connector 35">
            <a:extLst>
              <a:ext uri="{FF2B5EF4-FFF2-40B4-BE49-F238E27FC236}">
                <a16:creationId xmlns:a16="http://schemas.microsoft.com/office/drawing/2014/main" id="{C5F5AD75-840C-CD71-5B97-FB191F8A41BA}"/>
              </a:ext>
            </a:extLst>
          </p:cNvPr>
          <p:cNvCxnSpPr>
            <a:cxnSpLocks/>
          </p:cNvCxnSpPr>
          <p:nvPr/>
        </p:nvCxnSpPr>
        <p:spPr>
          <a:xfrm>
            <a:off x="4120091" y="2799000"/>
            <a:ext cx="43200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37" name="Straight Arrow Connector 36">
            <a:extLst>
              <a:ext uri="{FF2B5EF4-FFF2-40B4-BE49-F238E27FC236}">
                <a16:creationId xmlns:a16="http://schemas.microsoft.com/office/drawing/2014/main" id="{8586966E-B2D2-AA38-AFC8-C05804020F6B}"/>
              </a:ext>
            </a:extLst>
          </p:cNvPr>
          <p:cNvCxnSpPr>
            <a:cxnSpLocks/>
          </p:cNvCxnSpPr>
          <p:nvPr/>
        </p:nvCxnSpPr>
        <p:spPr>
          <a:xfrm>
            <a:off x="5231468" y="2788616"/>
            <a:ext cx="27000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7566B186-E85C-CD11-4778-355BC7ABFD58}"/>
              </a:ext>
            </a:extLst>
          </p:cNvPr>
          <p:cNvCxnSpPr>
            <a:cxnSpLocks/>
          </p:cNvCxnSpPr>
          <p:nvPr/>
        </p:nvCxnSpPr>
        <p:spPr>
          <a:xfrm>
            <a:off x="1766123" y="2815580"/>
            <a:ext cx="27000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p:pic>
        <p:nvPicPr>
          <p:cNvPr id="49" name="Picture 48">
            <a:extLst>
              <a:ext uri="{FF2B5EF4-FFF2-40B4-BE49-F238E27FC236}">
                <a16:creationId xmlns:a16="http://schemas.microsoft.com/office/drawing/2014/main" id="{ECF97964-BC3C-A817-5A59-36CBCA58B1CE}"/>
              </a:ext>
            </a:extLst>
          </p:cNvPr>
          <p:cNvPicPr>
            <a:picLocks noChangeAspect="1"/>
          </p:cNvPicPr>
          <p:nvPr/>
        </p:nvPicPr>
        <p:blipFill>
          <a:blip r:embed="rId13"/>
          <a:stretch>
            <a:fillRect/>
          </a:stretch>
        </p:blipFill>
        <p:spPr>
          <a:xfrm>
            <a:off x="1190752" y="4210735"/>
            <a:ext cx="4320783" cy="2127658"/>
          </a:xfrm>
          <a:prstGeom prst="rect">
            <a:avLst/>
          </a:prstGeom>
        </p:spPr>
      </p:pic>
      <p:pic>
        <p:nvPicPr>
          <p:cNvPr id="44" name="20260627-0813-33.3316910">
            <a:hlinkClick r:id="" action="ppaction://media"/>
            <a:extLst>
              <a:ext uri="{FF2B5EF4-FFF2-40B4-BE49-F238E27FC236}">
                <a16:creationId xmlns:a16="http://schemas.microsoft.com/office/drawing/2014/main" id="{419E5641-71AE-92B0-5503-10D5102E66E7}"/>
              </a:ext>
            </a:extLst>
          </p:cNvPr>
          <p:cNvPicPr>
            <a:picLocks noChangeAspect="1"/>
          </p:cNvPicPr>
          <p:nvPr>
            <a:videoFile r:link="rId3"/>
            <p:extLst>
              <p:ext uri="{DAA4B4D4-6D71-4841-9C94-3DE7FCFB9230}">
                <p14:media xmlns:p14="http://schemas.microsoft.com/office/powerpoint/2010/main" r:embed="rId2"/>
              </p:ext>
            </p:extLst>
          </p:nvPr>
        </p:nvPicPr>
        <p:blipFill>
          <a:blip r:embed="rId14"/>
          <a:stretch>
            <a:fillRect/>
          </a:stretch>
        </p:blipFill>
        <p:spPr>
          <a:xfrm>
            <a:off x="8514861" y="2098670"/>
            <a:ext cx="2137004" cy="1814809"/>
          </a:xfrm>
          <a:prstGeom prst="rect">
            <a:avLst/>
          </a:prstGeom>
        </p:spPr>
      </p:pic>
      <p:sp>
        <p:nvSpPr>
          <p:cNvPr id="52" name="TextBox 51">
            <a:extLst>
              <a:ext uri="{FF2B5EF4-FFF2-40B4-BE49-F238E27FC236}">
                <a16:creationId xmlns:a16="http://schemas.microsoft.com/office/drawing/2014/main" id="{A06D8102-1446-AAB0-D82B-743D062C4283}"/>
              </a:ext>
            </a:extLst>
          </p:cNvPr>
          <p:cNvSpPr txBox="1"/>
          <p:nvPr/>
        </p:nvSpPr>
        <p:spPr>
          <a:xfrm>
            <a:off x="906780" y="1461856"/>
            <a:ext cx="10970278" cy="2568075"/>
          </a:xfrm>
          <a:prstGeom prst="rect">
            <a:avLst/>
          </a:prstGeom>
          <a:noFill/>
        </p:spPr>
        <p:txBody>
          <a:bodyPr wrap="square" lIns="0" tIns="0" rIns="0" bIns="0" anchor="t">
            <a:spAutoFit/>
          </a:bodyPr>
          <a:lstStyle/>
          <a:p>
            <a:pPr>
              <a:lnSpc>
                <a:spcPct val="120000"/>
              </a:lnSpc>
            </a:pPr>
            <a:r>
              <a:rPr lang="en-US" sz="1400" noProof="1">
                <a:solidFill>
                  <a:srgbClr val="1D3557"/>
                </a:solidFill>
              </a:rPr>
              <a:t>The classical method commonly used for speed control is the PI controller. One of its advantages is that it can provide satisfactory performance even </a:t>
            </a:r>
            <a:r>
              <a:rPr lang="en-US" sz="1400" b="1" noProof="1">
                <a:solidFill>
                  <a:srgbClr val="1D3557"/>
                </a:solidFill>
              </a:rPr>
              <a:t>without a complete understanding of the plant model</a:t>
            </a:r>
            <a:r>
              <a:rPr lang="en-US" sz="1400" noProof="1">
                <a:solidFill>
                  <a:srgbClr val="1D3557"/>
                </a:solidFill>
              </a:rPr>
              <a:t>. However, this approach works well only for linear systems. In our case, the presence of the vertical pendulum introduces gravitational effects, making the system highly nonlinear.</a:t>
            </a:r>
          </a:p>
          <a:p>
            <a:pPr>
              <a:lnSpc>
                <a:spcPct val="120000"/>
              </a:lnSpc>
            </a:pPr>
            <a:endParaRPr lang="en-US" sz="1400" noProof="1">
              <a:solidFill>
                <a:srgbClr val="1D3557"/>
              </a:solidFill>
            </a:endParaRPr>
          </a:p>
          <a:p>
            <a:pPr>
              <a:lnSpc>
                <a:spcPct val="120000"/>
              </a:lnSpc>
            </a:pPr>
            <a:endParaRPr lang="en-US" sz="1400" noProof="1">
              <a:solidFill>
                <a:srgbClr val="1D3557"/>
              </a:solidFill>
            </a:endParaRPr>
          </a:p>
          <a:p>
            <a:pPr>
              <a:lnSpc>
                <a:spcPct val="120000"/>
              </a:lnSpc>
            </a:pPr>
            <a:endParaRPr lang="en-US" sz="1400" noProof="1">
              <a:solidFill>
                <a:srgbClr val="1D3557"/>
              </a:solidFill>
            </a:endParaRPr>
          </a:p>
          <a:p>
            <a:pPr>
              <a:lnSpc>
                <a:spcPct val="120000"/>
              </a:lnSpc>
            </a:pPr>
            <a:endParaRPr lang="en-US" sz="1400" noProof="1">
              <a:solidFill>
                <a:srgbClr val="1D3557"/>
              </a:solidFill>
            </a:endParaRPr>
          </a:p>
          <a:p>
            <a:pPr>
              <a:lnSpc>
                <a:spcPct val="120000"/>
              </a:lnSpc>
            </a:pPr>
            <a:endParaRPr lang="en-US" sz="1400" noProof="1">
              <a:solidFill>
                <a:srgbClr val="1D3557"/>
              </a:solidFill>
            </a:endParaRPr>
          </a:p>
          <a:p>
            <a:pPr>
              <a:lnSpc>
                <a:spcPct val="120000"/>
              </a:lnSpc>
            </a:pPr>
            <a:endParaRPr lang="en-US" sz="1400" noProof="1">
              <a:solidFill>
                <a:srgbClr val="1D3557"/>
              </a:solidFill>
            </a:endParaRPr>
          </a:p>
          <a:p>
            <a:pPr>
              <a:lnSpc>
                <a:spcPct val="120000"/>
              </a:lnSpc>
            </a:pPr>
            <a:r>
              <a:rPr lang="en-US" sz="1400" noProof="1">
                <a:solidFill>
                  <a:srgbClr val="1D3557"/>
                </a:solidFill>
              </a:rPr>
              <a:t>As a result, the performance of a conventional PI controller can be significantly degraded.</a:t>
            </a:r>
          </a:p>
        </p:txBody>
      </p:sp>
      <p:graphicFrame>
        <p:nvGraphicFramePr>
          <p:cNvPr id="53" name="Object 52">
            <a:extLst>
              <a:ext uri="{FF2B5EF4-FFF2-40B4-BE49-F238E27FC236}">
                <a16:creationId xmlns:a16="http://schemas.microsoft.com/office/drawing/2014/main" id="{33648926-8F76-A8E2-2487-627FB41A6C39}"/>
              </a:ext>
            </a:extLst>
          </p:cNvPr>
          <p:cNvGraphicFramePr>
            <a:graphicFrameLocks noChangeAspect="1"/>
          </p:cNvGraphicFramePr>
          <p:nvPr>
            <p:extLst>
              <p:ext uri="{D42A27DB-BD31-4B8C-83A1-F6EECF244321}">
                <p14:modId xmlns:p14="http://schemas.microsoft.com/office/powerpoint/2010/main" val="3796618369"/>
              </p:ext>
            </p:extLst>
          </p:nvPr>
        </p:nvGraphicFramePr>
        <p:xfrm>
          <a:off x="2459544" y="5378003"/>
          <a:ext cx="1574800" cy="342900"/>
        </p:xfrm>
        <a:graphic>
          <a:graphicData uri="http://schemas.openxmlformats.org/presentationml/2006/ole">
            <mc:AlternateContent xmlns:mc="http://schemas.openxmlformats.org/markup-compatibility/2006">
              <mc:Choice xmlns:v="urn:schemas-microsoft-com:vml" Requires="v">
                <p:oleObj spid="_x0000_s2073" name="Equation" r:id="rId15" imgW="1574640" imgH="342720" progId="Equation.DSMT4">
                  <p:embed/>
                </p:oleObj>
              </mc:Choice>
              <mc:Fallback>
                <p:oleObj name="Equation" r:id="rId15" imgW="1574640" imgH="342720" progId="Equation.DSMT4">
                  <p:embed/>
                  <p:pic>
                    <p:nvPicPr>
                      <p:cNvPr id="0" name=""/>
                      <p:cNvPicPr/>
                      <p:nvPr/>
                    </p:nvPicPr>
                    <p:blipFill>
                      <a:blip r:embed="rId16"/>
                      <a:stretch>
                        <a:fillRect/>
                      </a:stretch>
                    </p:blipFill>
                    <p:spPr>
                      <a:xfrm>
                        <a:off x="2459544" y="5378003"/>
                        <a:ext cx="1574800" cy="342900"/>
                      </a:xfrm>
                      <a:prstGeom prst="rect">
                        <a:avLst/>
                      </a:prstGeom>
                    </p:spPr>
                  </p:pic>
                </p:oleObj>
              </mc:Fallback>
            </mc:AlternateContent>
          </a:graphicData>
        </a:graphic>
      </p:graphicFrame>
      <p:pic>
        <p:nvPicPr>
          <p:cNvPr id="123" name="Picture 122">
            <a:extLst>
              <a:ext uri="{FF2B5EF4-FFF2-40B4-BE49-F238E27FC236}">
                <a16:creationId xmlns:a16="http://schemas.microsoft.com/office/drawing/2014/main" id="{E7356E15-28CA-EF79-8212-DE955190AEFA}"/>
              </a:ext>
            </a:extLst>
          </p:cNvPr>
          <p:cNvPicPr>
            <a:picLocks noChangeAspect="1"/>
          </p:cNvPicPr>
          <p:nvPr/>
        </p:nvPicPr>
        <p:blipFill>
          <a:blip r:embed="rId17"/>
          <a:stretch>
            <a:fillRect/>
          </a:stretch>
        </p:blipFill>
        <p:spPr>
          <a:xfrm>
            <a:off x="6313238" y="4184230"/>
            <a:ext cx="4403245" cy="2170850"/>
          </a:xfrm>
          <a:prstGeom prst="rect">
            <a:avLst/>
          </a:prstGeom>
        </p:spPr>
      </p:pic>
      <p:sp>
        <p:nvSpPr>
          <p:cNvPr id="126" name="TextBox 125">
            <a:extLst>
              <a:ext uri="{FF2B5EF4-FFF2-40B4-BE49-F238E27FC236}">
                <a16:creationId xmlns:a16="http://schemas.microsoft.com/office/drawing/2014/main" id="{E256D94C-26B2-BC8C-4A47-0946AABBCF31}"/>
              </a:ext>
            </a:extLst>
          </p:cNvPr>
          <p:cNvSpPr txBox="1"/>
          <p:nvPr/>
        </p:nvSpPr>
        <p:spPr>
          <a:xfrm>
            <a:off x="8439328" y="5656595"/>
            <a:ext cx="1121150" cy="241285"/>
          </a:xfrm>
          <a:prstGeom prst="rect">
            <a:avLst/>
          </a:prstGeom>
          <a:noFill/>
        </p:spPr>
        <p:txBody>
          <a:bodyPr wrap="square" lIns="0" tIns="0" rIns="0" bIns="0" anchor="t">
            <a:spAutoFit/>
          </a:bodyPr>
          <a:lstStyle/>
          <a:p>
            <a:pPr>
              <a:lnSpc>
                <a:spcPct val="120000"/>
              </a:lnSpc>
            </a:pPr>
            <a:r>
              <a:rPr lang="en-US" sz="1400" noProof="1">
                <a:solidFill>
                  <a:srgbClr val="1D3557"/>
                </a:solidFill>
              </a:rPr>
              <a:t>RMSE = 0.322</a:t>
            </a:r>
          </a:p>
        </p:txBody>
      </p:sp>
    </p:spTree>
    <p:extLst>
      <p:ext uri="{BB962C8B-B14F-4D97-AF65-F5344CB8AC3E}">
        <p14:creationId xmlns:p14="http://schemas.microsoft.com/office/powerpoint/2010/main" val="17599087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2159" fill="hold"/>
                                        <p:tgtEl>
                                          <p:spTgt spid="4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4"/>
                </p:tgtEl>
              </p:cMediaNode>
            </p:video>
            <p:seq concurrent="1" nextAc="seek">
              <p:cTn id="8" restart="whenNotActive" fill="hold" evtFilter="cancelBubble" nodeType="interactiveSeq">
                <p:stCondLst>
                  <p:cond evt="onClick" delay="0">
                    <p:tgtEl>
                      <p:spTgt spid="4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4"/>
                                        </p:tgtEl>
                                      </p:cBhvr>
                                    </p:cmd>
                                  </p:childTnLst>
                                </p:cTn>
                              </p:par>
                            </p:childTnLst>
                          </p:cTn>
                        </p:par>
                      </p:childTnLst>
                    </p:cTn>
                  </p:par>
                </p:childTnLst>
              </p:cTn>
              <p:nextCondLst>
                <p:cond evt="onClick" delay="0">
                  <p:tgtEl>
                    <p:spTgt spid="44"/>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BFAF6"/>
        </a:solidFill>
        <a:effectLst/>
      </p:bgPr>
    </p:bg>
    <p:spTree>
      <p:nvGrpSpPr>
        <p:cNvPr id="1" name=""/>
        <p:cNvGrpSpPr/>
        <p:nvPr/>
      </p:nvGrpSpPr>
      <p:grpSpPr>
        <a:xfrm>
          <a:off x="0" y="0"/>
          <a:ext cx="0" cy="0"/>
          <a:chOff x="0" y="0"/>
          <a:chExt cx="0" cy="0"/>
        </a:xfrm>
      </p:grpSpPr>
      <p:sp>
        <p:nvSpPr>
          <p:cNvPr id="101" name="Rounded Rectangle 73">
            <a:extLst>
              <a:ext uri="{FF2B5EF4-FFF2-40B4-BE49-F238E27FC236}">
                <a16:creationId xmlns:a16="http://schemas.microsoft.com/office/drawing/2014/main" id="{E7952BD0-BD21-D2F8-D29F-55070EC7AF9E}"/>
              </a:ext>
            </a:extLst>
          </p:cNvPr>
          <p:cNvSpPr/>
          <p:nvPr/>
        </p:nvSpPr>
        <p:spPr>
          <a:xfrm>
            <a:off x="790520" y="3987799"/>
            <a:ext cx="2414544" cy="241285"/>
          </a:xfrm>
          <a:prstGeom prst="roundRect">
            <a:avLst>
              <a:gd name="adj" fmla="val 6000"/>
            </a:avLst>
          </a:prstGeom>
          <a:solidFill>
            <a:srgbClr val="E7F2F0"/>
          </a:solidFill>
          <a:ln w="12700">
            <a:solidFill>
              <a:srgbClr val="E7F2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cxnSp>
        <p:nvCxnSpPr>
          <p:cNvPr id="15" name="Straight Connector 14">
            <a:extLst>
              <a:ext uri="{FF2B5EF4-FFF2-40B4-BE49-F238E27FC236}">
                <a16:creationId xmlns:a16="http://schemas.microsoft.com/office/drawing/2014/main" id="{C8F93762-94DA-A841-B4A2-57527A8B93AE}"/>
              </a:ext>
            </a:extLst>
          </p:cNvPr>
          <p:cNvCxnSpPr>
            <a:cxnSpLocks/>
          </p:cNvCxnSpPr>
          <p:nvPr/>
        </p:nvCxnSpPr>
        <p:spPr>
          <a:xfrm flipV="1">
            <a:off x="1234972" y="2671556"/>
            <a:ext cx="0" cy="576319"/>
          </a:xfrm>
          <a:prstGeom prst="line">
            <a:avLst/>
          </a:prstGeom>
          <a:ln>
            <a:solidFill>
              <a:srgbClr val="E07A5F"/>
            </a:solidFill>
          </a:ln>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7CA18ED5-EBCE-151F-33A7-9C7C0FC24D06}"/>
              </a:ext>
            </a:extLst>
          </p:cNvPr>
          <p:cNvCxnSpPr>
            <a:cxnSpLocks/>
          </p:cNvCxnSpPr>
          <p:nvPr/>
        </p:nvCxnSpPr>
        <p:spPr>
          <a:xfrm flipV="1">
            <a:off x="6447877" y="2671556"/>
            <a:ext cx="0" cy="664992"/>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sp>
        <p:nvSpPr>
          <p:cNvPr id="2" name="Rectangle 1"/>
          <p:cNvSpPr/>
          <p:nvPr/>
        </p:nvSpPr>
        <p:spPr>
          <a:xfrm>
            <a:off x="566928" y="502920"/>
            <a:ext cx="17780" cy="5852160"/>
          </a:xfrm>
          <a:prstGeom prst="rect">
            <a:avLst/>
          </a:prstGeom>
          <a:solidFill>
            <a:srgbClr val="D9D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3" name="Rectangle 2"/>
          <p:cNvSpPr/>
          <p:nvPr/>
        </p:nvSpPr>
        <p:spPr>
          <a:xfrm>
            <a:off x="566928" y="502920"/>
            <a:ext cx="30480" cy="56692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4" name="TextBox 3"/>
          <p:cNvSpPr txBox="1"/>
          <p:nvPr/>
        </p:nvSpPr>
        <p:spPr>
          <a:xfrm>
            <a:off x="868680" y="548640"/>
            <a:ext cx="10607040" cy="169277"/>
          </a:xfrm>
          <a:prstGeom prst="rect">
            <a:avLst/>
          </a:prstGeom>
          <a:noFill/>
        </p:spPr>
        <p:txBody>
          <a:bodyPr wrap="square" lIns="0" tIns="0" rIns="0" bIns="0" anchor="t">
            <a:spAutoFit/>
          </a:bodyPr>
          <a:lstStyle/>
          <a:p>
            <a:pPr>
              <a:lnSpc>
                <a:spcPct val="100000"/>
              </a:lnSpc>
            </a:pPr>
            <a:r>
              <a:rPr lang="en-US" sz="1100" b="1" noProof="1">
                <a:solidFill>
                  <a:srgbClr val="E07A5F"/>
                </a:solidFill>
                <a:latin typeface="Consolas"/>
              </a:rPr>
              <a:t>A3  </a:t>
            </a:r>
            <a:r>
              <a:rPr lang="en-US" sz="1100" b="1" noProof="1">
                <a:solidFill>
                  <a:srgbClr val="2A9D8F"/>
                </a:solidFill>
                <a:latin typeface="Consolas"/>
              </a:rPr>
              <a:t>Vertical Pendulum Control</a:t>
            </a:r>
            <a:endParaRPr lang="en-US" sz="1100" noProof="1">
              <a:solidFill>
                <a:srgbClr val="2A9D8F"/>
              </a:solidFill>
              <a:latin typeface="Consolas"/>
            </a:endParaRPr>
          </a:p>
        </p:txBody>
      </p:sp>
      <p:sp>
        <p:nvSpPr>
          <p:cNvPr id="62" name="TextBox 61">
            <a:extLst>
              <a:ext uri="{FF2B5EF4-FFF2-40B4-BE49-F238E27FC236}">
                <a16:creationId xmlns:a16="http://schemas.microsoft.com/office/drawing/2014/main" id="{94F8AA02-4EDF-E48D-5C80-B00E2F9F72D7}"/>
              </a:ext>
            </a:extLst>
          </p:cNvPr>
          <p:cNvSpPr txBox="1"/>
          <p:nvPr/>
        </p:nvSpPr>
        <p:spPr>
          <a:xfrm>
            <a:off x="868680" y="866813"/>
            <a:ext cx="10607040" cy="412805"/>
          </a:xfrm>
          <a:prstGeom prst="rect">
            <a:avLst/>
          </a:prstGeom>
          <a:noFill/>
        </p:spPr>
        <p:txBody>
          <a:bodyPr wrap="square" lIns="0" tIns="0" rIns="0" bIns="0" anchor="t">
            <a:spAutoFit/>
          </a:bodyPr>
          <a:lstStyle/>
          <a:p>
            <a:pPr algn="l">
              <a:lnSpc>
                <a:spcPct val="102000"/>
              </a:lnSpc>
              <a:spcBef>
                <a:spcPts val="0"/>
              </a:spcBef>
              <a:spcAft>
                <a:spcPts val="600"/>
              </a:spcAft>
            </a:pPr>
            <a:r>
              <a:rPr lang="en-US" sz="2800" b="1" noProof="1">
                <a:solidFill>
                  <a:srgbClr val="1D3557"/>
                </a:solidFill>
                <a:latin typeface="Georgia"/>
              </a:rPr>
              <a:t>Classical Control</a:t>
            </a:r>
          </a:p>
        </p:txBody>
      </p:sp>
      <p:sp>
        <p:nvSpPr>
          <p:cNvPr id="75" name="Rectangle 74">
            <a:extLst>
              <a:ext uri="{FF2B5EF4-FFF2-40B4-BE49-F238E27FC236}">
                <a16:creationId xmlns:a16="http://schemas.microsoft.com/office/drawing/2014/main" id="{995A9471-D833-E59A-0303-10C4A6E631B1}"/>
              </a:ext>
            </a:extLst>
          </p:cNvPr>
          <p:cNvSpPr/>
          <p:nvPr/>
        </p:nvSpPr>
        <p:spPr>
          <a:xfrm>
            <a:off x="790518" y="3987799"/>
            <a:ext cx="45719" cy="241285"/>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graphicFrame>
        <p:nvGraphicFramePr>
          <p:cNvPr id="41" name="Object 40">
            <a:extLst>
              <a:ext uri="{FF2B5EF4-FFF2-40B4-BE49-F238E27FC236}">
                <a16:creationId xmlns:a16="http://schemas.microsoft.com/office/drawing/2014/main" id="{CCAED91B-8F91-A305-4FDE-71ECB08966BC}"/>
              </a:ext>
            </a:extLst>
          </p:cNvPr>
          <p:cNvGraphicFramePr>
            <a:graphicFrameLocks noChangeAspect="1"/>
          </p:cNvGraphicFramePr>
          <p:nvPr>
            <p:extLst>
              <p:ext uri="{D42A27DB-BD31-4B8C-83A1-F6EECF244321}">
                <p14:modId xmlns:p14="http://schemas.microsoft.com/office/powerpoint/2010/main" val="2228564565"/>
              </p:ext>
            </p:extLst>
          </p:nvPr>
        </p:nvGraphicFramePr>
        <p:xfrm>
          <a:off x="6061511" y="3186041"/>
          <a:ext cx="139700" cy="228600"/>
        </p:xfrm>
        <a:graphic>
          <a:graphicData uri="http://schemas.openxmlformats.org/presentationml/2006/ole">
            <mc:AlternateContent xmlns:mc="http://schemas.openxmlformats.org/markup-compatibility/2006">
              <mc:Choice xmlns:v="urn:schemas-microsoft-com:vml" Requires="v">
                <p:oleObj spid="_x0000_s3140" name="Equation" r:id="rId3" imgW="139680" imgH="228600" progId="Equation.DSMT4">
                  <p:embed/>
                </p:oleObj>
              </mc:Choice>
              <mc:Fallback>
                <p:oleObj name="Equation" r:id="rId3" imgW="139680" imgH="228600" progId="Equation.DSMT4">
                  <p:embed/>
                  <p:pic>
                    <p:nvPicPr>
                      <p:cNvPr id="41" name="Object 40">
                        <a:extLst>
                          <a:ext uri="{FF2B5EF4-FFF2-40B4-BE49-F238E27FC236}">
                            <a16:creationId xmlns:a16="http://schemas.microsoft.com/office/drawing/2014/main" id="{CCAED91B-8F91-A305-4FDE-71ECB08966BC}"/>
                          </a:ext>
                        </a:extLst>
                      </p:cNvPr>
                      <p:cNvPicPr/>
                      <p:nvPr/>
                    </p:nvPicPr>
                    <p:blipFill>
                      <a:blip r:embed="rId4"/>
                      <a:stretch>
                        <a:fillRect/>
                      </a:stretch>
                    </p:blipFill>
                    <p:spPr>
                      <a:xfrm>
                        <a:off x="6061511" y="3186041"/>
                        <a:ext cx="139700" cy="228600"/>
                      </a:xfrm>
                      <a:prstGeom prst="rect">
                        <a:avLst/>
                      </a:prstGeom>
                    </p:spPr>
                  </p:pic>
                </p:oleObj>
              </mc:Fallback>
            </mc:AlternateContent>
          </a:graphicData>
        </a:graphic>
      </p:graphicFrame>
      <p:sp>
        <p:nvSpPr>
          <p:cNvPr id="7" name="Rounded Rectangle 6">
            <a:extLst>
              <a:ext uri="{FF2B5EF4-FFF2-40B4-BE49-F238E27FC236}">
                <a16:creationId xmlns:a16="http://schemas.microsoft.com/office/drawing/2014/main" id="{E4258681-E236-223A-DEF1-FA5DD78CC9BC}"/>
              </a:ext>
            </a:extLst>
          </p:cNvPr>
          <p:cNvSpPr/>
          <p:nvPr/>
        </p:nvSpPr>
        <p:spPr>
          <a:xfrm>
            <a:off x="1636073" y="3121104"/>
            <a:ext cx="1104826" cy="479453"/>
          </a:xfrm>
          <a:prstGeom prst="roundRect">
            <a:avLst/>
          </a:prstGeom>
          <a:ln w="15875">
            <a:solidFill>
              <a:srgbClr val="1D3456"/>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noProof="1">
                <a:solidFill>
                  <a:srgbClr val="1D3456"/>
                </a:solidFill>
              </a:rPr>
              <a:t>PI</a:t>
            </a:r>
          </a:p>
        </p:txBody>
      </p:sp>
      <p:cxnSp>
        <p:nvCxnSpPr>
          <p:cNvPr id="9" name="Straight Arrow Connector 8">
            <a:extLst>
              <a:ext uri="{FF2B5EF4-FFF2-40B4-BE49-F238E27FC236}">
                <a16:creationId xmlns:a16="http://schemas.microsoft.com/office/drawing/2014/main" id="{0B82E056-1DCB-3D81-01FB-D4D716735852}"/>
              </a:ext>
            </a:extLst>
          </p:cNvPr>
          <p:cNvCxnSpPr>
            <a:cxnSpLocks/>
          </p:cNvCxnSpPr>
          <p:nvPr/>
        </p:nvCxnSpPr>
        <p:spPr>
          <a:xfrm>
            <a:off x="2740899" y="3368163"/>
            <a:ext cx="72000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6F3014C8-3576-C2EE-BC23-348549369764}"/>
                  </a:ext>
                </a:extLst>
              </p:cNvPr>
              <p:cNvSpPr txBox="1"/>
              <p:nvPr/>
            </p:nvSpPr>
            <p:spPr>
              <a:xfrm>
                <a:off x="2865041" y="3121104"/>
                <a:ext cx="434799"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400" i="1" noProof="1" dirty="0" smtClean="0">
                              <a:solidFill>
                                <a:srgbClr val="1D3456"/>
                              </a:solidFill>
                              <a:latin typeface="Cambria Math" panose="02040503050406030204" pitchFamily="18" charset="0"/>
                            </a:rPr>
                          </m:ctrlPr>
                        </m:sSubPr>
                        <m:e>
                          <m:r>
                            <a:rPr lang="en-US" sz="1400" b="0" i="1" noProof="1" dirty="0" smtClean="0">
                              <a:solidFill>
                                <a:srgbClr val="1D3456"/>
                              </a:solidFill>
                              <a:latin typeface="Cambria Math" panose="02040503050406030204" pitchFamily="18" charset="0"/>
                            </a:rPr>
                            <m:t>𝑉</m:t>
                          </m:r>
                        </m:e>
                        <m:sub>
                          <m:r>
                            <a:rPr lang="en-US" sz="1400" b="0" i="1" noProof="1" dirty="0" smtClean="0">
                              <a:solidFill>
                                <a:srgbClr val="1D3456"/>
                              </a:solidFill>
                              <a:latin typeface="Cambria Math" panose="02040503050406030204" pitchFamily="18" charset="0"/>
                            </a:rPr>
                            <m:t>𝑏𝑎𝑠𝑒</m:t>
                          </m:r>
                        </m:sub>
                      </m:sSub>
                    </m:oMath>
                  </m:oMathPara>
                </a14:m>
                <a:endParaRPr lang="en-US" sz="1400" noProof="1"/>
              </a:p>
            </p:txBody>
          </p:sp>
        </mc:Choice>
        <mc:Fallback xmlns="">
          <p:sp>
            <p:nvSpPr>
              <p:cNvPr id="12" name="TextBox 11">
                <a:extLst>
                  <a:ext uri="{FF2B5EF4-FFF2-40B4-BE49-F238E27FC236}">
                    <a16:creationId xmlns:a16="http://schemas.microsoft.com/office/drawing/2014/main" id="{6F3014C8-3576-C2EE-BC23-348549369764}"/>
                  </a:ext>
                </a:extLst>
              </p:cNvPr>
              <p:cNvSpPr txBox="1">
                <a:spLocks noRot="1" noChangeAspect="1" noMove="1" noResize="1" noEditPoints="1" noAdjustHandles="1" noChangeArrowheads="1" noChangeShapeType="1" noTextEdit="1"/>
              </p:cNvSpPr>
              <p:nvPr/>
            </p:nvSpPr>
            <p:spPr>
              <a:xfrm>
                <a:off x="2865041" y="3121104"/>
                <a:ext cx="434799" cy="215444"/>
              </a:xfrm>
              <a:prstGeom prst="rect">
                <a:avLst/>
              </a:prstGeom>
              <a:blipFill>
                <a:blip r:embed="rId5"/>
                <a:stretch>
                  <a:fillRect l="-9859" r="-1408" b="-14286"/>
                </a:stretch>
              </a:blipFill>
            </p:spPr>
            <p:txBody>
              <a:bodyPr/>
              <a:lstStyle/>
              <a:p>
                <a:r>
                  <a:rPr lang="th-TH">
                    <a:noFill/>
                  </a:rPr>
                  <a:t> </a:t>
                </a:r>
              </a:p>
            </p:txBody>
          </p:sp>
        </mc:Fallback>
      </mc:AlternateContent>
      <p:sp>
        <p:nvSpPr>
          <p:cNvPr id="13" name="Oval 12">
            <a:extLst>
              <a:ext uri="{FF2B5EF4-FFF2-40B4-BE49-F238E27FC236}">
                <a16:creationId xmlns:a16="http://schemas.microsoft.com/office/drawing/2014/main" id="{F20866D8-CA06-DD35-915A-B46D505330E8}"/>
              </a:ext>
            </a:extLst>
          </p:cNvPr>
          <p:cNvSpPr/>
          <p:nvPr/>
        </p:nvSpPr>
        <p:spPr>
          <a:xfrm>
            <a:off x="3450041" y="3233163"/>
            <a:ext cx="270000" cy="270000"/>
          </a:xfrm>
          <a:prstGeom prst="ellipse">
            <a:avLst/>
          </a:prstGeom>
          <a:noFill/>
          <a:ln w="15875">
            <a:solidFill>
              <a:srgbClr val="1D34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14" name="TextBox 13">
            <a:extLst>
              <a:ext uri="{FF2B5EF4-FFF2-40B4-BE49-F238E27FC236}">
                <a16:creationId xmlns:a16="http://schemas.microsoft.com/office/drawing/2014/main" id="{AAD3D876-07B2-732E-9668-0161505C38C8}"/>
              </a:ext>
            </a:extLst>
          </p:cNvPr>
          <p:cNvSpPr txBox="1"/>
          <p:nvPr/>
        </p:nvSpPr>
        <p:spPr>
          <a:xfrm>
            <a:off x="3438867" y="3177229"/>
            <a:ext cx="300082" cy="369332"/>
          </a:xfrm>
          <a:prstGeom prst="rect">
            <a:avLst/>
          </a:prstGeom>
          <a:noFill/>
        </p:spPr>
        <p:txBody>
          <a:bodyPr wrap="none" rtlCol="0">
            <a:spAutoFit/>
          </a:bodyPr>
          <a:lstStyle/>
          <a:p>
            <a:r>
              <a:rPr lang="en-US" noProof="1">
                <a:solidFill>
                  <a:srgbClr val="1D3456"/>
                </a:solidFill>
              </a:rPr>
              <a:t>+</a:t>
            </a: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93823AE9-6AE3-7101-E0D2-277DE84CFEDB}"/>
                  </a:ext>
                </a:extLst>
              </p:cNvPr>
              <p:cNvSpPr txBox="1"/>
              <p:nvPr/>
            </p:nvSpPr>
            <p:spPr>
              <a:xfrm>
                <a:off x="3862291" y="3133562"/>
                <a:ext cx="157992"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400" b="0" i="1" noProof="1" dirty="0" smtClean="0">
                          <a:solidFill>
                            <a:srgbClr val="1D3456"/>
                          </a:solidFill>
                          <a:latin typeface="Cambria Math" panose="02040503050406030204" pitchFamily="18" charset="0"/>
                        </a:rPr>
                        <m:t>𝑉</m:t>
                      </m:r>
                    </m:oMath>
                  </m:oMathPara>
                </a14:m>
                <a:endParaRPr lang="en-US" sz="1400" noProof="1"/>
              </a:p>
            </p:txBody>
          </p:sp>
        </mc:Choice>
        <mc:Fallback xmlns="">
          <p:sp>
            <p:nvSpPr>
              <p:cNvPr id="16" name="TextBox 15">
                <a:extLst>
                  <a:ext uri="{FF2B5EF4-FFF2-40B4-BE49-F238E27FC236}">
                    <a16:creationId xmlns:a16="http://schemas.microsoft.com/office/drawing/2014/main" id="{93823AE9-6AE3-7101-E0D2-277DE84CFEDB}"/>
                  </a:ext>
                </a:extLst>
              </p:cNvPr>
              <p:cNvSpPr txBox="1">
                <a:spLocks noRot="1" noChangeAspect="1" noMove="1" noResize="1" noEditPoints="1" noAdjustHandles="1" noChangeArrowheads="1" noChangeShapeType="1" noTextEdit="1"/>
              </p:cNvSpPr>
              <p:nvPr/>
            </p:nvSpPr>
            <p:spPr>
              <a:xfrm>
                <a:off x="3862291" y="3133562"/>
                <a:ext cx="157992" cy="215444"/>
              </a:xfrm>
              <a:prstGeom prst="rect">
                <a:avLst/>
              </a:prstGeom>
              <a:blipFill>
                <a:blip r:embed="rId6"/>
                <a:stretch>
                  <a:fillRect l="-28000" r="-24000" b="-5714"/>
                </a:stretch>
              </a:blipFill>
            </p:spPr>
            <p:txBody>
              <a:bodyPr/>
              <a:lstStyle/>
              <a:p>
                <a:r>
                  <a:rPr lang="th-TH">
                    <a:noFill/>
                  </a:rPr>
                  <a:t> </a:t>
                </a:r>
              </a:p>
            </p:txBody>
          </p:sp>
        </mc:Fallback>
      </mc:AlternateContent>
      <p:sp>
        <p:nvSpPr>
          <p:cNvPr id="17" name="Rounded Rectangle 16">
            <a:extLst>
              <a:ext uri="{FF2B5EF4-FFF2-40B4-BE49-F238E27FC236}">
                <a16:creationId xmlns:a16="http://schemas.microsoft.com/office/drawing/2014/main" id="{F353305D-51DE-5BC1-1731-F736DB2DC8E3}"/>
              </a:ext>
            </a:extLst>
          </p:cNvPr>
          <p:cNvSpPr/>
          <p:nvPr/>
        </p:nvSpPr>
        <p:spPr>
          <a:xfrm>
            <a:off x="5101418" y="3115750"/>
            <a:ext cx="1104826" cy="479453"/>
          </a:xfrm>
          <a:prstGeom prst="roundRect">
            <a:avLst/>
          </a:prstGeom>
          <a:ln w="15875">
            <a:solidFill>
              <a:srgbClr val="1D3456"/>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noProof="1">
                <a:solidFill>
                  <a:srgbClr val="1D3456"/>
                </a:solidFill>
              </a:rPr>
              <a:t>Plant</a:t>
            </a:r>
          </a:p>
          <a:p>
            <a:pPr algn="ctr"/>
            <a:r>
              <a:rPr lang="en-US" sz="1300" noProof="1">
                <a:solidFill>
                  <a:srgbClr val="1D3456"/>
                </a:solidFill>
              </a:rPr>
              <a:t>(Motor+Rod)</a:t>
            </a:r>
          </a:p>
        </p:txBody>
      </p:sp>
      <p:cxnSp>
        <p:nvCxnSpPr>
          <p:cNvPr id="18" name="Straight Arrow Connector 17">
            <a:extLst>
              <a:ext uri="{FF2B5EF4-FFF2-40B4-BE49-F238E27FC236}">
                <a16:creationId xmlns:a16="http://schemas.microsoft.com/office/drawing/2014/main" id="{F4E28CF7-B1E2-960A-3689-EB1272426E85}"/>
              </a:ext>
            </a:extLst>
          </p:cNvPr>
          <p:cNvCxnSpPr>
            <a:cxnSpLocks/>
          </p:cNvCxnSpPr>
          <p:nvPr/>
        </p:nvCxnSpPr>
        <p:spPr>
          <a:xfrm>
            <a:off x="6206244" y="3356572"/>
            <a:ext cx="63000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0F72E701-555B-BE59-63B1-1E1E610B4D33}"/>
                  </a:ext>
                </a:extLst>
              </p:cNvPr>
              <p:cNvSpPr txBox="1"/>
              <p:nvPr/>
            </p:nvSpPr>
            <p:spPr>
              <a:xfrm>
                <a:off x="6521244" y="3128439"/>
                <a:ext cx="173894"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400" b="0" i="1" noProof="1" dirty="0" smtClean="0">
                          <a:solidFill>
                            <a:srgbClr val="1D3456"/>
                          </a:solidFill>
                          <a:latin typeface="Cambria Math" panose="02040503050406030204" pitchFamily="18" charset="0"/>
                          <a:ea typeface="Cambria Math" panose="02040503050406030204" pitchFamily="18" charset="0"/>
                        </a:rPr>
                        <m:t>𝜔</m:t>
                      </m:r>
                    </m:oMath>
                  </m:oMathPara>
                </a14:m>
                <a:endParaRPr lang="en-US" sz="1400" noProof="1"/>
              </a:p>
            </p:txBody>
          </p:sp>
        </mc:Choice>
        <mc:Fallback xmlns="">
          <p:sp>
            <p:nvSpPr>
              <p:cNvPr id="19" name="TextBox 18">
                <a:extLst>
                  <a:ext uri="{FF2B5EF4-FFF2-40B4-BE49-F238E27FC236}">
                    <a16:creationId xmlns:a16="http://schemas.microsoft.com/office/drawing/2014/main" id="{0F72E701-555B-BE59-63B1-1E1E610B4D33}"/>
                  </a:ext>
                </a:extLst>
              </p:cNvPr>
              <p:cNvSpPr txBox="1">
                <a:spLocks noRot="1" noChangeAspect="1" noMove="1" noResize="1" noEditPoints="1" noAdjustHandles="1" noChangeArrowheads="1" noChangeShapeType="1" noTextEdit="1"/>
              </p:cNvSpPr>
              <p:nvPr/>
            </p:nvSpPr>
            <p:spPr>
              <a:xfrm>
                <a:off x="6521244" y="3128439"/>
                <a:ext cx="173894" cy="215444"/>
              </a:xfrm>
              <a:prstGeom prst="rect">
                <a:avLst/>
              </a:prstGeom>
              <a:blipFill>
                <a:blip r:embed="rId7"/>
                <a:stretch>
                  <a:fillRect l="-17857" r="-10714"/>
                </a:stretch>
              </a:blipFill>
            </p:spPr>
            <p:txBody>
              <a:bodyPr/>
              <a:lstStyle/>
              <a:p>
                <a:r>
                  <a:rPr lang="th-TH">
                    <a:noFill/>
                  </a:rPr>
                  <a:t> </a:t>
                </a:r>
              </a:p>
            </p:txBody>
          </p:sp>
        </mc:Fallback>
      </mc:AlternateContent>
      <p:sp>
        <p:nvSpPr>
          <p:cNvPr id="20" name="Oval 19">
            <a:extLst>
              <a:ext uri="{FF2B5EF4-FFF2-40B4-BE49-F238E27FC236}">
                <a16:creationId xmlns:a16="http://schemas.microsoft.com/office/drawing/2014/main" id="{5674C1B9-F37E-BD10-983A-B05F9F3F0371}"/>
              </a:ext>
            </a:extLst>
          </p:cNvPr>
          <p:cNvSpPr/>
          <p:nvPr/>
        </p:nvSpPr>
        <p:spPr>
          <a:xfrm>
            <a:off x="1092449" y="3247875"/>
            <a:ext cx="270000" cy="270000"/>
          </a:xfrm>
          <a:prstGeom prst="ellipse">
            <a:avLst/>
          </a:prstGeom>
          <a:noFill/>
          <a:ln w="15875">
            <a:solidFill>
              <a:srgbClr val="1D34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FA5890D9-4E3C-600D-A24E-5E2C18BA0EA4}"/>
                  </a:ext>
                </a:extLst>
              </p:cNvPr>
              <p:cNvSpPr txBox="1"/>
              <p:nvPr/>
            </p:nvSpPr>
            <p:spPr>
              <a:xfrm>
                <a:off x="1140085" y="3263965"/>
                <a:ext cx="174727"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400" b="1" i="1" noProof="1" dirty="0" smtClean="0">
                          <a:solidFill>
                            <a:srgbClr val="1D3456"/>
                          </a:solidFill>
                          <a:latin typeface="Cambria Math" panose="02040503050406030204" pitchFamily="18" charset="0"/>
                          <a:ea typeface="Cambria Math" panose="02040503050406030204" pitchFamily="18" charset="0"/>
                        </a:rPr>
                        <m:t>±</m:t>
                      </m:r>
                    </m:oMath>
                  </m:oMathPara>
                </a14:m>
                <a:endParaRPr lang="en-US" sz="1400" b="1" noProof="1">
                  <a:solidFill>
                    <a:srgbClr val="1D3456"/>
                  </a:solidFill>
                </a:endParaRPr>
              </a:p>
            </p:txBody>
          </p:sp>
        </mc:Choice>
        <mc:Fallback xmlns="">
          <p:sp>
            <p:nvSpPr>
              <p:cNvPr id="21" name="TextBox 20">
                <a:extLst>
                  <a:ext uri="{FF2B5EF4-FFF2-40B4-BE49-F238E27FC236}">
                    <a16:creationId xmlns:a16="http://schemas.microsoft.com/office/drawing/2014/main" id="{FA5890D9-4E3C-600D-A24E-5E2C18BA0EA4}"/>
                  </a:ext>
                </a:extLst>
              </p:cNvPr>
              <p:cNvSpPr txBox="1">
                <a:spLocks noRot="1" noChangeAspect="1" noMove="1" noResize="1" noEditPoints="1" noAdjustHandles="1" noChangeArrowheads="1" noChangeShapeType="1" noTextEdit="1"/>
              </p:cNvSpPr>
              <p:nvPr/>
            </p:nvSpPr>
            <p:spPr>
              <a:xfrm>
                <a:off x="1140085" y="3263965"/>
                <a:ext cx="174727" cy="215444"/>
              </a:xfrm>
              <a:prstGeom prst="rect">
                <a:avLst/>
              </a:prstGeom>
              <a:blipFill>
                <a:blip r:embed="rId8"/>
                <a:stretch>
                  <a:fillRect l="-27586" r="-27586" b="-16667"/>
                </a:stretch>
              </a:blipFill>
            </p:spPr>
            <p:txBody>
              <a:bodyPr/>
              <a:lstStyle/>
              <a:p>
                <a:r>
                  <a:rPr lang="th-TH">
                    <a:noFill/>
                  </a:rPr>
                  <a:t> </a:t>
                </a:r>
              </a:p>
            </p:txBody>
          </p:sp>
        </mc:Fallback>
      </mc:AlternateContent>
      <p:cxnSp>
        <p:nvCxnSpPr>
          <p:cNvPr id="23" name="Straight Arrow Connector 22">
            <a:extLst>
              <a:ext uri="{FF2B5EF4-FFF2-40B4-BE49-F238E27FC236}">
                <a16:creationId xmlns:a16="http://schemas.microsoft.com/office/drawing/2014/main" id="{46D04668-3D4C-44E5-6A92-2F5F266AE550}"/>
              </a:ext>
            </a:extLst>
          </p:cNvPr>
          <p:cNvCxnSpPr>
            <a:cxnSpLocks/>
          </p:cNvCxnSpPr>
          <p:nvPr/>
        </p:nvCxnSpPr>
        <p:spPr>
          <a:xfrm>
            <a:off x="6447877" y="3359390"/>
            <a:ext cx="0" cy="458550"/>
          </a:xfrm>
          <a:prstGeom prst="straightConnector1">
            <a:avLst/>
          </a:prstGeom>
          <a:ln w="15875">
            <a:solidFill>
              <a:srgbClr val="1D3456"/>
            </a:solidFill>
            <a:headEnd type="oval"/>
            <a:tailEnd type="none"/>
          </a:ln>
          <a:effectLst/>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F1E3046E-E61A-AA0F-13B4-546FACA07A60}"/>
              </a:ext>
            </a:extLst>
          </p:cNvPr>
          <p:cNvCxnSpPr>
            <a:cxnSpLocks/>
          </p:cNvCxnSpPr>
          <p:nvPr/>
        </p:nvCxnSpPr>
        <p:spPr>
          <a:xfrm>
            <a:off x="1227448" y="3817940"/>
            <a:ext cx="5220429" cy="0"/>
          </a:xfrm>
          <a:prstGeom prst="straightConnector1">
            <a:avLst/>
          </a:prstGeom>
          <a:ln w="15875">
            <a:solidFill>
              <a:srgbClr val="1D3456"/>
            </a:solidFill>
            <a:tailEnd type="none"/>
          </a:ln>
          <a:effectLst/>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BCA4788A-95F3-3DC9-0148-37495AF35FDA}"/>
              </a:ext>
            </a:extLst>
          </p:cNvPr>
          <p:cNvCxnSpPr>
            <a:cxnSpLocks/>
          </p:cNvCxnSpPr>
          <p:nvPr/>
        </p:nvCxnSpPr>
        <p:spPr>
          <a:xfrm>
            <a:off x="1232591" y="3517876"/>
            <a:ext cx="0" cy="300064"/>
          </a:xfrm>
          <a:prstGeom prst="straightConnector1">
            <a:avLst/>
          </a:prstGeom>
          <a:ln w="15875">
            <a:solidFill>
              <a:srgbClr val="1D3456"/>
            </a:solidFill>
            <a:headEnd type="triangle"/>
            <a:tailEnd type="none"/>
          </a:ln>
          <a:effectLst/>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DADF1287-4185-6692-091E-8CEF4E40ABA6}"/>
              </a:ext>
            </a:extLst>
          </p:cNvPr>
          <p:cNvCxnSpPr>
            <a:cxnSpLocks/>
          </p:cNvCxnSpPr>
          <p:nvPr/>
        </p:nvCxnSpPr>
        <p:spPr>
          <a:xfrm>
            <a:off x="628654" y="3368163"/>
            <a:ext cx="463795" cy="6982"/>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5" name="Rounded Rectangle 54">
                <a:extLst>
                  <a:ext uri="{FF2B5EF4-FFF2-40B4-BE49-F238E27FC236}">
                    <a16:creationId xmlns:a16="http://schemas.microsoft.com/office/drawing/2014/main" id="{4DEDDC96-D493-B3F3-BA6E-59E41C8EB3D8}"/>
                  </a:ext>
                </a:extLst>
              </p:cNvPr>
              <p:cNvSpPr/>
              <p:nvPr/>
            </p:nvSpPr>
            <p:spPr>
              <a:xfrm>
                <a:off x="4152041" y="3115750"/>
                <a:ext cx="679377" cy="479453"/>
              </a:xfrm>
              <a:prstGeom prst="roundRect">
                <a:avLst/>
              </a:prstGeom>
              <a:ln w="15875">
                <a:solidFill>
                  <a:srgbClr val="1D3456"/>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200" noProof="1">
                    <a:solidFill>
                      <a:srgbClr val="1D3456"/>
                    </a:solidFill>
                  </a:rPr>
                  <a:t>Clip to </a:t>
                </a:r>
                <a14:m>
                  <m:oMath xmlns:m="http://schemas.openxmlformats.org/officeDocument/2006/math">
                    <m:r>
                      <a:rPr lang="en-US" sz="1200" i="1" noProof="1" dirty="0" smtClean="0">
                        <a:solidFill>
                          <a:srgbClr val="1D3456"/>
                        </a:solidFill>
                        <a:latin typeface="Cambria Math" panose="02040503050406030204" pitchFamily="18" charset="0"/>
                        <a:ea typeface="Cambria Math" panose="02040503050406030204" pitchFamily="18" charset="0"/>
                      </a:rPr>
                      <m:t>±</m:t>
                    </m:r>
                    <m:r>
                      <a:rPr lang="en-US" sz="1200" b="0" i="1" noProof="1" dirty="0" smtClean="0">
                        <a:solidFill>
                          <a:srgbClr val="1D3456"/>
                        </a:solidFill>
                        <a:latin typeface="Cambria Math" panose="02040503050406030204" pitchFamily="18" charset="0"/>
                        <a:ea typeface="Cambria Math" panose="02040503050406030204" pitchFamily="18" charset="0"/>
                      </a:rPr>
                      <m:t>12</m:t>
                    </m:r>
                    <m:r>
                      <a:rPr lang="en-US" sz="1200" b="0" i="1" noProof="1" dirty="0" smtClean="0">
                        <a:solidFill>
                          <a:srgbClr val="1D3456"/>
                        </a:solidFill>
                        <a:latin typeface="Cambria Math" panose="02040503050406030204" pitchFamily="18" charset="0"/>
                        <a:ea typeface="Cambria Math" panose="02040503050406030204" pitchFamily="18" charset="0"/>
                      </a:rPr>
                      <m:t>𝑉</m:t>
                    </m:r>
                  </m:oMath>
                </a14:m>
                <a:endParaRPr lang="en-US" sz="1200" noProof="1">
                  <a:solidFill>
                    <a:srgbClr val="1D3456"/>
                  </a:solidFill>
                </a:endParaRPr>
              </a:p>
            </p:txBody>
          </p:sp>
        </mc:Choice>
        <mc:Fallback xmlns="">
          <p:sp>
            <p:nvSpPr>
              <p:cNvPr id="35" name="Rounded Rectangle 54">
                <a:extLst>
                  <a:ext uri="{FF2B5EF4-FFF2-40B4-BE49-F238E27FC236}">
                    <a16:creationId xmlns:a16="http://schemas.microsoft.com/office/drawing/2014/main" id="{4DEDDC96-D493-B3F3-BA6E-59E41C8EB3D8}"/>
                  </a:ext>
                </a:extLst>
              </p:cNvPr>
              <p:cNvSpPr>
                <a:spLocks noRot="1" noChangeAspect="1" noMove="1" noResize="1" noEditPoints="1" noAdjustHandles="1" noChangeArrowheads="1" noChangeShapeType="1" noTextEdit="1"/>
              </p:cNvSpPr>
              <p:nvPr/>
            </p:nvSpPr>
            <p:spPr>
              <a:xfrm>
                <a:off x="4152041" y="3115750"/>
                <a:ext cx="679377" cy="479453"/>
              </a:xfrm>
              <a:prstGeom prst="roundRect">
                <a:avLst/>
              </a:prstGeom>
              <a:blipFill>
                <a:blip r:embed="rId9"/>
                <a:stretch>
                  <a:fillRect/>
                </a:stretch>
              </a:blipFill>
              <a:ln w="15875">
                <a:solidFill>
                  <a:srgbClr val="1D3456"/>
                </a:solidFill>
              </a:ln>
            </p:spPr>
            <p:txBody>
              <a:bodyPr/>
              <a:lstStyle/>
              <a:p>
                <a:r>
                  <a:rPr lang="th-TH">
                    <a:noFill/>
                  </a:rPr>
                  <a:t> </a:t>
                </a:r>
              </a:p>
            </p:txBody>
          </p:sp>
        </mc:Fallback>
      </mc:AlternateContent>
      <p:cxnSp>
        <p:nvCxnSpPr>
          <p:cNvPr id="36" name="Straight Arrow Connector 35">
            <a:extLst>
              <a:ext uri="{FF2B5EF4-FFF2-40B4-BE49-F238E27FC236}">
                <a16:creationId xmlns:a16="http://schemas.microsoft.com/office/drawing/2014/main" id="{C5F5AD75-840C-CD71-5B97-FB191F8A41BA}"/>
              </a:ext>
            </a:extLst>
          </p:cNvPr>
          <p:cNvCxnSpPr>
            <a:cxnSpLocks/>
          </p:cNvCxnSpPr>
          <p:nvPr/>
        </p:nvCxnSpPr>
        <p:spPr>
          <a:xfrm>
            <a:off x="3720041" y="3359390"/>
            <a:ext cx="43200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37" name="Straight Arrow Connector 36">
            <a:extLst>
              <a:ext uri="{FF2B5EF4-FFF2-40B4-BE49-F238E27FC236}">
                <a16:creationId xmlns:a16="http://schemas.microsoft.com/office/drawing/2014/main" id="{8586966E-B2D2-AA38-AFC8-C05804020F6B}"/>
              </a:ext>
            </a:extLst>
          </p:cNvPr>
          <p:cNvCxnSpPr>
            <a:cxnSpLocks/>
          </p:cNvCxnSpPr>
          <p:nvPr/>
        </p:nvCxnSpPr>
        <p:spPr>
          <a:xfrm>
            <a:off x="4831418" y="3349006"/>
            <a:ext cx="27000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7566B186-E85C-CD11-4778-355BC7ABFD58}"/>
              </a:ext>
            </a:extLst>
          </p:cNvPr>
          <p:cNvCxnSpPr>
            <a:cxnSpLocks/>
          </p:cNvCxnSpPr>
          <p:nvPr/>
        </p:nvCxnSpPr>
        <p:spPr>
          <a:xfrm>
            <a:off x="1366073" y="3375970"/>
            <a:ext cx="27000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p:sp>
        <p:nvSpPr>
          <p:cNvPr id="52" name="TextBox 51">
            <a:extLst>
              <a:ext uri="{FF2B5EF4-FFF2-40B4-BE49-F238E27FC236}">
                <a16:creationId xmlns:a16="http://schemas.microsoft.com/office/drawing/2014/main" id="{A06D8102-1446-AAB0-D82B-743D062C4283}"/>
              </a:ext>
            </a:extLst>
          </p:cNvPr>
          <p:cNvSpPr txBox="1"/>
          <p:nvPr/>
        </p:nvSpPr>
        <p:spPr>
          <a:xfrm>
            <a:off x="906780" y="1303230"/>
            <a:ext cx="10970278" cy="1016881"/>
          </a:xfrm>
          <a:prstGeom prst="rect">
            <a:avLst/>
          </a:prstGeom>
          <a:noFill/>
        </p:spPr>
        <p:txBody>
          <a:bodyPr wrap="square" lIns="0" tIns="0" rIns="0" bIns="0" anchor="t">
            <a:spAutoFit/>
          </a:bodyPr>
          <a:lstStyle/>
          <a:p>
            <a:pPr>
              <a:lnSpc>
                <a:spcPct val="120000"/>
              </a:lnSpc>
            </a:pPr>
            <a:r>
              <a:rPr lang="en-US" sz="1400" noProof="1">
                <a:solidFill>
                  <a:srgbClr val="1D3557"/>
                </a:solidFill>
              </a:rPr>
              <a:t>To achieve better performance, we can improve the controller</a:t>
            </a:r>
            <a:r>
              <a:rPr lang="en-US" sz="1400" b="1" noProof="1">
                <a:solidFill>
                  <a:srgbClr val="1D3557"/>
                </a:solidFill>
              </a:rPr>
              <a:t> by understanding the dynamics of the system. This </a:t>
            </a:r>
            <a:r>
              <a:rPr lang="en-US" sz="1400" noProof="1">
                <a:solidFill>
                  <a:srgbClr val="1D3557"/>
                </a:solidFill>
              </a:rPr>
              <a:t>allows us to incorporate feedforward control. Specifically, a </a:t>
            </a:r>
            <a:r>
              <a:rPr lang="en-US" sz="1400" i="1" u="sng" noProof="1">
                <a:solidFill>
                  <a:srgbClr val="1D3557"/>
                </a:solidFill>
              </a:rPr>
              <a:t>disturbance feedforward term </a:t>
            </a:r>
            <a:r>
              <a:rPr lang="en-US" sz="1400" noProof="1">
                <a:solidFill>
                  <a:srgbClr val="1D3557"/>
                </a:solidFill>
              </a:rPr>
              <a:t>compensates for the gravitational effects, while a </a:t>
            </a:r>
            <a:r>
              <a:rPr lang="en-US" sz="1400" i="1" u="sng" noProof="1">
                <a:solidFill>
                  <a:srgbClr val="1D3557"/>
                </a:solidFill>
              </a:rPr>
              <a:t>reference feedforward term</a:t>
            </a:r>
            <a:r>
              <a:rPr lang="en-US" sz="1400" noProof="1">
                <a:solidFill>
                  <a:srgbClr val="1D3557"/>
                </a:solidFill>
              </a:rPr>
              <a:t> generates the required control input to drive the system toward the desired target. Unlike a PI controller, which reacts only after an error occurs, the reference feedforward term acts proactively, enabling faster and more accurate tracking when no disturbances are present.</a:t>
            </a:r>
          </a:p>
        </p:txBody>
      </p:sp>
      <p:sp>
        <p:nvSpPr>
          <p:cNvPr id="6" name="Rounded Rectangle 6">
            <a:extLst>
              <a:ext uri="{FF2B5EF4-FFF2-40B4-BE49-F238E27FC236}">
                <a16:creationId xmlns:a16="http://schemas.microsoft.com/office/drawing/2014/main" id="{0F5525DA-03D6-55A1-2115-95DD57018530}"/>
              </a:ext>
            </a:extLst>
          </p:cNvPr>
          <p:cNvSpPr/>
          <p:nvPr/>
        </p:nvSpPr>
        <p:spPr>
          <a:xfrm>
            <a:off x="1636073" y="2444557"/>
            <a:ext cx="1104826" cy="479453"/>
          </a:xfrm>
          <a:prstGeom prst="roundRect">
            <a:avLst/>
          </a:prstGeom>
          <a:ln w="15875">
            <a:solidFill>
              <a:srgbClr val="E07A5F"/>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200" noProof="1">
                <a:solidFill>
                  <a:srgbClr val="E07A5F"/>
                </a:solidFill>
              </a:rPr>
              <a:t>Reference feedforward</a:t>
            </a:r>
          </a:p>
        </p:txBody>
      </p:sp>
      <p:sp>
        <p:nvSpPr>
          <p:cNvPr id="8" name="Rounded Rectangle 6">
            <a:extLst>
              <a:ext uri="{FF2B5EF4-FFF2-40B4-BE49-F238E27FC236}">
                <a16:creationId xmlns:a16="http://schemas.microsoft.com/office/drawing/2014/main" id="{876A2788-FC7D-44D2-4781-76FC158CCB10}"/>
              </a:ext>
            </a:extLst>
          </p:cNvPr>
          <p:cNvSpPr/>
          <p:nvPr/>
        </p:nvSpPr>
        <p:spPr>
          <a:xfrm>
            <a:off x="3981138" y="2444557"/>
            <a:ext cx="1104826" cy="479453"/>
          </a:xfrm>
          <a:prstGeom prst="roundRect">
            <a:avLst/>
          </a:prstGeom>
          <a:ln w="15875">
            <a:solidFill>
              <a:srgbClr val="E07A5F"/>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200" noProof="1">
                <a:solidFill>
                  <a:srgbClr val="E07A5F"/>
                </a:solidFill>
              </a:rPr>
              <a:t>Disturbance feedforward</a:t>
            </a:r>
          </a:p>
        </p:txBody>
      </p:sp>
      <mc:AlternateContent xmlns:mc="http://schemas.openxmlformats.org/markup-compatibility/2006" xmlns:a14="http://schemas.microsoft.com/office/drawing/2010/main">
        <mc:Choice Requires="a14">
          <p:sp>
            <p:nvSpPr>
              <p:cNvPr id="10" name="Rounded Rectangle 6">
                <a:extLst>
                  <a:ext uri="{FF2B5EF4-FFF2-40B4-BE49-F238E27FC236}">
                    <a16:creationId xmlns:a16="http://schemas.microsoft.com/office/drawing/2014/main" id="{DC0A2E6F-CDEF-03C3-4E02-D7A23243CCF4}"/>
                  </a:ext>
                </a:extLst>
              </p:cNvPr>
              <p:cNvSpPr/>
              <p:nvPr/>
            </p:nvSpPr>
            <p:spPr>
              <a:xfrm>
                <a:off x="5408036" y="2444557"/>
                <a:ext cx="562361" cy="479453"/>
              </a:xfrm>
              <a:prstGeom prst="roundRect">
                <a:avLst/>
              </a:prstGeom>
              <a:ln w="15875">
                <a:solidFill>
                  <a:srgbClr val="E07A5F"/>
                </a:solidFill>
              </a:ln>
            </p:spPr>
            <p:style>
              <a:lnRef idx="2">
                <a:schemeClr val="accent6"/>
              </a:lnRef>
              <a:fillRef idx="1">
                <a:schemeClr val="lt1"/>
              </a:fillRef>
              <a:effectRef idx="0">
                <a:schemeClr val="accent6"/>
              </a:effectRef>
              <a:fontRef idx="minor">
                <a:schemeClr val="dk1"/>
              </a:fontRef>
            </p:style>
            <p:txBody>
              <a:bodyPr rtlCol="0" anchor="ctr"/>
              <a:lstStyle/>
              <a:p>
                <a:pPr algn="ctr"/>
                <a14:m>
                  <m:oMathPara xmlns:m="http://schemas.openxmlformats.org/officeDocument/2006/math">
                    <m:oMathParaPr>
                      <m:jc m:val="centerGroup"/>
                    </m:oMathParaPr>
                    <m:oMath xmlns:m="http://schemas.openxmlformats.org/officeDocument/2006/math">
                      <m:nary>
                        <m:naryPr>
                          <m:limLoc m:val="undOvr"/>
                          <m:subHide m:val="on"/>
                          <m:supHide m:val="on"/>
                          <m:ctrlPr>
                            <a:rPr lang="en-US" sz="1200" i="1" noProof="1" smtClean="0">
                              <a:solidFill>
                                <a:srgbClr val="E07A5F"/>
                              </a:solidFill>
                              <a:latin typeface="Cambria Math" panose="02040503050406030204" pitchFamily="18" charset="0"/>
                            </a:rPr>
                          </m:ctrlPr>
                        </m:naryPr>
                        <m:sub/>
                        <m:sup/>
                        <m:e>
                          <m:r>
                            <a:rPr lang="en-US" sz="1200" b="0" i="1" noProof="1" smtClean="0">
                              <a:solidFill>
                                <a:srgbClr val="E07A5F"/>
                              </a:solidFill>
                              <a:latin typeface="Cambria Math" panose="02040503050406030204" pitchFamily="18" charset="0"/>
                            </a:rPr>
                            <m:t>𝑑𝑡</m:t>
                          </m:r>
                        </m:e>
                      </m:nary>
                    </m:oMath>
                  </m:oMathPara>
                </a14:m>
                <a:endParaRPr lang="en-US" sz="1200" noProof="1">
                  <a:solidFill>
                    <a:srgbClr val="1D3456"/>
                  </a:solidFill>
                </a:endParaRPr>
              </a:p>
            </p:txBody>
          </p:sp>
        </mc:Choice>
        <mc:Fallback xmlns="">
          <p:sp>
            <p:nvSpPr>
              <p:cNvPr id="10" name="Rounded Rectangle 6">
                <a:extLst>
                  <a:ext uri="{FF2B5EF4-FFF2-40B4-BE49-F238E27FC236}">
                    <a16:creationId xmlns:a16="http://schemas.microsoft.com/office/drawing/2014/main" id="{DC0A2E6F-CDEF-03C3-4E02-D7A23243CCF4}"/>
                  </a:ext>
                </a:extLst>
              </p:cNvPr>
              <p:cNvSpPr>
                <a:spLocks noRot="1" noChangeAspect="1" noMove="1" noResize="1" noEditPoints="1" noAdjustHandles="1" noChangeArrowheads="1" noChangeShapeType="1" noTextEdit="1"/>
              </p:cNvSpPr>
              <p:nvPr/>
            </p:nvSpPr>
            <p:spPr>
              <a:xfrm>
                <a:off x="5408036" y="2444557"/>
                <a:ext cx="562361" cy="479453"/>
              </a:xfrm>
              <a:prstGeom prst="roundRect">
                <a:avLst/>
              </a:prstGeom>
              <a:blipFill>
                <a:blip r:embed="rId10"/>
                <a:stretch>
                  <a:fillRect l="-92632" t="-152439" r="-92632" b="-209756"/>
                </a:stretch>
              </a:blipFill>
              <a:ln w="15875">
                <a:solidFill>
                  <a:srgbClr val="E07A5F"/>
                </a:solidFill>
              </a:ln>
            </p:spPr>
            <p:txBody>
              <a:bodyPr/>
              <a:lstStyle/>
              <a:p>
                <a:r>
                  <a:rPr lang="th-TH">
                    <a:noFill/>
                  </a:rPr>
                  <a:t> </a:t>
                </a:r>
              </a:p>
            </p:txBody>
          </p:sp>
        </mc:Fallback>
      </mc:AlternateContent>
      <p:cxnSp>
        <p:nvCxnSpPr>
          <p:cNvPr id="22" name="Straight Connector 21">
            <a:extLst>
              <a:ext uri="{FF2B5EF4-FFF2-40B4-BE49-F238E27FC236}">
                <a16:creationId xmlns:a16="http://schemas.microsoft.com/office/drawing/2014/main" id="{D8DCEBC4-A50B-7034-8601-3897A9DB066E}"/>
              </a:ext>
            </a:extLst>
          </p:cNvPr>
          <p:cNvCxnSpPr>
            <a:cxnSpLocks/>
          </p:cNvCxnSpPr>
          <p:nvPr/>
        </p:nvCxnSpPr>
        <p:spPr>
          <a:xfrm flipH="1">
            <a:off x="1227448" y="2677141"/>
            <a:ext cx="408625" cy="0"/>
          </a:xfrm>
          <a:prstGeom prst="line">
            <a:avLst/>
          </a:prstGeom>
          <a:ln>
            <a:solidFill>
              <a:srgbClr val="E07A5F"/>
            </a:solidFill>
          </a:ln>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B0F615EA-FF02-49C8-E100-8FEBF6F13644}"/>
              </a:ext>
            </a:extLst>
          </p:cNvPr>
          <p:cNvCxnSpPr>
            <a:cxnSpLocks/>
          </p:cNvCxnSpPr>
          <p:nvPr/>
        </p:nvCxnSpPr>
        <p:spPr>
          <a:xfrm flipH="1">
            <a:off x="2753568" y="2684283"/>
            <a:ext cx="546272" cy="5455"/>
          </a:xfrm>
          <a:prstGeom prst="line">
            <a:avLst/>
          </a:prstGeom>
          <a:ln>
            <a:solidFill>
              <a:srgbClr val="E07A5F"/>
            </a:solidFill>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B7F820CE-3C65-EC0D-1A0E-8AB90387A181}"/>
              </a:ext>
            </a:extLst>
          </p:cNvPr>
          <p:cNvCxnSpPr>
            <a:cxnSpLocks/>
            <a:endCxn id="13" idx="1"/>
          </p:cNvCxnSpPr>
          <p:nvPr/>
        </p:nvCxnSpPr>
        <p:spPr>
          <a:xfrm>
            <a:off x="3287345" y="2671556"/>
            <a:ext cx="202237" cy="601148"/>
          </a:xfrm>
          <a:prstGeom prst="straightConnector1">
            <a:avLst/>
          </a:prstGeom>
          <a:ln>
            <a:solidFill>
              <a:srgbClr val="E07A5F"/>
            </a:solidFill>
            <a:tailEnd type="triangle"/>
          </a:ln>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5A511D76-DE9B-FB79-2B09-553F006E3F5D}"/>
              </a:ext>
            </a:extLst>
          </p:cNvPr>
          <p:cNvCxnSpPr>
            <a:cxnSpLocks/>
          </p:cNvCxnSpPr>
          <p:nvPr/>
        </p:nvCxnSpPr>
        <p:spPr>
          <a:xfrm flipH="1">
            <a:off x="5969751" y="2677011"/>
            <a:ext cx="478126" cy="0"/>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84" name="Straight Connector 83">
            <a:extLst>
              <a:ext uri="{FF2B5EF4-FFF2-40B4-BE49-F238E27FC236}">
                <a16:creationId xmlns:a16="http://schemas.microsoft.com/office/drawing/2014/main" id="{413DE4A0-194B-3EF1-4B55-A1F855E1884A}"/>
              </a:ext>
            </a:extLst>
          </p:cNvPr>
          <p:cNvCxnSpPr>
            <a:cxnSpLocks/>
            <a:stCxn id="10" idx="1"/>
            <a:endCxn id="8" idx="3"/>
          </p:cNvCxnSpPr>
          <p:nvPr/>
        </p:nvCxnSpPr>
        <p:spPr>
          <a:xfrm flipH="1">
            <a:off x="5085964" y="2684284"/>
            <a:ext cx="322072" cy="0"/>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89" name="Straight Arrow Connector 88">
            <a:extLst>
              <a:ext uri="{FF2B5EF4-FFF2-40B4-BE49-F238E27FC236}">
                <a16:creationId xmlns:a16="http://schemas.microsoft.com/office/drawing/2014/main" id="{7B610CA1-E491-1BBF-4AEC-E5D50717B220}"/>
              </a:ext>
            </a:extLst>
          </p:cNvPr>
          <p:cNvCxnSpPr>
            <a:cxnSpLocks/>
            <a:endCxn id="13" idx="7"/>
          </p:cNvCxnSpPr>
          <p:nvPr/>
        </p:nvCxnSpPr>
        <p:spPr>
          <a:xfrm flipH="1">
            <a:off x="3680500" y="2684284"/>
            <a:ext cx="184391" cy="58842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94" name="Straight Connector 93">
            <a:extLst>
              <a:ext uri="{FF2B5EF4-FFF2-40B4-BE49-F238E27FC236}">
                <a16:creationId xmlns:a16="http://schemas.microsoft.com/office/drawing/2014/main" id="{97DF5EBA-F5AB-821E-6ECB-DA2050C61146}"/>
              </a:ext>
            </a:extLst>
          </p:cNvPr>
          <p:cNvCxnSpPr>
            <a:cxnSpLocks/>
            <a:stCxn id="8" idx="1"/>
          </p:cNvCxnSpPr>
          <p:nvPr/>
        </p:nvCxnSpPr>
        <p:spPr>
          <a:xfrm flipH="1">
            <a:off x="3858394" y="2684284"/>
            <a:ext cx="122744" cy="0"/>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sp>
        <p:nvSpPr>
          <p:cNvPr id="100" name="TextBox 99">
            <a:extLst>
              <a:ext uri="{FF2B5EF4-FFF2-40B4-BE49-F238E27FC236}">
                <a16:creationId xmlns:a16="http://schemas.microsoft.com/office/drawing/2014/main" id="{838DFF12-6C0F-FD21-70F3-3445571848EB}"/>
              </a:ext>
            </a:extLst>
          </p:cNvPr>
          <p:cNvSpPr txBox="1"/>
          <p:nvPr/>
        </p:nvSpPr>
        <p:spPr>
          <a:xfrm>
            <a:off x="919574" y="3956195"/>
            <a:ext cx="3390665" cy="241285"/>
          </a:xfrm>
          <a:prstGeom prst="rect">
            <a:avLst/>
          </a:prstGeom>
          <a:noFill/>
        </p:spPr>
        <p:txBody>
          <a:bodyPr wrap="square" lIns="0" tIns="0" rIns="0" bIns="0" anchor="t">
            <a:spAutoFit/>
          </a:bodyPr>
          <a:lstStyle/>
          <a:p>
            <a:pPr>
              <a:lnSpc>
                <a:spcPct val="120000"/>
              </a:lnSpc>
            </a:pPr>
            <a:r>
              <a:rPr lang="en-US" sz="1400" i="1" noProof="1">
                <a:solidFill>
                  <a:srgbClr val="1D3557"/>
                </a:solidFill>
              </a:rPr>
              <a:t>Feedforward Controller Design</a:t>
            </a:r>
          </a:p>
        </p:txBody>
      </p:sp>
      <p:sp>
        <p:nvSpPr>
          <p:cNvPr id="104" name="TextBox 103">
            <a:extLst>
              <a:ext uri="{FF2B5EF4-FFF2-40B4-BE49-F238E27FC236}">
                <a16:creationId xmlns:a16="http://schemas.microsoft.com/office/drawing/2014/main" id="{050682F8-2461-9D2B-0C93-993BCA8DAAFC}"/>
              </a:ext>
            </a:extLst>
          </p:cNvPr>
          <p:cNvSpPr txBox="1"/>
          <p:nvPr/>
        </p:nvSpPr>
        <p:spPr>
          <a:xfrm>
            <a:off x="836237" y="4395748"/>
            <a:ext cx="3390665" cy="241285"/>
          </a:xfrm>
          <a:prstGeom prst="rect">
            <a:avLst/>
          </a:prstGeom>
          <a:noFill/>
        </p:spPr>
        <p:txBody>
          <a:bodyPr wrap="square" lIns="0" tIns="0" rIns="0" bIns="0" anchor="t">
            <a:spAutoFit/>
          </a:bodyPr>
          <a:lstStyle/>
          <a:p>
            <a:pPr>
              <a:lnSpc>
                <a:spcPct val="120000"/>
              </a:lnSpc>
            </a:pPr>
            <a:r>
              <a:rPr lang="en-US" sz="1400" noProof="1">
                <a:solidFill>
                  <a:srgbClr val="1D3557"/>
                </a:solidFill>
              </a:rPr>
              <a:t>From</a:t>
            </a:r>
          </a:p>
        </p:txBody>
      </p:sp>
      <p:graphicFrame>
        <p:nvGraphicFramePr>
          <p:cNvPr id="105" name="Object 104">
            <a:extLst>
              <a:ext uri="{FF2B5EF4-FFF2-40B4-BE49-F238E27FC236}">
                <a16:creationId xmlns:a16="http://schemas.microsoft.com/office/drawing/2014/main" id="{D5B1324B-E78F-1C8C-E9FF-16C09D49E7BC}"/>
              </a:ext>
            </a:extLst>
          </p:cNvPr>
          <p:cNvGraphicFramePr>
            <a:graphicFrameLocks noChangeAspect="1"/>
          </p:cNvGraphicFramePr>
          <p:nvPr>
            <p:extLst>
              <p:ext uri="{D42A27DB-BD31-4B8C-83A1-F6EECF244321}">
                <p14:modId xmlns:p14="http://schemas.microsoft.com/office/powerpoint/2010/main" val="2703205800"/>
              </p:ext>
            </p:extLst>
          </p:nvPr>
        </p:nvGraphicFramePr>
        <p:xfrm>
          <a:off x="1346913" y="4230641"/>
          <a:ext cx="1727200" cy="571500"/>
        </p:xfrm>
        <a:graphic>
          <a:graphicData uri="http://schemas.openxmlformats.org/presentationml/2006/ole">
            <mc:AlternateContent xmlns:mc="http://schemas.openxmlformats.org/markup-compatibility/2006">
              <mc:Choice xmlns:v="urn:schemas-microsoft-com:vml" Requires="v">
                <p:oleObj spid="_x0000_s3141" name="Equation" r:id="rId11" imgW="1726920" imgH="571320" progId="Equation.DSMT4">
                  <p:embed/>
                </p:oleObj>
              </mc:Choice>
              <mc:Fallback>
                <p:oleObj name="Equation" r:id="rId11" imgW="1726920" imgH="571320" progId="Equation.DSMT4">
                  <p:embed/>
                  <p:pic>
                    <p:nvPicPr>
                      <p:cNvPr id="47" name="Object 46">
                        <a:extLst>
                          <a:ext uri="{FF2B5EF4-FFF2-40B4-BE49-F238E27FC236}">
                            <a16:creationId xmlns:a16="http://schemas.microsoft.com/office/drawing/2014/main" id="{705FB2E5-6584-CF97-1D24-A2EE1FE64A4F}"/>
                          </a:ext>
                        </a:extLst>
                      </p:cNvPr>
                      <p:cNvPicPr/>
                      <p:nvPr/>
                    </p:nvPicPr>
                    <p:blipFill>
                      <a:blip r:embed="rId12"/>
                      <a:stretch>
                        <a:fillRect/>
                      </a:stretch>
                    </p:blipFill>
                    <p:spPr>
                      <a:xfrm>
                        <a:off x="1346913" y="4230641"/>
                        <a:ext cx="1727200" cy="571500"/>
                      </a:xfrm>
                      <a:prstGeom prst="rect">
                        <a:avLst/>
                      </a:prstGeom>
                    </p:spPr>
                  </p:pic>
                </p:oleObj>
              </mc:Fallback>
            </mc:AlternateContent>
          </a:graphicData>
        </a:graphic>
      </p:graphicFrame>
      <p:graphicFrame>
        <p:nvGraphicFramePr>
          <p:cNvPr id="106" name="Object 105">
            <a:extLst>
              <a:ext uri="{FF2B5EF4-FFF2-40B4-BE49-F238E27FC236}">
                <a16:creationId xmlns:a16="http://schemas.microsoft.com/office/drawing/2014/main" id="{C905C9AD-FC3B-97D3-D73B-F4D1CE538B90}"/>
              </a:ext>
            </a:extLst>
          </p:cNvPr>
          <p:cNvGraphicFramePr>
            <a:graphicFrameLocks noChangeAspect="1"/>
          </p:cNvGraphicFramePr>
          <p:nvPr>
            <p:extLst>
              <p:ext uri="{D42A27DB-BD31-4B8C-83A1-F6EECF244321}">
                <p14:modId xmlns:p14="http://schemas.microsoft.com/office/powerpoint/2010/main" val="3753158032"/>
              </p:ext>
            </p:extLst>
          </p:nvPr>
        </p:nvGraphicFramePr>
        <p:xfrm>
          <a:off x="3518651" y="4230810"/>
          <a:ext cx="2451100" cy="571500"/>
        </p:xfrm>
        <a:graphic>
          <a:graphicData uri="http://schemas.openxmlformats.org/presentationml/2006/ole">
            <mc:AlternateContent xmlns:mc="http://schemas.openxmlformats.org/markup-compatibility/2006">
              <mc:Choice xmlns:v="urn:schemas-microsoft-com:vml" Requires="v">
                <p:oleObj spid="_x0000_s3142" name="Equation" r:id="rId13" imgW="2450880" imgH="571320" progId="Equation.DSMT4">
                  <p:embed/>
                </p:oleObj>
              </mc:Choice>
              <mc:Fallback>
                <p:oleObj name="Equation" r:id="rId13" imgW="2450880" imgH="571320" progId="Equation.DSMT4">
                  <p:embed/>
                  <p:pic>
                    <p:nvPicPr>
                      <p:cNvPr id="48" name="Object 47">
                        <a:extLst>
                          <a:ext uri="{FF2B5EF4-FFF2-40B4-BE49-F238E27FC236}">
                            <a16:creationId xmlns:a16="http://schemas.microsoft.com/office/drawing/2014/main" id="{45865715-8709-178D-2243-C131E2469F9D}"/>
                          </a:ext>
                        </a:extLst>
                      </p:cNvPr>
                      <p:cNvPicPr/>
                      <p:nvPr/>
                    </p:nvPicPr>
                    <p:blipFill>
                      <a:blip r:embed="rId14"/>
                      <a:stretch>
                        <a:fillRect/>
                      </a:stretch>
                    </p:blipFill>
                    <p:spPr>
                      <a:xfrm>
                        <a:off x="3518651" y="4230810"/>
                        <a:ext cx="2451100" cy="571500"/>
                      </a:xfrm>
                      <a:prstGeom prst="rect">
                        <a:avLst/>
                      </a:prstGeom>
                    </p:spPr>
                  </p:pic>
                </p:oleObj>
              </mc:Fallback>
            </mc:AlternateContent>
          </a:graphicData>
        </a:graphic>
      </p:graphicFrame>
      <mc:AlternateContent xmlns:mc="http://schemas.openxmlformats.org/markup-compatibility/2006" xmlns:a14="http://schemas.microsoft.com/office/drawing/2010/main">
        <mc:Choice Requires="a14">
          <p:sp>
            <p:nvSpPr>
              <p:cNvPr id="108" name="TextBox 107">
                <a:extLst>
                  <a:ext uri="{FF2B5EF4-FFF2-40B4-BE49-F238E27FC236}">
                    <a16:creationId xmlns:a16="http://schemas.microsoft.com/office/drawing/2014/main" id="{BD544749-7598-687F-4622-DA8B9C7B9F00}"/>
                  </a:ext>
                </a:extLst>
              </p:cNvPr>
              <p:cNvSpPr txBox="1"/>
              <p:nvPr/>
            </p:nvSpPr>
            <p:spPr>
              <a:xfrm>
                <a:off x="799846" y="3069507"/>
                <a:ext cx="243848"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en-US" sz="1400" b="0" i="1" noProof="1" dirty="0" smtClean="0">
                              <a:solidFill>
                                <a:srgbClr val="1D3456"/>
                              </a:solidFill>
                              <a:latin typeface="Cambria Math" panose="02040503050406030204" pitchFamily="18" charset="0"/>
                              <a:ea typeface="Cambria Math" panose="02040503050406030204" pitchFamily="18" charset="0"/>
                            </a:rPr>
                          </m:ctrlPr>
                        </m:sSupPr>
                        <m:e>
                          <m:r>
                            <a:rPr lang="en-US" sz="1400" b="0" i="1" noProof="1" dirty="0" smtClean="0">
                              <a:solidFill>
                                <a:srgbClr val="1D3456"/>
                              </a:solidFill>
                              <a:latin typeface="Cambria Math" panose="02040503050406030204" pitchFamily="18" charset="0"/>
                              <a:ea typeface="Cambria Math" panose="02040503050406030204" pitchFamily="18" charset="0"/>
                            </a:rPr>
                            <m:t>𝜔</m:t>
                          </m:r>
                        </m:e>
                        <m:sup>
                          <m:r>
                            <a:rPr lang="en-US" sz="1400" b="0" i="1" noProof="1" dirty="0" smtClean="0">
                              <a:solidFill>
                                <a:srgbClr val="1D3456"/>
                              </a:solidFill>
                              <a:latin typeface="Cambria Math" panose="02040503050406030204" pitchFamily="18" charset="0"/>
                              <a:ea typeface="Cambria Math" panose="02040503050406030204" pitchFamily="18" charset="0"/>
                            </a:rPr>
                            <m:t>∗</m:t>
                          </m:r>
                        </m:sup>
                      </m:sSup>
                    </m:oMath>
                  </m:oMathPara>
                </a14:m>
                <a:endParaRPr lang="en-US" sz="1400" noProof="1"/>
              </a:p>
            </p:txBody>
          </p:sp>
        </mc:Choice>
        <mc:Fallback xmlns="">
          <p:sp>
            <p:nvSpPr>
              <p:cNvPr id="108" name="TextBox 107">
                <a:extLst>
                  <a:ext uri="{FF2B5EF4-FFF2-40B4-BE49-F238E27FC236}">
                    <a16:creationId xmlns:a16="http://schemas.microsoft.com/office/drawing/2014/main" id="{BD544749-7598-687F-4622-DA8B9C7B9F00}"/>
                  </a:ext>
                </a:extLst>
              </p:cNvPr>
              <p:cNvSpPr txBox="1">
                <a:spLocks noRot="1" noChangeAspect="1" noMove="1" noResize="1" noEditPoints="1" noAdjustHandles="1" noChangeArrowheads="1" noChangeShapeType="1" noTextEdit="1"/>
              </p:cNvSpPr>
              <p:nvPr/>
            </p:nvSpPr>
            <p:spPr>
              <a:xfrm>
                <a:off x="799846" y="3069507"/>
                <a:ext cx="243848" cy="215444"/>
              </a:xfrm>
              <a:prstGeom prst="rect">
                <a:avLst/>
              </a:prstGeom>
              <a:blipFill>
                <a:blip r:embed="rId15"/>
                <a:stretch>
                  <a:fillRect l="-10000" r="-2500"/>
                </a:stretch>
              </a:blipFill>
            </p:spPr>
            <p:txBody>
              <a:bodyPr/>
              <a:lstStyle/>
              <a:p>
                <a:r>
                  <a:rPr lang="th-TH">
                    <a:noFill/>
                  </a:rPr>
                  <a:t> </a:t>
                </a:r>
              </a:p>
            </p:txBody>
          </p:sp>
        </mc:Fallback>
      </mc:AlternateContent>
      <p:sp>
        <p:nvSpPr>
          <p:cNvPr id="109" name="TextBox 108">
            <a:extLst>
              <a:ext uri="{FF2B5EF4-FFF2-40B4-BE49-F238E27FC236}">
                <a16:creationId xmlns:a16="http://schemas.microsoft.com/office/drawing/2014/main" id="{71C54B83-D0C4-84CA-4356-A75A65E16909}"/>
              </a:ext>
            </a:extLst>
          </p:cNvPr>
          <p:cNvSpPr txBox="1"/>
          <p:nvPr/>
        </p:nvSpPr>
        <p:spPr>
          <a:xfrm>
            <a:off x="3162581" y="4395748"/>
            <a:ext cx="359093" cy="241285"/>
          </a:xfrm>
          <a:prstGeom prst="rect">
            <a:avLst/>
          </a:prstGeom>
          <a:noFill/>
        </p:spPr>
        <p:txBody>
          <a:bodyPr wrap="square" lIns="0" tIns="0" rIns="0" bIns="0" anchor="t">
            <a:spAutoFit/>
          </a:bodyPr>
          <a:lstStyle/>
          <a:p>
            <a:pPr>
              <a:lnSpc>
                <a:spcPct val="120000"/>
              </a:lnSpc>
            </a:pPr>
            <a:r>
              <a:rPr lang="en-US" sz="1400" noProof="1">
                <a:solidFill>
                  <a:srgbClr val="1D3557"/>
                </a:solidFill>
              </a:rPr>
              <a:t>and</a:t>
            </a:r>
          </a:p>
        </p:txBody>
      </p:sp>
      <p:sp>
        <p:nvSpPr>
          <p:cNvPr id="113" name="TextBox 112">
            <a:extLst>
              <a:ext uri="{FF2B5EF4-FFF2-40B4-BE49-F238E27FC236}">
                <a16:creationId xmlns:a16="http://schemas.microsoft.com/office/drawing/2014/main" id="{105C1CBD-CE1C-35C7-1DA7-F813C79AFFDB}"/>
              </a:ext>
            </a:extLst>
          </p:cNvPr>
          <p:cNvSpPr txBox="1"/>
          <p:nvPr/>
        </p:nvSpPr>
        <p:spPr>
          <a:xfrm>
            <a:off x="836238" y="4814305"/>
            <a:ext cx="4800252" cy="241285"/>
          </a:xfrm>
          <a:prstGeom prst="rect">
            <a:avLst/>
          </a:prstGeom>
          <a:noFill/>
        </p:spPr>
        <p:txBody>
          <a:bodyPr wrap="square" lIns="0" tIns="0" rIns="0" bIns="0" anchor="t">
            <a:spAutoFit/>
          </a:bodyPr>
          <a:lstStyle/>
          <a:p>
            <a:pPr>
              <a:lnSpc>
                <a:spcPct val="120000"/>
              </a:lnSpc>
            </a:pPr>
            <a:r>
              <a:rPr lang="en-US" sz="1400" noProof="1">
                <a:solidFill>
                  <a:srgbClr val="1D3557"/>
                </a:solidFill>
              </a:rPr>
              <a:t>Consider the steady-state condition where all derivatives vanish</a:t>
            </a:r>
          </a:p>
        </p:txBody>
      </p:sp>
      <p:graphicFrame>
        <p:nvGraphicFramePr>
          <p:cNvPr id="116" name="Object 115">
            <a:extLst>
              <a:ext uri="{FF2B5EF4-FFF2-40B4-BE49-F238E27FC236}">
                <a16:creationId xmlns:a16="http://schemas.microsoft.com/office/drawing/2014/main" id="{31E675F1-2AD8-008D-ADC6-1B73C1993BEA}"/>
              </a:ext>
            </a:extLst>
          </p:cNvPr>
          <p:cNvGraphicFramePr>
            <a:graphicFrameLocks noChangeAspect="1"/>
          </p:cNvGraphicFramePr>
          <p:nvPr>
            <p:extLst>
              <p:ext uri="{D42A27DB-BD31-4B8C-83A1-F6EECF244321}">
                <p14:modId xmlns:p14="http://schemas.microsoft.com/office/powerpoint/2010/main" val="4170531972"/>
              </p:ext>
            </p:extLst>
          </p:nvPr>
        </p:nvGraphicFramePr>
        <p:xfrm>
          <a:off x="836238" y="5145609"/>
          <a:ext cx="1206500" cy="292100"/>
        </p:xfrm>
        <a:graphic>
          <a:graphicData uri="http://schemas.openxmlformats.org/presentationml/2006/ole">
            <mc:AlternateContent xmlns:mc="http://schemas.openxmlformats.org/markup-compatibility/2006">
              <mc:Choice xmlns:v="urn:schemas-microsoft-com:vml" Requires="v">
                <p:oleObj spid="_x0000_s3143" name="Equation" r:id="rId16" imgW="1206360" imgH="291960" progId="Equation.DSMT4">
                  <p:embed/>
                </p:oleObj>
              </mc:Choice>
              <mc:Fallback>
                <p:oleObj name="Equation" r:id="rId16" imgW="1206360" imgH="291960" progId="Equation.DSMT4">
                  <p:embed/>
                  <p:pic>
                    <p:nvPicPr>
                      <p:cNvPr id="0" name=""/>
                      <p:cNvPicPr/>
                      <p:nvPr/>
                    </p:nvPicPr>
                    <p:blipFill>
                      <a:blip r:embed="rId17"/>
                      <a:stretch>
                        <a:fillRect/>
                      </a:stretch>
                    </p:blipFill>
                    <p:spPr>
                      <a:xfrm>
                        <a:off x="836238" y="5145609"/>
                        <a:ext cx="1206500" cy="292100"/>
                      </a:xfrm>
                      <a:prstGeom prst="rect">
                        <a:avLst/>
                      </a:prstGeom>
                    </p:spPr>
                  </p:pic>
                </p:oleObj>
              </mc:Fallback>
            </mc:AlternateContent>
          </a:graphicData>
        </a:graphic>
      </p:graphicFrame>
      <p:sp>
        <p:nvSpPr>
          <p:cNvPr id="117" name="TextBox 116">
            <a:extLst>
              <a:ext uri="{FF2B5EF4-FFF2-40B4-BE49-F238E27FC236}">
                <a16:creationId xmlns:a16="http://schemas.microsoft.com/office/drawing/2014/main" id="{0A12DCAA-2788-AB40-4D1B-3504205B658E}"/>
              </a:ext>
            </a:extLst>
          </p:cNvPr>
          <p:cNvSpPr txBox="1"/>
          <p:nvPr/>
        </p:nvSpPr>
        <p:spPr>
          <a:xfrm>
            <a:off x="2210513" y="5158497"/>
            <a:ext cx="359093" cy="241285"/>
          </a:xfrm>
          <a:prstGeom prst="rect">
            <a:avLst/>
          </a:prstGeom>
          <a:noFill/>
        </p:spPr>
        <p:txBody>
          <a:bodyPr wrap="square" lIns="0" tIns="0" rIns="0" bIns="0" anchor="t">
            <a:spAutoFit/>
          </a:bodyPr>
          <a:lstStyle/>
          <a:p>
            <a:pPr>
              <a:lnSpc>
                <a:spcPct val="120000"/>
              </a:lnSpc>
            </a:pPr>
            <a:r>
              <a:rPr lang="en-US" sz="1400" noProof="1">
                <a:solidFill>
                  <a:srgbClr val="1D3557"/>
                </a:solidFill>
              </a:rPr>
              <a:t>and</a:t>
            </a:r>
          </a:p>
        </p:txBody>
      </p:sp>
      <p:graphicFrame>
        <p:nvGraphicFramePr>
          <p:cNvPr id="119" name="Object 118">
            <a:extLst>
              <a:ext uri="{FF2B5EF4-FFF2-40B4-BE49-F238E27FC236}">
                <a16:creationId xmlns:a16="http://schemas.microsoft.com/office/drawing/2014/main" id="{9C87C0BB-6AE5-72E6-A4DC-586144F9DBDC}"/>
              </a:ext>
            </a:extLst>
          </p:cNvPr>
          <p:cNvGraphicFramePr>
            <a:graphicFrameLocks noChangeAspect="1"/>
          </p:cNvGraphicFramePr>
          <p:nvPr>
            <p:extLst>
              <p:ext uri="{D42A27DB-BD31-4B8C-83A1-F6EECF244321}">
                <p14:modId xmlns:p14="http://schemas.microsoft.com/office/powerpoint/2010/main" val="4134364331"/>
              </p:ext>
            </p:extLst>
          </p:nvPr>
        </p:nvGraphicFramePr>
        <p:xfrm>
          <a:off x="2670774" y="5145609"/>
          <a:ext cx="2070100" cy="292100"/>
        </p:xfrm>
        <a:graphic>
          <a:graphicData uri="http://schemas.openxmlformats.org/presentationml/2006/ole">
            <mc:AlternateContent xmlns:mc="http://schemas.openxmlformats.org/markup-compatibility/2006">
              <mc:Choice xmlns:v="urn:schemas-microsoft-com:vml" Requires="v">
                <p:oleObj spid="_x0000_s3144" name="Equation" r:id="rId18" imgW="2070000" imgH="291960" progId="Equation.DSMT4">
                  <p:embed/>
                </p:oleObj>
              </mc:Choice>
              <mc:Fallback>
                <p:oleObj name="Equation" r:id="rId18" imgW="2070000" imgH="291960" progId="Equation.DSMT4">
                  <p:embed/>
                  <p:pic>
                    <p:nvPicPr>
                      <p:cNvPr id="0" name=""/>
                      <p:cNvPicPr/>
                      <p:nvPr/>
                    </p:nvPicPr>
                    <p:blipFill>
                      <a:blip r:embed="rId19"/>
                      <a:stretch>
                        <a:fillRect/>
                      </a:stretch>
                    </p:blipFill>
                    <p:spPr>
                      <a:xfrm>
                        <a:off x="2670774" y="5145609"/>
                        <a:ext cx="2070100" cy="292100"/>
                      </a:xfrm>
                      <a:prstGeom prst="rect">
                        <a:avLst/>
                      </a:prstGeom>
                    </p:spPr>
                  </p:pic>
                </p:oleObj>
              </mc:Fallback>
            </mc:AlternateContent>
          </a:graphicData>
        </a:graphic>
      </p:graphicFrame>
      <p:sp>
        <p:nvSpPr>
          <p:cNvPr id="120" name="TextBox 119">
            <a:extLst>
              <a:ext uri="{FF2B5EF4-FFF2-40B4-BE49-F238E27FC236}">
                <a16:creationId xmlns:a16="http://schemas.microsoft.com/office/drawing/2014/main" id="{BCC143A9-2255-FA1B-F771-8FD9F8E6AF4F}"/>
              </a:ext>
            </a:extLst>
          </p:cNvPr>
          <p:cNvSpPr txBox="1"/>
          <p:nvPr/>
        </p:nvSpPr>
        <p:spPr>
          <a:xfrm>
            <a:off x="836238" y="5539575"/>
            <a:ext cx="4800252" cy="241285"/>
          </a:xfrm>
          <a:prstGeom prst="rect">
            <a:avLst/>
          </a:prstGeom>
          <a:noFill/>
        </p:spPr>
        <p:txBody>
          <a:bodyPr wrap="square" lIns="0" tIns="0" rIns="0" bIns="0" anchor="t">
            <a:spAutoFit/>
          </a:bodyPr>
          <a:lstStyle/>
          <a:p>
            <a:pPr>
              <a:lnSpc>
                <a:spcPct val="120000"/>
              </a:lnSpc>
            </a:pPr>
            <a:r>
              <a:rPr lang="en-US" sz="1400" noProof="1">
                <a:solidFill>
                  <a:srgbClr val="1D3557"/>
                </a:solidFill>
              </a:rPr>
              <a:t>Solve this we will get the feedforward that can be written as</a:t>
            </a:r>
          </a:p>
        </p:txBody>
      </p:sp>
      <p:graphicFrame>
        <p:nvGraphicFramePr>
          <p:cNvPr id="121" name="Object 120">
            <a:extLst>
              <a:ext uri="{FF2B5EF4-FFF2-40B4-BE49-F238E27FC236}">
                <a16:creationId xmlns:a16="http://schemas.microsoft.com/office/drawing/2014/main" id="{A18146DE-38B6-92EF-ABE0-5C8BF6F87813}"/>
              </a:ext>
            </a:extLst>
          </p:cNvPr>
          <p:cNvGraphicFramePr>
            <a:graphicFrameLocks noChangeAspect="1"/>
          </p:cNvGraphicFramePr>
          <p:nvPr>
            <p:extLst>
              <p:ext uri="{D42A27DB-BD31-4B8C-83A1-F6EECF244321}">
                <p14:modId xmlns:p14="http://schemas.microsoft.com/office/powerpoint/2010/main" val="3974150601"/>
              </p:ext>
            </p:extLst>
          </p:nvPr>
        </p:nvGraphicFramePr>
        <p:xfrm>
          <a:off x="867526" y="5882726"/>
          <a:ext cx="2489200" cy="647700"/>
        </p:xfrm>
        <a:graphic>
          <a:graphicData uri="http://schemas.openxmlformats.org/presentationml/2006/ole">
            <mc:AlternateContent xmlns:mc="http://schemas.openxmlformats.org/markup-compatibility/2006">
              <mc:Choice xmlns:v="urn:schemas-microsoft-com:vml" Requires="v">
                <p:oleObj spid="_x0000_s3145" name="Equation" r:id="rId20" imgW="2489040" imgH="647640" progId="Equation.DSMT4">
                  <p:embed/>
                </p:oleObj>
              </mc:Choice>
              <mc:Fallback>
                <p:oleObj name="Equation" r:id="rId20" imgW="2489040" imgH="647640" progId="Equation.DSMT4">
                  <p:embed/>
                  <p:pic>
                    <p:nvPicPr>
                      <p:cNvPr id="0" name=""/>
                      <p:cNvPicPr/>
                      <p:nvPr/>
                    </p:nvPicPr>
                    <p:blipFill>
                      <a:blip r:embed="rId21"/>
                      <a:stretch>
                        <a:fillRect/>
                      </a:stretch>
                    </p:blipFill>
                    <p:spPr>
                      <a:xfrm>
                        <a:off x="867526" y="5882726"/>
                        <a:ext cx="2489200" cy="647700"/>
                      </a:xfrm>
                      <a:prstGeom prst="rect">
                        <a:avLst/>
                      </a:prstGeom>
                    </p:spPr>
                  </p:pic>
                </p:oleObj>
              </mc:Fallback>
            </mc:AlternateContent>
          </a:graphicData>
        </a:graphic>
      </p:graphicFrame>
      <p:sp>
        <p:nvSpPr>
          <p:cNvPr id="124" name="Rectangle 123">
            <a:extLst>
              <a:ext uri="{FF2B5EF4-FFF2-40B4-BE49-F238E27FC236}">
                <a16:creationId xmlns:a16="http://schemas.microsoft.com/office/drawing/2014/main" id="{F6A73FAC-A344-A866-E58E-3D73764EFFA9}"/>
              </a:ext>
            </a:extLst>
          </p:cNvPr>
          <p:cNvSpPr/>
          <p:nvPr/>
        </p:nvSpPr>
        <p:spPr>
          <a:xfrm rot="16200000" flipH="1">
            <a:off x="1621275" y="6082870"/>
            <a:ext cx="45719" cy="940831"/>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125" name="Rectangle 124">
            <a:extLst>
              <a:ext uri="{FF2B5EF4-FFF2-40B4-BE49-F238E27FC236}">
                <a16:creationId xmlns:a16="http://schemas.microsoft.com/office/drawing/2014/main" id="{335D0ED0-D997-A0A8-19C9-7714FBAFC040}"/>
              </a:ext>
            </a:extLst>
          </p:cNvPr>
          <p:cNvSpPr/>
          <p:nvPr/>
        </p:nvSpPr>
        <p:spPr>
          <a:xfrm rot="16200000" flipH="1">
            <a:off x="2757342" y="6033647"/>
            <a:ext cx="45719" cy="1039277"/>
          </a:xfrm>
          <a:prstGeom prst="rect">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126" name="TextBox 125">
            <a:extLst>
              <a:ext uri="{FF2B5EF4-FFF2-40B4-BE49-F238E27FC236}">
                <a16:creationId xmlns:a16="http://schemas.microsoft.com/office/drawing/2014/main" id="{098C503F-79BC-16A4-3C9A-1881C02B69F2}"/>
              </a:ext>
            </a:extLst>
          </p:cNvPr>
          <p:cNvSpPr txBox="1"/>
          <p:nvPr/>
        </p:nvSpPr>
        <p:spPr>
          <a:xfrm>
            <a:off x="1292096" y="6584782"/>
            <a:ext cx="750642" cy="155107"/>
          </a:xfrm>
          <a:prstGeom prst="rect">
            <a:avLst/>
          </a:prstGeom>
          <a:noFill/>
        </p:spPr>
        <p:txBody>
          <a:bodyPr wrap="square" lIns="0" tIns="0" rIns="0" bIns="0" anchor="t">
            <a:spAutoFit/>
          </a:bodyPr>
          <a:lstStyle/>
          <a:p>
            <a:pPr>
              <a:lnSpc>
                <a:spcPct val="120000"/>
              </a:lnSpc>
            </a:pPr>
            <a:r>
              <a:rPr lang="en-US" sz="900" noProof="1">
                <a:solidFill>
                  <a:srgbClr val="1D3557"/>
                </a:solidFill>
              </a:rPr>
              <a:t>Disturbance ffw</a:t>
            </a:r>
          </a:p>
        </p:txBody>
      </p:sp>
      <p:sp>
        <p:nvSpPr>
          <p:cNvPr id="127" name="TextBox 126">
            <a:extLst>
              <a:ext uri="{FF2B5EF4-FFF2-40B4-BE49-F238E27FC236}">
                <a16:creationId xmlns:a16="http://schemas.microsoft.com/office/drawing/2014/main" id="{46EBFBCF-CA12-12D4-46FC-8E0CFE921E6E}"/>
              </a:ext>
            </a:extLst>
          </p:cNvPr>
          <p:cNvSpPr txBox="1"/>
          <p:nvPr/>
        </p:nvSpPr>
        <p:spPr>
          <a:xfrm>
            <a:off x="2454422" y="6585957"/>
            <a:ext cx="750642" cy="155107"/>
          </a:xfrm>
          <a:prstGeom prst="rect">
            <a:avLst/>
          </a:prstGeom>
          <a:noFill/>
        </p:spPr>
        <p:txBody>
          <a:bodyPr wrap="square" lIns="0" tIns="0" rIns="0" bIns="0" anchor="t">
            <a:spAutoFit/>
          </a:bodyPr>
          <a:lstStyle/>
          <a:p>
            <a:pPr>
              <a:lnSpc>
                <a:spcPct val="120000"/>
              </a:lnSpc>
            </a:pPr>
            <a:r>
              <a:rPr lang="en-US" sz="900" noProof="1">
                <a:solidFill>
                  <a:srgbClr val="1D3557"/>
                </a:solidFill>
              </a:rPr>
              <a:t>Reffernce ffw</a:t>
            </a:r>
          </a:p>
        </p:txBody>
      </p:sp>
      <p:pic>
        <p:nvPicPr>
          <p:cNvPr id="128" name="Picture 127">
            <a:extLst>
              <a:ext uri="{FF2B5EF4-FFF2-40B4-BE49-F238E27FC236}">
                <a16:creationId xmlns:a16="http://schemas.microsoft.com/office/drawing/2014/main" id="{BDB4F3CD-B7DF-C332-F437-8B91FD616276}"/>
              </a:ext>
            </a:extLst>
          </p:cNvPr>
          <p:cNvPicPr>
            <a:picLocks noChangeAspect="1"/>
          </p:cNvPicPr>
          <p:nvPr/>
        </p:nvPicPr>
        <p:blipFill>
          <a:blip r:embed="rId22"/>
          <a:stretch>
            <a:fillRect/>
          </a:stretch>
        </p:blipFill>
        <p:spPr>
          <a:xfrm>
            <a:off x="7423288" y="4692102"/>
            <a:ext cx="4445137" cy="2149235"/>
          </a:xfrm>
          <a:prstGeom prst="rect">
            <a:avLst/>
          </a:prstGeom>
        </p:spPr>
      </p:pic>
      <p:pic>
        <p:nvPicPr>
          <p:cNvPr id="129" name="Picture 128">
            <a:extLst>
              <a:ext uri="{FF2B5EF4-FFF2-40B4-BE49-F238E27FC236}">
                <a16:creationId xmlns:a16="http://schemas.microsoft.com/office/drawing/2014/main" id="{479712D4-5C47-0FF1-40D9-B0C2AA11FE3C}"/>
              </a:ext>
            </a:extLst>
          </p:cNvPr>
          <p:cNvPicPr>
            <a:picLocks noChangeAspect="1"/>
          </p:cNvPicPr>
          <p:nvPr/>
        </p:nvPicPr>
        <p:blipFill>
          <a:blip r:embed="rId23"/>
          <a:stretch>
            <a:fillRect/>
          </a:stretch>
        </p:blipFill>
        <p:spPr>
          <a:xfrm>
            <a:off x="7414404" y="2343723"/>
            <a:ext cx="4473414" cy="2199760"/>
          </a:xfrm>
          <a:prstGeom prst="rect">
            <a:avLst/>
          </a:prstGeom>
        </p:spPr>
      </p:pic>
      <p:sp>
        <p:nvSpPr>
          <p:cNvPr id="130" name="TextBox 129">
            <a:extLst>
              <a:ext uri="{FF2B5EF4-FFF2-40B4-BE49-F238E27FC236}">
                <a16:creationId xmlns:a16="http://schemas.microsoft.com/office/drawing/2014/main" id="{F2016FBF-3D14-C041-8D32-C8E853F31EDB}"/>
              </a:ext>
            </a:extLst>
          </p:cNvPr>
          <p:cNvSpPr txBox="1"/>
          <p:nvPr/>
        </p:nvSpPr>
        <p:spPr>
          <a:xfrm>
            <a:off x="9085281" y="3876222"/>
            <a:ext cx="1121150" cy="241285"/>
          </a:xfrm>
          <a:prstGeom prst="rect">
            <a:avLst/>
          </a:prstGeom>
          <a:noFill/>
        </p:spPr>
        <p:txBody>
          <a:bodyPr wrap="square" lIns="0" tIns="0" rIns="0" bIns="0" anchor="t">
            <a:spAutoFit/>
          </a:bodyPr>
          <a:lstStyle/>
          <a:p>
            <a:pPr>
              <a:lnSpc>
                <a:spcPct val="120000"/>
              </a:lnSpc>
            </a:pPr>
            <a:r>
              <a:rPr lang="en-US" sz="1400" noProof="1">
                <a:solidFill>
                  <a:srgbClr val="1D3557"/>
                </a:solidFill>
              </a:rPr>
              <a:t>RMSE = 0.450</a:t>
            </a:r>
          </a:p>
        </p:txBody>
      </p:sp>
      <p:sp>
        <p:nvSpPr>
          <p:cNvPr id="131" name="TextBox 130">
            <a:extLst>
              <a:ext uri="{FF2B5EF4-FFF2-40B4-BE49-F238E27FC236}">
                <a16:creationId xmlns:a16="http://schemas.microsoft.com/office/drawing/2014/main" id="{4FE22F75-7ED6-3BC1-1543-FCF89D947081}"/>
              </a:ext>
            </a:extLst>
          </p:cNvPr>
          <p:cNvSpPr txBox="1"/>
          <p:nvPr/>
        </p:nvSpPr>
        <p:spPr>
          <a:xfrm>
            <a:off x="9700581" y="6188717"/>
            <a:ext cx="1121150" cy="241285"/>
          </a:xfrm>
          <a:prstGeom prst="rect">
            <a:avLst/>
          </a:prstGeom>
          <a:noFill/>
        </p:spPr>
        <p:txBody>
          <a:bodyPr wrap="square" lIns="0" tIns="0" rIns="0" bIns="0" anchor="t">
            <a:spAutoFit/>
          </a:bodyPr>
          <a:lstStyle/>
          <a:p>
            <a:pPr>
              <a:lnSpc>
                <a:spcPct val="120000"/>
              </a:lnSpc>
            </a:pPr>
            <a:r>
              <a:rPr lang="en-US" sz="1400" noProof="1">
                <a:solidFill>
                  <a:srgbClr val="1D3557"/>
                </a:solidFill>
              </a:rPr>
              <a:t>RMSE = 0.279</a:t>
            </a:r>
          </a:p>
        </p:txBody>
      </p:sp>
    </p:spTree>
    <p:extLst>
      <p:ext uri="{BB962C8B-B14F-4D97-AF65-F5344CB8AC3E}">
        <p14:creationId xmlns:p14="http://schemas.microsoft.com/office/powerpoint/2010/main" val="18620356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BFAF6"/>
        </a:solidFill>
        <a:effectLst/>
      </p:bgPr>
    </p:bg>
    <p:spTree>
      <p:nvGrpSpPr>
        <p:cNvPr id="1" name="">
          <a:extLst>
            <a:ext uri="{FF2B5EF4-FFF2-40B4-BE49-F238E27FC236}">
              <a16:creationId xmlns:a16="http://schemas.microsoft.com/office/drawing/2014/main" id="{4031A075-3EEC-012B-A09A-6653C887BACF}"/>
            </a:ext>
          </a:extLst>
        </p:cNvPr>
        <p:cNvGrpSpPr/>
        <p:nvPr/>
      </p:nvGrpSpPr>
      <p:grpSpPr>
        <a:xfrm>
          <a:off x="0" y="0"/>
          <a:ext cx="0" cy="0"/>
          <a:chOff x="0" y="0"/>
          <a:chExt cx="0" cy="0"/>
        </a:xfrm>
      </p:grpSpPr>
      <p:sp>
        <p:nvSpPr>
          <p:cNvPr id="101" name="Rounded Rectangle 73">
            <a:extLst>
              <a:ext uri="{FF2B5EF4-FFF2-40B4-BE49-F238E27FC236}">
                <a16:creationId xmlns:a16="http://schemas.microsoft.com/office/drawing/2014/main" id="{D82A15CA-12C7-6F50-6AE7-1A892E99BCEC}"/>
              </a:ext>
            </a:extLst>
          </p:cNvPr>
          <p:cNvSpPr/>
          <p:nvPr/>
        </p:nvSpPr>
        <p:spPr>
          <a:xfrm>
            <a:off x="790520" y="3987799"/>
            <a:ext cx="2414544" cy="241285"/>
          </a:xfrm>
          <a:prstGeom prst="roundRect">
            <a:avLst>
              <a:gd name="adj" fmla="val 6000"/>
            </a:avLst>
          </a:prstGeom>
          <a:solidFill>
            <a:srgbClr val="E7F2F0"/>
          </a:solidFill>
          <a:ln w="12700">
            <a:solidFill>
              <a:srgbClr val="E7F2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cxnSp>
        <p:nvCxnSpPr>
          <p:cNvPr id="15" name="Straight Connector 14">
            <a:extLst>
              <a:ext uri="{FF2B5EF4-FFF2-40B4-BE49-F238E27FC236}">
                <a16:creationId xmlns:a16="http://schemas.microsoft.com/office/drawing/2014/main" id="{F0730D0B-C321-3105-56D9-9BC3AF19A540}"/>
              </a:ext>
            </a:extLst>
          </p:cNvPr>
          <p:cNvCxnSpPr>
            <a:cxnSpLocks/>
          </p:cNvCxnSpPr>
          <p:nvPr/>
        </p:nvCxnSpPr>
        <p:spPr>
          <a:xfrm flipV="1">
            <a:off x="1234972" y="2671556"/>
            <a:ext cx="0" cy="576319"/>
          </a:xfrm>
          <a:prstGeom prst="line">
            <a:avLst/>
          </a:prstGeom>
          <a:ln>
            <a:solidFill>
              <a:srgbClr val="E07A5F"/>
            </a:solidFill>
          </a:ln>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97194590-0B47-7DE3-456E-99BD07456B5D}"/>
              </a:ext>
            </a:extLst>
          </p:cNvPr>
          <p:cNvCxnSpPr>
            <a:cxnSpLocks/>
          </p:cNvCxnSpPr>
          <p:nvPr/>
        </p:nvCxnSpPr>
        <p:spPr>
          <a:xfrm flipV="1">
            <a:off x="6447877" y="2671556"/>
            <a:ext cx="0" cy="664992"/>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sp>
        <p:nvSpPr>
          <p:cNvPr id="2" name="Rectangle 1">
            <a:extLst>
              <a:ext uri="{FF2B5EF4-FFF2-40B4-BE49-F238E27FC236}">
                <a16:creationId xmlns:a16="http://schemas.microsoft.com/office/drawing/2014/main" id="{9213D8E8-B694-03C0-0C0F-17E0BF8FE079}"/>
              </a:ext>
            </a:extLst>
          </p:cNvPr>
          <p:cNvSpPr/>
          <p:nvPr/>
        </p:nvSpPr>
        <p:spPr>
          <a:xfrm>
            <a:off x="566928" y="502920"/>
            <a:ext cx="17780" cy="5852160"/>
          </a:xfrm>
          <a:prstGeom prst="rect">
            <a:avLst/>
          </a:prstGeom>
          <a:solidFill>
            <a:srgbClr val="D9D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3" name="Rectangle 2">
            <a:extLst>
              <a:ext uri="{FF2B5EF4-FFF2-40B4-BE49-F238E27FC236}">
                <a16:creationId xmlns:a16="http://schemas.microsoft.com/office/drawing/2014/main" id="{FA364F71-D9F3-2C66-644E-8A8066F0EE5E}"/>
              </a:ext>
            </a:extLst>
          </p:cNvPr>
          <p:cNvSpPr/>
          <p:nvPr/>
        </p:nvSpPr>
        <p:spPr>
          <a:xfrm>
            <a:off x="566928" y="502920"/>
            <a:ext cx="30480" cy="56692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4" name="TextBox 3">
            <a:extLst>
              <a:ext uri="{FF2B5EF4-FFF2-40B4-BE49-F238E27FC236}">
                <a16:creationId xmlns:a16="http://schemas.microsoft.com/office/drawing/2014/main" id="{DD8D06BA-A154-3857-17F7-A475D85CB9D3}"/>
              </a:ext>
            </a:extLst>
          </p:cNvPr>
          <p:cNvSpPr txBox="1"/>
          <p:nvPr/>
        </p:nvSpPr>
        <p:spPr>
          <a:xfrm>
            <a:off x="868680" y="548640"/>
            <a:ext cx="10607040" cy="169277"/>
          </a:xfrm>
          <a:prstGeom prst="rect">
            <a:avLst/>
          </a:prstGeom>
          <a:noFill/>
        </p:spPr>
        <p:txBody>
          <a:bodyPr wrap="square" lIns="0" tIns="0" rIns="0" bIns="0" anchor="t">
            <a:spAutoFit/>
          </a:bodyPr>
          <a:lstStyle/>
          <a:p>
            <a:pPr>
              <a:lnSpc>
                <a:spcPct val="100000"/>
              </a:lnSpc>
            </a:pPr>
            <a:r>
              <a:rPr lang="en-US" sz="1100" b="1" noProof="1">
                <a:solidFill>
                  <a:srgbClr val="E07A5F"/>
                </a:solidFill>
                <a:latin typeface="Consolas"/>
              </a:rPr>
              <a:t>A4  </a:t>
            </a:r>
            <a:r>
              <a:rPr lang="en-US" sz="1100" b="1" noProof="1">
                <a:solidFill>
                  <a:srgbClr val="2A9D8F"/>
                </a:solidFill>
                <a:latin typeface="Consolas"/>
              </a:rPr>
              <a:t>Vertical Pendulum Control</a:t>
            </a:r>
            <a:endParaRPr lang="en-US" sz="1100" noProof="1">
              <a:solidFill>
                <a:srgbClr val="2A9D8F"/>
              </a:solidFill>
              <a:latin typeface="Consolas"/>
            </a:endParaRPr>
          </a:p>
        </p:txBody>
      </p:sp>
      <p:sp>
        <p:nvSpPr>
          <p:cNvPr id="62" name="TextBox 61">
            <a:extLst>
              <a:ext uri="{FF2B5EF4-FFF2-40B4-BE49-F238E27FC236}">
                <a16:creationId xmlns:a16="http://schemas.microsoft.com/office/drawing/2014/main" id="{74B78315-F5D1-B861-8E69-ED49AC9E2753}"/>
              </a:ext>
            </a:extLst>
          </p:cNvPr>
          <p:cNvSpPr txBox="1"/>
          <p:nvPr/>
        </p:nvSpPr>
        <p:spPr>
          <a:xfrm>
            <a:off x="868680" y="866813"/>
            <a:ext cx="10607040" cy="412805"/>
          </a:xfrm>
          <a:prstGeom prst="rect">
            <a:avLst/>
          </a:prstGeom>
          <a:noFill/>
        </p:spPr>
        <p:txBody>
          <a:bodyPr wrap="square" lIns="0" tIns="0" rIns="0" bIns="0" anchor="t">
            <a:spAutoFit/>
          </a:bodyPr>
          <a:lstStyle/>
          <a:p>
            <a:pPr algn="l">
              <a:lnSpc>
                <a:spcPct val="102000"/>
              </a:lnSpc>
              <a:spcBef>
                <a:spcPts val="0"/>
              </a:spcBef>
              <a:spcAft>
                <a:spcPts val="600"/>
              </a:spcAft>
            </a:pPr>
            <a:r>
              <a:rPr lang="en-US" sz="2800" b="1" noProof="1">
                <a:solidFill>
                  <a:srgbClr val="1D3557"/>
                </a:solidFill>
                <a:latin typeface="Georgia"/>
              </a:rPr>
              <a:t>Classical Control</a:t>
            </a:r>
          </a:p>
        </p:txBody>
      </p:sp>
      <p:sp>
        <p:nvSpPr>
          <p:cNvPr id="75" name="Rectangle 74">
            <a:extLst>
              <a:ext uri="{FF2B5EF4-FFF2-40B4-BE49-F238E27FC236}">
                <a16:creationId xmlns:a16="http://schemas.microsoft.com/office/drawing/2014/main" id="{EE9F6BB7-F520-5988-484A-86DB425C2E42}"/>
              </a:ext>
            </a:extLst>
          </p:cNvPr>
          <p:cNvSpPr/>
          <p:nvPr/>
        </p:nvSpPr>
        <p:spPr>
          <a:xfrm>
            <a:off x="790518" y="3987799"/>
            <a:ext cx="45719" cy="241285"/>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graphicFrame>
        <p:nvGraphicFramePr>
          <p:cNvPr id="41" name="Object 40">
            <a:extLst>
              <a:ext uri="{FF2B5EF4-FFF2-40B4-BE49-F238E27FC236}">
                <a16:creationId xmlns:a16="http://schemas.microsoft.com/office/drawing/2014/main" id="{CD779A87-BD96-54F9-B8C8-ECB5274E1591}"/>
              </a:ext>
            </a:extLst>
          </p:cNvPr>
          <p:cNvGraphicFramePr>
            <a:graphicFrameLocks noChangeAspect="1"/>
          </p:cNvGraphicFramePr>
          <p:nvPr/>
        </p:nvGraphicFramePr>
        <p:xfrm>
          <a:off x="6061511" y="3186041"/>
          <a:ext cx="139700" cy="228600"/>
        </p:xfrm>
        <a:graphic>
          <a:graphicData uri="http://schemas.openxmlformats.org/presentationml/2006/ole">
            <mc:AlternateContent xmlns:mc="http://schemas.openxmlformats.org/markup-compatibility/2006">
              <mc:Choice xmlns:v="urn:schemas-microsoft-com:vml" Requires="v">
                <p:oleObj spid="_x0000_s4164" name="Equation" r:id="rId3" imgW="139680" imgH="228600" progId="Equation.DSMT4">
                  <p:embed/>
                </p:oleObj>
              </mc:Choice>
              <mc:Fallback>
                <p:oleObj name="Equation" r:id="rId3" imgW="139680" imgH="228600" progId="Equation.DSMT4">
                  <p:embed/>
                  <p:pic>
                    <p:nvPicPr>
                      <p:cNvPr id="41" name="Object 40">
                        <a:extLst>
                          <a:ext uri="{FF2B5EF4-FFF2-40B4-BE49-F238E27FC236}">
                            <a16:creationId xmlns:a16="http://schemas.microsoft.com/office/drawing/2014/main" id="{CCAED91B-8F91-A305-4FDE-71ECB08966BC}"/>
                          </a:ext>
                        </a:extLst>
                      </p:cNvPr>
                      <p:cNvPicPr/>
                      <p:nvPr/>
                    </p:nvPicPr>
                    <p:blipFill>
                      <a:blip r:embed="rId4"/>
                      <a:stretch>
                        <a:fillRect/>
                      </a:stretch>
                    </p:blipFill>
                    <p:spPr>
                      <a:xfrm>
                        <a:off x="6061511" y="3186041"/>
                        <a:ext cx="139700" cy="228600"/>
                      </a:xfrm>
                      <a:prstGeom prst="rect">
                        <a:avLst/>
                      </a:prstGeom>
                    </p:spPr>
                  </p:pic>
                </p:oleObj>
              </mc:Fallback>
            </mc:AlternateContent>
          </a:graphicData>
        </a:graphic>
      </p:graphicFrame>
      <p:sp>
        <p:nvSpPr>
          <p:cNvPr id="7" name="Rounded Rectangle 6">
            <a:extLst>
              <a:ext uri="{FF2B5EF4-FFF2-40B4-BE49-F238E27FC236}">
                <a16:creationId xmlns:a16="http://schemas.microsoft.com/office/drawing/2014/main" id="{31DB2998-6A44-48E1-AD1C-B1FA66FC4124}"/>
              </a:ext>
            </a:extLst>
          </p:cNvPr>
          <p:cNvSpPr/>
          <p:nvPr/>
        </p:nvSpPr>
        <p:spPr>
          <a:xfrm>
            <a:off x="1636073" y="3121104"/>
            <a:ext cx="1104826" cy="479453"/>
          </a:xfrm>
          <a:prstGeom prst="roundRect">
            <a:avLst/>
          </a:prstGeom>
          <a:ln w="15875">
            <a:solidFill>
              <a:srgbClr val="1D3456"/>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noProof="1">
                <a:solidFill>
                  <a:srgbClr val="1D3456"/>
                </a:solidFill>
              </a:rPr>
              <a:t>PI</a:t>
            </a:r>
          </a:p>
        </p:txBody>
      </p:sp>
      <p:cxnSp>
        <p:nvCxnSpPr>
          <p:cNvPr id="9" name="Straight Arrow Connector 8">
            <a:extLst>
              <a:ext uri="{FF2B5EF4-FFF2-40B4-BE49-F238E27FC236}">
                <a16:creationId xmlns:a16="http://schemas.microsoft.com/office/drawing/2014/main" id="{61B0BA80-70ED-A391-4592-F82B56463CEB}"/>
              </a:ext>
            </a:extLst>
          </p:cNvPr>
          <p:cNvCxnSpPr>
            <a:cxnSpLocks/>
          </p:cNvCxnSpPr>
          <p:nvPr/>
        </p:nvCxnSpPr>
        <p:spPr>
          <a:xfrm>
            <a:off x="2740899" y="3368163"/>
            <a:ext cx="72000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332EA1A-5BA1-1D6B-BCEA-CFEED7A65EBB}"/>
                  </a:ext>
                </a:extLst>
              </p:cNvPr>
              <p:cNvSpPr txBox="1"/>
              <p:nvPr/>
            </p:nvSpPr>
            <p:spPr>
              <a:xfrm>
                <a:off x="2865041" y="3121104"/>
                <a:ext cx="434799"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400" i="1" noProof="1" dirty="0" smtClean="0">
                              <a:solidFill>
                                <a:srgbClr val="1D3456"/>
                              </a:solidFill>
                              <a:latin typeface="Cambria Math" panose="02040503050406030204" pitchFamily="18" charset="0"/>
                            </a:rPr>
                          </m:ctrlPr>
                        </m:sSubPr>
                        <m:e>
                          <m:r>
                            <a:rPr lang="en-US" sz="1400" b="0" i="1" noProof="1" dirty="0" smtClean="0">
                              <a:solidFill>
                                <a:srgbClr val="1D3456"/>
                              </a:solidFill>
                              <a:latin typeface="Cambria Math" panose="02040503050406030204" pitchFamily="18" charset="0"/>
                            </a:rPr>
                            <m:t>𝑉</m:t>
                          </m:r>
                        </m:e>
                        <m:sub>
                          <m:r>
                            <a:rPr lang="en-US" sz="1400" b="0" i="1" noProof="1" dirty="0" smtClean="0">
                              <a:solidFill>
                                <a:srgbClr val="1D3456"/>
                              </a:solidFill>
                              <a:latin typeface="Cambria Math" panose="02040503050406030204" pitchFamily="18" charset="0"/>
                            </a:rPr>
                            <m:t>𝑏𝑎𝑠𝑒</m:t>
                          </m:r>
                        </m:sub>
                      </m:sSub>
                    </m:oMath>
                  </m:oMathPara>
                </a14:m>
                <a:endParaRPr lang="en-US" sz="1400" noProof="1"/>
              </a:p>
            </p:txBody>
          </p:sp>
        </mc:Choice>
        <mc:Fallback xmlns="">
          <p:sp>
            <p:nvSpPr>
              <p:cNvPr id="12" name="TextBox 11">
                <a:extLst>
                  <a:ext uri="{FF2B5EF4-FFF2-40B4-BE49-F238E27FC236}">
                    <a16:creationId xmlns:a16="http://schemas.microsoft.com/office/drawing/2014/main" id="{D332EA1A-5BA1-1D6B-BCEA-CFEED7A65EBB}"/>
                  </a:ext>
                </a:extLst>
              </p:cNvPr>
              <p:cNvSpPr txBox="1">
                <a:spLocks noRot="1" noChangeAspect="1" noMove="1" noResize="1" noEditPoints="1" noAdjustHandles="1" noChangeArrowheads="1" noChangeShapeType="1" noTextEdit="1"/>
              </p:cNvSpPr>
              <p:nvPr/>
            </p:nvSpPr>
            <p:spPr>
              <a:xfrm>
                <a:off x="2865041" y="3121104"/>
                <a:ext cx="434799" cy="215444"/>
              </a:xfrm>
              <a:prstGeom prst="rect">
                <a:avLst/>
              </a:prstGeom>
              <a:blipFill>
                <a:blip r:embed="rId5"/>
                <a:stretch>
                  <a:fillRect l="-9859" r="-1408" b="-14286"/>
                </a:stretch>
              </a:blipFill>
            </p:spPr>
            <p:txBody>
              <a:bodyPr/>
              <a:lstStyle/>
              <a:p>
                <a:r>
                  <a:rPr lang="th-TH">
                    <a:noFill/>
                  </a:rPr>
                  <a:t> </a:t>
                </a:r>
              </a:p>
            </p:txBody>
          </p:sp>
        </mc:Fallback>
      </mc:AlternateContent>
      <p:sp>
        <p:nvSpPr>
          <p:cNvPr id="13" name="Oval 12">
            <a:extLst>
              <a:ext uri="{FF2B5EF4-FFF2-40B4-BE49-F238E27FC236}">
                <a16:creationId xmlns:a16="http://schemas.microsoft.com/office/drawing/2014/main" id="{0B443184-FE87-0884-7870-B5598548E46D}"/>
              </a:ext>
            </a:extLst>
          </p:cNvPr>
          <p:cNvSpPr/>
          <p:nvPr/>
        </p:nvSpPr>
        <p:spPr>
          <a:xfrm>
            <a:off x="3450041" y="3233163"/>
            <a:ext cx="270000" cy="270000"/>
          </a:xfrm>
          <a:prstGeom prst="ellipse">
            <a:avLst/>
          </a:prstGeom>
          <a:noFill/>
          <a:ln w="15875">
            <a:solidFill>
              <a:srgbClr val="1D34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14" name="TextBox 13">
            <a:extLst>
              <a:ext uri="{FF2B5EF4-FFF2-40B4-BE49-F238E27FC236}">
                <a16:creationId xmlns:a16="http://schemas.microsoft.com/office/drawing/2014/main" id="{7B3E4AD2-0EF3-CBDD-120F-071505BEAB68}"/>
              </a:ext>
            </a:extLst>
          </p:cNvPr>
          <p:cNvSpPr txBox="1"/>
          <p:nvPr/>
        </p:nvSpPr>
        <p:spPr>
          <a:xfrm>
            <a:off x="3438867" y="3177229"/>
            <a:ext cx="300082" cy="369332"/>
          </a:xfrm>
          <a:prstGeom prst="rect">
            <a:avLst/>
          </a:prstGeom>
          <a:noFill/>
        </p:spPr>
        <p:txBody>
          <a:bodyPr wrap="none" rtlCol="0">
            <a:spAutoFit/>
          </a:bodyPr>
          <a:lstStyle/>
          <a:p>
            <a:r>
              <a:rPr lang="en-US" noProof="1">
                <a:solidFill>
                  <a:srgbClr val="1D3456"/>
                </a:solidFill>
              </a:rPr>
              <a:t>+</a:t>
            </a: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45304D53-404A-72DE-F99F-F43679F48130}"/>
                  </a:ext>
                </a:extLst>
              </p:cNvPr>
              <p:cNvSpPr txBox="1"/>
              <p:nvPr/>
            </p:nvSpPr>
            <p:spPr>
              <a:xfrm>
                <a:off x="3862291" y="3133562"/>
                <a:ext cx="157992"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400" b="0" i="1" noProof="1" dirty="0" smtClean="0">
                          <a:solidFill>
                            <a:srgbClr val="1D3456"/>
                          </a:solidFill>
                          <a:latin typeface="Cambria Math" panose="02040503050406030204" pitchFamily="18" charset="0"/>
                        </a:rPr>
                        <m:t>𝑉</m:t>
                      </m:r>
                    </m:oMath>
                  </m:oMathPara>
                </a14:m>
                <a:endParaRPr lang="en-US" sz="1400" noProof="1"/>
              </a:p>
            </p:txBody>
          </p:sp>
        </mc:Choice>
        <mc:Fallback xmlns="">
          <p:sp>
            <p:nvSpPr>
              <p:cNvPr id="16" name="TextBox 15">
                <a:extLst>
                  <a:ext uri="{FF2B5EF4-FFF2-40B4-BE49-F238E27FC236}">
                    <a16:creationId xmlns:a16="http://schemas.microsoft.com/office/drawing/2014/main" id="{45304D53-404A-72DE-F99F-F43679F48130}"/>
                  </a:ext>
                </a:extLst>
              </p:cNvPr>
              <p:cNvSpPr txBox="1">
                <a:spLocks noRot="1" noChangeAspect="1" noMove="1" noResize="1" noEditPoints="1" noAdjustHandles="1" noChangeArrowheads="1" noChangeShapeType="1" noTextEdit="1"/>
              </p:cNvSpPr>
              <p:nvPr/>
            </p:nvSpPr>
            <p:spPr>
              <a:xfrm>
                <a:off x="3862291" y="3133562"/>
                <a:ext cx="157992" cy="215444"/>
              </a:xfrm>
              <a:prstGeom prst="rect">
                <a:avLst/>
              </a:prstGeom>
              <a:blipFill>
                <a:blip r:embed="rId6"/>
                <a:stretch>
                  <a:fillRect l="-28000" r="-24000" b="-5714"/>
                </a:stretch>
              </a:blipFill>
            </p:spPr>
            <p:txBody>
              <a:bodyPr/>
              <a:lstStyle/>
              <a:p>
                <a:r>
                  <a:rPr lang="th-TH">
                    <a:noFill/>
                  </a:rPr>
                  <a:t> </a:t>
                </a:r>
              </a:p>
            </p:txBody>
          </p:sp>
        </mc:Fallback>
      </mc:AlternateContent>
      <p:sp>
        <p:nvSpPr>
          <p:cNvPr id="17" name="Rounded Rectangle 16">
            <a:extLst>
              <a:ext uri="{FF2B5EF4-FFF2-40B4-BE49-F238E27FC236}">
                <a16:creationId xmlns:a16="http://schemas.microsoft.com/office/drawing/2014/main" id="{A87B5033-4984-8224-5A01-74C3C1F1A825}"/>
              </a:ext>
            </a:extLst>
          </p:cNvPr>
          <p:cNvSpPr/>
          <p:nvPr/>
        </p:nvSpPr>
        <p:spPr>
          <a:xfrm>
            <a:off x="5101418" y="3115750"/>
            <a:ext cx="1104826" cy="479453"/>
          </a:xfrm>
          <a:prstGeom prst="roundRect">
            <a:avLst/>
          </a:prstGeom>
          <a:ln w="15875">
            <a:solidFill>
              <a:srgbClr val="1D3456"/>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noProof="1">
                <a:solidFill>
                  <a:srgbClr val="1D3456"/>
                </a:solidFill>
              </a:rPr>
              <a:t>Plant</a:t>
            </a:r>
          </a:p>
          <a:p>
            <a:pPr algn="ctr"/>
            <a:r>
              <a:rPr lang="en-US" sz="1300" noProof="1">
                <a:solidFill>
                  <a:srgbClr val="1D3456"/>
                </a:solidFill>
              </a:rPr>
              <a:t>(Motor+Rod)</a:t>
            </a:r>
          </a:p>
        </p:txBody>
      </p:sp>
      <p:cxnSp>
        <p:nvCxnSpPr>
          <p:cNvPr id="18" name="Straight Arrow Connector 17">
            <a:extLst>
              <a:ext uri="{FF2B5EF4-FFF2-40B4-BE49-F238E27FC236}">
                <a16:creationId xmlns:a16="http://schemas.microsoft.com/office/drawing/2014/main" id="{8DC4EF66-EE30-7A23-F141-4CE9C25E99AA}"/>
              </a:ext>
            </a:extLst>
          </p:cNvPr>
          <p:cNvCxnSpPr>
            <a:cxnSpLocks/>
          </p:cNvCxnSpPr>
          <p:nvPr/>
        </p:nvCxnSpPr>
        <p:spPr>
          <a:xfrm>
            <a:off x="6206244" y="3356572"/>
            <a:ext cx="63000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047EFFD2-229A-E189-254F-6B73E53BB267}"/>
                  </a:ext>
                </a:extLst>
              </p:cNvPr>
              <p:cNvSpPr txBox="1"/>
              <p:nvPr/>
            </p:nvSpPr>
            <p:spPr>
              <a:xfrm>
                <a:off x="6521244" y="3128439"/>
                <a:ext cx="173894"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400" b="0" i="1" noProof="1" dirty="0" smtClean="0">
                          <a:solidFill>
                            <a:srgbClr val="1D3456"/>
                          </a:solidFill>
                          <a:latin typeface="Cambria Math" panose="02040503050406030204" pitchFamily="18" charset="0"/>
                          <a:ea typeface="Cambria Math" panose="02040503050406030204" pitchFamily="18" charset="0"/>
                        </a:rPr>
                        <m:t>𝜔</m:t>
                      </m:r>
                    </m:oMath>
                  </m:oMathPara>
                </a14:m>
                <a:endParaRPr lang="en-US" sz="1400" noProof="1"/>
              </a:p>
            </p:txBody>
          </p:sp>
        </mc:Choice>
        <mc:Fallback xmlns="">
          <p:sp>
            <p:nvSpPr>
              <p:cNvPr id="19" name="TextBox 18">
                <a:extLst>
                  <a:ext uri="{FF2B5EF4-FFF2-40B4-BE49-F238E27FC236}">
                    <a16:creationId xmlns:a16="http://schemas.microsoft.com/office/drawing/2014/main" id="{047EFFD2-229A-E189-254F-6B73E53BB267}"/>
                  </a:ext>
                </a:extLst>
              </p:cNvPr>
              <p:cNvSpPr txBox="1">
                <a:spLocks noRot="1" noChangeAspect="1" noMove="1" noResize="1" noEditPoints="1" noAdjustHandles="1" noChangeArrowheads="1" noChangeShapeType="1" noTextEdit="1"/>
              </p:cNvSpPr>
              <p:nvPr/>
            </p:nvSpPr>
            <p:spPr>
              <a:xfrm>
                <a:off x="6521244" y="3128439"/>
                <a:ext cx="173894" cy="215444"/>
              </a:xfrm>
              <a:prstGeom prst="rect">
                <a:avLst/>
              </a:prstGeom>
              <a:blipFill>
                <a:blip r:embed="rId7"/>
                <a:stretch>
                  <a:fillRect l="-17857" r="-10714"/>
                </a:stretch>
              </a:blipFill>
            </p:spPr>
            <p:txBody>
              <a:bodyPr/>
              <a:lstStyle/>
              <a:p>
                <a:r>
                  <a:rPr lang="th-TH">
                    <a:noFill/>
                  </a:rPr>
                  <a:t> </a:t>
                </a:r>
              </a:p>
            </p:txBody>
          </p:sp>
        </mc:Fallback>
      </mc:AlternateContent>
      <p:sp>
        <p:nvSpPr>
          <p:cNvPr id="20" name="Oval 19">
            <a:extLst>
              <a:ext uri="{FF2B5EF4-FFF2-40B4-BE49-F238E27FC236}">
                <a16:creationId xmlns:a16="http://schemas.microsoft.com/office/drawing/2014/main" id="{617C997F-9EB5-6E12-8F0B-0E163A1C5740}"/>
              </a:ext>
            </a:extLst>
          </p:cNvPr>
          <p:cNvSpPr/>
          <p:nvPr/>
        </p:nvSpPr>
        <p:spPr>
          <a:xfrm>
            <a:off x="1092449" y="3247875"/>
            <a:ext cx="270000" cy="270000"/>
          </a:xfrm>
          <a:prstGeom prst="ellipse">
            <a:avLst/>
          </a:prstGeom>
          <a:noFill/>
          <a:ln w="15875">
            <a:solidFill>
              <a:srgbClr val="1D34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3FBA6144-FDE5-DFFD-C7F9-CC73965E91D0}"/>
                  </a:ext>
                </a:extLst>
              </p:cNvPr>
              <p:cNvSpPr txBox="1"/>
              <p:nvPr/>
            </p:nvSpPr>
            <p:spPr>
              <a:xfrm>
                <a:off x="1140085" y="3263965"/>
                <a:ext cx="174727"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400" b="1" i="1" noProof="1" dirty="0" smtClean="0">
                          <a:solidFill>
                            <a:srgbClr val="1D3456"/>
                          </a:solidFill>
                          <a:latin typeface="Cambria Math" panose="02040503050406030204" pitchFamily="18" charset="0"/>
                          <a:ea typeface="Cambria Math" panose="02040503050406030204" pitchFamily="18" charset="0"/>
                        </a:rPr>
                        <m:t>±</m:t>
                      </m:r>
                    </m:oMath>
                  </m:oMathPara>
                </a14:m>
                <a:endParaRPr lang="en-US" sz="1400" b="1" noProof="1">
                  <a:solidFill>
                    <a:srgbClr val="1D3456"/>
                  </a:solidFill>
                </a:endParaRPr>
              </a:p>
            </p:txBody>
          </p:sp>
        </mc:Choice>
        <mc:Fallback xmlns="">
          <p:sp>
            <p:nvSpPr>
              <p:cNvPr id="21" name="TextBox 20">
                <a:extLst>
                  <a:ext uri="{FF2B5EF4-FFF2-40B4-BE49-F238E27FC236}">
                    <a16:creationId xmlns:a16="http://schemas.microsoft.com/office/drawing/2014/main" id="{3FBA6144-FDE5-DFFD-C7F9-CC73965E91D0}"/>
                  </a:ext>
                </a:extLst>
              </p:cNvPr>
              <p:cNvSpPr txBox="1">
                <a:spLocks noRot="1" noChangeAspect="1" noMove="1" noResize="1" noEditPoints="1" noAdjustHandles="1" noChangeArrowheads="1" noChangeShapeType="1" noTextEdit="1"/>
              </p:cNvSpPr>
              <p:nvPr/>
            </p:nvSpPr>
            <p:spPr>
              <a:xfrm>
                <a:off x="1140085" y="3263965"/>
                <a:ext cx="174727" cy="215444"/>
              </a:xfrm>
              <a:prstGeom prst="rect">
                <a:avLst/>
              </a:prstGeom>
              <a:blipFill>
                <a:blip r:embed="rId8"/>
                <a:stretch>
                  <a:fillRect l="-27586" r="-27586" b="-16667"/>
                </a:stretch>
              </a:blipFill>
            </p:spPr>
            <p:txBody>
              <a:bodyPr/>
              <a:lstStyle/>
              <a:p>
                <a:r>
                  <a:rPr lang="th-TH">
                    <a:noFill/>
                  </a:rPr>
                  <a:t> </a:t>
                </a:r>
              </a:p>
            </p:txBody>
          </p:sp>
        </mc:Fallback>
      </mc:AlternateContent>
      <p:cxnSp>
        <p:nvCxnSpPr>
          <p:cNvPr id="23" name="Straight Arrow Connector 22">
            <a:extLst>
              <a:ext uri="{FF2B5EF4-FFF2-40B4-BE49-F238E27FC236}">
                <a16:creationId xmlns:a16="http://schemas.microsoft.com/office/drawing/2014/main" id="{076DFAA6-5D22-6B37-B5EC-5DAAB43249F0}"/>
              </a:ext>
            </a:extLst>
          </p:cNvPr>
          <p:cNvCxnSpPr>
            <a:cxnSpLocks/>
          </p:cNvCxnSpPr>
          <p:nvPr/>
        </p:nvCxnSpPr>
        <p:spPr>
          <a:xfrm>
            <a:off x="6447877" y="3359390"/>
            <a:ext cx="0" cy="458550"/>
          </a:xfrm>
          <a:prstGeom prst="straightConnector1">
            <a:avLst/>
          </a:prstGeom>
          <a:ln w="15875">
            <a:solidFill>
              <a:srgbClr val="1D3456"/>
            </a:solidFill>
            <a:headEnd type="oval"/>
            <a:tailEnd type="none"/>
          </a:ln>
          <a:effectLst/>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A3F9760D-ACF5-E8EE-1070-BCB27F6A403F}"/>
              </a:ext>
            </a:extLst>
          </p:cNvPr>
          <p:cNvCxnSpPr>
            <a:cxnSpLocks/>
          </p:cNvCxnSpPr>
          <p:nvPr/>
        </p:nvCxnSpPr>
        <p:spPr>
          <a:xfrm>
            <a:off x="1227448" y="3817940"/>
            <a:ext cx="5220429" cy="0"/>
          </a:xfrm>
          <a:prstGeom prst="straightConnector1">
            <a:avLst/>
          </a:prstGeom>
          <a:ln w="15875">
            <a:solidFill>
              <a:srgbClr val="1D3456"/>
            </a:solidFill>
            <a:tailEnd type="none"/>
          </a:ln>
          <a:effectLst/>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A4BD4382-1820-50B3-1002-F2C8A7EA2507}"/>
              </a:ext>
            </a:extLst>
          </p:cNvPr>
          <p:cNvCxnSpPr>
            <a:cxnSpLocks/>
          </p:cNvCxnSpPr>
          <p:nvPr/>
        </p:nvCxnSpPr>
        <p:spPr>
          <a:xfrm>
            <a:off x="1232591" y="3517876"/>
            <a:ext cx="0" cy="300064"/>
          </a:xfrm>
          <a:prstGeom prst="straightConnector1">
            <a:avLst/>
          </a:prstGeom>
          <a:ln w="15875">
            <a:solidFill>
              <a:srgbClr val="1D3456"/>
            </a:solidFill>
            <a:headEnd type="triangle"/>
            <a:tailEnd type="none"/>
          </a:ln>
          <a:effectLst/>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E47C3DE0-D055-0232-6A6B-F4B63A342E4E}"/>
              </a:ext>
            </a:extLst>
          </p:cNvPr>
          <p:cNvCxnSpPr>
            <a:cxnSpLocks/>
          </p:cNvCxnSpPr>
          <p:nvPr/>
        </p:nvCxnSpPr>
        <p:spPr>
          <a:xfrm>
            <a:off x="628654" y="3368163"/>
            <a:ext cx="463795" cy="6982"/>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5" name="Rounded Rectangle 54">
                <a:extLst>
                  <a:ext uri="{FF2B5EF4-FFF2-40B4-BE49-F238E27FC236}">
                    <a16:creationId xmlns:a16="http://schemas.microsoft.com/office/drawing/2014/main" id="{68D87637-3BCD-2AA3-02E5-C9B551915F3F}"/>
                  </a:ext>
                </a:extLst>
              </p:cNvPr>
              <p:cNvSpPr/>
              <p:nvPr/>
            </p:nvSpPr>
            <p:spPr>
              <a:xfrm>
                <a:off x="4152041" y="3115750"/>
                <a:ext cx="679377" cy="479453"/>
              </a:xfrm>
              <a:prstGeom prst="roundRect">
                <a:avLst/>
              </a:prstGeom>
              <a:ln w="15875">
                <a:solidFill>
                  <a:srgbClr val="1D3456"/>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200" noProof="1">
                    <a:solidFill>
                      <a:srgbClr val="1D3456"/>
                    </a:solidFill>
                  </a:rPr>
                  <a:t>Clip to </a:t>
                </a:r>
                <a14:m>
                  <m:oMath xmlns:m="http://schemas.openxmlformats.org/officeDocument/2006/math">
                    <m:r>
                      <a:rPr lang="en-US" sz="1200" i="1" noProof="1" dirty="0" smtClean="0">
                        <a:solidFill>
                          <a:srgbClr val="1D3456"/>
                        </a:solidFill>
                        <a:latin typeface="Cambria Math" panose="02040503050406030204" pitchFamily="18" charset="0"/>
                        <a:ea typeface="Cambria Math" panose="02040503050406030204" pitchFamily="18" charset="0"/>
                      </a:rPr>
                      <m:t>±</m:t>
                    </m:r>
                    <m:r>
                      <a:rPr lang="en-US" sz="1200" b="0" i="1" noProof="1" dirty="0" smtClean="0">
                        <a:solidFill>
                          <a:srgbClr val="1D3456"/>
                        </a:solidFill>
                        <a:latin typeface="Cambria Math" panose="02040503050406030204" pitchFamily="18" charset="0"/>
                        <a:ea typeface="Cambria Math" panose="02040503050406030204" pitchFamily="18" charset="0"/>
                      </a:rPr>
                      <m:t>12</m:t>
                    </m:r>
                    <m:r>
                      <a:rPr lang="en-US" sz="1200" b="0" i="1" noProof="1" dirty="0" smtClean="0">
                        <a:solidFill>
                          <a:srgbClr val="1D3456"/>
                        </a:solidFill>
                        <a:latin typeface="Cambria Math" panose="02040503050406030204" pitchFamily="18" charset="0"/>
                        <a:ea typeface="Cambria Math" panose="02040503050406030204" pitchFamily="18" charset="0"/>
                      </a:rPr>
                      <m:t>𝑉</m:t>
                    </m:r>
                  </m:oMath>
                </a14:m>
                <a:endParaRPr lang="en-US" sz="1200" noProof="1">
                  <a:solidFill>
                    <a:srgbClr val="1D3456"/>
                  </a:solidFill>
                </a:endParaRPr>
              </a:p>
            </p:txBody>
          </p:sp>
        </mc:Choice>
        <mc:Fallback xmlns="">
          <p:sp>
            <p:nvSpPr>
              <p:cNvPr id="35" name="Rounded Rectangle 54">
                <a:extLst>
                  <a:ext uri="{FF2B5EF4-FFF2-40B4-BE49-F238E27FC236}">
                    <a16:creationId xmlns:a16="http://schemas.microsoft.com/office/drawing/2014/main" id="{68D87637-3BCD-2AA3-02E5-C9B551915F3F}"/>
                  </a:ext>
                </a:extLst>
              </p:cNvPr>
              <p:cNvSpPr>
                <a:spLocks noRot="1" noChangeAspect="1" noMove="1" noResize="1" noEditPoints="1" noAdjustHandles="1" noChangeArrowheads="1" noChangeShapeType="1" noTextEdit="1"/>
              </p:cNvSpPr>
              <p:nvPr/>
            </p:nvSpPr>
            <p:spPr>
              <a:xfrm>
                <a:off x="4152041" y="3115750"/>
                <a:ext cx="679377" cy="479453"/>
              </a:xfrm>
              <a:prstGeom prst="roundRect">
                <a:avLst/>
              </a:prstGeom>
              <a:blipFill>
                <a:blip r:embed="rId9"/>
                <a:stretch>
                  <a:fillRect/>
                </a:stretch>
              </a:blipFill>
              <a:ln w="15875">
                <a:solidFill>
                  <a:srgbClr val="1D3456"/>
                </a:solidFill>
              </a:ln>
            </p:spPr>
            <p:txBody>
              <a:bodyPr/>
              <a:lstStyle/>
              <a:p>
                <a:r>
                  <a:rPr lang="th-TH">
                    <a:noFill/>
                  </a:rPr>
                  <a:t> </a:t>
                </a:r>
              </a:p>
            </p:txBody>
          </p:sp>
        </mc:Fallback>
      </mc:AlternateContent>
      <p:cxnSp>
        <p:nvCxnSpPr>
          <p:cNvPr id="36" name="Straight Arrow Connector 35">
            <a:extLst>
              <a:ext uri="{FF2B5EF4-FFF2-40B4-BE49-F238E27FC236}">
                <a16:creationId xmlns:a16="http://schemas.microsoft.com/office/drawing/2014/main" id="{7B2CCF2D-CB7E-EFDE-8F99-5E6B3DE78782}"/>
              </a:ext>
            </a:extLst>
          </p:cNvPr>
          <p:cNvCxnSpPr>
            <a:cxnSpLocks/>
          </p:cNvCxnSpPr>
          <p:nvPr/>
        </p:nvCxnSpPr>
        <p:spPr>
          <a:xfrm>
            <a:off x="3720041" y="3359390"/>
            <a:ext cx="43200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37" name="Straight Arrow Connector 36">
            <a:extLst>
              <a:ext uri="{FF2B5EF4-FFF2-40B4-BE49-F238E27FC236}">
                <a16:creationId xmlns:a16="http://schemas.microsoft.com/office/drawing/2014/main" id="{8B7DB970-92F5-7192-0080-2EE964994F36}"/>
              </a:ext>
            </a:extLst>
          </p:cNvPr>
          <p:cNvCxnSpPr>
            <a:cxnSpLocks/>
          </p:cNvCxnSpPr>
          <p:nvPr/>
        </p:nvCxnSpPr>
        <p:spPr>
          <a:xfrm>
            <a:off x="4831418" y="3349006"/>
            <a:ext cx="27000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2A09B107-B59F-2137-D081-F95383071461}"/>
              </a:ext>
            </a:extLst>
          </p:cNvPr>
          <p:cNvCxnSpPr>
            <a:cxnSpLocks/>
          </p:cNvCxnSpPr>
          <p:nvPr/>
        </p:nvCxnSpPr>
        <p:spPr>
          <a:xfrm>
            <a:off x="1366073" y="3375970"/>
            <a:ext cx="27000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p:sp>
        <p:nvSpPr>
          <p:cNvPr id="52" name="TextBox 51">
            <a:extLst>
              <a:ext uri="{FF2B5EF4-FFF2-40B4-BE49-F238E27FC236}">
                <a16:creationId xmlns:a16="http://schemas.microsoft.com/office/drawing/2014/main" id="{1C019DBA-AA59-13B1-21FD-A0049DB2AE99}"/>
              </a:ext>
            </a:extLst>
          </p:cNvPr>
          <p:cNvSpPr txBox="1"/>
          <p:nvPr/>
        </p:nvSpPr>
        <p:spPr>
          <a:xfrm>
            <a:off x="906780" y="1303230"/>
            <a:ext cx="10970278" cy="1016881"/>
          </a:xfrm>
          <a:prstGeom prst="rect">
            <a:avLst/>
          </a:prstGeom>
          <a:noFill/>
        </p:spPr>
        <p:txBody>
          <a:bodyPr wrap="square" lIns="0" tIns="0" rIns="0" bIns="0" anchor="t">
            <a:spAutoFit/>
          </a:bodyPr>
          <a:lstStyle/>
          <a:p>
            <a:pPr>
              <a:lnSpc>
                <a:spcPct val="120000"/>
              </a:lnSpc>
            </a:pPr>
            <a:r>
              <a:rPr lang="en-US" sz="1400" noProof="1">
                <a:solidFill>
                  <a:srgbClr val="1D3557"/>
                </a:solidFill>
              </a:rPr>
              <a:t>To achieve better performance, we can improve the controller</a:t>
            </a:r>
            <a:r>
              <a:rPr lang="en-US" sz="1400" b="1" noProof="1">
                <a:solidFill>
                  <a:srgbClr val="1D3557"/>
                </a:solidFill>
              </a:rPr>
              <a:t> by understanding the dynamics of the system. This </a:t>
            </a:r>
            <a:r>
              <a:rPr lang="en-US" sz="1400" noProof="1">
                <a:solidFill>
                  <a:srgbClr val="1D3557"/>
                </a:solidFill>
              </a:rPr>
              <a:t>allows us to incorporate feedforward control. Specifically, a </a:t>
            </a:r>
            <a:r>
              <a:rPr lang="en-US" sz="1400" i="1" u="sng" noProof="1">
                <a:solidFill>
                  <a:srgbClr val="1D3557"/>
                </a:solidFill>
              </a:rPr>
              <a:t>disturbance feedforward term </a:t>
            </a:r>
            <a:r>
              <a:rPr lang="en-US" sz="1400" noProof="1">
                <a:solidFill>
                  <a:srgbClr val="1D3557"/>
                </a:solidFill>
              </a:rPr>
              <a:t>compensates for the gravitational effects, while a </a:t>
            </a:r>
            <a:r>
              <a:rPr lang="en-US" sz="1400" i="1" u="sng" noProof="1">
                <a:solidFill>
                  <a:srgbClr val="1D3557"/>
                </a:solidFill>
              </a:rPr>
              <a:t>reference feedforward term</a:t>
            </a:r>
            <a:r>
              <a:rPr lang="en-US" sz="1400" noProof="1">
                <a:solidFill>
                  <a:srgbClr val="1D3557"/>
                </a:solidFill>
              </a:rPr>
              <a:t> generates the required control input to drive the system toward the desired target. Unlike a PI controller, which reacts only after an error occurs, the reference feedforward term acts proactively, enabling faster and more accurate tracking when no disturbances are present.</a:t>
            </a:r>
          </a:p>
        </p:txBody>
      </p:sp>
      <p:sp>
        <p:nvSpPr>
          <p:cNvPr id="6" name="Rounded Rectangle 6">
            <a:extLst>
              <a:ext uri="{FF2B5EF4-FFF2-40B4-BE49-F238E27FC236}">
                <a16:creationId xmlns:a16="http://schemas.microsoft.com/office/drawing/2014/main" id="{6D2EFC15-61DE-AB0B-A96F-15F4085ED17D}"/>
              </a:ext>
            </a:extLst>
          </p:cNvPr>
          <p:cNvSpPr/>
          <p:nvPr/>
        </p:nvSpPr>
        <p:spPr>
          <a:xfrm>
            <a:off x="1636073" y="2444557"/>
            <a:ext cx="1104826" cy="479453"/>
          </a:xfrm>
          <a:prstGeom prst="roundRect">
            <a:avLst/>
          </a:prstGeom>
          <a:ln w="15875">
            <a:solidFill>
              <a:srgbClr val="E07A5F"/>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200" noProof="1">
                <a:solidFill>
                  <a:srgbClr val="E07A5F"/>
                </a:solidFill>
              </a:rPr>
              <a:t>Reference feedforward</a:t>
            </a:r>
          </a:p>
        </p:txBody>
      </p:sp>
      <p:sp>
        <p:nvSpPr>
          <p:cNvPr id="8" name="Rounded Rectangle 6">
            <a:extLst>
              <a:ext uri="{FF2B5EF4-FFF2-40B4-BE49-F238E27FC236}">
                <a16:creationId xmlns:a16="http://schemas.microsoft.com/office/drawing/2014/main" id="{FDDA7170-7090-84CD-35F5-8F8F99BAEBC3}"/>
              </a:ext>
            </a:extLst>
          </p:cNvPr>
          <p:cNvSpPr/>
          <p:nvPr/>
        </p:nvSpPr>
        <p:spPr>
          <a:xfrm>
            <a:off x="3981138" y="2444557"/>
            <a:ext cx="1104826" cy="479453"/>
          </a:xfrm>
          <a:prstGeom prst="roundRect">
            <a:avLst/>
          </a:prstGeom>
          <a:ln w="15875">
            <a:solidFill>
              <a:srgbClr val="E07A5F"/>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200" noProof="1">
                <a:solidFill>
                  <a:srgbClr val="E07A5F"/>
                </a:solidFill>
              </a:rPr>
              <a:t>Disturbance feedforward</a:t>
            </a:r>
          </a:p>
        </p:txBody>
      </p:sp>
      <mc:AlternateContent xmlns:mc="http://schemas.openxmlformats.org/markup-compatibility/2006" xmlns:a14="http://schemas.microsoft.com/office/drawing/2010/main">
        <mc:Choice Requires="a14">
          <p:sp>
            <p:nvSpPr>
              <p:cNvPr id="10" name="Rounded Rectangle 6">
                <a:extLst>
                  <a:ext uri="{FF2B5EF4-FFF2-40B4-BE49-F238E27FC236}">
                    <a16:creationId xmlns:a16="http://schemas.microsoft.com/office/drawing/2014/main" id="{F45CF711-6B5D-2E47-3F2F-C4B2061DAE25}"/>
                  </a:ext>
                </a:extLst>
              </p:cNvPr>
              <p:cNvSpPr/>
              <p:nvPr/>
            </p:nvSpPr>
            <p:spPr>
              <a:xfrm>
                <a:off x="5408036" y="2444557"/>
                <a:ext cx="562361" cy="479453"/>
              </a:xfrm>
              <a:prstGeom prst="roundRect">
                <a:avLst/>
              </a:prstGeom>
              <a:ln w="15875">
                <a:solidFill>
                  <a:srgbClr val="E07A5F"/>
                </a:solidFill>
              </a:ln>
            </p:spPr>
            <p:style>
              <a:lnRef idx="2">
                <a:schemeClr val="accent6"/>
              </a:lnRef>
              <a:fillRef idx="1">
                <a:schemeClr val="lt1"/>
              </a:fillRef>
              <a:effectRef idx="0">
                <a:schemeClr val="accent6"/>
              </a:effectRef>
              <a:fontRef idx="minor">
                <a:schemeClr val="dk1"/>
              </a:fontRef>
            </p:style>
            <p:txBody>
              <a:bodyPr rtlCol="0" anchor="ctr"/>
              <a:lstStyle/>
              <a:p>
                <a:pPr algn="ctr"/>
                <a14:m>
                  <m:oMathPara xmlns:m="http://schemas.openxmlformats.org/officeDocument/2006/math">
                    <m:oMathParaPr>
                      <m:jc m:val="centerGroup"/>
                    </m:oMathParaPr>
                    <m:oMath xmlns:m="http://schemas.openxmlformats.org/officeDocument/2006/math">
                      <m:nary>
                        <m:naryPr>
                          <m:limLoc m:val="undOvr"/>
                          <m:subHide m:val="on"/>
                          <m:supHide m:val="on"/>
                          <m:ctrlPr>
                            <a:rPr lang="en-US" sz="1200" i="1" noProof="1" smtClean="0">
                              <a:solidFill>
                                <a:srgbClr val="E07A5F"/>
                              </a:solidFill>
                              <a:latin typeface="Cambria Math" panose="02040503050406030204" pitchFamily="18" charset="0"/>
                            </a:rPr>
                          </m:ctrlPr>
                        </m:naryPr>
                        <m:sub/>
                        <m:sup/>
                        <m:e>
                          <m:r>
                            <a:rPr lang="en-US" sz="1200" b="0" i="1" noProof="1" smtClean="0">
                              <a:solidFill>
                                <a:srgbClr val="E07A5F"/>
                              </a:solidFill>
                              <a:latin typeface="Cambria Math" panose="02040503050406030204" pitchFamily="18" charset="0"/>
                            </a:rPr>
                            <m:t>𝑑𝑡</m:t>
                          </m:r>
                        </m:e>
                      </m:nary>
                    </m:oMath>
                  </m:oMathPara>
                </a14:m>
                <a:endParaRPr lang="en-US" sz="1200" noProof="1">
                  <a:solidFill>
                    <a:srgbClr val="1D3456"/>
                  </a:solidFill>
                </a:endParaRPr>
              </a:p>
            </p:txBody>
          </p:sp>
        </mc:Choice>
        <mc:Fallback xmlns="">
          <p:sp>
            <p:nvSpPr>
              <p:cNvPr id="10" name="Rounded Rectangle 6">
                <a:extLst>
                  <a:ext uri="{FF2B5EF4-FFF2-40B4-BE49-F238E27FC236}">
                    <a16:creationId xmlns:a16="http://schemas.microsoft.com/office/drawing/2014/main" id="{F45CF711-6B5D-2E47-3F2F-C4B2061DAE25}"/>
                  </a:ext>
                </a:extLst>
              </p:cNvPr>
              <p:cNvSpPr>
                <a:spLocks noRot="1" noChangeAspect="1" noMove="1" noResize="1" noEditPoints="1" noAdjustHandles="1" noChangeArrowheads="1" noChangeShapeType="1" noTextEdit="1"/>
              </p:cNvSpPr>
              <p:nvPr/>
            </p:nvSpPr>
            <p:spPr>
              <a:xfrm>
                <a:off x="5408036" y="2444557"/>
                <a:ext cx="562361" cy="479453"/>
              </a:xfrm>
              <a:prstGeom prst="roundRect">
                <a:avLst/>
              </a:prstGeom>
              <a:blipFill>
                <a:blip r:embed="rId10"/>
                <a:stretch>
                  <a:fillRect l="-92632" t="-152439" r="-92632" b="-209756"/>
                </a:stretch>
              </a:blipFill>
              <a:ln w="15875">
                <a:solidFill>
                  <a:srgbClr val="E07A5F"/>
                </a:solidFill>
              </a:ln>
            </p:spPr>
            <p:txBody>
              <a:bodyPr/>
              <a:lstStyle/>
              <a:p>
                <a:r>
                  <a:rPr lang="th-TH">
                    <a:noFill/>
                  </a:rPr>
                  <a:t> </a:t>
                </a:r>
              </a:p>
            </p:txBody>
          </p:sp>
        </mc:Fallback>
      </mc:AlternateContent>
      <p:cxnSp>
        <p:nvCxnSpPr>
          <p:cNvPr id="22" name="Straight Connector 21">
            <a:extLst>
              <a:ext uri="{FF2B5EF4-FFF2-40B4-BE49-F238E27FC236}">
                <a16:creationId xmlns:a16="http://schemas.microsoft.com/office/drawing/2014/main" id="{DDBF4178-5DFD-25F2-D7A1-2C02A594990E}"/>
              </a:ext>
            </a:extLst>
          </p:cNvPr>
          <p:cNvCxnSpPr>
            <a:cxnSpLocks/>
          </p:cNvCxnSpPr>
          <p:nvPr/>
        </p:nvCxnSpPr>
        <p:spPr>
          <a:xfrm flipH="1">
            <a:off x="1227448" y="2677141"/>
            <a:ext cx="408625" cy="0"/>
          </a:xfrm>
          <a:prstGeom prst="line">
            <a:avLst/>
          </a:prstGeom>
          <a:ln>
            <a:solidFill>
              <a:srgbClr val="E07A5F"/>
            </a:solidFill>
          </a:ln>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833A73E6-26B8-638A-AD21-CCCB55CBAADF}"/>
              </a:ext>
            </a:extLst>
          </p:cNvPr>
          <p:cNvCxnSpPr>
            <a:cxnSpLocks/>
          </p:cNvCxnSpPr>
          <p:nvPr/>
        </p:nvCxnSpPr>
        <p:spPr>
          <a:xfrm flipH="1">
            <a:off x="2753568" y="2684283"/>
            <a:ext cx="546272" cy="5455"/>
          </a:xfrm>
          <a:prstGeom prst="line">
            <a:avLst/>
          </a:prstGeom>
          <a:ln>
            <a:solidFill>
              <a:srgbClr val="E07A5F"/>
            </a:solidFill>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5C3F36CD-9E40-5D8C-27A0-A3EAF5A49B45}"/>
              </a:ext>
            </a:extLst>
          </p:cNvPr>
          <p:cNvCxnSpPr>
            <a:cxnSpLocks/>
            <a:endCxn id="13" idx="1"/>
          </p:cNvCxnSpPr>
          <p:nvPr/>
        </p:nvCxnSpPr>
        <p:spPr>
          <a:xfrm>
            <a:off x="3287345" y="2671556"/>
            <a:ext cx="202237" cy="601148"/>
          </a:xfrm>
          <a:prstGeom prst="straightConnector1">
            <a:avLst/>
          </a:prstGeom>
          <a:ln>
            <a:solidFill>
              <a:srgbClr val="E07A5F"/>
            </a:solidFill>
            <a:tailEnd type="triangle"/>
          </a:ln>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B2AA4CF1-7918-4CA5-D0ED-536E28CB710C}"/>
              </a:ext>
            </a:extLst>
          </p:cNvPr>
          <p:cNvCxnSpPr>
            <a:cxnSpLocks/>
          </p:cNvCxnSpPr>
          <p:nvPr/>
        </p:nvCxnSpPr>
        <p:spPr>
          <a:xfrm flipH="1">
            <a:off x="5969751" y="2677011"/>
            <a:ext cx="478126" cy="0"/>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84" name="Straight Connector 83">
            <a:extLst>
              <a:ext uri="{FF2B5EF4-FFF2-40B4-BE49-F238E27FC236}">
                <a16:creationId xmlns:a16="http://schemas.microsoft.com/office/drawing/2014/main" id="{BF1B5EA4-7047-E2C0-D890-3255247E2B2E}"/>
              </a:ext>
            </a:extLst>
          </p:cNvPr>
          <p:cNvCxnSpPr>
            <a:cxnSpLocks/>
            <a:stCxn id="10" idx="1"/>
            <a:endCxn id="8" idx="3"/>
          </p:cNvCxnSpPr>
          <p:nvPr/>
        </p:nvCxnSpPr>
        <p:spPr>
          <a:xfrm flipH="1">
            <a:off x="5085964" y="2684284"/>
            <a:ext cx="322072" cy="0"/>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89" name="Straight Arrow Connector 88">
            <a:extLst>
              <a:ext uri="{FF2B5EF4-FFF2-40B4-BE49-F238E27FC236}">
                <a16:creationId xmlns:a16="http://schemas.microsoft.com/office/drawing/2014/main" id="{4682A6F4-E1EF-3EA3-BDE3-78C6B18E1A03}"/>
              </a:ext>
            </a:extLst>
          </p:cNvPr>
          <p:cNvCxnSpPr>
            <a:cxnSpLocks/>
            <a:endCxn id="13" idx="7"/>
          </p:cNvCxnSpPr>
          <p:nvPr/>
        </p:nvCxnSpPr>
        <p:spPr>
          <a:xfrm flipH="1">
            <a:off x="3680500" y="2684284"/>
            <a:ext cx="184391" cy="58842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94" name="Straight Connector 93">
            <a:extLst>
              <a:ext uri="{FF2B5EF4-FFF2-40B4-BE49-F238E27FC236}">
                <a16:creationId xmlns:a16="http://schemas.microsoft.com/office/drawing/2014/main" id="{41F6C1B0-9E1D-93FC-89D2-309952CA2B84}"/>
              </a:ext>
            </a:extLst>
          </p:cNvPr>
          <p:cNvCxnSpPr>
            <a:cxnSpLocks/>
            <a:stCxn id="8" idx="1"/>
          </p:cNvCxnSpPr>
          <p:nvPr/>
        </p:nvCxnSpPr>
        <p:spPr>
          <a:xfrm flipH="1">
            <a:off x="3858394" y="2684284"/>
            <a:ext cx="122744" cy="0"/>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sp>
        <p:nvSpPr>
          <p:cNvPr id="100" name="TextBox 99">
            <a:extLst>
              <a:ext uri="{FF2B5EF4-FFF2-40B4-BE49-F238E27FC236}">
                <a16:creationId xmlns:a16="http://schemas.microsoft.com/office/drawing/2014/main" id="{2BBA71BE-28A7-C4D9-4CB4-6D1D42883338}"/>
              </a:ext>
            </a:extLst>
          </p:cNvPr>
          <p:cNvSpPr txBox="1"/>
          <p:nvPr/>
        </p:nvSpPr>
        <p:spPr>
          <a:xfrm>
            <a:off x="919574" y="3956195"/>
            <a:ext cx="3390665" cy="241285"/>
          </a:xfrm>
          <a:prstGeom prst="rect">
            <a:avLst/>
          </a:prstGeom>
          <a:noFill/>
        </p:spPr>
        <p:txBody>
          <a:bodyPr wrap="square" lIns="0" tIns="0" rIns="0" bIns="0" anchor="t">
            <a:spAutoFit/>
          </a:bodyPr>
          <a:lstStyle/>
          <a:p>
            <a:pPr>
              <a:lnSpc>
                <a:spcPct val="120000"/>
              </a:lnSpc>
            </a:pPr>
            <a:r>
              <a:rPr lang="en-US" sz="1400" i="1" noProof="1">
                <a:solidFill>
                  <a:srgbClr val="1D3557"/>
                </a:solidFill>
              </a:rPr>
              <a:t>Feedforward Controller Design</a:t>
            </a:r>
          </a:p>
        </p:txBody>
      </p:sp>
      <p:sp>
        <p:nvSpPr>
          <p:cNvPr id="104" name="TextBox 103">
            <a:extLst>
              <a:ext uri="{FF2B5EF4-FFF2-40B4-BE49-F238E27FC236}">
                <a16:creationId xmlns:a16="http://schemas.microsoft.com/office/drawing/2014/main" id="{386A14F3-FCAC-7F79-E047-E89A9D796831}"/>
              </a:ext>
            </a:extLst>
          </p:cNvPr>
          <p:cNvSpPr txBox="1"/>
          <p:nvPr/>
        </p:nvSpPr>
        <p:spPr>
          <a:xfrm>
            <a:off x="836237" y="4395748"/>
            <a:ext cx="3390665" cy="241285"/>
          </a:xfrm>
          <a:prstGeom prst="rect">
            <a:avLst/>
          </a:prstGeom>
          <a:noFill/>
        </p:spPr>
        <p:txBody>
          <a:bodyPr wrap="square" lIns="0" tIns="0" rIns="0" bIns="0" anchor="t">
            <a:spAutoFit/>
          </a:bodyPr>
          <a:lstStyle/>
          <a:p>
            <a:pPr>
              <a:lnSpc>
                <a:spcPct val="120000"/>
              </a:lnSpc>
            </a:pPr>
            <a:r>
              <a:rPr lang="en-US" sz="1400" noProof="1">
                <a:solidFill>
                  <a:srgbClr val="1D3557"/>
                </a:solidFill>
              </a:rPr>
              <a:t>From</a:t>
            </a:r>
          </a:p>
        </p:txBody>
      </p:sp>
      <p:graphicFrame>
        <p:nvGraphicFramePr>
          <p:cNvPr id="105" name="Object 104">
            <a:extLst>
              <a:ext uri="{FF2B5EF4-FFF2-40B4-BE49-F238E27FC236}">
                <a16:creationId xmlns:a16="http://schemas.microsoft.com/office/drawing/2014/main" id="{DDDB3BA4-9887-64B5-1556-F407EDC0F55E}"/>
              </a:ext>
            </a:extLst>
          </p:cNvPr>
          <p:cNvGraphicFramePr>
            <a:graphicFrameLocks noChangeAspect="1"/>
          </p:cNvGraphicFramePr>
          <p:nvPr/>
        </p:nvGraphicFramePr>
        <p:xfrm>
          <a:off x="1346913" y="4230641"/>
          <a:ext cx="1727200" cy="571500"/>
        </p:xfrm>
        <a:graphic>
          <a:graphicData uri="http://schemas.openxmlformats.org/presentationml/2006/ole">
            <mc:AlternateContent xmlns:mc="http://schemas.openxmlformats.org/markup-compatibility/2006">
              <mc:Choice xmlns:v="urn:schemas-microsoft-com:vml" Requires="v">
                <p:oleObj spid="_x0000_s4165" name="Equation" r:id="rId11" imgW="1726920" imgH="571320" progId="Equation.DSMT4">
                  <p:embed/>
                </p:oleObj>
              </mc:Choice>
              <mc:Fallback>
                <p:oleObj name="Equation" r:id="rId11" imgW="1726920" imgH="571320" progId="Equation.DSMT4">
                  <p:embed/>
                  <p:pic>
                    <p:nvPicPr>
                      <p:cNvPr id="105" name="Object 104">
                        <a:extLst>
                          <a:ext uri="{FF2B5EF4-FFF2-40B4-BE49-F238E27FC236}">
                            <a16:creationId xmlns:a16="http://schemas.microsoft.com/office/drawing/2014/main" id="{D5B1324B-E78F-1C8C-E9FF-16C09D49E7BC}"/>
                          </a:ext>
                        </a:extLst>
                      </p:cNvPr>
                      <p:cNvPicPr/>
                      <p:nvPr/>
                    </p:nvPicPr>
                    <p:blipFill>
                      <a:blip r:embed="rId12"/>
                      <a:stretch>
                        <a:fillRect/>
                      </a:stretch>
                    </p:blipFill>
                    <p:spPr>
                      <a:xfrm>
                        <a:off x="1346913" y="4230641"/>
                        <a:ext cx="1727200" cy="571500"/>
                      </a:xfrm>
                      <a:prstGeom prst="rect">
                        <a:avLst/>
                      </a:prstGeom>
                    </p:spPr>
                  </p:pic>
                </p:oleObj>
              </mc:Fallback>
            </mc:AlternateContent>
          </a:graphicData>
        </a:graphic>
      </p:graphicFrame>
      <p:graphicFrame>
        <p:nvGraphicFramePr>
          <p:cNvPr id="106" name="Object 105">
            <a:extLst>
              <a:ext uri="{FF2B5EF4-FFF2-40B4-BE49-F238E27FC236}">
                <a16:creationId xmlns:a16="http://schemas.microsoft.com/office/drawing/2014/main" id="{08701429-42CC-A691-1C80-77AD76608276}"/>
              </a:ext>
            </a:extLst>
          </p:cNvPr>
          <p:cNvGraphicFramePr>
            <a:graphicFrameLocks noChangeAspect="1"/>
          </p:cNvGraphicFramePr>
          <p:nvPr/>
        </p:nvGraphicFramePr>
        <p:xfrm>
          <a:off x="3518651" y="4230810"/>
          <a:ext cx="2451100" cy="571500"/>
        </p:xfrm>
        <a:graphic>
          <a:graphicData uri="http://schemas.openxmlformats.org/presentationml/2006/ole">
            <mc:AlternateContent xmlns:mc="http://schemas.openxmlformats.org/markup-compatibility/2006">
              <mc:Choice xmlns:v="urn:schemas-microsoft-com:vml" Requires="v">
                <p:oleObj spid="_x0000_s4166" name="Equation" r:id="rId13" imgW="2450880" imgH="571320" progId="Equation.DSMT4">
                  <p:embed/>
                </p:oleObj>
              </mc:Choice>
              <mc:Fallback>
                <p:oleObj name="Equation" r:id="rId13" imgW="2450880" imgH="571320" progId="Equation.DSMT4">
                  <p:embed/>
                  <p:pic>
                    <p:nvPicPr>
                      <p:cNvPr id="106" name="Object 105">
                        <a:extLst>
                          <a:ext uri="{FF2B5EF4-FFF2-40B4-BE49-F238E27FC236}">
                            <a16:creationId xmlns:a16="http://schemas.microsoft.com/office/drawing/2014/main" id="{C905C9AD-FC3B-97D3-D73B-F4D1CE538B90}"/>
                          </a:ext>
                        </a:extLst>
                      </p:cNvPr>
                      <p:cNvPicPr/>
                      <p:nvPr/>
                    </p:nvPicPr>
                    <p:blipFill>
                      <a:blip r:embed="rId14"/>
                      <a:stretch>
                        <a:fillRect/>
                      </a:stretch>
                    </p:blipFill>
                    <p:spPr>
                      <a:xfrm>
                        <a:off x="3518651" y="4230810"/>
                        <a:ext cx="2451100" cy="571500"/>
                      </a:xfrm>
                      <a:prstGeom prst="rect">
                        <a:avLst/>
                      </a:prstGeom>
                    </p:spPr>
                  </p:pic>
                </p:oleObj>
              </mc:Fallback>
            </mc:AlternateContent>
          </a:graphicData>
        </a:graphic>
      </p:graphicFrame>
      <mc:AlternateContent xmlns:mc="http://schemas.openxmlformats.org/markup-compatibility/2006" xmlns:a14="http://schemas.microsoft.com/office/drawing/2010/main">
        <mc:Choice Requires="a14">
          <p:sp>
            <p:nvSpPr>
              <p:cNvPr id="108" name="TextBox 107">
                <a:extLst>
                  <a:ext uri="{FF2B5EF4-FFF2-40B4-BE49-F238E27FC236}">
                    <a16:creationId xmlns:a16="http://schemas.microsoft.com/office/drawing/2014/main" id="{0E8AB334-ABAC-3FD0-C7FE-61A8267FDBC5}"/>
                  </a:ext>
                </a:extLst>
              </p:cNvPr>
              <p:cNvSpPr txBox="1"/>
              <p:nvPr/>
            </p:nvSpPr>
            <p:spPr>
              <a:xfrm>
                <a:off x="799846" y="3069507"/>
                <a:ext cx="243848"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en-US" sz="1400" b="0" i="1" noProof="1" dirty="0" smtClean="0">
                              <a:solidFill>
                                <a:srgbClr val="1D3456"/>
                              </a:solidFill>
                              <a:latin typeface="Cambria Math" panose="02040503050406030204" pitchFamily="18" charset="0"/>
                              <a:ea typeface="Cambria Math" panose="02040503050406030204" pitchFamily="18" charset="0"/>
                            </a:rPr>
                          </m:ctrlPr>
                        </m:sSupPr>
                        <m:e>
                          <m:r>
                            <a:rPr lang="en-US" sz="1400" b="0" i="1" noProof="1" dirty="0" smtClean="0">
                              <a:solidFill>
                                <a:srgbClr val="1D3456"/>
                              </a:solidFill>
                              <a:latin typeface="Cambria Math" panose="02040503050406030204" pitchFamily="18" charset="0"/>
                              <a:ea typeface="Cambria Math" panose="02040503050406030204" pitchFamily="18" charset="0"/>
                            </a:rPr>
                            <m:t>𝜔</m:t>
                          </m:r>
                        </m:e>
                        <m:sup>
                          <m:r>
                            <a:rPr lang="en-US" sz="1400" b="0" i="1" noProof="1" dirty="0" smtClean="0">
                              <a:solidFill>
                                <a:srgbClr val="1D3456"/>
                              </a:solidFill>
                              <a:latin typeface="Cambria Math" panose="02040503050406030204" pitchFamily="18" charset="0"/>
                              <a:ea typeface="Cambria Math" panose="02040503050406030204" pitchFamily="18" charset="0"/>
                            </a:rPr>
                            <m:t>∗</m:t>
                          </m:r>
                        </m:sup>
                      </m:sSup>
                    </m:oMath>
                  </m:oMathPara>
                </a14:m>
                <a:endParaRPr lang="en-US" sz="1400" noProof="1"/>
              </a:p>
            </p:txBody>
          </p:sp>
        </mc:Choice>
        <mc:Fallback xmlns="">
          <p:sp>
            <p:nvSpPr>
              <p:cNvPr id="108" name="TextBox 107">
                <a:extLst>
                  <a:ext uri="{FF2B5EF4-FFF2-40B4-BE49-F238E27FC236}">
                    <a16:creationId xmlns:a16="http://schemas.microsoft.com/office/drawing/2014/main" id="{0E8AB334-ABAC-3FD0-C7FE-61A8267FDBC5}"/>
                  </a:ext>
                </a:extLst>
              </p:cNvPr>
              <p:cNvSpPr txBox="1">
                <a:spLocks noRot="1" noChangeAspect="1" noMove="1" noResize="1" noEditPoints="1" noAdjustHandles="1" noChangeArrowheads="1" noChangeShapeType="1" noTextEdit="1"/>
              </p:cNvSpPr>
              <p:nvPr/>
            </p:nvSpPr>
            <p:spPr>
              <a:xfrm>
                <a:off x="799846" y="3069507"/>
                <a:ext cx="243848" cy="215444"/>
              </a:xfrm>
              <a:prstGeom prst="rect">
                <a:avLst/>
              </a:prstGeom>
              <a:blipFill>
                <a:blip r:embed="rId15"/>
                <a:stretch>
                  <a:fillRect l="-10000" r="-2500"/>
                </a:stretch>
              </a:blipFill>
            </p:spPr>
            <p:txBody>
              <a:bodyPr/>
              <a:lstStyle/>
              <a:p>
                <a:r>
                  <a:rPr lang="th-TH">
                    <a:noFill/>
                  </a:rPr>
                  <a:t> </a:t>
                </a:r>
              </a:p>
            </p:txBody>
          </p:sp>
        </mc:Fallback>
      </mc:AlternateContent>
      <p:sp>
        <p:nvSpPr>
          <p:cNvPr id="109" name="TextBox 108">
            <a:extLst>
              <a:ext uri="{FF2B5EF4-FFF2-40B4-BE49-F238E27FC236}">
                <a16:creationId xmlns:a16="http://schemas.microsoft.com/office/drawing/2014/main" id="{EED01BDE-BEDD-226A-43EC-1AFE9AEB0F7B}"/>
              </a:ext>
            </a:extLst>
          </p:cNvPr>
          <p:cNvSpPr txBox="1"/>
          <p:nvPr/>
        </p:nvSpPr>
        <p:spPr>
          <a:xfrm>
            <a:off x="3162581" y="4395748"/>
            <a:ext cx="359093" cy="241285"/>
          </a:xfrm>
          <a:prstGeom prst="rect">
            <a:avLst/>
          </a:prstGeom>
          <a:noFill/>
        </p:spPr>
        <p:txBody>
          <a:bodyPr wrap="square" lIns="0" tIns="0" rIns="0" bIns="0" anchor="t">
            <a:spAutoFit/>
          </a:bodyPr>
          <a:lstStyle/>
          <a:p>
            <a:pPr>
              <a:lnSpc>
                <a:spcPct val="120000"/>
              </a:lnSpc>
            </a:pPr>
            <a:r>
              <a:rPr lang="en-US" sz="1400" noProof="1">
                <a:solidFill>
                  <a:srgbClr val="1D3557"/>
                </a:solidFill>
              </a:rPr>
              <a:t>and</a:t>
            </a:r>
          </a:p>
        </p:txBody>
      </p:sp>
      <p:sp>
        <p:nvSpPr>
          <p:cNvPr id="113" name="TextBox 112">
            <a:extLst>
              <a:ext uri="{FF2B5EF4-FFF2-40B4-BE49-F238E27FC236}">
                <a16:creationId xmlns:a16="http://schemas.microsoft.com/office/drawing/2014/main" id="{6CC1F7C7-8F06-4161-7FAE-1E88623327E1}"/>
              </a:ext>
            </a:extLst>
          </p:cNvPr>
          <p:cNvSpPr txBox="1"/>
          <p:nvPr/>
        </p:nvSpPr>
        <p:spPr>
          <a:xfrm>
            <a:off x="836238" y="4814305"/>
            <a:ext cx="4800252" cy="241285"/>
          </a:xfrm>
          <a:prstGeom prst="rect">
            <a:avLst/>
          </a:prstGeom>
          <a:noFill/>
        </p:spPr>
        <p:txBody>
          <a:bodyPr wrap="square" lIns="0" tIns="0" rIns="0" bIns="0" anchor="t">
            <a:spAutoFit/>
          </a:bodyPr>
          <a:lstStyle/>
          <a:p>
            <a:pPr>
              <a:lnSpc>
                <a:spcPct val="120000"/>
              </a:lnSpc>
            </a:pPr>
            <a:r>
              <a:rPr lang="en-US" sz="1400" noProof="1">
                <a:solidFill>
                  <a:srgbClr val="1D3557"/>
                </a:solidFill>
              </a:rPr>
              <a:t>Consider the steady-state condition where all derivatives vanish</a:t>
            </a:r>
          </a:p>
        </p:txBody>
      </p:sp>
      <p:graphicFrame>
        <p:nvGraphicFramePr>
          <p:cNvPr id="116" name="Object 115">
            <a:extLst>
              <a:ext uri="{FF2B5EF4-FFF2-40B4-BE49-F238E27FC236}">
                <a16:creationId xmlns:a16="http://schemas.microsoft.com/office/drawing/2014/main" id="{47172786-78D9-D259-4CD5-08F9D4F47FE3}"/>
              </a:ext>
            </a:extLst>
          </p:cNvPr>
          <p:cNvGraphicFramePr>
            <a:graphicFrameLocks noChangeAspect="1"/>
          </p:cNvGraphicFramePr>
          <p:nvPr/>
        </p:nvGraphicFramePr>
        <p:xfrm>
          <a:off x="836238" y="5145609"/>
          <a:ext cx="1206500" cy="292100"/>
        </p:xfrm>
        <a:graphic>
          <a:graphicData uri="http://schemas.openxmlformats.org/presentationml/2006/ole">
            <mc:AlternateContent xmlns:mc="http://schemas.openxmlformats.org/markup-compatibility/2006">
              <mc:Choice xmlns:v="urn:schemas-microsoft-com:vml" Requires="v">
                <p:oleObj spid="_x0000_s4167" name="Equation" r:id="rId16" imgW="1206360" imgH="291960" progId="Equation.DSMT4">
                  <p:embed/>
                </p:oleObj>
              </mc:Choice>
              <mc:Fallback>
                <p:oleObj name="Equation" r:id="rId16" imgW="1206360" imgH="291960" progId="Equation.DSMT4">
                  <p:embed/>
                  <p:pic>
                    <p:nvPicPr>
                      <p:cNvPr id="116" name="Object 115">
                        <a:extLst>
                          <a:ext uri="{FF2B5EF4-FFF2-40B4-BE49-F238E27FC236}">
                            <a16:creationId xmlns:a16="http://schemas.microsoft.com/office/drawing/2014/main" id="{31E675F1-2AD8-008D-ADC6-1B73C1993BEA}"/>
                          </a:ext>
                        </a:extLst>
                      </p:cNvPr>
                      <p:cNvPicPr/>
                      <p:nvPr/>
                    </p:nvPicPr>
                    <p:blipFill>
                      <a:blip r:embed="rId17"/>
                      <a:stretch>
                        <a:fillRect/>
                      </a:stretch>
                    </p:blipFill>
                    <p:spPr>
                      <a:xfrm>
                        <a:off x="836238" y="5145609"/>
                        <a:ext cx="1206500" cy="292100"/>
                      </a:xfrm>
                      <a:prstGeom prst="rect">
                        <a:avLst/>
                      </a:prstGeom>
                    </p:spPr>
                  </p:pic>
                </p:oleObj>
              </mc:Fallback>
            </mc:AlternateContent>
          </a:graphicData>
        </a:graphic>
      </p:graphicFrame>
      <p:sp>
        <p:nvSpPr>
          <p:cNvPr id="117" name="TextBox 116">
            <a:extLst>
              <a:ext uri="{FF2B5EF4-FFF2-40B4-BE49-F238E27FC236}">
                <a16:creationId xmlns:a16="http://schemas.microsoft.com/office/drawing/2014/main" id="{08573DA6-CF12-C7D1-D230-0228419D46E6}"/>
              </a:ext>
            </a:extLst>
          </p:cNvPr>
          <p:cNvSpPr txBox="1"/>
          <p:nvPr/>
        </p:nvSpPr>
        <p:spPr>
          <a:xfrm>
            <a:off x="2210513" y="5158497"/>
            <a:ext cx="359093" cy="241285"/>
          </a:xfrm>
          <a:prstGeom prst="rect">
            <a:avLst/>
          </a:prstGeom>
          <a:noFill/>
        </p:spPr>
        <p:txBody>
          <a:bodyPr wrap="square" lIns="0" tIns="0" rIns="0" bIns="0" anchor="t">
            <a:spAutoFit/>
          </a:bodyPr>
          <a:lstStyle/>
          <a:p>
            <a:pPr>
              <a:lnSpc>
                <a:spcPct val="120000"/>
              </a:lnSpc>
            </a:pPr>
            <a:r>
              <a:rPr lang="en-US" sz="1400" noProof="1">
                <a:solidFill>
                  <a:srgbClr val="1D3557"/>
                </a:solidFill>
              </a:rPr>
              <a:t>and</a:t>
            </a:r>
          </a:p>
        </p:txBody>
      </p:sp>
      <p:graphicFrame>
        <p:nvGraphicFramePr>
          <p:cNvPr id="119" name="Object 118">
            <a:extLst>
              <a:ext uri="{FF2B5EF4-FFF2-40B4-BE49-F238E27FC236}">
                <a16:creationId xmlns:a16="http://schemas.microsoft.com/office/drawing/2014/main" id="{744D6172-D611-7535-BE3C-E1FEF95F6FC2}"/>
              </a:ext>
            </a:extLst>
          </p:cNvPr>
          <p:cNvGraphicFramePr>
            <a:graphicFrameLocks noChangeAspect="1"/>
          </p:cNvGraphicFramePr>
          <p:nvPr/>
        </p:nvGraphicFramePr>
        <p:xfrm>
          <a:off x="2670774" y="5145609"/>
          <a:ext cx="2070100" cy="292100"/>
        </p:xfrm>
        <a:graphic>
          <a:graphicData uri="http://schemas.openxmlformats.org/presentationml/2006/ole">
            <mc:AlternateContent xmlns:mc="http://schemas.openxmlformats.org/markup-compatibility/2006">
              <mc:Choice xmlns:v="urn:schemas-microsoft-com:vml" Requires="v">
                <p:oleObj spid="_x0000_s4168" name="Equation" r:id="rId18" imgW="2070000" imgH="291960" progId="Equation.DSMT4">
                  <p:embed/>
                </p:oleObj>
              </mc:Choice>
              <mc:Fallback>
                <p:oleObj name="Equation" r:id="rId18" imgW="2070000" imgH="291960" progId="Equation.DSMT4">
                  <p:embed/>
                  <p:pic>
                    <p:nvPicPr>
                      <p:cNvPr id="119" name="Object 118">
                        <a:extLst>
                          <a:ext uri="{FF2B5EF4-FFF2-40B4-BE49-F238E27FC236}">
                            <a16:creationId xmlns:a16="http://schemas.microsoft.com/office/drawing/2014/main" id="{9C87C0BB-6AE5-72E6-A4DC-586144F9DBDC}"/>
                          </a:ext>
                        </a:extLst>
                      </p:cNvPr>
                      <p:cNvPicPr/>
                      <p:nvPr/>
                    </p:nvPicPr>
                    <p:blipFill>
                      <a:blip r:embed="rId19"/>
                      <a:stretch>
                        <a:fillRect/>
                      </a:stretch>
                    </p:blipFill>
                    <p:spPr>
                      <a:xfrm>
                        <a:off x="2670774" y="5145609"/>
                        <a:ext cx="2070100" cy="292100"/>
                      </a:xfrm>
                      <a:prstGeom prst="rect">
                        <a:avLst/>
                      </a:prstGeom>
                    </p:spPr>
                  </p:pic>
                </p:oleObj>
              </mc:Fallback>
            </mc:AlternateContent>
          </a:graphicData>
        </a:graphic>
      </p:graphicFrame>
      <p:sp>
        <p:nvSpPr>
          <p:cNvPr id="120" name="TextBox 119">
            <a:extLst>
              <a:ext uri="{FF2B5EF4-FFF2-40B4-BE49-F238E27FC236}">
                <a16:creationId xmlns:a16="http://schemas.microsoft.com/office/drawing/2014/main" id="{DE2753F4-B2B7-1ADA-4714-319B0BF0F4D4}"/>
              </a:ext>
            </a:extLst>
          </p:cNvPr>
          <p:cNvSpPr txBox="1"/>
          <p:nvPr/>
        </p:nvSpPr>
        <p:spPr>
          <a:xfrm>
            <a:off x="836238" y="5539575"/>
            <a:ext cx="4800252" cy="241285"/>
          </a:xfrm>
          <a:prstGeom prst="rect">
            <a:avLst/>
          </a:prstGeom>
          <a:noFill/>
        </p:spPr>
        <p:txBody>
          <a:bodyPr wrap="square" lIns="0" tIns="0" rIns="0" bIns="0" anchor="t">
            <a:spAutoFit/>
          </a:bodyPr>
          <a:lstStyle/>
          <a:p>
            <a:pPr>
              <a:lnSpc>
                <a:spcPct val="120000"/>
              </a:lnSpc>
            </a:pPr>
            <a:r>
              <a:rPr lang="en-US" sz="1400" noProof="1">
                <a:solidFill>
                  <a:srgbClr val="1D3557"/>
                </a:solidFill>
              </a:rPr>
              <a:t>Solve this we will get the feedforward that can be written as</a:t>
            </a:r>
          </a:p>
        </p:txBody>
      </p:sp>
      <p:graphicFrame>
        <p:nvGraphicFramePr>
          <p:cNvPr id="121" name="Object 120">
            <a:extLst>
              <a:ext uri="{FF2B5EF4-FFF2-40B4-BE49-F238E27FC236}">
                <a16:creationId xmlns:a16="http://schemas.microsoft.com/office/drawing/2014/main" id="{78ACFB92-E909-1634-BFED-EA21B739CC88}"/>
              </a:ext>
            </a:extLst>
          </p:cNvPr>
          <p:cNvGraphicFramePr>
            <a:graphicFrameLocks noChangeAspect="1"/>
          </p:cNvGraphicFramePr>
          <p:nvPr/>
        </p:nvGraphicFramePr>
        <p:xfrm>
          <a:off x="867526" y="5882726"/>
          <a:ext cx="2489200" cy="647700"/>
        </p:xfrm>
        <a:graphic>
          <a:graphicData uri="http://schemas.openxmlformats.org/presentationml/2006/ole">
            <mc:AlternateContent xmlns:mc="http://schemas.openxmlformats.org/markup-compatibility/2006">
              <mc:Choice xmlns:v="urn:schemas-microsoft-com:vml" Requires="v">
                <p:oleObj spid="_x0000_s4169" name="Equation" r:id="rId20" imgW="2489040" imgH="647640" progId="Equation.DSMT4">
                  <p:embed/>
                </p:oleObj>
              </mc:Choice>
              <mc:Fallback>
                <p:oleObj name="Equation" r:id="rId20" imgW="2489040" imgH="647640" progId="Equation.DSMT4">
                  <p:embed/>
                  <p:pic>
                    <p:nvPicPr>
                      <p:cNvPr id="121" name="Object 120">
                        <a:extLst>
                          <a:ext uri="{FF2B5EF4-FFF2-40B4-BE49-F238E27FC236}">
                            <a16:creationId xmlns:a16="http://schemas.microsoft.com/office/drawing/2014/main" id="{A18146DE-38B6-92EF-ABE0-5C8BF6F87813}"/>
                          </a:ext>
                        </a:extLst>
                      </p:cNvPr>
                      <p:cNvPicPr/>
                      <p:nvPr/>
                    </p:nvPicPr>
                    <p:blipFill>
                      <a:blip r:embed="rId21"/>
                      <a:stretch>
                        <a:fillRect/>
                      </a:stretch>
                    </p:blipFill>
                    <p:spPr>
                      <a:xfrm>
                        <a:off x="867526" y="5882726"/>
                        <a:ext cx="2489200" cy="647700"/>
                      </a:xfrm>
                      <a:prstGeom prst="rect">
                        <a:avLst/>
                      </a:prstGeom>
                    </p:spPr>
                  </p:pic>
                </p:oleObj>
              </mc:Fallback>
            </mc:AlternateContent>
          </a:graphicData>
        </a:graphic>
      </p:graphicFrame>
      <p:sp>
        <p:nvSpPr>
          <p:cNvPr id="124" name="Rectangle 123">
            <a:extLst>
              <a:ext uri="{FF2B5EF4-FFF2-40B4-BE49-F238E27FC236}">
                <a16:creationId xmlns:a16="http://schemas.microsoft.com/office/drawing/2014/main" id="{8DE82273-3D8C-38AB-FD4E-1EA1056FCFA9}"/>
              </a:ext>
            </a:extLst>
          </p:cNvPr>
          <p:cNvSpPr/>
          <p:nvPr/>
        </p:nvSpPr>
        <p:spPr>
          <a:xfrm rot="16200000" flipH="1">
            <a:off x="1621275" y="6082870"/>
            <a:ext cx="45719" cy="940831"/>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125" name="Rectangle 124">
            <a:extLst>
              <a:ext uri="{FF2B5EF4-FFF2-40B4-BE49-F238E27FC236}">
                <a16:creationId xmlns:a16="http://schemas.microsoft.com/office/drawing/2014/main" id="{C16D15F0-9C73-C2BC-2806-218B53A585F3}"/>
              </a:ext>
            </a:extLst>
          </p:cNvPr>
          <p:cNvSpPr/>
          <p:nvPr/>
        </p:nvSpPr>
        <p:spPr>
          <a:xfrm rot="16200000" flipH="1">
            <a:off x="2757342" y="6033647"/>
            <a:ext cx="45719" cy="1039277"/>
          </a:xfrm>
          <a:prstGeom prst="rect">
            <a:avLst/>
          </a:prstGeom>
          <a:solidFill>
            <a:srgbClr val="28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126" name="TextBox 125">
            <a:extLst>
              <a:ext uri="{FF2B5EF4-FFF2-40B4-BE49-F238E27FC236}">
                <a16:creationId xmlns:a16="http://schemas.microsoft.com/office/drawing/2014/main" id="{42CB06D3-62AF-9CF4-5C8B-506550EDDA1A}"/>
              </a:ext>
            </a:extLst>
          </p:cNvPr>
          <p:cNvSpPr txBox="1"/>
          <p:nvPr/>
        </p:nvSpPr>
        <p:spPr>
          <a:xfrm>
            <a:off x="1292096" y="6584782"/>
            <a:ext cx="750642" cy="155107"/>
          </a:xfrm>
          <a:prstGeom prst="rect">
            <a:avLst/>
          </a:prstGeom>
          <a:noFill/>
        </p:spPr>
        <p:txBody>
          <a:bodyPr wrap="square" lIns="0" tIns="0" rIns="0" bIns="0" anchor="t">
            <a:spAutoFit/>
          </a:bodyPr>
          <a:lstStyle/>
          <a:p>
            <a:pPr>
              <a:lnSpc>
                <a:spcPct val="120000"/>
              </a:lnSpc>
            </a:pPr>
            <a:r>
              <a:rPr lang="en-US" sz="900" noProof="1">
                <a:solidFill>
                  <a:srgbClr val="1D3557"/>
                </a:solidFill>
              </a:rPr>
              <a:t>Disturbance ffw</a:t>
            </a:r>
          </a:p>
        </p:txBody>
      </p:sp>
      <p:sp>
        <p:nvSpPr>
          <p:cNvPr id="127" name="TextBox 126">
            <a:extLst>
              <a:ext uri="{FF2B5EF4-FFF2-40B4-BE49-F238E27FC236}">
                <a16:creationId xmlns:a16="http://schemas.microsoft.com/office/drawing/2014/main" id="{29B68DFD-139B-9C3A-A86D-A4EB7AFD320F}"/>
              </a:ext>
            </a:extLst>
          </p:cNvPr>
          <p:cNvSpPr txBox="1"/>
          <p:nvPr/>
        </p:nvSpPr>
        <p:spPr>
          <a:xfrm>
            <a:off x="2454422" y="6585957"/>
            <a:ext cx="750642" cy="155107"/>
          </a:xfrm>
          <a:prstGeom prst="rect">
            <a:avLst/>
          </a:prstGeom>
          <a:noFill/>
        </p:spPr>
        <p:txBody>
          <a:bodyPr wrap="square" lIns="0" tIns="0" rIns="0" bIns="0" anchor="t">
            <a:spAutoFit/>
          </a:bodyPr>
          <a:lstStyle/>
          <a:p>
            <a:pPr>
              <a:lnSpc>
                <a:spcPct val="120000"/>
              </a:lnSpc>
            </a:pPr>
            <a:r>
              <a:rPr lang="en-US" sz="900" noProof="1">
                <a:solidFill>
                  <a:srgbClr val="1D3557"/>
                </a:solidFill>
              </a:rPr>
              <a:t>Reffernce ffw</a:t>
            </a:r>
          </a:p>
        </p:txBody>
      </p:sp>
      <p:pic>
        <p:nvPicPr>
          <p:cNvPr id="5" name="Picture 4">
            <a:extLst>
              <a:ext uri="{FF2B5EF4-FFF2-40B4-BE49-F238E27FC236}">
                <a16:creationId xmlns:a16="http://schemas.microsoft.com/office/drawing/2014/main" id="{0834DAD1-E7FA-7D83-FC11-45A8F1BCCB46}"/>
              </a:ext>
            </a:extLst>
          </p:cNvPr>
          <p:cNvPicPr>
            <a:picLocks noChangeAspect="1"/>
          </p:cNvPicPr>
          <p:nvPr/>
        </p:nvPicPr>
        <p:blipFill>
          <a:blip r:embed="rId22"/>
          <a:stretch>
            <a:fillRect/>
          </a:stretch>
        </p:blipFill>
        <p:spPr>
          <a:xfrm>
            <a:off x="7445927" y="2401885"/>
            <a:ext cx="4377698" cy="2136005"/>
          </a:xfrm>
          <a:prstGeom prst="rect">
            <a:avLst/>
          </a:prstGeom>
        </p:spPr>
      </p:pic>
      <p:pic>
        <p:nvPicPr>
          <p:cNvPr id="27" name="Picture 26">
            <a:extLst>
              <a:ext uri="{FF2B5EF4-FFF2-40B4-BE49-F238E27FC236}">
                <a16:creationId xmlns:a16="http://schemas.microsoft.com/office/drawing/2014/main" id="{FBA16097-1B46-5268-0009-BAA98117AAD4}"/>
              </a:ext>
            </a:extLst>
          </p:cNvPr>
          <p:cNvPicPr>
            <a:picLocks noChangeAspect="1"/>
          </p:cNvPicPr>
          <p:nvPr/>
        </p:nvPicPr>
        <p:blipFill>
          <a:blip r:embed="rId23"/>
          <a:stretch>
            <a:fillRect/>
          </a:stretch>
        </p:blipFill>
        <p:spPr>
          <a:xfrm>
            <a:off x="7423288" y="4586896"/>
            <a:ext cx="4380327" cy="2154168"/>
          </a:xfrm>
          <a:prstGeom prst="rect">
            <a:avLst/>
          </a:prstGeom>
        </p:spPr>
      </p:pic>
      <p:sp>
        <p:nvSpPr>
          <p:cNvPr id="28" name="TextBox 27">
            <a:extLst>
              <a:ext uri="{FF2B5EF4-FFF2-40B4-BE49-F238E27FC236}">
                <a16:creationId xmlns:a16="http://schemas.microsoft.com/office/drawing/2014/main" id="{2E92CE9A-1A90-BC76-939B-36D68574224C}"/>
              </a:ext>
            </a:extLst>
          </p:cNvPr>
          <p:cNvSpPr txBox="1"/>
          <p:nvPr/>
        </p:nvSpPr>
        <p:spPr>
          <a:xfrm>
            <a:off x="9085281" y="3876222"/>
            <a:ext cx="1121150" cy="241285"/>
          </a:xfrm>
          <a:prstGeom prst="rect">
            <a:avLst/>
          </a:prstGeom>
          <a:noFill/>
        </p:spPr>
        <p:txBody>
          <a:bodyPr wrap="square" lIns="0" tIns="0" rIns="0" bIns="0" anchor="t">
            <a:spAutoFit/>
          </a:bodyPr>
          <a:lstStyle/>
          <a:p>
            <a:pPr>
              <a:lnSpc>
                <a:spcPct val="120000"/>
              </a:lnSpc>
            </a:pPr>
            <a:r>
              <a:rPr lang="en-US" sz="1400" noProof="1">
                <a:solidFill>
                  <a:srgbClr val="1D3557"/>
                </a:solidFill>
              </a:rPr>
              <a:t>RMSE = 0.318</a:t>
            </a:r>
          </a:p>
        </p:txBody>
      </p:sp>
      <p:sp>
        <p:nvSpPr>
          <p:cNvPr id="29" name="TextBox 28">
            <a:extLst>
              <a:ext uri="{FF2B5EF4-FFF2-40B4-BE49-F238E27FC236}">
                <a16:creationId xmlns:a16="http://schemas.microsoft.com/office/drawing/2014/main" id="{43A109FC-D65B-8A9B-949E-8F55AEBCD55B}"/>
              </a:ext>
            </a:extLst>
          </p:cNvPr>
          <p:cNvSpPr txBox="1"/>
          <p:nvPr/>
        </p:nvSpPr>
        <p:spPr>
          <a:xfrm>
            <a:off x="9489608" y="6068075"/>
            <a:ext cx="1121150" cy="241285"/>
          </a:xfrm>
          <a:prstGeom prst="rect">
            <a:avLst/>
          </a:prstGeom>
          <a:noFill/>
        </p:spPr>
        <p:txBody>
          <a:bodyPr wrap="square" lIns="0" tIns="0" rIns="0" bIns="0" anchor="t">
            <a:spAutoFit/>
          </a:bodyPr>
          <a:lstStyle/>
          <a:p>
            <a:pPr>
              <a:lnSpc>
                <a:spcPct val="120000"/>
              </a:lnSpc>
            </a:pPr>
            <a:r>
              <a:rPr lang="en-US" sz="1400" noProof="1">
                <a:solidFill>
                  <a:srgbClr val="1D3557"/>
                </a:solidFill>
              </a:rPr>
              <a:t>RMSE = 0.005</a:t>
            </a:r>
          </a:p>
        </p:txBody>
      </p:sp>
    </p:spTree>
    <p:extLst>
      <p:ext uri="{BB962C8B-B14F-4D97-AF65-F5344CB8AC3E}">
        <p14:creationId xmlns:p14="http://schemas.microsoft.com/office/powerpoint/2010/main" val="161572586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BFAF6"/>
        </a:solidFill>
        <a:effectLst/>
      </p:bgPr>
    </p:bg>
    <p:spTree>
      <p:nvGrpSpPr>
        <p:cNvPr id="1" name="">
          <a:extLst>
            <a:ext uri="{FF2B5EF4-FFF2-40B4-BE49-F238E27FC236}">
              <a16:creationId xmlns:a16="http://schemas.microsoft.com/office/drawing/2014/main" id="{2088CB4C-6C42-5FE9-B919-8C1712271D7F}"/>
            </a:ext>
          </a:extLst>
        </p:cNvPr>
        <p:cNvGrpSpPr/>
        <p:nvPr/>
      </p:nvGrpSpPr>
      <p:grpSpPr>
        <a:xfrm>
          <a:off x="0" y="0"/>
          <a:ext cx="0" cy="0"/>
          <a:chOff x="0" y="0"/>
          <a:chExt cx="0" cy="0"/>
        </a:xfrm>
      </p:grpSpPr>
      <p:cxnSp>
        <p:nvCxnSpPr>
          <p:cNvPr id="15" name="Straight Connector 14">
            <a:extLst>
              <a:ext uri="{FF2B5EF4-FFF2-40B4-BE49-F238E27FC236}">
                <a16:creationId xmlns:a16="http://schemas.microsoft.com/office/drawing/2014/main" id="{EA5C1668-7904-5C5D-A627-2CB7853A4F7A}"/>
              </a:ext>
            </a:extLst>
          </p:cNvPr>
          <p:cNvCxnSpPr>
            <a:cxnSpLocks/>
          </p:cNvCxnSpPr>
          <p:nvPr/>
        </p:nvCxnSpPr>
        <p:spPr>
          <a:xfrm flipV="1">
            <a:off x="1549972" y="2052712"/>
            <a:ext cx="0" cy="576319"/>
          </a:xfrm>
          <a:prstGeom prst="line">
            <a:avLst/>
          </a:prstGeom>
          <a:ln>
            <a:solidFill>
              <a:srgbClr val="289D8F"/>
            </a:solidFill>
          </a:ln>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D0ED68E0-D162-4DE5-A905-3A5648D83EAA}"/>
              </a:ext>
            </a:extLst>
          </p:cNvPr>
          <p:cNvCxnSpPr>
            <a:cxnSpLocks/>
          </p:cNvCxnSpPr>
          <p:nvPr/>
        </p:nvCxnSpPr>
        <p:spPr>
          <a:xfrm flipV="1">
            <a:off x="6762877" y="2052712"/>
            <a:ext cx="0" cy="664992"/>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sp>
        <p:nvSpPr>
          <p:cNvPr id="2" name="Rectangle 1">
            <a:extLst>
              <a:ext uri="{FF2B5EF4-FFF2-40B4-BE49-F238E27FC236}">
                <a16:creationId xmlns:a16="http://schemas.microsoft.com/office/drawing/2014/main" id="{1E78329F-5A01-B2B7-C841-AC288CAA65F0}"/>
              </a:ext>
            </a:extLst>
          </p:cNvPr>
          <p:cNvSpPr/>
          <p:nvPr/>
        </p:nvSpPr>
        <p:spPr>
          <a:xfrm>
            <a:off x="566928" y="502920"/>
            <a:ext cx="17780" cy="5852160"/>
          </a:xfrm>
          <a:prstGeom prst="rect">
            <a:avLst/>
          </a:prstGeom>
          <a:solidFill>
            <a:srgbClr val="D9D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3" name="Rectangle 2">
            <a:extLst>
              <a:ext uri="{FF2B5EF4-FFF2-40B4-BE49-F238E27FC236}">
                <a16:creationId xmlns:a16="http://schemas.microsoft.com/office/drawing/2014/main" id="{44DFF3F5-7D4B-514C-D8BB-321151BDB109}"/>
              </a:ext>
            </a:extLst>
          </p:cNvPr>
          <p:cNvSpPr/>
          <p:nvPr/>
        </p:nvSpPr>
        <p:spPr>
          <a:xfrm>
            <a:off x="566928" y="502920"/>
            <a:ext cx="30480" cy="56692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4" name="TextBox 3">
            <a:extLst>
              <a:ext uri="{FF2B5EF4-FFF2-40B4-BE49-F238E27FC236}">
                <a16:creationId xmlns:a16="http://schemas.microsoft.com/office/drawing/2014/main" id="{2A293568-FF99-6DA3-7A78-892A6129D35E}"/>
              </a:ext>
            </a:extLst>
          </p:cNvPr>
          <p:cNvSpPr txBox="1"/>
          <p:nvPr/>
        </p:nvSpPr>
        <p:spPr>
          <a:xfrm>
            <a:off x="868680" y="548640"/>
            <a:ext cx="10607040" cy="169277"/>
          </a:xfrm>
          <a:prstGeom prst="rect">
            <a:avLst/>
          </a:prstGeom>
          <a:noFill/>
        </p:spPr>
        <p:txBody>
          <a:bodyPr wrap="square" lIns="0" tIns="0" rIns="0" bIns="0" anchor="t">
            <a:spAutoFit/>
          </a:bodyPr>
          <a:lstStyle/>
          <a:p>
            <a:pPr>
              <a:lnSpc>
                <a:spcPct val="100000"/>
              </a:lnSpc>
            </a:pPr>
            <a:r>
              <a:rPr lang="en-US" sz="1100" b="1" noProof="1">
                <a:solidFill>
                  <a:srgbClr val="E07A5F"/>
                </a:solidFill>
                <a:latin typeface="Consolas"/>
              </a:rPr>
              <a:t>A5  </a:t>
            </a:r>
            <a:r>
              <a:rPr lang="en-US" sz="1100" b="1" noProof="1">
                <a:solidFill>
                  <a:srgbClr val="2A9D8F"/>
                </a:solidFill>
                <a:latin typeface="Consolas"/>
              </a:rPr>
              <a:t>Vertical Pendulum Control</a:t>
            </a:r>
            <a:endParaRPr lang="en-US" sz="1100" noProof="1">
              <a:solidFill>
                <a:srgbClr val="2A9D8F"/>
              </a:solidFill>
              <a:latin typeface="Consolas"/>
            </a:endParaRPr>
          </a:p>
        </p:txBody>
      </p:sp>
      <p:sp>
        <p:nvSpPr>
          <p:cNvPr id="62" name="TextBox 61">
            <a:extLst>
              <a:ext uri="{FF2B5EF4-FFF2-40B4-BE49-F238E27FC236}">
                <a16:creationId xmlns:a16="http://schemas.microsoft.com/office/drawing/2014/main" id="{2D80DCEA-21D1-EDE1-646A-B744EF512803}"/>
              </a:ext>
            </a:extLst>
          </p:cNvPr>
          <p:cNvSpPr txBox="1"/>
          <p:nvPr/>
        </p:nvSpPr>
        <p:spPr>
          <a:xfrm>
            <a:off x="868680" y="866813"/>
            <a:ext cx="10607040" cy="412805"/>
          </a:xfrm>
          <a:prstGeom prst="rect">
            <a:avLst/>
          </a:prstGeom>
          <a:noFill/>
        </p:spPr>
        <p:txBody>
          <a:bodyPr wrap="square" lIns="0" tIns="0" rIns="0" bIns="0" anchor="t">
            <a:spAutoFit/>
          </a:bodyPr>
          <a:lstStyle/>
          <a:p>
            <a:pPr algn="l">
              <a:lnSpc>
                <a:spcPct val="102000"/>
              </a:lnSpc>
              <a:spcBef>
                <a:spcPts val="0"/>
              </a:spcBef>
              <a:spcAft>
                <a:spcPts val="600"/>
              </a:spcAft>
            </a:pPr>
            <a:r>
              <a:rPr lang="en-US" sz="2800" b="1" noProof="1">
                <a:solidFill>
                  <a:srgbClr val="1D3557"/>
                </a:solidFill>
                <a:latin typeface="Georgia"/>
              </a:rPr>
              <a:t>Machine Learning Replaced Reference Feedforward</a:t>
            </a:r>
          </a:p>
        </p:txBody>
      </p:sp>
      <p:graphicFrame>
        <p:nvGraphicFramePr>
          <p:cNvPr id="41" name="Object 40">
            <a:extLst>
              <a:ext uri="{FF2B5EF4-FFF2-40B4-BE49-F238E27FC236}">
                <a16:creationId xmlns:a16="http://schemas.microsoft.com/office/drawing/2014/main" id="{FB1E40E4-76E8-6271-E8EC-797019E6B897}"/>
              </a:ext>
            </a:extLst>
          </p:cNvPr>
          <p:cNvGraphicFramePr>
            <a:graphicFrameLocks noChangeAspect="1"/>
          </p:cNvGraphicFramePr>
          <p:nvPr>
            <p:extLst>
              <p:ext uri="{D42A27DB-BD31-4B8C-83A1-F6EECF244321}">
                <p14:modId xmlns:p14="http://schemas.microsoft.com/office/powerpoint/2010/main" val="3944025424"/>
              </p:ext>
            </p:extLst>
          </p:nvPr>
        </p:nvGraphicFramePr>
        <p:xfrm>
          <a:off x="6376511" y="2567197"/>
          <a:ext cx="139700" cy="228600"/>
        </p:xfrm>
        <a:graphic>
          <a:graphicData uri="http://schemas.openxmlformats.org/presentationml/2006/ole">
            <mc:AlternateContent xmlns:mc="http://schemas.openxmlformats.org/markup-compatibility/2006">
              <mc:Choice xmlns:v="urn:schemas-microsoft-com:vml" Requires="v">
                <p:oleObj spid="_x0000_s5133" name="Equation" r:id="rId3" imgW="139680" imgH="228600" progId="Equation.DSMT4">
                  <p:embed/>
                </p:oleObj>
              </mc:Choice>
              <mc:Fallback>
                <p:oleObj name="Equation" r:id="rId3" imgW="139680" imgH="228600" progId="Equation.DSMT4">
                  <p:embed/>
                  <p:pic>
                    <p:nvPicPr>
                      <p:cNvPr id="41" name="Object 40">
                        <a:extLst>
                          <a:ext uri="{FF2B5EF4-FFF2-40B4-BE49-F238E27FC236}">
                            <a16:creationId xmlns:a16="http://schemas.microsoft.com/office/drawing/2014/main" id="{CD779A87-BD96-54F9-B8C8-ECB5274E1591}"/>
                          </a:ext>
                        </a:extLst>
                      </p:cNvPr>
                      <p:cNvPicPr/>
                      <p:nvPr/>
                    </p:nvPicPr>
                    <p:blipFill>
                      <a:blip r:embed="rId4"/>
                      <a:stretch>
                        <a:fillRect/>
                      </a:stretch>
                    </p:blipFill>
                    <p:spPr>
                      <a:xfrm>
                        <a:off x="6376511" y="2567197"/>
                        <a:ext cx="139700" cy="228600"/>
                      </a:xfrm>
                      <a:prstGeom prst="rect">
                        <a:avLst/>
                      </a:prstGeom>
                    </p:spPr>
                  </p:pic>
                </p:oleObj>
              </mc:Fallback>
            </mc:AlternateContent>
          </a:graphicData>
        </a:graphic>
      </p:graphicFrame>
      <p:sp>
        <p:nvSpPr>
          <p:cNvPr id="7" name="Rounded Rectangle 6">
            <a:extLst>
              <a:ext uri="{FF2B5EF4-FFF2-40B4-BE49-F238E27FC236}">
                <a16:creationId xmlns:a16="http://schemas.microsoft.com/office/drawing/2014/main" id="{E627798B-D8DE-A53D-8644-7058A756159A}"/>
              </a:ext>
            </a:extLst>
          </p:cNvPr>
          <p:cNvSpPr/>
          <p:nvPr/>
        </p:nvSpPr>
        <p:spPr>
          <a:xfrm>
            <a:off x="1951073" y="2502260"/>
            <a:ext cx="1104826" cy="479453"/>
          </a:xfrm>
          <a:prstGeom prst="roundRect">
            <a:avLst/>
          </a:prstGeom>
          <a:ln w="15875">
            <a:solidFill>
              <a:srgbClr val="1D3456"/>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noProof="1">
                <a:solidFill>
                  <a:srgbClr val="1D3456"/>
                </a:solidFill>
              </a:rPr>
              <a:t>PI</a:t>
            </a:r>
          </a:p>
        </p:txBody>
      </p:sp>
      <p:cxnSp>
        <p:nvCxnSpPr>
          <p:cNvPr id="9" name="Straight Arrow Connector 8">
            <a:extLst>
              <a:ext uri="{FF2B5EF4-FFF2-40B4-BE49-F238E27FC236}">
                <a16:creationId xmlns:a16="http://schemas.microsoft.com/office/drawing/2014/main" id="{AE667C69-D3C9-0705-28B2-A8F18DCB96FE}"/>
              </a:ext>
            </a:extLst>
          </p:cNvPr>
          <p:cNvCxnSpPr>
            <a:cxnSpLocks/>
          </p:cNvCxnSpPr>
          <p:nvPr/>
        </p:nvCxnSpPr>
        <p:spPr>
          <a:xfrm>
            <a:off x="3055899" y="2749319"/>
            <a:ext cx="72000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B496DA57-F687-F297-F9B8-FFBC8CA665E7}"/>
                  </a:ext>
                </a:extLst>
              </p:cNvPr>
              <p:cNvSpPr txBox="1"/>
              <p:nvPr/>
            </p:nvSpPr>
            <p:spPr>
              <a:xfrm>
                <a:off x="3180041" y="2502260"/>
                <a:ext cx="434799"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400" i="1" noProof="1" dirty="0" smtClean="0">
                              <a:solidFill>
                                <a:srgbClr val="1D3456"/>
                              </a:solidFill>
                              <a:latin typeface="Cambria Math" panose="02040503050406030204" pitchFamily="18" charset="0"/>
                            </a:rPr>
                          </m:ctrlPr>
                        </m:sSubPr>
                        <m:e>
                          <m:r>
                            <a:rPr lang="en-US" sz="1400" b="0" i="1" noProof="1" dirty="0" smtClean="0">
                              <a:solidFill>
                                <a:srgbClr val="1D3456"/>
                              </a:solidFill>
                              <a:latin typeface="Cambria Math" panose="02040503050406030204" pitchFamily="18" charset="0"/>
                            </a:rPr>
                            <m:t>𝑉</m:t>
                          </m:r>
                        </m:e>
                        <m:sub>
                          <m:r>
                            <a:rPr lang="en-US" sz="1400" b="0" i="1" noProof="1" dirty="0" smtClean="0">
                              <a:solidFill>
                                <a:srgbClr val="1D3456"/>
                              </a:solidFill>
                              <a:latin typeface="Cambria Math" panose="02040503050406030204" pitchFamily="18" charset="0"/>
                            </a:rPr>
                            <m:t>𝑏𝑎𝑠𝑒</m:t>
                          </m:r>
                        </m:sub>
                      </m:sSub>
                    </m:oMath>
                  </m:oMathPara>
                </a14:m>
                <a:endParaRPr lang="en-US" sz="1400" noProof="1"/>
              </a:p>
            </p:txBody>
          </p:sp>
        </mc:Choice>
        <mc:Fallback xmlns="">
          <p:sp>
            <p:nvSpPr>
              <p:cNvPr id="12" name="TextBox 11">
                <a:extLst>
                  <a:ext uri="{FF2B5EF4-FFF2-40B4-BE49-F238E27FC236}">
                    <a16:creationId xmlns:a16="http://schemas.microsoft.com/office/drawing/2014/main" id="{B496DA57-F687-F297-F9B8-FFBC8CA665E7}"/>
                  </a:ext>
                </a:extLst>
              </p:cNvPr>
              <p:cNvSpPr txBox="1">
                <a:spLocks noRot="1" noChangeAspect="1" noMove="1" noResize="1" noEditPoints="1" noAdjustHandles="1" noChangeArrowheads="1" noChangeShapeType="1" noTextEdit="1"/>
              </p:cNvSpPr>
              <p:nvPr/>
            </p:nvSpPr>
            <p:spPr>
              <a:xfrm>
                <a:off x="3180041" y="2502260"/>
                <a:ext cx="434799" cy="215444"/>
              </a:xfrm>
              <a:prstGeom prst="rect">
                <a:avLst/>
              </a:prstGeom>
              <a:blipFill>
                <a:blip r:embed="rId5"/>
                <a:stretch>
                  <a:fillRect l="-9859" r="-1408" b="-13889"/>
                </a:stretch>
              </a:blipFill>
            </p:spPr>
            <p:txBody>
              <a:bodyPr/>
              <a:lstStyle/>
              <a:p>
                <a:r>
                  <a:rPr lang="th-TH">
                    <a:noFill/>
                  </a:rPr>
                  <a:t> </a:t>
                </a:r>
              </a:p>
            </p:txBody>
          </p:sp>
        </mc:Fallback>
      </mc:AlternateContent>
      <p:sp>
        <p:nvSpPr>
          <p:cNvPr id="13" name="Oval 12">
            <a:extLst>
              <a:ext uri="{FF2B5EF4-FFF2-40B4-BE49-F238E27FC236}">
                <a16:creationId xmlns:a16="http://schemas.microsoft.com/office/drawing/2014/main" id="{81B38061-C508-0953-414B-9E7F39299976}"/>
              </a:ext>
            </a:extLst>
          </p:cNvPr>
          <p:cNvSpPr/>
          <p:nvPr/>
        </p:nvSpPr>
        <p:spPr>
          <a:xfrm>
            <a:off x="3765041" y="2614319"/>
            <a:ext cx="270000" cy="270000"/>
          </a:xfrm>
          <a:prstGeom prst="ellipse">
            <a:avLst/>
          </a:prstGeom>
          <a:noFill/>
          <a:ln w="15875">
            <a:solidFill>
              <a:srgbClr val="1D34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14" name="TextBox 13">
            <a:extLst>
              <a:ext uri="{FF2B5EF4-FFF2-40B4-BE49-F238E27FC236}">
                <a16:creationId xmlns:a16="http://schemas.microsoft.com/office/drawing/2014/main" id="{F29F2328-3BDD-AAFD-1756-FD1D3E5926B8}"/>
              </a:ext>
            </a:extLst>
          </p:cNvPr>
          <p:cNvSpPr txBox="1"/>
          <p:nvPr/>
        </p:nvSpPr>
        <p:spPr>
          <a:xfrm>
            <a:off x="3753867" y="2558385"/>
            <a:ext cx="300082" cy="369332"/>
          </a:xfrm>
          <a:prstGeom prst="rect">
            <a:avLst/>
          </a:prstGeom>
          <a:noFill/>
        </p:spPr>
        <p:txBody>
          <a:bodyPr wrap="none" rtlCol="0">
            <a:spAutoFit/>
          </a:bodyPr>
          <a:lstStyle/>
          <a:p>
            <a:r>
              <a:rPr lang="en-US" noProof="1">
                <a:solidFill>
                  <a:srgbClr val="1D3456"/>
                </a:solidFill>
              </a:rPr>
              <a:t>+</a:t>
            </a: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65AA49EF-D7E3-91C5-DE31-AC37A8B808A8}"/>
                  </a:ext>
                </a:extLst>
              </p:cNvPr>
              <p:cNvSpPr txBox="1"/>
              <p:nvPr/>
            </p:nvSpPr>
            <p:spPr>
              <a:xfrm>
                <a:off x="4177291" y="2514718"/>
                <a:ext cx="157992"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400" b="0" i="1" noProof="1" dirty="0" smtClean="0">
                          <a:solidFill>
                            <a:srgbClr val="1D3456"/>
                          </a:solidFill>
                          <a:latin typeface="Cambria Math" panose="02040503050406030204" pitchFamily="18" charset="0"/>
                        </a:rPr>
                        <m:t>𝑉</m:t>
                      </m:r>
                    </m:oMath>
                  </m:oMathPara>
                </a14:m>
                <a:endParaRPr lang="en-US" sz="1400" noProof="1"/>
              </a:p>
            </p:txBody>
          </p:sp>
        </mc:Choice>
        <mc:Fallback xmlns="">
          <p:sp>
            <p:nvSpPr>
              <p:cNvPr id="16" name="TextBox 15">
                <a:extLst>
                  <a:ext uri="{FF2B5EF4-FFF2-40B4-BE49-F238E27FC236}">
                    <a16:creationId xmlns:a16="http://schemas.microsoft.com/office/drawing/2014/main" id="{65AA49EF-D7E3-91C5-DE31-AC37A8B808A8}"/>
                  </a:ext>
                </a:extLst>
              </p:cNvPr>
              <p:cNvSpPr txBox="1">
                <a:spLocks noRot="1" noChangeAspect="1" noMove="1" noResize="1" noEditPoints="1" noAdjustHandles="1" noChangeArrowheads="1" noChangeShapeType="1" noTextEdit="1"/>
              </p:cNvSpPr>
              <p:nvPr/>
            </p:nvSpPr>
            <p:spPr>
              <a:xfrm>
                <a:off x="4177291" y="2514718"/>
                <a:ext cx="157992" cy="215444"/>
              </a:xfrm>
              <a:prstGeom prst="rect">
                <a:avLst/>
              </a:prstGeom>
              <a:blipFill>
                <a:blip r:embed="rId6"/>
                <a:stretch>
                  <a:fillRect l="-26923" r="-19231" b="-5714"/>
                </a:stretch>
              </a:blipFill>
            </p:spPr>
            <p:txBody>
              <a:bodyPr/>
              <a:lstStyle/>
              <a:p>
                <a:r>
                  <a:rPr lang="th-TH">
                    <a:noFill/>
                  </a:rPr>
                  <a:t> </a:t>
                </a:r>
              </a:p>
            </p:txBody>
          </p:sp>
        </mc:Fallback>
      </mc:AlternateContent>
      <p:sp>
        <p:nvSpPr>
          <p:cNvPr id="17" name="Rounded Rectangle 16">
            <a:extLst>
              <a:ext uri="{FF2B5EF4-FFF2-40B4-BE49-F238E27FC236}">
                <a16:creationId xmlns:a16="http://schemas.microsoft.com/office/drawing/2014/main" id="{47DFFED2-38B2-FB7E-C7B0-C143102F9C4F}"/>
              </a:ext>
            </a:extLst>
          </p:cNvPr>
          <p:cNvSpPr/>
          <p:nvPr/>
        </p:nvSpPr>
        <p:spPr>
          <a:xfrm>
            <a:off x="5416418" y="2496906"/>
            <a:ext cx="1104826" cy="479453"/>
          </a:xfrm>
          <a:prstGeom prst="roundRect">
            <a:avLst/>
          </a:prstGeom>
          <a:ln w="15875">
            <a:solidFill>
              <a:srgbClr val="1D3456"/>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noProof="1">
                <a:solidFill>
                  <a:srgbClr val="1D3456"/>
                </a:solidFill>
              </a:rPr>
              <a:t>Plant</a:t>
            </a:r>
          </a:p>
          <a:p>
            <a:pPr algn="ctr"/>
            <a:r>
              <a:rPr lang="en-US" sz="1300" noProof="1">
                <a:solidFill>
                  <a:srgbClr val="1D3456"/>
                </a:solidFill>
              </a:rPr>
              <a:t>(Motor+Rod)</a:t>
            </a:r>
          </a:p>
        </p:txBody>
      </p:sp>
      <p:cxnSp>
        <p:nvCxnSpPr>
          <p:cNvPr id="18" name="Straight Arrow Connector 17">
            <a:extLst>
              <a:ext uri="{FF2B5EF4-FFF2-40B4-BE49-F238E27FC236}">
                <a16:creationId xmlns:a16="http://schemas.microsoft.com/office/drawing/2014/main" id="{9994D855-D9F2-90D8-8557-02FA32C9F7BA}"/>
              </a:ext>
            </a:extLst>
          </p:cNvPr>
          <p:cNvCxnSpPr>
            <a:cxnSpLocks/>
          </p:cNvCxnSpPr>
          <p:nvPr/>
        </p:nvCxnSpPr>
        <p:spPr>
          <a:xfrm>
            <a:off x="6521244" y="2737728"/>
            <a:ext cx="63000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FD58F4BC-B428-F078-D8BD-90BBA2A34C07}"/>
                  </a:ext>
                </a:extLst>
              </p:cNvPr>
              <p:cNvSpPr txBox="1"/>
              <p:nvPr/>
            </p:nvSpPr>
            <p:spPr>
              <a:xfrm>
                <a:off x="6836244" y="2509595"/>
                <a:ext cx="173894"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400" b="0" i="1" noProof="1" dirty="0" smtClean="0">
                          <a:solidFill>
                            <a:srgbClr val="1D3456"/>
                          </a:solidFill>
                          <a:latin typeface="Cambria Math" panose="02040503050406030204" pitchFamily="18" charset="0"/>
                          <a:ea typeface="Cambria Math" panose="02040503050406030204" pitchFamily="18" charset="0"/>
                        </a:rPr>
                        <m:t>𝜔</m:t>
                      </m:r>
                    </m:oMath>
                  </m:oMathPara>
                </a14:m>
                <a:endParaRPr lang="en-US" sz="1400" noProof="1"/>
              </a:p>
            </p:txBody>
          </p:sp>
        </mc:Choice>
        <mc:Fallback xmlns="">
          <p:sp>
            <p:nvSpPr>
              <p:cNvPr id="19" name="TextBox 18">
                <a:extLst>
                  <a:ext uri="{FF2B5EF4-FFF2-40B4-BE49-F238E27FC236}">
                    <a16:creationId xmlns:a16="http://schemas.microsoft.com/office/drawing/2014/main" id="{FD58F4BC-B428-F078-D8BD-90BBA2A34C07}"/>
                  </a:ext>
                </a:extLst>
              </p:cNvPr>
              <p:cNvSpPr txBox="1">
                <a:spLocks noRot="1" noChangeAspect="1" noMove="1" noResize="1" noEditPoints="1" noAdjustHandles="1" noChangeArrowheads="1" noChangeShapeType="1" noTextEdit="1"/>
              </p:cNvSpPr>
              <p:nvPr/>
            </p:nvSpPr>
            <p:spPr>
              <a:xfrm>
                <a:off x="6836244" y="2509595"/>
                <a:ext cx="173894" cy="215444"/>
              </a:xfrm>
              <a:prstGeom prst="rect">
                <a:avLst/>
              </a:prstGeom>
              <a:blipFill>
                <a:blip r:embed="rId7"/>
                <a:stretch>
                  <a:fillRect l="-13793" r="-10345"/>
                </a:stretch>
              </a:blipFill>
            </p:spPr>
            <p:txBody>
              <a:bodyPr/>
              <a:lstStyle/>
              <a:p>
                <a:r>
                  <a:rPr lang="th-TH">
                    <a:noFill/>
                  </a:rPr>
                  <a:t> </a:t>
                </a:r>
              </a:p>
            </p:txBody>
          </p:sp>
        </mc:Fallback>
      </mc:AlternateContent>
      <p:sp>
        <p:nvSpPr>
          <p:cNvPr id="20" name="Oval 19">
            <a:extLst>
              <a:ext uri="{FF2B5EF4-FFF2-40B4-BE49-F238E27FC236}">
                <a16:creationId xmlns:a16="http://schemas.microsoft.com/office/drawing/2014/main" id="{9890E026-C097-5671-1C8A-7EE60D1B5AF5}"/>
              </a:ext>
            </a:extLst>
          </p:cNvPr>
          <p:cNvSpPr/>
          <p:nvPr/>
        </p:nvSpPr>
        <p:spPr>
          <a:xfrm>
            <a:off x="1407449" y="2629031"/>
            <a:ext cx="270000" cy="270000"/>
          </a:xfrm>
          <a:prstGeom prst="ellipse">
            <a:avLst/>
          </a:prstGeom>
          <a:noFill/>
          <a:ln w="15875">
            <a:solidFill>
              <a:srgbClr val="1D34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D57BFA76-6079-B818-2B6A-41F28E642A04}"/>
                  </a:ext>
                </a:extLst>
              </p:cNvPr>
              <p:cNvSpPr txBox="1"/>
              <p:nvPr/>
            </p:nvSpPr>
            <p:spPr>
              <a:xfrm>
                <a:off x="1455085" y="2645121"/>
                <a:ext cx="174727"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400" b="1" i="1" noProof="1" dirty="0" smtClean="0">
                          <a:solidFill>
                            <a:srgbClr val="1D3456"/>
                          </a:solidFill>
                          <a:latin typeface="Cambria Math" panose="02040503050406030204" pitchFamily="18" charset="0"/>
                          <a:ea typeface="Cambria Math" panose="02040503050406030204" pitchFamily="18" charset="0"/>
                        </a:rPr>
                        <m:t>±</m:t>
                      </m:r>
                    </m:oMath>
                  </m:oMathPara>
                </a14:m>
                <a:endParaRPr lang="en-US" sz="1400" b="1" noProof="1">
                  <a:solidFill>
                    <a:srgbClr val="1D3456"/>
                  </a:solidFill>
                </a:endParaRPr>
              </a:p>
            </p:txBody>
          </p:sp>
        </mc:Choice>
        <mc:Fallback xmlns="">
          <p:sp>
            <p:nvSpPr>
              <p:cNvPr id="21" name="TextBox 20">
                <a:extLst>
                  <a:ext uri="{FF2B5EF4-FFF2-40B4-BE49-F238E27FC236}">
                    <a16:creationId xmlns:a16="http://schemas.microsoft.com/office/drawing/2014/main" id="{D57BFA76-6079-B818-2B6A-41F28E642A04}"/>
                  </a:ext>
                </a:extLst>
              </p:cNvPr>
              <p:cNvSpPr txBox="1">
                <a:spLocks noRot="1" noChangeAspect="1" noMove="1" noResize="1" noEditPoints="1" noAdjustHandles="1" noChangeArrowheads="1" noChangeShapeType="1" noTextEdit="1"/>
              </p:cNvSpPr>
              <p:nvPr/>
            </p:nvSpPr>
            <p:spPr>
              <a:xfrm>
                <a:off x="1455085" y="2645121"/>
                <a:ext cx="174727" cy="215444"/>
              </a:xfrm>
              <a:prstGeom prst="rect">
                <a:avLst/>
              </a:prstGeom>
              <a:blipFill>
                <a:blip r:embed="rId8"/>
                <a:stretch>
                  <a:fillRect l="-32143" r="-28571" b="-17143"/>
                </a:stretch>
              </a:blipFill>
            </p:spPr>
            <p:txBody>
              <a:bodyPr/>
              <a:lstStyle/>
              <a:p>
                <a:r>
                  <a:rPr lang="th-TH">
                    <a:noFill/>
                  </a:rPr>
                  <a:t> </a:t>
                </a:r>
              </a:p>
            </p:txBody>
          </p:sp>
        </mc:Fallback>
      </mc:AlternateContent>
      <p:cxnSp>
        <p:nvCxnSpPr>
          <p:cNvPr id="23" name="Straight Arrow Connector 22">
            <a:extLst>
              <a:ext uri="{FF2B5EF4-FFF2-40B4-BE49-F238E27FC236}">
                <a16:creationId xmlns:a16="http://schemas.microsoft.com/office/drawing/2014/main" id="{C9FB3863-A53F-F7FD-D18B-7B0D644D0B86}"/>
              </a:ext>
            </a:extLst>
          </p:cNvPr>
          <p:cNvCxnSpPr>
            <a:cxnSpLocks/>
          </p:cNvCxnSpPr>
          <p:nvPr/>
        </p:nvCxnSpPr>
        <p:spPr>
          <a:xfrm>
            <a:off x="6762877" y="2740546"/>
            <a:ext cx="0" cy="458550"/>
          </a:xfrm>
          <a:prstGeom prst="straightConnector1">
            <a:avLst/>
          </a:prstGeom>
          <a:ln w="15875">
            <a:solidFill>
              <a:srgbClr val="1D3456"/>
            </a:solidFill>
            <a:headEnd type="oval"/>
            <a:tailEnd type="none"/>
          </a:ln>
          <a:effectLst/>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D44FEF0E-1F2C-D250-FC10-D7AAAB4B4452}"/>
              </a:ext>
            </a:extLst>
          </p:cNvPr>
          <p:cNvCxnSpPr>
            <a:cxnSpLocks/>
          </p:cNvCxnSpPr>
          <p:nvPr/>
        </p:nvCxnSpPr>
        <p:spPr>
          <a:xfrm>
            <a:off x="1542448" y="3199096"/>
            <a:ext cx="5220429" cy="0"/>
          </a:xfrm>
          <a:prstGeom prst="straightConnector1">
            <a:avLst/>
          </a:prstGeom>
          <a:ln w="15875">
            <a:solidFill>
              <a:srgbClr val="1D3456"/>
            </a:solidFill>
            <a:tailEnd type="none"/>
          </a:ln>
          <a:effectLst/>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B89E91C4-59F7-1048-8F9E-3DF7FA802F90}"/>
              </a:ext>
            </a:extLst>
          </p:cNvPr>
          <p:cNvCxnSpPr>
            <a:cxnSpLocks/>
          </p:cNvCxnSpPr>
          <p:nvPr/>
        </p:nvCxnSpPr>
        <p:spPr>
          <a:xfrm>
            <a:off x="1547591" y="2899032"/>
            <a:ext cx="0" cy="300064"/>
          </a:xfrm>
          <a:prstGeom prst="straightConnector1">
            <a:avLst/>
          </a:prstGeom>
          <a:ln w="15875">
            <a:solidFill>
              <a:srgbClr val="1D3456"/>
            </a:solidFill>
            <a:headEnd type="triangle"/>
            <a:tailEnd type="none"/>
          </a:ln>
          <a:effectLst/>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82A237E9-AFA5-C538-E38E-4A2847944F6E}"/>
              </a:ext>
            </a:extLst>
          </p:cNvPr>
          <p:cNvCxnSpPr>
            <a:cxnSpLocks/>
          </p:cNvCxnSpPr>
          <p:nvPr/>
        </p:nvCxnSpPr>
        <p:spPr>
          <a:xfrm>
            <a:off x="943654" y="2749319"/>
            <a:ext cx="463795" cy="6982"/>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5" name="Rounded Rectangle 54">
                <a:extLst>
                  <a:ext uri="{FF2B5EF4-FFF2-40B4-BE49-F238E27FC236}">
                    <a16:creationId xmlns:a16="http://schemas.microsoft.com/office/drawing/2014/main" id="{2D106559-190F-B13C-E994-799249785845}"/>
                  </a:ext>
                </a:extLst>
              </p:cNvPr>
              <p:cNvSpPr/>
              <p:nvPr/>
            </p:nvSpPr>
            <p:spPr>
              <a:xfrm>
                <a:off x="4467041" y="2496906"/>
                <a:ext cx="679377" cy="479453"/>
              </a:xfrm>
              <a:prstGeom prst="roundRect">
                <a:avLst/>
              </a:prstGeom>
              <a:ln w="15875">
                <a:solidFill>
                  <a:srgbClr val="1D3456"/>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200" noProof="1">
                    <a:solidFill>
                      <a:srgbClr val="1D3456"/>
                    </a:solidFill>
                  </a:rPr>
                  <a:t>Clip to </a:t>
                </a:r>
                <a14:m>
                  <m:oMath xmlns:m="http://schemas.openxmlformats.org/officeDocument/2006/math">
                    <m:r>
                      <a:rPr lang="en-US" sz="1200" i="1" noProof="1" dirty="0" smtClean="0">
                        <a:solidFill>
                          <a:srgbClr val="1D3456"/>
                        </a:solidFill>
                        <a:latin typeface="Cambria Math" panose="02040503050406030204" pitchFamily="18" charset="0"/>
                        <a:ea typeface="Cambria Math" panose="02040503050406030204" pitchFamily="18" charset="0"/>
                      </a:rPr>
                      <m:t>±</m:t>
                    </m:r>
                    <m:r>
                      <a:rPr lang="en-US" sz="1200" b="0" i="1" noProof="1" dirty="0" smtClean="0">
                        <a:solidFill>
                          <a:srgbClr val="1D3456"/>
                        </a:solidFill>
                        <a:latin typeface="Cambria Math" panose="02040503050406030204" pitchFamily="18" charset="0"/>
                        <a:ea typeface="Cambria Math" panose="02040503050406030204" pitchFamily="18" charset="0"/>
                      </a:rPr>
                      <m:t>12</m:t>
                    </m:r>
                    <m:r>
                      <a:rPr lang="en-US" sz="1200" b="0" i="1" noProof="1" dirty="0" smtClean="0">
                        <a:solidFill>
                          <a:srgbClr val="1D3456"/>
                        </a:solidFill>
                        <a:latin typeface="Cambria Math" panose="02040503050406030204" pitchFamily="18" charset="0"/>
                        <a:ea typeface="Cambria Math" panose="02040503050406030204" pitchFamily="18" charset="0"/>
                      </a:rPr>
                      <m:t>𝑉</m:t>
                    </m:r>
                  </m:oMath>
                </a14:m>
                <a:endParaRPr lang="en-US" sz="1200" noProof="1">
                  <a:solidFill>
                    <a:srgbClr val="1D3456"/>
                  </a:solidFill>
                </a:endParaRPr>
              </a:p>
            </p:txBody>
          </p:sp>
        </mc:Choice>
        <mc:Fallback xmlns="">
          <p:sp>
            <p:nvSpPr>
              <p:cNvPr id="35" name="Rounded Rectangle 54">
                <a:extLst>
                  <a:ext uri="{FF2B5EF4-FFF2-40B4-BE49-F238E27FC236}">
                    <a16:creationId xmlns:a16="http://schemas.microsoft.com/office/drawing/2014/main" id="{2D106559-190F-B13C-E994-799249785845}"/>
                  </a:ext>
                </a:extLst>
              </p:cNvPr>
              <p:cNvSpPr>
                <a:spLocks noRot="1" noChangeAspect="1" noMove="1" noResize="1" noEditPoints="1" noAdjustHandles="1" noChangeArrowheads="1" noChangeShapeType="1" noTextEdit="1"/>
              </p:cNvSpPr>
              <p:nvPr/>
            </p:nvSpPr>
            <p:spPr>
              <a:xfrm>
                <a:off x="4467041" y="2496906"/>
                <a:ext cx="679377" cy="479453"/>
              </a:xfrm>
              <a:prstGeom prst="roundRect">
                <a:avLst/>
              </a:prstGeom>
              <a:blipFill>
                <a:blip r:embed="rId9"/>
                <a:stretch>
                  <a:fillRect/>
                </a:stretch>
              </a:blipFill>
              <a:ln w="15875">
                <a:solidFill>
                  <a:srgbClr val="1D3456"/>
                </a:solidFill>
              </a:ln>
            </p:spPr>
            <p:txBody>
              <a:bodyPr/>
              <a:lstStyle/>
              <a:p>
                <a:r>
                  <a:rPr lang="th-TH">
                    <a:noFill/>
                  </a:rPr>
                  <a:t> </a:t>
                </a:r>
              </a:p>
            </p:txBody>
          </p:sp>
        </mc:Fallback>
      </mc:AlternateContent>
      <p:cxnSp>
        <p:nvCxnSpPr>
          <p:cNvPr id="36" name="Straight Arrow Connector 35">
            <a:extLst>
              <a:ext uri="{FF2B5EF4-FFF2-40B4-BE49-F238E27FC236}">
                <a16:creationId xmlns:a16="http://schemas.microsoft.com/office/drawing/2014/main" id="{A988996B-33D9-AB06-2E1D-E9A7D6BD107A}"/>
              </a:ext>
            </a:extLst>
          </p:cNvPr>
          <p:cNvCxnSpPr>
            <a:cxnSpLocks/>
          </p:cNvCxnSpPr>
          <p:nvPr/>
        </p:nvCxnSpPr>
        <p:spPr>
          <a:xfrm>
            <a:off x="4035041" y="2740546"/>
            <a:ext cx="43200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37" name="Straight Arrow Connector 36">
            <a:extLst>
              <a:ext uri="{FF2B5EF4-FFF2-40B4-BE49-F238E27FC236}">
                <a16:creationId xmlns:a16="http://schemas.microsoft.com/office/drawing/2014/main" id="{161C5CAB-8780-9313-F8A1-5DCC3B5BDCC7}"/>
              </a:ext>
            </a:extLst>
          </p:cNvPr>
          <p:cNvCxnSpPr>
            <a:cxnSpLocks/>
          </p:cNvCxnSpPr>
          <p:nvPr/>
        </p:nvCxnSpPr>
        <p:spPr>
          <a:xfrm>
            <a:off x="5146418" y="2730162"/>
            <a:ext cx="27000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A3BED9FE-3F17-C14B-DDA5-3D4C7917D70F}"/>
              </a:ext>
            </a:extLst>
          </p:cNvPr>
          <p:cNvCxnSpPr>
            <a:cxnSpLocks/>
          </p:cNvCxnSpPr>
          <p:nvPr/>
        </p:nvCxnSpPr>
        <p:spPr>
          <a:xfrm>
            <a:off x="1681073" y="2757126"/>
            <a:ext cx="27000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291B65F6-FFFA-3A8E-4447-CD8E30B280C3}"/>
                  </a:ext>
                </a:extLst>
              </p:cNvPr>
              <p:cNvSpPr txBox="1"/>
              <p:nvPr/>
            </p:nvSpPr>
            <p:spPr>
              <a:xfrm>
                <a:off x="868680" y="1382493"/>
                <a:ext cx="10970278" cy="4636334"/>
              </a:xfrm>
              <a:prstGeom prst="rect">
                <a:avLst/>
              </a:prstGeom>
              <a:noFill/>
            </p:spPr>
            <p:txBody>
              <a:bodyPr wrap="square" lIns="0" tIns="0" rIns="0" bIns="0" anchor="t">
                <a:spAutoFit/>
              </a:bodyPr>
              <a:lstStyle/>
              <a:p>
                <a:pPr>
                  <a:lnSpc>
                    <a:spcPct val="120000"/>
                  </a:lnSpc>
                </a:pPr>
                <a:r>
                  <a:rPr lang="en-US" sz="1400" noProof="1">
                    <a:solidFill>
                      <a:srgbClr val="1D3557"/>
                    </a:solidFill>
                  </a:rPr>
                  <a:t>However, not every system has a well-defined or fully understood dynamic model. So, how can we still benefit from reference feedforward?</a:t>
                </a:r>
              </a:p>
              <a:p>
                <a:pPr>
                  <a:lnSpc>
                    <a:spcPct val="120000"/>
                  </a:lnSpc>
                </a:pPr>
                <a:endParaRPr lang="en-US" sz="1400" noProof="1">
                  <a:solidFill>
                    <a:srgbClr val="1D3557"/>
                  </a:solidFill>
                </a:endParaRPr>
              </a:p>
              <a:p>
                <a:pPr>
                  <a:lnSpc>
                    <a:spcPct val="120000"/>
                  </a:lnSpc>
                </a:pPr>
                <a:endParaRPr lang="en-US" sz="1400" noProof="1">
                  <a:solidFill>
                    <a:srgbClr val="1D3557"/>
                  </a:solidFill>
                </a:endParaRPr>
              </a:p>
              <a:p>
                <a:pPr>
                  <a:lnSpc>
                    <a:spcPct val="120000"/>
                  </a:lnSpc>
                </a:pPr>
                <a:endParaRPr lang="en-US" sz="1400" noProof="1">
                  <a:solidFill>
                    <a:srgbClr val="1D3557"/>
                  </a:solidFill>
                </a:endParaRPr>
              </a:p>
              <a:p>
                <a:pPr>
                  <a:lnSpc>
                    <a:spcPct val="120000"/>
                  </a:lnSpc>
                </a:pPr>
                <a:endParaRPr lang="en-US" sz="1400" noProof="1">
                  <a:solidFill>
                    <a:srgbClr val="1D3557"/>
                  </a:solidFill>
                </a:endParaRPr>
              </a:p>
              <a:p>
                <a:pPr>
                  <a:lnSpc>
                    <a:spcPct val="120000"/>
                  </a:lnSpc>
                </a:pPr>
                <a:endParaRPr lang="en-US" sz="1400" noProof="1">
                  <a:solidFill>
                    <a:srgbClr val="1D3557"/>
                  </a:solidFill>
                </a:endParaRPr>
              </a:p>
              <a:p>
                <a:pPr>
                  <a:lnSpc>
                    <a:spcPct val="120000"/>
                  </a:lnSpc>
                </a:pPr>
                <a:endParaRPr lang="en-US" sz="1400" noProof="1">
                  <a:solidFill>
                    <a:srgbClr val="1D3557"/>
                  </a:solidFill>
                </a:endParaRPr>
              </a:p>
              <a:p>
                <a:pPr>
                  <a:lnSpc>
                    <a:spcPct val="120000"/>
                  </a:lnSpc>
                </a:pPr>
                <a:endParaRPr lang="en-US" sz="1400" noProof="1">
                  <a:solidFill>
                    <a:srgbClr val="1D3557"/>
                  </a:solidFill>
                </a:endParaRPr>
              </a:p>
              <a:p>
                <a:pPr>
                  <a:lnSpc>
                    <a:spcPct val="120000"/>
                  </a:lnSpc>
                </a:pPr>
                <a:r>
                  <a:rPr lang="en-US" sz="1400" noProof="1">
                    <a:solidFill>
                      <a:srgbClr val="1D3557"/>
                    </a:solidFill>
                  </a:rPr>
                  <a:t>The key idea is that the reference feedforward term is essentially a function that maps the desired output, </a:t>
                </a:r>
                <a14:m>
                  <m:oMath xmlns:m="http://schemas.openxmlformats.org/officeDocument/2006/math">
                    <m:r>
                      <a:rPr lang="en-US" sz="1400" i="1" noProof="1" smtClean="0">
                        <a:solidFill>
                          <a:srgbClr val="1D3557"/>
                        </a:solidFill>
                        <a:latin typeface="Cambria Math" panose="02040503050406030204" pitchFamily="18" charset="0"/>
                        <a:ea typeface="Cambria Math" panose="02040503050406030204" pitchFamily="18" charset="0"/>
                      </a:rPr>
                      <m:t>𝜔</m:t>
                    </m:r>
                  </m:oMath>
                </a14:m>
                <a:r>
                  <a:rPr lang="en-US" sz="1400" noProof="1">
                    <a:solidFill>
                      <a:srgbClr val="1D3557"/>
                    </a:solidFill>
                  </a:rPr>
                  <a:t>, to the required control input, </a:t>
                </a:r>
                <a14:m>
                  <m:oMath xmlns:m="http://schemas.openxmlformats.org/officeDocument/2006/math">
                    <m:sSub>
                      <m:sSubPr>
                        <m:ctrlPr>
                          <a:rPr lang="en-US" sz="1400" i="1" noProof="1" smtClean="0">
                            <a:solidFill>
                              <a:srgbClr val="1D3557"/>
                            </a:solidFill>
                            <a:latin typeface="Cambria Math" panose="02040503050406030204" pitchFamily="18" charset="0"/>
                          </a:rPr>
                        </m:ctrlPr>
                      </m:sSubPr>
                      <m:e>
                        <m:r>
                          <a:rPr lang="en-US" sz="1400" b="0" i="1" noProof="1" smtClean="0">
                            <a:solidFill>
                              <a:srgbClr val="1D3557"/>
                            </a:solidFill>
                            <a:latin typeface="Cambria Math" panose="02040503050406030204" pitchFamily="18" charset="0"/>
                          </a:rPr>
                          <m:t>𝑉</m:t>
                        </m:r>
                      </m:e>
                      <m:sub>
                        <m:r>
                          <a:rPr lang="en-US" sz="1400" b="0" i="1" noProof="1" smtClean="0">
                            <a:solidFill>
                              <a:srgbClr val="1D3557"/>
                            </a:solidFill>
                            <a:latin typeface="Cambria Math" panose="02040503050406030204" pitchFamily="18" charset="0"/>
                          </a:rPr>
                          <m:t>𝑖𝑛</m:t>
                        </m:r>
                      </m:sub>
                    </m:sSub>
                  </m:oMath>
                </a14:m>
                <a:r>
                  <a:rPr lang="en-US" sz="1400" b="1" noProof="1">
                    <a:solidFill>
                      <a:srgbClr val="1D3557"/>
                    </a:solidFill>
                  </a:rPr>
                  <a:t>. Instead of deriving this function analytically from the system dynamics</a:t>
                </a:r>
                <a:r>
                  <a:rPr lang="en-US" sz="1400" noProof="1">
                    <a:solidFill>
                      <a:srgbClr val="1D3557"/>
                    </a:solidFill>
                  </a:rPr>
                  <a:t>, </a:t>
                </a:r>
                <a:r>
                  <a:rPr lang="en-US" sz="1400" u="sng" noProof="1">
                    <a:solidFill>
                      <a:srgbClr val="1D3557"/>
                    </a:solidFill>
                  </a:rPr>
                  <a:t>we can obtain it experimentally</a:t>
                </a:r>
                <a:r>
                  <a:rPr lang="en-US" sz="1400" noProof="1">
                    <a:solidFill>
                      <a:srgbClr val="1D3557"/>
                    </a:solidFill>
                  </a:rPr>
                  <a:t>. By collecting pairs of input-output data </a:t>
                </a:r>
                <a:r>
                  <a:rPr lang="en-US" sz="1400" b="1" noProof="1">
                    <a:solidFill>
                      <a:srgbClr val="FF0000"/>
                    </a:solidFill>
                  </a:rPr>
                  <a:t>we can use a machine learning model to learn this mapping</a:t>
                </a:r>
                <a:r>
                  <a:rPr lang="en-US" sz="1400" noProof="1">
                    <a:solidFill>
                      <a:srgbClr val="1D3557"/>
                    </a:solidFill>
                  </a:rPr>
                  <a:t>. Here is the step</a:t>
                </a:r>
              </a:p>
              <a:p>
                <a:pPr>
                  <a:lnSpc>
                    <a:spcPct val="120000"/>
                  </a:lnSpc>
                </a:pPr>
                <a:endParaRPr lang="en-US" sz="1400" noProof="1">
                  <a:solidFill>
                    <a:srgbClr val="1D3557"/>
                  </a:solidFill>
                </a:endParaRPr>
              </a:p>
              <a:p>
                <a:pPr marL="342900" indent="-342900">
                  <a:lnSpc>
                    <a:spcPct val="120000"/>
                  </a:lnSpc>
                  <a:buAutoNum type="arabicPeriod"/>
                </a:pPr>
                <a:r>
                  <a:rPr lang="en-US" sz="1400" noProof="1">
                    <a:solidFill>
                      <a:srgbClr val="1D3557"/>
                    </a:solidFill>
                  </a:rPr>
                  <a:t>Collect the motor's steady-state speed at different input voltages.</a:t>
                </a:r>
              </a:p>
              <a:p>
                <a:pPr marL="342900" indent="-342900">
                  <a:lnSpc>
                    <a:spcPct val="120000"/>
                  </a:lnSpc>
                  <a:buAutoNum type="arabicPeriod"/>
                </a:pPr>
                <a:r>
                  <a:rPr lang="th-TH" sz="1400" dirty="0">
                    <a:solidFill>
                      <a:srgbClr val="1D3557"/>
                    </a:solidFill>
                  </a:rPr>
                  <a:t>Average the measured speed at each voltage to reduce the effect of periodic oscillations caused by gravity.</a:t>
                </a:r>
                <a:endParaRPr lang="en-US" sz="1400" noProof="1">
                  <a:solidFill>
                    <a:srgbClr val="1D3557"/>
                  </a:solidFill>
                </a:endParaRPr>
              </a:p>
              <a:p>
                <a:pPr marL="342900" indent="-342900">
                  <a:lnSpc>
                    <a:spcPct val="120000"/>
                  </a:lnSpc>
                  <a:buAutoNum type="arabicPeriod"/>
                </a:pPr>
                <a:r>
                  <a:rPr lang="en-US" sz="1400" noProof="1">
                    <a:solidFill>
                      <a:srgbClr val="1D3557"/>
                    </a:solidFill>
                  </a:rPr>
                  <a:t>Reverse the dataset to obtain the mapping from speed to voltage.</a:t>
                </a:r>
              </a:p>
              <a:p>
                <a:pPr marL="342900" indent="-342900">
                  <a:lnSpc>
                    <a:spcPct val="120000"/>
                  </a:lnSpc>
                  <a:buAutoNum type="arabicPeriod"/>
                </a:pPr>
                <a:r>
                  <a:rPr lang="en-US" sz="1400" noProof="1">
                    <a:solidFill>
                      <a:srgbClr val="1D3557"/>
                    </a:solidFill>
                  </a:rPr>
                  <a:t>Train a machine learning model to learn the function (V = f(</a:t>
                </a:r>
                <a14:m>
                  <m:oMath xmlns:m="http://schemas.openxmlformats.org/officeDocument/2006/math">
                    <m:r>
                      <a:rPr lang="en-US" sz="1400" i="1" noProof="1" smtClean="0">
                        <a:solidFill>
                          <a:srgbClr val="1D3557"/>
                        </a:solidFill>
                        <a:latin typeface="Cambria Math" panose="02040503050406030204" pitchFamily="18" charset="0"/>
                        <a:ea typeface="Cambria Math" panose="02040503050406030204" pitchFamily="18" charset="0"/>
                      </a:rPr>
                      <m:t>𝜔</m:t>
                    </m:r>
                  </m:oMath>
                </a14:m>
                <a:r>
                  <a:rPr lang="en-US" sz="1400" noProof="1">
                    <a:solidFill>
                      <a:srgbClr val="1D3557"/>
                    </a:solidFill>
                  </a:rPr>
                  <a:t>)).</a:t>
                </a:r>
              </a:p>
              <a:p>
                <a:pPr marL="342900" indent="-342900">
                  <a:lnSpc>
                    <a:spcPct val="120000"/>
                  </a:lnSpc>
                  <a:buAutoNum type="arabicPeriod"/>
                </a:pPr>
                <a:r>
                  <a:rPr lang="en-US" sz="1400" noProof="1">
                    <a:solidFill>
                      <a:srgbClr val="1D3557"/>
                    </a:solidFill>
                  </a:rPr>
                  <a:t>Use the desired speed (</a:t>
                </a:r>
                <a14:m>
                  <m:oMath xmlns:m="http://schemas.openxmlformats.org/officeDocument/2006/math">
                    <m:r>
                      <a:rPr lang="en-US" sz="1400" i="1" noProof="1">
                        <a:solidFill>
                          <a:srgbClr val="1D3557"/>
                        </a:solidFill>
                        <a:latin typeface="Cambria Math" panose="02040503050406030204" pitchFamily="18" charset="0"/>
                        <a:ea typeface="Cambria Math" panose="02040503050406030204" pitchFamily="18" charset="0"/>
                      </a:rPr>
                      <m:t>𝜔</m:t>
                    </m:r>
                  </m:oMath>
                </a14:m>
                <a:r>
                  <a:rPr lang="en-US" sz="1400" noProof="1">
                    <a:solidFill>
                      <a:srgbClr val="1D3557"/>
                    </a:solidFill>
                  </a:rPr>
                  <a:t>) to predict the required input voltage (V).</a:t>
                </a:r>
              </a:p>
              <a:p>
                <a:pPr marL="342900" indent="-342900">
                  <a:lnSpc>
                    <a:spcPct val="120000"/>
                  </a:lnSpc>
                  <a:buAutoNum type="arabicPeriod"/>
                </a:pPr>
                <a:r>
                  <a:rPr lang="en-US" sz="1400" noProof="1">
                    <a:solidFill>
                      <a:srgbClr val="1D3557"/>
                    </a:solidFill>
                  </a:rPr>
                  <a:t>Evaluate the model's prediction accuracy and control performance.</a:t>
                </a:r>
              </a:p>
            </p:txBody>
          </p:sp>
        </mc:Choice>
        <mc:Fallback xmlns="">
          <p:sp>
            <p:nvSpPr>
              <p:cNvPr id="52" name="TextBox 51">
                <a:extLst>
                  <a:ext uri="{FF2B5EF4-FFF2-40B4-BE49-F238E27FC236}">
                    <a16:creationId xmlns:a16="http://schemas.microsoft.com/office/drawing/2014/main" id="{291B65F6-FFFA-3A8E-4447-CD8E30B280C3}"/>
                  </a:ext>
                </a:extLst>
              </p:cNvPr>
              <p:cNvSpPr txBox="1">
                <a:spLocks noRot="1" noChangeAspect="1" noMove="1" noResize="1" noEditPoints="1" noAdjustHandles="1" noChangeArrowheads="1" noChangeShapeType="1" noTextEdit="1"/>
              </p:cNvSpPr>
              <p:nvPr/>
            </p:nvSpPr>
            <p:spPr>
              <a:xfrm>
                <a:off x="868680" y="1382493"/>
                <a:ext cx="10970278" cy="4636334"/>
              </a:xfrm>
              <a:prstGeom prst="rect">
                <a:avLst/>
              </a:prstGeom>
              <a:blipFill>
                <a:blip r:embed="rId10"/>
                <a:stretch>
                  <a:fillRect l="-1056" t="-526" r="-889" b="-1579"/>
                </a:stretch>
              </a:blipFill>
            </p:spPr>
            <p:txBody>
              <a:bodyPr/>
              <a:lstStyle/>
              <a:p>
                <a:r>
                  <a:rPr lang="th-TH">
                    <a:noFill/>
                  </a:rPr>
                  <a:t> </a:t>
                </a:r>
              </a:p>
            </p:txBody>
          </p:sp>
        </mc:Fallback>
      </mc:AlternateContent>
      <p:sp>
        <p:nvSpPr>
          <p:cNvPr id="6" name="Rounded Rectangle 6">
            <a:extLst>
              <a:ext uri="{FF2B5EF4-FFF2-40B4-BE49-F238E27FC236}">
                <a16:creationId xmlns:a16="http://schemas.microsoft.com/office/drawing/2014/main" id="{85F4D626-572C-9747-9945-5BA102A5FF31}"/>
              </a:ext>
            </a:extLst>
          </p:cNvPr>
          <p:cNvSpPr/>
          <p:nvPr/>
        </p:nvSpPr>
        <p:spPr>
          <a:xfrm>
            <a:off x="1951073" y="1825713"/>
            <a:ext cx="1104826" cy="479453"/>
          </a:xfrm>
          <a:prstGeom prst="roundRect">
            <a:avLst/>
          </a:prstGeom>
          <a:ln w="15875">
            <a:solidFill>
              <a:srgbClr val="289D8F"/>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200" noProof="1">
                <a:solidFill>
                  <a:srgbClr val="289D8F"/>
                </a:solidFill>
              </a:rPr>
              <a:t>Reference feedforward</a:t>
            </a:r>
          </a:p>
        </p:txBody>
      </p:sp>
      <p:sp>
        <p:nvSpPr>
          <p:cNvPr id="8" name="Rounded Rectangle 6">
            <a:extLst>
              <a:ext uri="{FF2B5EF4-FFF2-40B4-BE49-F238E27FC236}">
                <a16:creationId xmlns:a16="http://schemas.microsoft.com/office/drawing/2014/main" id="{1DC12BBF-EBD9-AAFD-C315-3B7125D3C589}"/>
              </a:ext>
            </a:extLst>
          </p:cNvPr>
          <p:cNvSpPr/>
          <p:nvPr/>
        </p:nvSpPr>
        <p:spPr>
          <a:xfrm>
            <a:off x="4296138" y="1825713"/>
            <a:ext cx="1104826" cy="479453"/>
          </a:xfrm>
          <a:prstGeom prst="roundRect">
            <a:avLst/>
          </a:prstGeom>
          <a:ln w="15875">
            <a:solidFill>
              <a:srgbClr val="E07A5F"/>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200" noProof="1">
                <a:solidFill>
                  <a:srgbClr val="E07A5F"/>
                </a:solidFill>
              </a:rPr>
              <a:t>Disturbance feedforward</a:t>
            </a:r>
          </a:p>
        </p:txBody>
      </p:sp>
      <mc:AlternateContent xmlns:mc="http://schemas.openxmlformats.org/markup-compatibility/2006" xmlns:a14="http://schemas.microsoft.com/office/drawing/2010/main">
        <mc:Choice Requires="a14">
          <p:sp>
            <p:nvSpPr>
              <p:cNvPr id="10" name="Rounded Rectangle 6">
                <a:extLst>
                  <a:ext uri="{FF2B5EF4-FFF2-40B4-BE49-F238E27FC236}">
                    <a16:creationId xmlns:a16="http://schemas.microsoft.com/office/drawing/2014/main" id="{290A6637-F08A-C754-3FBF-28965DC54F59}"/>
                  </a:ext>
                </a:extLst>
              </p:cNvPr>
              <p:cNvSpPr/>
              <p:nvPr/>
            </p:nvSpPr>
            <p:spPr>
              <a:xfrm>
                <a:off x="5723036" y="1825713"/>
                <a:ext cx="562361" cy="479453"/>
              </a:xfrm>
              <a:prstGeom prst="roundRect">
                <a:avLst/>
              </a:prstGeom>
              <a:ln w="15875">
                <a:solidFill>
                  <a:srgbClr val="E07A5F"/>
                </a:solidFill>
              </a:ln>
            </p:spPr>
            <p:style>
              <a:lnRef idx="2">
                <a:schemeClr val="accent6"/>
              </a:lnRef>
              <a:fillRef idx="1">
                <a:schemeClr val="lt1"/>
              </a:fillRef>
              <a:effectRef idx="0">
                <a:schemeClr val="accent6"/>
              </a:effectRef>
              <a:fontRef idx="minor">
                <a:schemeClr val="dk1"/>
              </a:fontRef>
            </p:style>
            <p:txBody>
              <a:bodyPr rtlCol="0" anchor="ctr"/>
              <a:lstStyle/>
              <a:p>
                <a:pPr algn="ctr"/>
                <a14:m>
                  <m:oMathPara xmlns:m="http://schemas.openxmlformats.org/officeDocument/2006/math">
                    <m:oMathParaPr>
                      <m:jc m:val="centerGroup"/>
                    </m:oMathParaPr>
                    <m:oMath xmlns:m="http://schemas.openxmlformats.org/officeDocument/2006/math">
                      <m:nary>
                        <m:naryPr>
                          <m:limLoc m:val="undOvr"/>
                          <m:subHide m:val="on"/>
                          <m:supHide m:val="on"/>
                          <m:ctrlPr>
                            <a:rPr lang="en-US" sz="1200" i="1" noProof="1" smtClean="0">
                              <a:solidFill>
                                <a:srgbClr val="E07A5F"/>
                              </a:solidFill>
                              <a:latin typeface="Cambria Math" panose="02040503050406030204" pitchFamily="18" charset="0"/>
                            </a:rPr>
                          </m:ctrlPr>
                        </m:naryPr>
                        <m:sub/>
                        <m:sup/>
                        <m:e>
                          <m:r>
                            <a:rPr lang="en-US" sz="1200" b="0" i="1" noProof="1" smtClean="0">
                              <a:solidFill>
                                <a:srgbClr val="E07A5F"/>
                              </a:solidFill>
                              <a:latin typeface="Cambria Math" panose="02040503050406030204" pitchFamily="18" charset="0"/>
                            </a:rPr>
                            <m:t>𝑑𝑡</m:t>
                          </m:r>
                        </m:e>
                      </m:nary>
                    </m:oMath>
                  </m:oMathPara>
                </a14:m>
                <a:endParaRPr lang="en-US" sz="1200" noProof="1">
                  <a:solidFill>
                    <a:srgbClr val="1D3456"/>
                  </a:solidFill>
                </a:endParaRPr>
              </a:p>
            </p:txBody>
          </p:sp>
        </mc:Choice>
        <mc:Fallback xmlns="">
          <p:sp>
            <p:nvSpPr>
              <p:cNvPr id="10" name="Rounded Rectangle 6">
                <a:extLst>
                  <a:ext uri="{FF2B5EF4-FFF2-40B4-BE49-F238E27FC236}">
                    <a16:creationId xmlns:a16="http://schemas.microsoft.com/office/drawing/2014/main" id="{290A6637-F08A-C754-3FBF-28965DC54F59}"/>
                  </a:ext>
                </a:extLst>
              </p:cNvPr>
              <p:cNvSpPr>
                <a:spLocks noRot="1" noChangeAspect="1" noMove="1" noResize="1" noEditPoints="1" noAdjustHandles="1" noChangeArrowheads="1" noChangeShapeType="1" noTextEdit="1"/>
              </p:cNvSpPr>
              <p:nvPr/>
            </p:nvSpPr>
            <p:spPr>
              <a:xfrm>
                <a:off x="5723036" y="1825713"/>
                <a:ext cx="562361" cy="479453"/>
              </a:xfrm>
              <a:prstGeom prst="roundRect">
                <a:avLst/>
              </a:prstGeom>
              <a:blipFill>
                <a:blip r:embed="rId11"/>
                <a:stretch>
                  <a:fillRect l="-93684" t="-151220" r="-91579" b="-210976"/>
                </a:stretch>
              </a:blipFill>
              <a:ln w="15875">
                <a:solidFill>
                  <a:srgbClr val="E07A5F"/>
                </a:solidFill>
              </a:ln>
            </p:spPr>
            <p:txBody>
              <a:bodyPr/>
              <a:lstStyle/>
              <a:p>
                <a:r>
                  <a:rPr lang="th-TH">
                    <a:noFill/>
                  </a:rPr>
                  <a:t> </a:t>
                </a:r>
              </a:p>
            </p:txBody>
          </p:sp>
        </mc:Fallback>
      </mc:AlternateContent>
      <p:cxnSp>
        <p:nvCxnSpPr>
          <p:cNvPr id="22" name="Straight Connector 21">
            <a:extLst>
              <a:ext uri="{FF2B5EF4-FFF2-40B4-BE49-F238E27FC236}">
                <a16:creationId xmlns:a16="http://schemas.microsoft.com/office/drawing/2014/main" id="{F7DE95CE-F893-98FB-5284-FFA05CB333F2}"/>
              </a:ext>
            </a:extLst>
          </p:cNvPr>
          <p:cNvCxnSpPr>
            <a:cxnSpLocks/>
          </p:cNvCxnSpPr>
          <p:nvPr/>
        </p:nvCxnSpPr>
        <p:spPr>
          <a:xfrm flipH="1">
            <a:off x="1542448" y="2058297"/>
            <a:ext cx="408625" cy="0"/>
          </a:xfrm>
          <a:prstGeom prst="line">
            <a:avLst/>
          </a:prstGeom>
          <a:ln>
            <a:solidFill>
              <a:srgbClr val="289D8F"/>
            </a:solidFill>
          </a:ln>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03518C3A-A1A4-0847-9CBF-2B3B364D0803}"/>
              </a:ext>
            </a:extLst>
          </p:cNvPr>
          <p:cNvCxnSpPr>
            <a:cxnSpLocks/>
          </p:cNvCxnSpPr>
          <p:nvPr/>
        </p:nvCxnSpPr>
        <p:spPr>
          <a:xfrm flipH="1">
            <a:off x="3068568" y="2065439"/>
            <a:ext cx="546272" cy="5455"/>
          </a:xfrm>
          <a:prstGeom prst="line">
            <a:avLst/>
          </a:prstGeom>
          <a:ln>
            <a:solidFill>
              <a:srgbClr val="289D8F"/>
            </a:solidFill>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9923E664-6C93-765F-C5E1-55DF9A91F495}"/>
              </a:ext>
            </a:extLst>
          </p:cNvPr>
          <p:cNvCxnSpPr>
            <a:cxnSpLocks/>
            <a:endCxn id="13" idx="1"/>
          </p:cNvCxnSpPr>
          <p:nvPr/>
        </p:nvCxnSpPr>
        <p:spPr>
          <a:xfrm>
            <a:off x="3602345" y="2052712"/>
            <a:ext cx="202237" cy="601148"/>
          </a:xfrm>
          <a:prstGeom prst="straightConnector1">
            <a:avLst/>
          </a:prstGeom>
          <a:ln>
            <a:solidFill>
              <a:srgbClr val="289D8F"/>
            </a:solidFill>
            <a:tailEnd type="triangle"/>
          </a:ln>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EEAE1DFE-22DB-FE81-3D1B-9F671DF47F04}"/>
              </a:ext>
            </a:extLst>
          </p:cNvPr>
          <p:cNvCxnSpPr>
            <a:cxnSpLocks/>
          </p:cNvCxnSpPr>
          <p:nvPr/>
        </p:nvCxnSpPr>
        <p:spPr>
          <a:xfrm flipH="1">
            <a:off x="6284751" y="2058167"/>
            <a:ext cx="478126" cy="0"/>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84" name="Straight Connector 83">
            <a:extLst>
              <a:ext uri="{FF2B5EF4-FFF2-40B4-BE49-F238E27FC236}">
                <a16:creationId xmlns:a16="http://schemas.microsoft.com/office/drawing/2014/main" id="{14AC2024-3019-DE4E-8490-04AFDA51D1EF}"/>
              </a:ext>
            </a:extLst>
          </p:cNvPr>
          <p:cNvCxnSpPr>
            <a:cxnSpLocks/>
            <a:stCxn id="10" idx="1"/>
            <a:endCxn id="8" idx="3"/>
          </p:cNvCxnSpPr>
          <p:nvPr/>
        </p:nvCxnSpPr>
        <p:spPr>
          <a:xfrm flipH="1">
            <a:off x="5400964" y="2065440"/>
            <a:ext cx="322072" cy="0"/>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89" name="Straight Arrow Connector 88">
            <a:extLst>
              <a:ext uri="{FF2B5EF4-FFF2-40B4-BE49-F238E27FC236}">
                <a16:creationId xmlns:a16="http://schemas.microsoft.com/office/drawing/2014/main" id="{40889F48-BD4C-43DD-A393-9ACFCB772F49}"/>
              </a:ext>
            </a:extLst>
          </p:cNvPr>
          <p:cNvCxnSpPr>
            <a:cxnSpLocks/>
            <a:endCxn id="13" idx="7"/>
          </p:cNvCxnSpPr>
          <p:nvPr/>
        </p:nvCxnSpPr>
        <p:spPr>
          <a:xfrm flipH="1">
            <a:off x="3995500" y="2065440"/>
            <a:ext cx="184391" cy="58842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94" name="Straight Connector 93">
            <a:extLst>
              <a:ext uri="{FF2B5EF4-FFF2-40B4-BE49-F238E27FC236}">
                <a16:creationId xmlns:a16="http://schemas.microsoft.com/office/drawing/2014/main" id="{A53CBCB2-535A-6F6F-D3F1-B3BD79F26669}"/>
              </a:ext>
            </a:extLst>
          </p:cNvPr>
          <p:cNvCxnSpPr>
            <a:cxnSpLocks/>
            <a:stCxn id="8" idx="1"/>
          </p:cNvCxnSpPr>
          <p:nvPr/>
        </p:nvCxnSpPr>
        <p:spPr>
          <a:xfrm flipH="1">
            <a:off x="4173394" y="2065440"/>
            <a:ext cx="122744" cy="0"/>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8" name="TextBox 107">
                <a:extLst>
                  <a:ext uri="{FF2B5EF4-FFF2-40B4-BE49-F238E27FC236}">
                    <a16:creationId xmlns:a16="http://schemas.microsoft.com/office/drawing/2014/main" id="{FD2ED9FA-BF7B-F8F1-9EEA-257675535733}"/>
                  </a:ext>
                </a:extLst>
              </p:cNvPr>
              <p:cNvSpPr txBox="1"/>
              <p:nvPr/>
            </p:nvSpPr>
            <p:spPr>
              <a:xfrm>
                <a:off x="1114846" y="2450663"/>
                <a:ext cx="243848"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en-US" sz="1400" b="0" i="1" noProof="1" dirty="0" smtClean="0">
                              <a:solidFill>
                                <a:srgbClr val="1D3456"/>
                              </a:solidFill>
                              <a:latin typeface="Cambria Math" panose="02040503050406030204" pitchFamily="18" charset="0"/>
                              <a:ea typeface="Cambria Math" panose="02040503050406030204" pitchFamily="18" charset="0"/>
                            </a:rPr>
                          </m:ctrlPr>
                        </m:sSupPr>
                        <m:e>
                          <m:r>
                            <a:rPr lang="en-US" sz="1400" b="0" i="1" noProof="1" dirty="0" smtClean="0">
                              <a:solidFill>
                                <a:srgbClr val="1D3456"/>
                              </a:solidFill>
                              <a:latin typeface="Cambria Math" panose="02040503050406030204" pitchFamily="18" charset="0"/>
                              <a:ea typeface="Cambria Math" panose="02040503050406030204" pitchFamily="18" charset="0"/>
                            </a:rPr>
                            <m:t>𝜔</m:t>
                          </m:r>
                        </m:e>
                        <m:sup>
                          <m:r>
                            <a:rPr lang="en-US" sz="1400" b="0" i="1" noProof="1" dirty="0" smtClean="0">
                              <a:solidFill>
                                <a:srgbClr val="1D3456"/>
                              </a:solidFill>
                              <a:latin typeface="Cambria Math" panose="02040503050406030204" pitchFamily="18" charset="0"/>
                              <a:ea typeface="Cambria Math" panose="02040503050406030204" pitchFamily="18" charset="0"/>
                            </a:rPr>
                            <m:t>∗</m:t>
                          </m:r>
                        </m:sup>
                      </m:sSup>
                    </m:oMath>
                  </m:oMathPara>
                </a14:m>
                <a:endParaRPr lang="en-US" sz="1400" noProof="1"/>
              </a:p>
            </p:txBody>
          </p:sp>
        </mc:Choice>
        <mc:Fallback xmlns="">
          <p:sp>
            <p:nvSpPr>
              <p:cNvPr id="108" name="TextBox 107">
                <a:extLst>
                  <a:ext uri="{FF2B5EF4-FFF2-40B4-BE49-F238E27FC236}">
                    <a16:creationId xmlns:a16="http://schemas.microsoft.com/office/drawing/2014/main" id="{FD2ED9FA-BF7B-F8F1-9EEA-257675535733}"/>
                  </a:ext>
                </a:extLst>
              </p:cNvPr>
              <p:cNvSpPr txBox="1">
                <a:spLocks noRot="1" noChangeAspect="1" noMove="1" noResize="1" noEditPoints="1" noAdjustHandles="1" noChangeArrowheads="1" noChangeShapeType="1" noTextEdit="1"/>
              </p:cNvSpPr>
              <p:nvPr/>
            </p:nvSpPr>
            <p:spPr>
              <a:xfrm>
                <a:off x="1114846" y="2450663"/>
                <a:ext cx="243848" cy="215444"/>
              </a:xfrm>
              <a:prstGeom prst="rect">
                <a:avLst/>
              </a:prstGeom>
              <a:blipFill>
                <a:blip r:embed="rId12"/>
                <a:stretch>
                  <a:fillRect l="-12500"/>
                </a:stretch>
              </a:blipFill>
            </p:spPr>
            <p:txBody>
              <a:bodyPr/>
              <a:lstStyle/>
              <a:p>
                <a:r>
                  <a:rPr lang="th-TH">
                    <a:noFill/>
                  </a:rPr>
                  <a:t> </a:t>
                </a:r>
              </a:p>
            </p:txBody>
          </p:sp>
        </mc:Fallback>
      </mc:AlternateContent>
      <p:sp>
        <p:nvSpPr>
          <p:cNvPr id="28" name="Rounded Rectangle 6">
            <a:extLst>
              <a:ext uri="{FF2B5EF4-FFF2-40B4-BE49-F238E27FC236}">
                <a16:creationId xmlns:a16="http://schemas.microsoft.com/office/drawing/2014/main" id="{6E1EDA26-FA6D-A8FC-393A-7747761FAECA}"/>
              </a:ext>
            </a:extLst>
          </p:cNvPr>
          <p:cNvSpPr/>
          <p:nvPr/>
        </p:nvSpPr>
        <p:spPr>
          <a:xfrm>
            <a:off x="8281551" y="2435104"/>
            <a:ext cx="1104826" cy="616091"/>
          </a:xfrm>
          <a:prstGeom prst="roundRect">
            <a:avLst/>
          </a:prstGeom>
          <a:ln w="15875">
            <a:solidFill>
              <a:srgbClr val="289D8F"/>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200" noProof="1">
                <a:solidFill>
                  <a:srgbClr val="289D8F"/>
                </a:solidFill>
              </a:rPr>
              <a:t>Reference feedforward (ML)</a:t>
            </a:r>
          </a:p>
        </p:txBody>
      </p:sp>
      <p:cxnSp>
        <p:nvCxnSpPr>
          <p:cNvPr id="29" name="Straight Arrow Connector 28">
            <a:extLst>
              <a:ext uri="{FF2B5EF4-FFF2-40B4-BE49-F238E27FC236}">
                <a16:creationId xmlns:a16="http://schemas.microsoft.com/office/drawing/2014/main" id="{0C67CF59-8A02-4B58-29C7-ECF92E5B4074}"/>
              </a:ext>
            </a:extLst>
          </p:cNvPr>
          <p:cNvCxnSpPr>
            <a:cxnSpLocks/>
          </p:cNvCxnSpPr>
          <p:nvPr/>
        </p:nvCxnSpPr>
        <p:spPr>
          <a:xfrm>
            <a:off x="7817756" y="2714612"/>
            <a:ext cx="463795" cy="6982"/>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30" name="Straight Arrow Connector 29">
            <a:extLst>
              <a:ext uri="{FF2B5EF4-FFF2-40B4-BE49-F238E27FC236}">
                <a16:creationId xmlns:a16="http://schemas.microsoft.com/office/drawing/2014/main" id="{585A3ED2-2586-B131-BBE4-CF33ECFFC04B}"/>
              </a:ext>
            </a:extLst>
          </p:cNvPr>
          <p:cNvCxnSpPr>
            <a:cxnSpLocks/>
          </p:cNvCxnSpPr>
          <p:nvPr/>
        </p:nvCxnSpPr>
        <p:spPr>
          <a:xfrm>
            <a:off x="9386377" y="2721594"/>
            <a:ext cx="63000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31" name="TextBox 30">
                <a:extLst>
                  <a:ext uri="{FF2B5EF4-FFF2-40B4-BE49-F238E27FC236}">
                    <a16:creationId xmlns:a16="http://schemas.microsoft.com/office/drawing/2014/main" id="{D8BE7E56-FDB8-5FA4-AC84-0FAD4F7B7C77}"/>
                  </a:ext>
                </a:extLst>
              </p:cNvPr>
              <p:cNvSpPr txBox="1"/>
              <p:nvPr/>
            </p:nvSpPr>
            <p:spPr>
              <a:xfrm>
                <a:off x="7896597" y="2435104"/>
                <a:ext cx="243848"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en-US" sz="1400" b="0" i="1" noProof="1" dirty="0" smtClean="0">
                              <a:solidFill>
                                <a:srgbClr val="1D3456"/>
                              </a:solidFill>
                              <a:latin typeface="Cambria Math" panose="02040503050406030204" pitchFamily="18" charset="0"/>
                              <a:ea typeface="Cambria Math" panose="02040503050406030204" pitchFamily="18" charset="0"/>
                            </a:rPr>
                          </m:ctrlPr>
                        </m:sSupPr>
                        <m:e>
                          <m:r>
                            <a:rPr lang="en-US" sz="1400" b="0" i="1" noProof="1" dirty="0" smtClean="0">
                              <a:solidFill>
                                <a:srgbClr val="1D3456"/>
                              </a:solidFill>
                              <a:latin typeface="Cambria Math" panose="02040503050406030204" pitchFamily="18" charset="0"/>
                              <a:ea typeface="Cambria Math" panose="02040503050406030204" pitchFamily="18" charset="0"/>
                            </a:rPr>
                            <m:t>𝜔</m:t>
                          </m:r>
                        </m:e>
                        <m:sup>
                          <m:r>
                            <a:rPr lang="en-US" sz="1400" b="0" i="1" noProof="1" dirty="0" smtClean="0">
                              <a:solidFill>
                                <a:srgbClr val="1D3456"/>
                              </a:solidFill>
                              <a:latin typeface="Cambria Math" panose="02040503050406030204" pitchFamily="18" charset="0"/>
                              <a:ea typeface="Cambria Math" panose="02040503050406030204" pitchFamily="18" charset="0"/>
                            </a:rPr>
                            <m:t>∗</m:t>
                          </m:r>
                        </m:sup>
                      </m:sSup>
                    </m:oMath>
                  </m:oMathPara>
                </a14:m>
                <a:endParaRPr lang="en-US" sz="1400" noProof="1"/>
              </a:p>
            </p:txBody>
          </p:sp>
        </mc:Choice>
        <mc:Fallback>
          <p:sp>
            <p:nvSpPr>
              <p:cNvPr id="31" name="TextBox 30">
                <a:extLst>
                  <a:ext uri="{FF2B5EF4-FFF2-40B4-BE49-F238E27FC236}">
                    <a16:creationId xmlns:a16="http://schemas.microsoft.com/office/drawing/2014/main" id="{D8BE7E56-FDB8-5FA4-AC84-0FAD4F7B7C77}"/>
                  </a:ext>
                </a:extLst>
              </p:cNvPr>
              <p:cNvSpPr txBox="1">
                <a:spLocks noRot="1" noChangeAspect="1" noMove="1" noResize="1" noEditPoints="1" noAdjustHandles="1" noChangeArrowheads="1" noChangeShapeType="1" noTextEdit="1"/>
              </p:cNvSpPr>
              <p:nvPr/>
            </p:nvSpPr>
            <p:spPr>
              <a:xfrm>
                <a:off x="7896597" y="2435104"/>
                <a:ext cx="243848" cy="215444"/>
              </a:xfrm>
              <a:prstGeom prst="rect">
                <a:avLst/>
              </a:prstGeom>
              <a:blipFill>
                <a:blip r:embed="rId13"/>
                <a:stretch>
                  <a:fillRect l="-10000" r="-2500"/>
                </a:stretch>
              </a:blipFill>
            </p:spPr>
            <p:txBody>
              <a:bodyPr/>
              <a:lstStyle/>
              <a:p>
                <a:r>
                  <a:rPr lang="th-TH">
                    <a:noFill/>
                  </a:rPr>
                  <a:t> </a:t>
                </a:r>
              </a:p>
            </p:txBody>
          </p:sp>
        </mc:Fallback>
      </mc:AlternateContent>
      <mc:AlternateContent xmlns:mc="http://schemas.openxmlformats.org/markup-compatibility/2006">
        <mc:Choice xmlns:a14="http://schemas.microsoft.com/office/drawing/2010/main" Requires="a14">
          <p:sp>
            <p:nvSpPr>
              <p:cNvPr id="32" name="TextBox 31">
                <a:extLst>
                  <a:ext uri="{FF2B5EF4-FFF2-40B4-BE49-F238E27FC236}">
                    <a16:creationId xmlns:a16="http://schemas.microsoft.com/office/drawing/2014/main" id="{25D7B240-EE63-A83F-2E35-68280DF25CD2}"/>
                  </a:ext>
                </a:extLst>
              </p:cNvPr>
              <p:cNvSpPr txBox="1"/>
              <p:nvPr/>
            </p:nvSpPr>
            <p:spPr>
              <a:xfrm>
                <a:off x="9522674" y="2442039"/>
                <a:ext cx="357406" cy="23269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400" i="1" noProof="1" dirty="0" smtClean="0">
                              <a:solidFill>
                                <a:srgbClr val="1D3456"/>
                              </a:solidFill>
                              <a:latin typeface="Cambria Math" panose="02040503050406030204" pitchFamily="18" charset="0"/>
                            </a:rPr>
                          </m:ctrlPr>
                        </m:sSubPr>
                        <m:e>
                          <m:r>
                            <a:rPr lang="en-US" sz="1400" b="0" i="1" noProof="1" dirty="0" smtClean="0">
                              <a:solidFill>
                                <a:srgbClr val="1D3456"/>
                              </a:solidFill>
                              <a:latin typeface="Cambria Math" panose="02040503050406030204" pitchFamily="18" charset="0"/>
                            </a:rPr>
                            <m:t>𝑉</m:t>
                          </m:r>
                        </m:e>
                        <m:sub>
                          <m:r>
                            <a:rPr lang="en-US" sz="1400" b="0" i="1" noProof="1" dirty="0" smtClean="0">
                              <a:solidFill>
                                <a:srgbClr val="1D3456"/>
                              </a:solidFill>
                              <a:latin typeface="Cambria Math" panose="02040503050406030204" pitchFamily="18" charset="0"/>
                            </a:rPr>
                            <m:t>𝑟𝑒𝑓</m:t>
                          </m:r>
                        </m:sub>
                      </m:sSub>
                    </m:oMath>
                  </m:oMathPara>
                </a14:m>
                <a:endParaRPr lang="en-US" sz="1400" noProof="1"/>
              </a:p>
            </p:txBody>
          </p:sp>
        </mc:Choice>
        <mc:Fallback>
          <p:sp>
            <p:nvSpPr>
              <p:cNvPr id="32" name="TextBox 31">
                <a:extLst>
                  <a:ext uri="{FF2B5EF4-FFF2-40B4-BE49-F238E27FC236}">
                    <a16:creationId xmlns:a16="http://schemas.microsoft.com/office/drawing/2014/main" id="{25D7B240-EE63-A83F-2E35-68280DF25CD2}"/>
                  </a:ext>
                </a:extLst>
              </p:cNvPr>
              <p:cNvSpPr txBox="1">
                <a:spLocks noRot="1" noChangeAspect="1" noMove="1" noResize="1" noEditPoints="1" noAdjustHandles="1" noChangeArrowheads="1" noChangeShapeType="1" noTextEdit="1"/>
              </p:cNvSpPr>
              <p:nvPr/>
            </p:nvSpPr>
            <p:spPr>
              <a:xfrm>
                <a:off x="9522674" y="2442039"/>
                <a:ext cx="357406" cy="232692"/>
              </a:xfrm>
              <a:prstGeom prst="rect">
                <a:avLst/>
              </a:prstGeom>
              <a:blipFill>
                <a:blip r:embed="rId14"/>
                <a:stretch>
                  <a:fillRect l="-10169" r="-6780" b="-23684"/>
                </a:stretch>
              </a:blipFill>
            </p:spPr>
            <p:txBody>
              <a:bodyPr/>
              <a:lstStyle/>
              <a:p>
                <a:r>
                  <a:rPr lang="th-TH">
                    <a:noFill/>
                  </a:rPr>
                  <a:t> </a:t>
                </a:r>
              </a:p>
            </p:txBody>
          </p:sp>
        </mc:Fallback>
      </mc:AlternateContent>
      <p:sp>
        <p:nvSpPr>
          <p:cNvPr id="34" name="Rectangle 33">
            <a:extLst>
              <a:ext uri="{FF2B5EF4-FFF2-40B4-BE49-F238E27FC236}">
                <a16:creationId xmlns:a16="http://schemas.microsoft.com/office/drawing/2014/main" id="{BED983AE-C7AF-4728-F891-D67C45DD3B12}"/>
              </a:ext>
            </a:extLst>
          </p:cNvPr>
          <p:cNvSpPr/>
          <p:nvPr/>
        </p:nvSpPr>
        <p:spPr>
          <a:xfrm>
            <a:off x="7613514" y="1825712"/>
            <a:ext cx="45719" cy="1439997"/>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graphicFrame>
        <p:nvGraphicFramePr>
          <p:cNvPr id="5" name="Table 10">
            <a:extLst>
              <a:ext uri="{FF2B5EF4-FFF2-40B4-BE49-F238E27FC236}">
                <a16:creationId xmlns:a16="http://schemas.microsoft.com/office/drawing/2014/main" id="{A92D1614-85EC-4C2F-8691-BB3F1F4F31EB}"/>
              </a:ext>
            </a:extLst>
          </p:cNvPr>
          <p:cNvGraphicFramePr>
            <a:graphicFrameLocks noGrp="1"/>
          </p:cNvGraphicFramePr>
          <p:nvPr>
            <p:extLst>
              <p:ext uri="{D42A27DB-BD31-4B8C-83A1-F6EECF244321}">
                <p14:modId xmlns:p14="http://schemas.microsoft.com/office/powerpoint/2010/main" val="2560091905"/>
              </p:ext>
            </p:extLst>
          </p:nvPr>
        </p:nvGraphicFramePr>
        <p:xfrm>
          <a:off x="10195736" y="1898592"/>
          <a:ext cx="1720918" cy="1371600"/>
        </p:xfrm>
        <a:graphic>
          <a:graphicData uri="http://schemas.openxmlformats.org/drawingml/2006/table">
            <a:tbl>
              <a:tblPr firstRow="1" bandRow="1">
                <a:tableStyleId>{7DF18680-E054-41AD-8BC1-D1AEF772440D}</a:tableStyleId>
              </a:tblPr>
              <a:tblGrid>
                <a:gridCol w="860459">
                  <a:extLst>
                    <a:ext uri="{9D8B030D-6E8A-4147-A177-3AD203B41FA5}">
                      <a16:colId xmlns:a16="http://schemas.microsoft.com/office/drawing/2014/main" val="2133259021"/>
                    </a:ext>
                  </a:extLst>
                </a:gridCol>
                <a:gridCol w="860459">
                  <a:extLst>
                    <a:ext uri="{9D8B030D-6E8A-4147-A177-3AD203B41FA5}">
                      <a16:colId xmlns:a16="http://schemas.microsoft.com/office/drawing/2014/main" val="2041266898"/>
                    </a:ext>
                  </a:extLst>
                </a:gridCol>
              </a:tblGrid>
              <a:tr h="250981">
                <a:tc>
                  <a:txBody>
                    <a:bodyPr/>
                    <a:lstStyle/>
                    <a:p>
                      <a:r>
                        <a:rPr lang="en-US" sz="1200" dirty="0">
                          <a:solidFill>
                            <a:schemeClr val="tx1"/>
                          </a:solidFill>
                        </a:rPr>
                        <a:t>Voltage</a:t>
                      </a:r>
                      <a:endParaRPr lang="th-TH" sz="1200" dirty="0">
                        <a:solidFill>
                          <a:schemeClr val="tx1"/>
                        </a:solidFill>
                        <a:latin typeface="+mj-lt"/>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r>
                        <a:rPr lang="en-US" sz="1200" dirty="0">
                          <a:solidFill>
                            <a:schemeClr val="tx1"/>
                          </a:solidFill>
                        </a:rPr>
                        <a:t>Speed</a:t>
                      </a:r>
                      <a:endParaRPr lang="th-TH" sz="1200" dirty="0">
                        <a:solidFill>
                          <a:schemeClr val="tx1"/>
                        </a:solidFill>
                        <a:latin typeface="+mj-lt"/>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161552786"/>
                  </a:ext>
                </a:extLst>
              </a:tr>
              <a:tr h="250981">
                <a:tc>
                  <a:txBody>
                    <a:bodyPr/>
                    <a:lstStyle/>
                    <a:p>
                      <a:r>
                        <a:rPr lang="en-US" sz="1200" dirty="0">
                          <a:solidFill>
                            <a:schemeClr val="tx1"/>
                          </a:solidFill>
                        </a:rPr>
                        <a:t>1.0</a:t>
                      </a:r>
                      <a:endParaRPr lang="th-TH" sz="1200" dirty="0">
                        <a:solidFill>
                          <a:schemeClr val="tx1"/>
                        </a:solidFill>
                        <a:latin typeface="+mj-lt"/>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r>
                        <a:rPr lang="en-US" sz="1200" dirty="0">
                          <a:solidFill>
                            <a:schemeClr val="tx1"/>
                          </a:solidFill>
                        </a:rPr>
                        <a:t>1.0</a:t>
                      </a:r>
                      <a:endParaRPr lang="th-TH" sz="1200" dirty="0">
                        <a:solidFill>
                          <a:schemeClr val="tx1"/>
                        </a:solidFill>
                        <a:latin typeface="+mj-lt"/>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85147760"/>
                  </a:ext>
                </a:extLst>
              </a:tr>
              <a:tr h="250981">
                <a:tc>
                  <a:txBody>
                    <a:bodyPr/>
                    <a:lstStyle/>
                    <a:p>
                      <a:r>
                        <a:rPr lang="en-US" sz="1200" dirty="0">
                          <a:solidFill>
                            <a:schemeClr val="tx1"/>
                          </a:solidFill>
                        </a:rPr>
                        <a:t>2.0</a:t>
                      </a:r>
                      <a:endParaRPr lang="th-TH" sz="1200" dirty="0">
                        <a:solidFill>
                          <a:schemeClr val="tx1"/>
                        </a:solidFill>
                        <a:latin typeface="+mj-lt"/>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r>
                        <a:rPr lang="en-US" sz="1200" dirty="0">
                          <a:solidFill>
                            <a:schemeClr val="tx1"/>
                          </a:solidFill>
                        </a:rPr>
                        <a:t>2.0</a:t>
                      </a:r>
                      <a:endParaRPr lang="th-TH" sz="1200" dirty="0">
                        <a:solidFill>
                          <a:schemeClr val="tx1"/>
                        </a:solidFill>
                        <a:latin typeface="+mj-lt"/>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39787492"/>
                  </a:ext>
                </a:extLst>
              </a:tr>
              <a:tr h="250981">
                <a:tc>
                  <a:txBody>
                    <a:bodyPr/>
                    <a:lstStyle/>
                    <a:p>
                      <a:r>
                        <a:rPr lang="en-US" sz="1200" dirty="0">
                          <a:solidFill>
                            <a:schemeClr val="tx1"/>
                          </a:solidFill>
                        </a:rPr>
                        <a:t>3.0</a:t>
                      </a:r>
                      <a:endParaRPr lang="th-TH" sz="1200" dirty="0">
                        <a:solidFill>
                          <a:schemeClr val="tx1"/>
                        </a:solidFill>
                        <a:latin typeface="+mj-lt"/>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r>
                        <a:rPr lang="en-US" sz="1200" dirty="0">
                          <a:solidFill>
                            <a:schemeClr val="tx1"/>
                          </a:solidFill>
                        </a:rPr>
                        <a:t>3.0</a:t>
                      </a:r>
                      <a:endParaRPr lang="th-TH" sz="1200" dirty="0">
                        <a:solidFill>
                          <a:schemeClr val="tx1"/>
                        </a:solidFill>
                        <a:latin typeface="+mj-lt"/>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83922525"/>
                  </a:ext>
                </a:extLst>
              </a:tr>
              <a:tr h="250981">
                <a:tc>
                  <a:txBody>
                    <a:bodyPr/>
                    <a:lstStyle/>
                    <a:p>
                      <a:r>
                        <a:rPr lang="en-US" sz="1200" dirty="0">
                          <a:solidFill>
                            <a:schemeClr val="tx1"/>
                          </a:solidFill>
                        </a:rPr>
                        <a:t>???</a:t>
                      </a:r>
                      <a:endParaRPr lang="th-TH" sz="1200" dirty="0">
                        <a:solidFill>
                          <a:schemeClr val="tx1"/>
                        </a:solidFill>
                        <a:latin typeface="+mj-lt"/>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r>
                        <a:rPr lang="en-US" sz="1200" dirty="0">
                          <a:solidFill>
                            <a:schemeClr val="tx1"/>
                          </a:solidFill>
                        </a:rPr>
                        <a:t>4.0</a:t>
                      </a:r>
                      <a:endParaRPr lang="th-TH" sz="1200" dirty="0">
                        <a:solidFill>
                          <a:schemeClr val="tx1"/>
                        </a:solidFill>
                        <a:latin typeface="+mj-lt"/>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94247845"/>
                  </a:ext>
                </a:extLst>
              </a:tr>
            </a:tbl>
          </a:graphicData>
        </a:graphic>
      </p:graphicFrame>
    </p:spTree>
    <p:extLst>
      <p:ext uri="{BB962C8B-B14F-4D97-AF65-F5344CB8AC3E}">
        <p14:creationId xmlns:p14="http://schemas.microsoft.com/office/powerpoint/2010/main" val="14286811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BFAF6"/>
        </a:solidFill>
        <a:effectLst/>
      </p:bgPr>
    </p:bg>
    <p:spTree>
      <p:nvGrpSpPr>
        <p:cNvPr id="1" name="">
          <a:extLst>
            <a:ext uri="{FF2B5EF4-FFF2-40B4-BE49-F238E27FC236}">
              <a16:creationId xmlns:a16="http://schemas.microsoft.com/office/drawing/2014/main" id="{9E4FE765-C6B0-327A-9CC3-286235B224B2}"/>
            </a:ext>
          </a:extLst>
        </p:cNvPr>
        <p:cNvGrpSpPr/>
        <p:nvPr/>
      </p:nvGrpSpPr>
      <p:grpSpPr>
        <a:xfrm>
          <a:off x="0" y="0"/>
          <a:ext cx="0" cy="0"/>
          <a:chOff x="0" y="0"/>
          <a:chExt cx="0" cy="0"/>
        </a:xfrm>
      </p:grpSpPr>
      <p:pic>
        <p:nvPicPr>
          <p:cNvPr id="78" name="Picture 77">
            <a:extLst>
              <a:ext uri="{FF2B5EF4-FFF2-40B4-BE49-F238E27FC236}">
                <a16:creationId xmlns:a16="http://schemas.microsoft.com/office/drawing/2014/main" id="{F1C2C6F9-60C1-81B0-8B25-9AA6BFF4A658}"/>
              </a:ext>
            </a:extLst>
          </p:cNvPr>
          <p:cNvPicPr>
            <a:picLocks noChangeAspect="1"/>
          </p:cNvPicPr>
          <p:nvPr/>
        </p:nvPicPr>
        <p:blipFill>
          <a:blip r:embed="rId2"/>
          <a:stretch>
            <a:fillRect/>
          </a:stretch>
        </p:blipFill>
        <p:spPr>
          <a:xfrm>
            <a:off x="9842589" y="1294357"/>
            <a:ext cx="2226372" cy="2226372"/>
          </a:xfrm>
          <a:prstGeom prst="rect">
            <a:avLst/>
          </a:prstGeom>
        </p:spPr>
      </p:pic>
      <p:pic>
        <p:nvPicPr>
          <p:cNvPr id="79" name="Picture 78">
            <a:extLst>
              <a:ext uri="{FF2B5EF4-FFF2-40B4-BE49-F238E27FC236}">
                <a16:creationId xmlns:a16="http://schemas.microsoft.com/office/drawing/2014/main" id="{3B616458-C926-12EF-E3A2-A1051FE3127C}"/>
              </a:ext>
            </a:extLst>
          </p:cNvPr>
          <p:cNvPicPr>
            <a:picLocks noChangeAspect="1"/>
          </p:cNvPicPr>
          <p:nvPr/>
        </p:nvPicPr>
        <p:blipFill>
          <a:blip r:embed="rId3"/>
          <a:stretch>
            <a:fillRect/>
          </a:stretch>
        </p:blipFill>
        <p:spPr>
          <a:xfrm>
            <a:off x="7490123" y="1256019"/>
            <a:ext cx="2266795" cy="2266795"/>
          </a:xfrm>
          <a:prstGeom prst="rect">
            <a:avLst/>
          </a:prstGeom>
        </p:spPr>
      </p:pic>
      <p:sp>
        <p:nvSpPr>
          <p:cNvPr id="2" name="Rectangle 1">
            <a:extLst>
              <a:ext uri="{FF2B5EF4-FFF2-40B4-BE49-F238E27FC236}">
                <a16:creationId xmlns:a16="http://schemas.microsoft.com/office/drawing/2014/main" id="{7EFD5779-2163-A65E-10BB-E093B97B8047}"/>
              </a:ext>
            </a:extLst>
          </p:cNvPr>
          <p:cNvSpPr/>
          <p:nvPr/>
        </p:nvSpPr>
        <p:spPr>
          <a:xfrm>
            <a:off x="566928" y="502920"/>
            <a:ext cx="17780" cy="5852160"/>
          </a:xfrm>
          <a:prstGeom prst="rect">
            <a:avLst/>
          </a:prstGeom>
          <a:solidFill>
            <a:srgbClr val="D9D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3" name="Rectangle 2">
            <a:extLst>
              <a:ext uri="{FF2B5EF4-FFF2-40B4-BE49-F238E27FC236}">
                <a16:creationId xmlns:a16="http://schemas.microsoft.com/office/drawing/2014/main" id="{8066A997-3158-117D-A207-D237BA83A8A0}"/>
              </a:ext>
            </a:extLst>
          </p:cNvPr>
          <p:cNvSpPr/>
          <p:nvPr/>
        </p:nvSpPr>
        <p:spPr>
          <a:xfrm>
            <a:off x="566928" y="502920"/>
            <a:ext cx="30480" cy="56692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4" name="TextBox 3">
            <a:extLst>
              <a:ext uri="{FF2B5EF4-FFF2-40B4-BE49-F238E27FC236}">
                <a16:creationId xmlns:a16="http://schemas.microsoft.com/office/drawing/2014/main" id="{2844CDF6-9FFF-6D16-E3C3-FD7783FDA6BB}"/>
              </a:ext>
            </a:extLst>
          </p:cNvPr>
          <p:cNvSpPr txBox="1"/>
          <p:nvPr/>
        </p:nvSpPr>
        <p:spPr>
          <a:xfrm>
            <a:off x="868680" y="548640"/>
            <a:ext cx="10607040" cy="169277"/>
          </a:xfrm>
          <a:prstGeom prst="rect">
            <a:avLst/>
          </a:prstGeom>
          <a:noFill/>
        </p:spPr>
        <p:txBody>
          <a:bodyPr wrap="square" lIns="0" tIns="0" rIns="0" bIns="0" anchor="t">
            <a:spAutoFit/>
          </a:bodyPr>
          <a:lstStyle/>
          <a:p>
            <a:pPr>
              <a:lnSpc>
                <a:spcPct val="100000"/>
              </a:lnSpc>
            </a:pPr>
            <a:r>
              <a:rPr lang="en-US" sz="1100" b="1" noProof="1">
                <a:solidFill>
                  <a:srgbClr val="E07A5F"/>
                </a:solidFill>
                <a:latin typeface="Consolas"/>
              </a:rPr>
              <a:t>A6  </a:t>
            </a:r>
            <a:r>
              <a:rPr lang="en-US" sz="1100" b="1" noProof="1">
                <a:solidFill>
                  <a:srgbClr val="2A9D8F"/>
                </a:solidFill>
                <a:latin typeface="Consolas"/>
              </a:rPr>
              <a:t>Vertical Pendulum Control</a:t>
            </a:r>
            <a:endParaRPr lang="en-US" sz="1100" noProof="1">
              <a:solidFill>
                <a:srgbClr val="2A9D8F"/>
              </a:solidFill>
              <a:latin typeface="Consolas"/>
            </a:endParaRPr>
          </a:p>
        </p:txBody>
      </p:sp>
      <p:sp>
        <p:nvSpPr>
          <p:cNvPr id="62" name="TextBox 61">
            <a:extLst>
              <a:ext uri="{FF2B5EF4-FFF2-40B4-BE49-F238E27FC236}">
                <a16:creationId xmlns:a16="http://schemas.microsoft.com/office/drawing/2014/main" id="{0D2348BF-1834-43A8-1EC3-F6466A76E544}"/>
              </a:ext>
            </a:extLst>
          </p:cNvPr>
          <p:cNvSpPr txBox="1"/>
          <p:nvPr/>
        </p:nvSpPr>
        <p:spPr>
          <a:xfrm>
            <a:off x="868680" y="866813"/>
            <a:ext cx="10607040" cy="412805"/>
          </a:xfrm>
          <a:prstGeom prst="rect">
            <a:avLst/>
          </a:prstGeom>
          <a:noFill/>
        </p:spPr>
        <p:txBody>
          <a:bodyPr wrap="square" lIns="0" tIns="0" rIns="0" bIns="0" anchor="t">
            <a:spAutoFit/>
          </a:bodyPr>
          <a:lstStyle/>
          <a:p>
            <a:pPr algn="l">
              <a:lnSpc>
                <a:spcPct val="102000"/>
              </a:lnSpc>
              <a:spcBef>
                <a:spcPts val="0"/>
              </a:spcBef>
              <a:spcAft>
                <a:spcPts val="600"/>
              </a:spcAft>
            </a:pPr>
            <a:r>
              <a:rPr lang="en-US" sz="2800" b="1" noProof="1">
                <a:solidFill>
                  <a:srgbClr val="1D3557"/>
                </a:solidFill>
                <a:latin typeface="Georgia"/>
              </a:rPr>
              <a:t>Machine Learning Replaced Reference Feedforward</a:t>
            </a:r>
          </a:p>
        </p:txBody>
      </p:sp>
      <p:sp>
        <p:nvSpPr>
          <p:cNvPr id="28" name="Rounded Rectangle 6">
            <a:extLst>
              <a:ext uri="{FF2B5EF4-FFF2-40B4-BE49-F238E27FC236}">
                <a16:creationId xmlns:a16="http://schemas.microsoft.com/office/drawing/2014/main" id="{8CF80D2A-966F-AC5F-0C2E-9D9519352E25}"/>
              </a:ext>
            </a:extLst>
          </p:cNvPr>
          <p:cNvSpPr/>
          <p:nvPr/>
        </p:nvSpPr>
        <p:spPr>
          <a:xfrm>
            <a:off x="9384857" y="6174004"/>
            <a:ext cx="1104826" cy="616091"/>
          </a:xfrm>
          <a:prstGeom prst="roundRect">
            <a:avLst/>
          </a:prstGeom>
          <a:ln w="15875">
            <a:solidFill>
              <a:srgbClr val="289D8F"/>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200" noProof="1">
                <a:solidFill>
                  <a:srgbClr val="289D8F"/>
                </a:solidFill>
              </a:rPr>
              <a:t>Reference feedforward (ML)</a:t>
            </a:r>
          </a:p>
        </p:txBody>
      </p:sp>
      <p:cxnSp>
        <p:nvCxnSpPr>
          <p:cNvPr id="29" name="Straight Arrow Connector 28">
            <a:extLst>
              <a:ext uri="{FF2B5EF4-FFF2-40B4-BE49-F238E27FC236}">
                <a16:creationId xmlns:a16="http://schemas.microsoft.com/office/drawing/2014/main" id="{E43754B4-542A-548F-B875-50EE1B47308E}"/>
              </a:ext>
            </a:extLst>
          </p:cNvPr>
          <p:cNvCxnSpPr>
            <a:cxnSpLocks/>
          </p:cNvCxnSpPr>
          <p:nvPr/>
        </p:nvCxnSpPr>
        <p:spPr>
          <a:xfrm>
            <a:off x="8907441" y="6453512"/>
            <a:ext cx="463795" cy="6982"/>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30" name="Straight Arrow Connector 29">
            <a:extLst>
              <a:ext uri="{FF2B5EF4-FFF2-40B4-BE49-F238E27FC236}">
                <a16:creationId xmlns:a16="http://schemas.microsoft.com/office/drawing/2014/main" id="{4C704B0D-D5EA-B4E4-1C42-3667BDD275A0}"/>
              </a:ext>
            </a:extLst>
          </p:cNvPr>
          <p:cNvCxnSpPr>
            <a:cxnSpLocks/>
          </p:cNvCxnSpPr>
          <p:nvPr/>
        </p:nvCxnSpPr>
        <p:spPr>
          <a:xfrm>
            <a:off x="10489683" y="6460494"/>
            <a:ext cx="63000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4988533E-4396-9AC8-9A3A-793B30382425}"/>
                  </a:ext>
                </a:extLst>
              </p:cNvPr>
              <p:cNvSpPr txBox="1"/>
              <p:nvPr/>
            </p:nvSpPr>
            <p:spPr>
              <a:xfrm>
                <a:off x="8999903" y="6191605"/>
                <a:ext cx="243848"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en-US" sz="1400" b="0" i="1" noProof="1" dirty="0" smtClean="0">
                              <a:solidFill>
                                <a:srgbClr val="1D3456"/>
                              </a:solidFill>
                              <a:latin typeface="Cambria Math" panose="02040503050406030204" pitchFamily="18" charset="0"/>
                              <a:ea typeface="Cambria Math" panose="02040503050406030204" pitchFamily="18" charset="0"/>
                            </a:rPr>
                          </m:ctrlPr>
                        </m:sSupPr>
                        <m:e>
                          <m:r>
                            <a:rPr lang="en-US" sz="1400" b="0" i="1" noProof="1" dirty="0" smtClean="0">
                              <a:solidFill>
                                <a:srgbClr val="1D3456"/>
                              </a:solidFill>
                              <a:latin typeface="Cambria Math" panose="02040503050406030204" pitchFamily="18" charset="0"/>
                              <a:ea typeface="Cambria Math" panose="02040503050406030204" pitchFamily="18" charset="0"/>
                            </a:rPr>
                            <m:t>𝜔</m:t>
                          </m:r>
                        </m:e>
                        <m:sup>
                          <m:r>
                            <a:rPr lang="en-US" sz="1400" b="0" i="1" noProof="1" dirty="0" smtClean="0">
                              <a:solidFill>
                                <a:srgbClr val="1D3456"/>
                              </a:solidFill>
                              <a:latin typeface="Cambria Math" panose="02040503050406030204" pitchFamily="18" charset="0"/>
                              <a:ea typeface="Cambria Math" panose="02040503050406030204" pitchFamily="18" charset="0"/>
                            </a:rPr>
                            <m:t>∗</m:t>
                          </m:r>
                        </m:sup>
                      </m:sSup>
                    </m:oMath>
                  </m:oMathPara>
                </a14:m>
                <a:endParaRPr lang="en-US" sz="1400" noProof="1"/>
              </a:p>
            </p:txBody>
          </p:sp>
        </mc:Choice>
        <mc:Fallback xmlns="">
          <p:sp>
            <p:nvSpPr>
              <p:cNvPr id="31" name="TextBox 30">
                <a:extLst>
                  <a:ext uri="{FF2B5EF4-FFF2-40B4-BE49-F238E27FC236}">
                    <a16:creationId xmlns:a16="http://schemas.microsoft.com/office/drawing/2014/main" id="{4988533E-4396-9AC8-9A3A-793B30382425}"/>
                  </a:ext>
                </a:extLst>
              </p:cNvPr>
              <p:cNvSpPr txBox="1">
                <a:spLocks noRot="1" noChangeAspect="1" noMove="1" noResize="1" noEditPoints="1" noAdjustHandles="1" noChangeArrowheads="1" noChangeShapeType="1" noTextEdit="1"/>
              </p:cNvSpPr>
              <p:nvPr/>
            </p:nvSpPr>
            <p:spPr>
              <a:xfrm>
                <a:off x="8999903" y="6191605"/>
                <a:ext cx="243848" cy="215444"/>
              </a:xfrm>
              <a:prstGeom prst="rect">
                <a:avLst/>
              </a:prstGeom>
              <a:blipFill>
                <a:blip r:embed="rId4"/>
                <a:stretch>
                  <a:fillRect l="-10000" r="-2500"/>
                </a:stretch>
              </a:blipFill>
            </p:spPr>
            <p:txBody>
              <a:bodyPr/>
              <a:lstStyle/>
              <a:p>
                <a:r>
                  <a:rPr lang="th-TH">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F2A595A5-17BF-987A-DA46-EBF132DEF77A}"/>
                  </a:ext>
                </a:extLst>
              </p:cNvPr>
              <p:cNvSpPr txBox="1"/>
              <p:nvPr/>
            </p:nvSpPr>
            <p:spPr>
              <a:xfrm>
                <a:off x="10625980" y="6180939"/>
                <a:ext cx="357406" cy="23269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400" i="1" noProof="1" dirty="0" smtClean="0">
                              <a:solidFill>
                                <a:srgbClr val="1D3456"/>
                              </a:solidFill>
                              <a:latin typeface="Cambria Math" panose="02040503050406030204" pitchFamily="18" charset="0"/>
                            </a:rPr>
                          </m:ctrlPr>
                        </m:sSubPr>
                        <m:e>
                          <m:r>
                            <a:rPr lang="en-US" sz="1400" b="0" i="1" noProof="1" dirty="0" smtClean="0">
                              <a:solidFill>
                                <a:srgbClr val="1D3456"/>
                              </a:solidFill>
                              <a:latin typeface="Cambria Math" panose="02040503050406030204" pitchFamily="18" charset="0"/>
                            </a:rPr>
                            <m:t>𝑉</m:t>
                          </m:r>
                        </m:e>
                        <m:sub>
                          <m:r>
                            <a:rPr lang="en-US" sz="1400" b="0" i="1" noProof="1" dirty="0" smtClean="0">
                              <a:solidFill>
                                <a:srgbClr val="1D3456"/>
                              </a:solidFill>
                              <a:latin typeface="Cambria Math" panose="02040503050406030204" pitchFamily="18" charset="0"/>
                            </a:rPr>
                            <m:t>𝑟𝑒𝑓</m:t>
                          </m:r>
                        </m:sub>
                      </m:sSub>
                    </m:oMath>
                  </m:oMathPara>
                </a14:m>
                <a:endParaRPr lang="en-US" sz="1400" noProof="1"/>
              </a:p>
            </p:txBody>
          </p:sp>
        </mc:Choice>
        <mc:Fallback xmlns="">
          <p:sp>
            <p:nvSpPr>
              <p:cNvPr id="32" name="TextBox 31">
                <a:extLst>
                  <a:ext uri="{FF2B5EF4-FFF2-40B4-BE49-F238E27FC236}">
                    <a16:creationId xmlns:a16="http://schemas.microsoft.com/office/drawing/2014/main" id="{F2A595A5-17BF-987A-DA46-EBF132DEF77A}"/>
                  </a:ext>
                </a:extLst>
              </p:cNvPr>
              <p:cNvSpPr txBox="1">
                <a:spLocks noRot="1" noChangeAspect="1" noMove="1" noResize="1" noEditPoints="1" noAdjustHandles="1" noChangeArrowheads="1" noChangeShapeType="1" noTextEdit="1"/>
              </p:cNvSpPr>
              <p:nvPr/>
            </p:nvSpPr>
            <p:spPr>
              <a:xfrm>
                <a:off x="10625980" y="6180939"/>
                <a:ext cx="357406" cy="232692"/>
              </a:xfrm>
              <a:prstGeom prst="rect">
                <a:avLst/>
              </a:prstGeom>
              <a:blipFill>
                <a:blip r:embed="rId5"/>
                <a:stretch>
                  <a:fillRect l="-10169" r="-6780" b="-23684"/>
                </a:stretch>
              </a:blipFill>
            </p:spPr>
            <p:txBody>
              <a:bodyPr/>
              <a:lstStyle/>
              <a:p>
                <a:r>
                  <a:rPr lang="th-TH">
                    <a:noFill/>
                  </a:rPr>
                  <a:t> </a:t>
                </a:r>
              </a:p>
            </p:txBody>
          </p:sp>
        </mc:Fallback>
      </mc:AlternateContent>
      <p:pic>
        <p:nvPicPr>
          <p:cNvPr id="5" name="Picture 4">
            <a:extLst>
              <a:ext uri="{FF2B5EF4-FFF2-40B4-BE49-F238E27FC236}">
                <a16:creationId xmlns:a16="http://schemas.microsoft.com/office/drawing/2014/main" id="{80A22AC2-5B24-23C9-D3DB-5B3DD54E2A01}"/>
              </a:ext>
            </a:extLst>
          </p:cNvPr>
          <p:cNvPicPr>
            <a:picLocks noChangeAspect="1"/>
          </p:cNvPicPr>
          <p:nvPr/>
        </p:nvPicPr>
        <p:blipFill>
          <a:blip r:embed="rId6"/>
          <a:srcRect t="6491" r="49455"/>
          <a:stretch>
            <a:fillRect/>
          </a:stretch>
        </p:blipFill>
        <p:spPr>
          <a:xfrm>
            <a:off x="735533" y="2359981"/>
            <a:ext cx="2443411" cy="1883460"/>
          </a:xfrm>
          <a:prstGeom prst="rect">
            <a:avLst/>
          </a:prstGeom>
        </p:spPr>
      </p:pic>
      <p:pic>
        <p:nvPicPr>
          <p:cNvPr id="43" name="Picture 42">
            <a:extLst>
              <a:ext uri="{FF2B5EF4-FFF2-40B4-BE49-F238E27FC236}">
                <a16:creationId xmlns:a16="http://schemas.microsoft.com/office/drawing/2014/main" id="{CAF79ABE-9302-EBF5-3EAF-58268061D26A}"/>
              </a:ext>
            </a:extLst>
          </p:cNvPr>
          <p:cNvPicPr>
            <a:picLocks noChangeAspect="1"/>
          </p:cNvPicPr>
          <p:nvPr/>
        </p:nvPicPr>
        <p:blipFill>
          <a:blip r:embed="rId7"/>
          <a:stretch>
            <a:fillRect/>
          </a:stretch>
        </p:blipFill>
        <p:spPr>
          <a:xfrm>
            <a:off x="3344029" y="3783281"/>
            <a:ext cx="2512773" cy="1913086"/>
          </a:xfrm>
          <a:prstGeom prst="rect">
            <a:avLst/>
          </a:prstGeom>
        </p:spPr>
      </p:pic>
      <p:pic>
        <p:nvPicPr>
          <p:cNvPr id="44" name="Picture 43">
            <a:extLst>
              <a:ext uri="{FF2B5EF4-FFF2-40B4-BE49-F238E27FC236}">
                <a16:creationId xmlns:a16="http://schemas.microsoft.com/office/drawing/2014/main" id="{6F7C6243-9302-F5FB-5FA1-1D9601BDC2C3}"/>
              </a:ext>
            </a:extLst>
          </p:cNvPr>
          <p:cNvPicPr>
            <a:picLocks noChangeAspect="1"/>
          </p:cNvPicPr>
          <p:nvPr/>
        </p:nvPicPr>
        <p:blipFill>
          <a:blip r:embed="rId6"/>
          <a:srcRect l="49455" t="6491"/>
          <a:stretch>
            <a:fillRect/>
          </a:stretch>
        </p:blipFill>
        <p:spPr>
          <a:xfrm>
            <a:off x="3344029" y="1524578"/>
            <a:ext cx="2484255" cy="1914944"/>
          </a:xfrm>
          <a:prstGeom prst="rect">
            <a:avLst/>
          </a:prstGeom>
        </p:spPr>
      </p:pic>
      <p:sp>
        <p:nvSpPr>
          <p:cNvPr id="45" name="Arrow: Bent 44">
            <a:extLst>
              <a:ext uri="{FF2B5EF4-FFF2-40B4-BE49-F238E27FC236}">
                <a16:creationId xmlns:a16="http://schemas.microsoft.com/office/drawing/2014/main" id="{953DCAB0-8A68-51E8-2E0A-7492C7A35309}"/>
              </a:ext>
            </a:extLst>
          </p:cNvPr>
          <p:cNvSpPr/>
          <p:nvPr/>
        </p:nvSpPr>
        <p:spPr>
          <a:xfrm>
            <a:off x="1968759" y="1712910"/>
            <a:ext cx="718457" cy="606467"/>
          </a:xfrm>
          <a:prstGeom prst="bentArrow">
            <a:avLst/>
          </a:prstGeom>
          <a:solidFill>
            <a:srgbClr val="E07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th-TH" dirty="0">
              <a:solidFill>
                <a:schemeClr val="tx1"/>
              </a:solidFill>
            </a:endParaRPr>
          </a:p>
        </p:txBody>
      </p:sp>
      <p:sp>
        <p:nvSpPr>
          <p:cNvPr id="49" name="TextBox 48">
            <a:extLst>
              <a:ext uri="{FF2B5EF4-FFF2-40B4-BE49-F238E27FC236}">
                <a16:creationId xmlns:a16="http://schemas.microsoft.com/office/drawing/2014/main" id="{29789F59-36B1-D336-311E-2B1DFCDEFEFA}"/>
              </a:ext>
            </a:extLst>
          </p:cNvPr>
          <p:cNvSpPr txBox="1"/>
          <p:nvPr/>
        </p:nvSpPr>
        <p:spPr>
          <a:xfrm>
            <a:off x="749793" y="3961441"/>
            <a:ext cx="2443309" cy="686983"/>
          </a:xfrm>
          <a:prstGeom prst="rect">
            <a:avLst/>
          </a:prstGeom>
          <a:noFill/>
        </p:spPr>
        <p:txBody>
          <a:bodyPr wrap="square" lIns="0" tIns="0" rIns="0" bIns="0" anchor="t">
            <a:spAutoFit/>
          </a:bodyPr>
          <a:lstStyle/>
          <a:p>
            <a:pPr algn="ctr">
              <a:lnSpc>
                <a:spcPct val="120000"/>
              </a:lnSpc>
            </a:pPr>
            <a:endParaRPr lang="en-US" sz="1400" noProof="1">
              <a:solidFill>
                <a:srgbClr val="1D3557"/>
              </a:solidFill>
            </a:endParaRPr>
          </a:p>
          <a:p>
            <a:pPr algn="ctr">
              <a:lnSpc>
                <a:spcPct val="120000"/>
              </a:lnSpc>
            </a:pPr>
            <a:r>
              <a:rPr lang="en-US" sz="1200" noProof="1">
                <a:solidFill>
                  <a:srgbClr val="1D3557"/>
                </a:solidFill>
              </a:rPr>
              <a:t>1.Collect the motor's steady-state speed at different input voltages.</a:t>
            </a:r>
          </a:p>
        </p:txBody>
      </p: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BC99DF4B-25D2-455D-D8FF-9725921B533B}"/>
                  </a:ext>
                </a:extLst>
              </p:cNvPr>
              <p:cNvSpPr txBox="1"/>
              <p:nvPr/>
            </p:nvSpPr>
            <p:spPr>
              <a:xfrm>
                <a:off x="2971697" y="5617436"/>
                <a:ext cx="4417960" cy="1129668"/>
              </a:xfrm>
              <a:prstGeom prst="rect">
                <a:avLst/>
              </a:prstGeom>
              <a:noFill/>
            </p:spPr>
            <p:txBody>
              <a:bodyPr wrap="square" lIns="0" tIns="0" rIns="0" bIns="0" anchor="t">
                <a:spAutoFit/>
              </a:bodyPr>
              <a:lstStyle/>
              <a:p>
                <a:pPr>
                  <a:lnSpc>
                    <a:spcPct val="120000"/>
                  </a:lnSpc>
                </a:pPr>
                <a:endParaRPr lang="en-US" sz="1400" noProof="1">
                  <a:solidFill>
                    <a:srgbClr val="1D3557"/>
                  </a:solidFill>
                </a:endParaRPr>
              </a:p>
              <a:p>
                <a:pPr>
                  <a:lnSpc>
                    <a:spcPct val="120000"/>
                  </a:lnSpc>
                </a:pPr>
                <a:r>
                  <a:rPr lang="en-US" sz="1200" dirty="0">
                    <a:solidFill>
                      <a:srgbClr val="1D3557"/>
                    </a:solidFill>
                  </a:rPr>
                  <a:t>2. Av</a:t>
                </a:r>
                <a:r>
                  <a:rPr lang="th-TH" sz="1200" dirty="0">
                    <a:solidFill>
                      <a:srgbClr val="1D3557"/>
                    </a:solidFill>
                  </a:rPr>
                  <a:t>erage the measured speed at each voltage to reduce the effect of periodic oscillations caused by gravity.</a:t>
                </a:r>
                <a:endParaRPr lang="en-US" sz="1200" noProof="1">
                  <a:solidFill>
                    <a:srgbClr val="1D3557"/>
                  </a:solidFill>
                </a:endParaRPr>
              </a:p>
              <a:p>
                <a:pPr>
                  <a:lnSpc>
                    <a:spcPct val="120000"/>
                  </a:lnSpc>
                </a:pPr>
                <a:r>
                  <a:rPr lang="en-US" sz="1200" noProof="1">
                    <a:solidFill>
                      <a:srgbClr val="1D3557"/>
                    </a:solidFill>
                  </a:rPr>
                  <a:t>3. Reverse the dataset to obtain the mapping from speed to voltage.</a:t>
                </a:r>
              </a:p>
              <a:p>
                <a:pPr>
                  <a:lnSpc>
                    <a:spcPct val="120000"/>
                  </a:lnSpc>
                </a:pPr>
                <a:r>
                  <a:rPr lang="en-US" sz="1200" noProof="1">
                    <a:solidFill>
                      <a:srgbClr val="1D3557"/>
                    </a:solidFill>
                  </a:rPr>
                  <a:t>4. Train a machine learning model to learn the function (V = f(</a:t>
                </a:r>
                <a14:m>
                  <m:oMath xmlns:m="http://schemas.openxmlformats.org/officeDocument/2006/math">
                    <m:r>
                      <a:rPr lang="en-US" sz="1200" i="1" noProof="1" smtClean="0">
                        <a:solidFill>
                          <a:srgbClr val="1D3557"/>
                        </a:solidFill>
                        <a:latin typeface="Cambria Math" panose="02040503050406030204" pitchFamily="18" charset="0"/>
                        <a:ea typeface="Cambria Math" panose="02040503050406030204" pitchFamily="18" charset="0"/>
                      </a:rPr>
                      <m:t>𝜔</m:t>
                    </m:r>
                  </m:oMath>
                </a14:m>
                <a:r>
                  <a:rPr lang="en-US" sz="1200" noProof="1">
                    <a:solidFill>
                      <a:srgbClr val="1D3557"/>
                    </a:solidFill>
                  </a:rPr>
                  <a:t>)).</a:t>
                </a:r>
              </a:p>
            </p:txBody>
          </p:sp>
        </mc:Choice>
        <mc:Fallback xmlns="">
          <p:sp>
            <p:nvSpPr>
              <p:cNvPr id="51" name="TextBox 50">
                <a:extLst>
                  <a:ext uri="{FF2B5EF4-FFF2-40B4-BE49-F238E27FC236}">
                    <a16:creationId xmlns:a16="http://schemas.microsoft.com/office/drawing/2014/main" id="{BC99DF4B-25D2-455D-D8FF-9725921B533B}"/>
                  </a:ext>
                </a:extLst>
              </p:cNvPr>
              <p:cNvSpPr txBox="1">
                <a:spLocks noRot="1" noChangeAspect="1" noMove="1" noResize="1" noEditPoints="1" noAdjustHandles="1" noChangeArrowheads="1" noChangeShapeType="1" noTextEdit="1"/>
              </p:cNvSpPr>
              <p:nvPr/>
            </p:nvSpPr>
            <p:spPr>
              <a:xfrm>
                <a:off x="2971697" y="5617436"/>
                <a:ext cx="4417960" cy="1129668"/>
              </a:xfrm>
              <a:prstGeom prst="rect">
                <a:avLst/>
              </a:prstGeom>
              <a:blipFill>
                <a:blip r:embed="rId8"/>
                <a:stretch>
                  <a:fillRect l="-2069" r="-1103" b="-7527"/>
                </a:stretch>
              </a:blipFill>
            </p:spPr>
            <p:txBody>
              <a:bodyPr/>
              <a:lstStyle/>
              <a:p>
                <a:r>
                  <a:rPr lang="th-TH">
                    <a:noFill/>
                  </a:rPr>
                  <a:t> </a:t>
                </a:r>
              </a:p>
            </p:txBody>
          </p:sp>
        </mc:Fallback>
      </mc:AlternateContent>
      <p:sp>
        <p:nvSpPr>
          <p:cNvPr id="53" name="Arrow: Bent 52">
            <a:extLst>
              <a:ext uri="{FF2B5EF4-FFF2-40B4-BE49-F238E27FC236}">
                <a16:creationId xmlns:a16="http://schemas.microsoft.com/office/drawing/2014/main" id="{EFB77383-FBC1-E4FE-ADAE-60EA0BADE630}"/>
              </a:ext>
            </a:extLst>
          </p:cNvPr>
          <p:cNvSpPr/>
          <p:nvPr/>
        </p:nvSpPr>
        <p:spPr>
          <a:xfrm flipV="1">
            <a:off x="1905542" y="4754985"/>
            <a:ext cx="718457" cy="585937"/>
          </a:xfrm>
          <a:prstGeom prst="bentArrow">
            <a:avLst/>
          </a:prstGeom>
          <a:solidFill>
            <a:srgbClr val="E07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th-TH" dirty="0">
              <a:solidFill>
                <a:schemeClr val="tx1"/>
              </a:solidFill>
            </a:endParaRPr>
          </a:p>
        </p:txBody>
      </p:sp>
      <p:sp>
        <p:nvSpPr>
          <p:cNvPr id="55" name="Arrow: Right 54">
            <a:extLst>
              <a:ext uri="{FF2B5EF4-FFF2-40B4-BE49-F238E27FC236}">
                <a16:creationId xmlns:a16="http://schemas.microsoft.com/office/drawing/2014/main" id="{7B24E920-8230-BD3D-B5DA-0C9094BCAD7F}"/>
              </a:ext>
            </a:extLst>
          </p:cNvPr>
          <p:cNvSpPr/>
          <p:nvPr/>
        </p:nvSpPr>
        <p:spPr>
          <a:xfrm>
            <a:off x="7096654" y="2347162"/>
            <a:ext cx="239198" cy="246541"/>
          </a:xfrm>
          <a:prstGeom prst="rightArrow">
            <a:avLst/>
          </a:prstGeom>
          <a:solidFill>
            <a:srgbClr val="E07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th-TH"/>
          </a:p>
        </p:txBody>
      </p:sp>
      <p:sp>
        <p:nvSpPr>
          <p:cNvPr id="56" name="Arrow: Right 55">
            <a:extLst>
              <a:ext uri="{FF2B5EF4-FFF2-40B4-BE49-F238E27FC236}">
                <a16:creationId xmlns:a16="http://schemas.microsoft.com/office/drawing/2014/main" id="{ADC81EDD-7F07-3B11-C7C0-2511E3D1A940}"/>
              </a:ext>
            </a:extLst>
          </p:cNvPr>
          <p:cNvSpPr/>
          <p:nvPr/>
        </p:nvSpPr>
        <p:spPr>
          <a:xfrm>
            <a:off x="7113044" y="4610242"/>
            <a:ext cx="239198" cy="246541"/>
          </a:xfrm>
          <a:prstGeom prst="rightArrow">
            <a:avLst/>
          </a:prstGeom>
          <a:solidFill>
            <a:srgbClr val="E07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th-TH"/>
          </a:p>
        </p:txBody>
      </p:sp>
      <p:pic>
        <p:nvPicPr>
          <p:cNvPr id="58" name="Picture 57">
            <a:extLst>
              <a:ext uri="{FF2B5EF4-FFF2-40B4-BE49-F238E27FC236}">
                <a16:creationId xmlns:a16="http://schemas.microsoft.com/office/drawing/2014/main" id="{F79FE8ED-1801-8B37-D1F8-9763D21DAAAA}"/>
              </a:ext>
            </a:extLst>
          </p:cNvPr>
          <p:cNvPicPr>
            <a:picLocks noChangeAspect="1"/>
          </p:cNvPicPr>
          <p:nvPr/>
        </p:nvPicPr>
        <p:blipFill>
          <a:blip r:embed="rId9"/>
          <a:stretch>
            <a:fillRect/>
          </a:stretch>
        </p:blipFill>
        <p:spPr>
          <a:xfrm>
            <a:off x="7475326" y="3716413"/>
            <a:ext cx="2281593" cy="2281593"/>
          </a:xfrm>
          <a:prstGeom prst="rect">
            <a:avLst/>
          </a:prstGeom>
        </p:spPr>
      </p:pic>
      <p:pic>
        <p:nvPicPr>
          <p:cNvPr id="59" name="Picture 58">
            <a:extLst>
              <a:ext uri="{FF2B5EF4-FFF2-40B4-BE49-F238E27FC236}">
                <a16:creationId xmlns:a16="http://schemas.microsoft.com/office/drawing/2014/main" id="{1C3C8483-94A1-174E-A744-DED0EAFD39E9}"/>
              </a:ext>
            </a:extLst>
          </p:cNvPr>
          <p:cNvPicPr>
            <a:picLocks noChangeAspect="1"/>
          </p:cNvPicPr>
          <p:nvPr/>
        </p:nvPicPr>
        <p:blipFill>
          <a:blip r:embed="rId10"/>
          <a:stretch>
            <a:fillRect/>
          </a:stretch>
        </p:blipFill>
        <p:spPr>
          <a:xfrm>
            <a:off x="9842589" y="3686620"/>
            <a:ext cx="2281593" cy="2281593"/>
          </a:xfrm>
          <a:prstGeom prst="rect">
            <a:avLst/>
          </a:prstGeom>
        </p:spPr>
      </p:pic>
      <p:sp>
        <p:nvSpPr>
          <p:cNvPr id="64" name="TextBox 63">
            <a:extLst>
              <a:ext uri="{FF2B5EF4-FFF2-40B4-BE49-F238E27FC236}">
                <a16:creationId xmlns:a16="http://schemas.microsoft.com/office/drawing/2014/main" id="{4A8BC6FC-33EC-29D6-CAB4-C9245CAB32E8}"/>
              </a:ext>
            </a:extLst>
          </p:cNvPr>
          <p:cNvSpPr txBox="1"/>
          <p:nvPr/>
        </p:nvSpPr>
        <p:spPr>
          <a:xfrm>
            <a:off x="7823601" y="2830967"/>
            <a:ext cx="1121150" cy="241285"/>
          </a:xfrm>
          <a:prstGeom prst="rect">
            <a:avLst/>
          </a:prstGeom>
          <a:noFill/>
        </p:spPr>
        <p:txBody>
          <a:bodyPr wrap="square" lIns="0" tIns="0" rIns="0" bIns="0" anchor="t">
            <a:spAutoFit/>
          </a:bodyPr>
          <a:lstStyle/>
          <a:p>
            <a:pPr>
              <a:lnSpc>
                <a:spcPct val="120000"/>
              </a:lnSpc>
            </a:pPr>
            <a:r>
              <a:rPr lang="en-US" sz="1400" noProof="1">
                <a:solidFill>
                  <a:srgbClr val="1D3557"/>
                </a:solidFill>
              </a:rPr>
              <a:t>RMSE = 0.322</a:t>
            </a:r>
          </a:p>
        </p:txBody>
      </p:sp>
      <p:sp>
        <p:nvSpPr>
          <p:cNvPr id="65" name="TextBox 64">
            <a:extLst>
              <a:ext uri="{FF2B5EF4-FFF2-40B4-BE49-F238E27FC236}">
                <a16:creationId xmlns:a16="http://schemas.microsoft.com/office/drawing/2014/main" id="{5A961F59-5BDD-0056-7299-E07A69F1A01C}"/>
              </a:ext>
            </a:extLst>
          </p:cNvPr>
          <p:cNvSpPr txBox="1"/>
          <p:nvPr/>
        </p:nvSpPr>
        <p:spPr>
          <a:xfrm>
            <a:off x="10749531" y="2830966"/>
            <a:ext cx="1121150" cy="241285"/>
          </a:xfrm>
          <a:prstGeom prst="rect">
            <a:avLst/>
          </a:prstGeom>
          <a:noFill/>
        </p:spPr>
        <p:txBody>
          <a:bodyPr wrap="square" lIns="0" tIns="0" rIns="0" bIns="0" anchor="t">
            <a:spAutoFit/>
          </a:bodyPr>
          <a:lstStyle/>
          <a:p>
            <a:pPr>
              <a:lnSpc>
                <a:spcPct val="120000"/>
              </a:lnSpc>
            </a:pPr>
            <a:r>
              <a:rPr lang="en-US" sz="1400" noProof="1">
                <a:solidFill>
                  <a:srgbClr val="1D3557"/>
                </a:solidFill>
              </a:rPr>
              <a:t>RMSE = 0.005</a:t>
            </a:r>
          </a:p>
        </p:txBody>
      </p:sp>
      <p:sp>
        <p:nvSpPr>
          <p:cNvPr id="66" name="TextBox 65">
            <a:extLst>
              <a:ext uri="{FF2B5EF4-FFF2-40B4-BE49-F238E27FC236}">
                <a16:creationId xmlns:a16="http://schemas.microsoft.com/office/drawing/2014/main" id="{1E134131-064D-B9D4-60EC-16F3DA74C4D0}"/>
              </a:ext>
            </a:extLst>
          </p:cNvPr>
          <p:cNvSpPr txBox="1"/>
          <p:nvPr/>
        </p:nvSpPr>
        <p:spPr>
          <a:xfrm>
            <a:off x="7878753" y="5360619"/>
            <a:ext cx="1121150" cy="241285"/>
          </a:xfrm>
          <a:prstGeom prst="rect">
            <a:avLst/>
          </a:prstGeom>
          <a:noFill/>
        </p:spPr>
        <p:txBody>
          <a:bodyPr wrap="square" lIns="0" tIns="0" rIns="0" bIns="0" anchor="t">
            <a:spAutoFit/>
          </a:bodyPr>
          <a:lstStyle/>
          <a:p>
            <a:pPr>
              <a:lnSpc>
                <a:spcPct val="120000"/>
              </a:lnSpc>
            </a:pPr>
            <a:r>
              <a:rPr lang="en-US" sz="1400" noProof="1">
                <a:solidFill>
                  <a:srgbClr val="1D3557"/>
                </a:solidFill>
              </a:rPr>
              <a:t>RMSE = 0.323</a:t>
            </a:r>
          </a:p>
        </p:txBody>
      </p:sp>
      <p:sp>
        <p:nvSpPr>
          <p:cNvPr id="67" name="TextBox 66">
            <a:extLst>
              <a:ext uri="{FF2B5EF4-FFF2-40B4-BE49-F238E27FC236}">
                <a16:creationId xmlns:a16="http://schemas.microsoft.com/office/drawing/2014/main" id="{6F2F5348-C45E-CA28-5587-283FCE9E2915}"/>
              </a:ext>
            </a:extLst>
          </p:cNvPr>
          <p:cNvSpPr txBox="1"/>
          <p:nvPr/>
        </p:nvSpPr>
        <p:spPr>
          <a:xfrm>
            <a:off x="10814868" y="5369432"/>
            <a:ext cx="1121150" cy="241285"/>
          </a:xfrm>
          <a:prstGeom prst="rect">
            <a:avLst/>
          </a:prstGeom>
          <a:noFill/>
        </p:spPr>
        <p:txBody>
          <a:bodyPr wrap="square" lIns="0" tIns="0" rIns="0" bIns="0" anchor="t">
            <a:spAutoFit/>
          </a:bodyPr>
          <a:lstStyle/>
          <a:p>
            <a:pPr>
              <a:lnSpc>
                <a:spcPct val="120000"/>
              </a:lnSpc>
            </a:pPr>
            <a:r>
              <a:rPr lang="en-US" sz="1400" noProof="1">
                <a:solidFill>
                  <a:srgbClr val="1D3557"/>
                </a:solidFill>
              </a:rPr>
              <a:t>RMSE = 0.1</a:t>
            </a:r>
          </a:p>
        </p:txBody>
      </p:sp>
      <p:sp>
        <p:nvSpPr>
          <p:cNvPr id="68" name="Oval 67">
            <a:extLst>
              <a:ext uri="{FF2B5EF4-FFF2-40B4-BE49-F238E27FC236}">
                <a16:creationId xmlns:a16="http://schemas.microsoft.com/office/drawing/2014/main" id="{A726E947-BB6C-58FC-AAFD-5115B8C788D0}"/>
              </a:ext>
            </a:extLst>
          </p:cNvPr>
          <p:cNvSpPr/>
          <p:nvPr/>
        </p:nvSpPr>
        <p:spPr>
          <a:xfrm>
            <a:off x="4446380" y="4408534"/>
            <a:ext cx="487680" cy="487680"/>
          </a:xfrm>
          <a:prstGeom prst="ellipse">
            <a:avLst/>
          </a:prstGeom>
          <a:noFill/>
          <a:ln>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th-TH"/>
          </a:p>
        </p:txBody>
      </p:sp>
      <p:sp>
        <p:nvSpPr>
          <p:cNvPr id="69" name="Oval 68">
            <a:extLst>
              <a:ext uri="{FF2B5EF4-FFF2-40B4-BE49-F238E27FC236}">
                <a16:creationId xmlns:a16="http://schemas.microsoft.com/office/drawing/2014/main" id="{5FED3DB2-2D11-FC99-2AEB-A6F6D5ACC8AE}"/>
              </a:ext>
            </a:extLst>
          </p:cNvPr>
          <p:cNvSpPr/>
          <p:nvPr/>
        </p:nvSpPr>
        <p:spPr>
          <a:xfrm>
            <a:off x="10245843" y="5260678"/>
            <a:ext cx="487680" cy="487680"/>
          </a:xfrm>
          <a:prstGeom prst="ellipse">
            <a:avLst/>
          </a:prstGeom>
          <a:noFill/>
          <a:ln>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th-TH"/>
          </a:p>
        </p:txBody>
      </p:sp>
      <p:sp>
        <p:nvSpPr>
          <p:cNvPr id="70" name="TextBox 69">
            <a:extLst>
              <a:ext uri="{FF2B5EF4-FFF2-40B4-BE49-F238E27FC236}">
                <a16:creationId xmlns:a16="http://schemas.microsoft.com/office/drawing/2014/main" id="{9A50EFA3-3AAD-B935-E8DC-E292CAA36FC0}"/>
              </a:ext>
            </a:extLst>
          </p:cNvPr>
          <p:cNvSpPr txBox="1"/>
          <p:nvPr/>
        </p:nvSpPr>
        <p:spPr>
          <a:xfrm>
            <a:off x="4620102" y="5212779"/>
            <a:ext cx="1121150" cy="241285"/>
          </a:xfrm>
          <a:prstGeom prst="rect">
            <a:avLst/>
          </a:prstGeom>
          <a:noFill/>
        </p:spPr>
        <p:txBody>
          <a:bodyPr wrap="square" lIns="0" tIns="0" rIns="0" bIns="0" anchor="t">
            <a:spAutoFit/>
          </a:bodyPr>
          <a:lstStyle/>
          <a:p>
            <a:pPr>
              <a:lnSpc>
                <a:spcPct val="120000"/>
              </a:lnSpc>
            </a:pPr>
            <a:r>
              <a:rPr lang="en-US" sz="1400" noProof="1">
                <a:solidFill>
                  <a:srgbClr val="1D3557"/>
                </a:solidFill>
              </a:rPr>
              <a:t>RMSE = 0.579</a:t>
            </a:r>
          </a:p>
        </p:txBody>
      </p:sp>
      <p:sp>
        <p:nvSpPr>
          <p:cNvPr id="75" name="TextBox 74">
            <a:extLst>
              <a:ext uri="{FF2B5EF4-FFF2-40B4-BE49-F238E27FC236}">
                <a16:creationId xmlns:a16="http://schemas.microsoft.com/office/drawing/2014/main" id="{34D9AF6D-035C-21E5-F3C5-CE7597234E30}"/>
              </a:ext>
            </a:extLst>
          </p:cNvPr>
          <p:cNvSpPr txBox="1"/>
          <p:nvPr/>
        </p:nvSpPr>
        <p:spPr>
          <a:xfrm>
            <a:off x="4620102" y="2802585"/>
            <a:ext cx="1121150" cy="241285"/>
          </a:xfrm>
          <a:prstGeom prst="rect">
            <a:avLst/>
          </a:prstGeom>
          <a:noFill/>
        </p:spPr>
        <p:txBody>
          <a:bodyPr wrap="square" lIns="0" tIns="0" rIns="0" bIns="0" anchor="t">
            <a:spAutoFit/>
          </a:bodyPr>
          <a:lstStyle/>
          <a:p>
            <a:pPr>
              <a:lnSpc>
                <a:spcPct val="120000"/>
              </a:lnSpc>
            </a:pPr>
            <a:r>
              <a:rPr lang="en-US" sz="1400" noProof="1">
                <a:solidFill>
                  <a:srgbClr val="1D3557"/>
                </a:solidFill>
              </a:rPr>
              <a:t>RMSE = 0.729</a:t>
            </a:r>
          </a:p>
        </p:txBody>
      </p:sp>
      <p:sp>
        <p:nvSpPr>
          <p:cNvPr id="76" name="TextBox 75">
            <a:extLst>
              <a:ext uri="{FF2B5EF4-FFF2-40B4-BE49-F238E27FC236}">
                <a16:creationId xmlns:a16="http://schemas.microsoft.com/office/drawing/2014/main" id="{E842F840-3C1E-A95C-C540-1F70AFC03889}"/>
              </a:ext>
            </a:extLst>
          </p:cNvPr>
          <p:cNvSpPr txBox="1"/>
          <p:nvPr/>
        </p:nvSpPr>
        <p:spPr>
          <a:xfrm>
            <a:off x="5920395" y="4043563"/>
            <a:ext cx="1264377" cy="1314847"/>
          </a:xfrm>
          <a:prstGeom prst="rect">
            <a:avLst/>
          </a:prstGeom>
          <a:noFill/>
        </p:spPr>
        <p:txBody>
          <a:bodyPr wrap="square" lIns="0" tIns="0" rIns="0" bIns="0" anchor="t">
            <a:spAutoFit/>
          </a:bodyPr>
          <a:lstStyle/>
          <a:p>
            <a:pPr>
              <a:lnSpc>
                <a:spcPct val="120000"/>
              </a:lnSpc>
            </a:pPr>
            <a:r>
              <a:rPr lang="en-US" sz="1200" dirty="0">
                <a:solidFill>
                  <a:srgbClr val="1D3557"/>
                </a:solidFill>
              </a:rPr>
              <a:t>Input layer: 1</a:t>
            </a:r>
          </a:p>
          <a:p>
            <a:pPr>
              <a:lnSpc>
                <a:spcPct val="120000"/>
              </a:lnSpc>
            </a:pPr>
            <a:r>
              <a:rPr lang="en-US" sz="1200" noProof="1">
                <a:solidFill>
                  <a:srgbClr val="1D3557"/>
                </a:solidFill>
              </a:rPr>
              <a:t>Hidden layer: 16, 16</a:t>
            </a:r>
          </a:p>
          <a:p>
            <a:pPr>
              <a:lnSpc>
                <a:spcPct val="120000"/>
              </a:lnSpc>
            </a:pPr>
            <a:r>
              <a:rPr lang="en-US" sz="1200" noProof="1">
                <a:solidFill>
                  <a:srgbClr val="1D3557"/>
                </a:solidFill>
              </a:rPr>
              <a:t>Output layer: 1</a:t>
            </a:r>
          </a:p>
          <a:p>
            <a:pPr>
              <a:lnSpc>
                <a:spcPct val="120000"/>
              </a:lnSpc>
            </a:pPr>
            <a:r>
              <a:rPr lang="en-US" sz="1200" noProof="1">
                <a:solidFill>
                  <a:srgbClr val="1D3557"/>
                </a:solidFill>
              </a:rPr>
              <a:t>Epochs: 10000</a:t>
            </a:r>
          </a:p>
          <a:p>
            <a:pPr>
              <a:lnSpc>
                <a:spcPct val="120000"/>
              </a:lnSpc>
            </a:pPr>
            <a:r>
              <a:rPr lang="en-US" sz="1200" noProof="1">
                <a:solidFill>
                  <a:srgbClr val="1D3557"/>
                </a:solidFill>
              </a:rPr>
              <a:t>Activation: ReLU</a:t>
            </a:r>
          </a:p>
          <a:p>
            <a:pPr>
              <a:lnSpc>
                <a:spcPct val="120000"/>
              </a:lnSpc>
            </a:pPr>
            <a:r>
              <a:rPr lang="en-US" sz="1200" noProof="1">
                <a:solidFill>
                  <a:srgbClr val="1D3557"/>
                </a:solidFill>
              </a:rPr>
              <a:t>Loss: MSE</a:t>
            </a:r>
          </a:p>
        </p:txBody>
      </p:sp>
      <p:sp>
        <p:nvSpPr>
          <p:cNvPr id="77" name="TextBox 76">
            <a:extLst>
              <a:ext uri="{FF2B5EF4-FFF2-40B4-BE49-F238E27FC236}">
                <a16:creationId xmlns:a16="http://schemas.microsoft.com/office/drawing/2014/main" id="{026C9B32-8E74-35E2-C8A6-C9B80FC6C19C}"/>
              </a:ext>
            </a:extLst>
          </p:cNvPr>
          <p:cNvSpPr txBox="1"/>
          <p:nvPr/>
        </p:nvSpPr>
        <p:spPr>
          <a:xfrm>
            <a:off x="5856803" y="2051578"/>
            <a:ext cx="1071642" cy="871649"/>
          </a:xfrm>
          <a:prstGeom prst="rect">
            <a:avLst/>
          </a:prstGeom>
          <a:noFill/>
        </p:spPr>
        <p:txBody>
          <a:bodyPr wrap="square" lIns="0" tIns="0" rIns="0" bIns="0" anchor="t">
            <a:spAutoFit/>
          </a:bodyPr>
          <a:lstStyle/>
          <a:p>
            <a:pPr>
              <a:lnSpc>
                <a:spcPct val="120000"/>
              </a:lnSpc>
            </a:pPr>
            <a:r>
              <a:rPr lang="en-US" sz="1200" dirty="0">
                <a:solidFill>
                  <a:srgbClr val="1D3557"/>
                </a:solidFill>
              </a:rPr>
              <a:t>Input layer: 1</a:t>
            </a:r>
          </a:p>
          <a:p>
            <a:pPr>
              <a:lnSpc>
                <a:spcPct val="120000"/>
              </a:lnSpc>
            </a:pPr>
            <a:r>
              <a:rPr lang="en-US" sz="1200" noProof="1">
                <a:solidFill>
                  <a:srgbClr val="1D3557"/>
                </a:solidFill>
              </a:rPr>
              <a:t>Output layer: 1</a:t>
            </a:r>
          </a:p>
          <a:p>
            <a:pPr>
              <a:lnSpc>
                <a:spcPct val="120000"/>
              </a:lnSpc>
            </a:pPr>
            <a:r>
              <a:rPr lang="en-US" sz="1200" noProof="1">
                <a:solidFill>
                  <a:srgbClr val="1D3557"/>
                </a:solidFill>
              </a:rPr>
              <a:t>Model: Linear Regression </a:t>
            </a:r>
          </a:p>
        </p:txBody>
      </p:sp>
    </p:spTree>
    <p:extLst>
      <p:ext uri="{BB962C8B-B14F-4D97-AF65-F5344CB8AC3E}">
        <p14:creationId xmlns:p14="http://schemas.microsoft.com/office/powerpoint/2010/main" val="256865323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BFAF6"/>
        </a:solidFill>
        <a:effectLst/>
      </p:bgPr>
    </p:bg>
    <p:spTree>
      <p:nvGrpSpPr>
        <p:cNvPr id="1" name="">
          <a:extLst>
            <a:ext uri="{FF2B5EF4-FFF2-40B4-BE49-F238E27FC236}">
              <a16:creationId xmlns:a16="http://schemas.microsoft.com/office/drawing/2014/main" id="{F582E60F-4E3B-4715-2917-65BDEC3D2918}"/>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F1A5264E-3E15-57BE-2481-60C06C23C65A}"/>
              </a:ext>
            </a:extLst>
          </p:cNvPr>
          <p:cNvSpPr/>
          <p:nvPr/>
        </p:nvSpPr>
        <p:spPr>
          <a:xfrm>
            <a:off x="566928" y="502920"/>
            <a:ext cx="17780" cy="5852160"/>
          </a:xfrm>
          <a:prstGeom prst="rect">
            <a:avLst/>
          </a:prstGeom>
          <a:solidFill>
            <a:srgbClr val="D9D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3" name="Rectangle 2">
            <a:extLst>
              <a:ext uri="{FF2B5EF4-FFF2-40B4-BE49-F238E27FC236}">
                <a16:creationId xmlns:a16="http://schemas.microsoft.com/office/drawing/2014/main" id="{34EAB221-69E0-023F-6A97-2F1A0BCE5BA2}"/>
              </a:ext>
            </a:extLst>
          </p:cNvPr>
          <p:cNvSpPr/>
          <p:nvPr/>
        </p:nvSpPr>
        <p:spPr>
          <a:xfrm>
            <a:off x="566928" y="502920"/>
            <a:ext cx="30480" cy="56692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4" name="TextBox 3">
            <a:extLst>
              <a:ext uri="{FF2B5EF4-FFF2-40B4-BE49-F238E27FC236}">
                <a16:creationId xmlns:a16="http://schemas.microsoft.com/office/drawing/2014/main" id="{515CE236-7E1D-5A09-9FBA-10AA440EC571}"/>
              </a:ext>
            </a:extLst>
          </p:cNvPr>
          <p:cNvSpPr txBox="1"/>
          <p:nvPr/>
        </p:nvSpPr>
        <p:spPr>
          <a:xfrm>
            <a:off x="868680" y="548640"/>
            <a:ext cx="10607040" cy="169277"/>
          </a:xfrm>
          <a:prstGeom prst="rect">
            <a:avLst/>
          </a:prstGeom>
          <a:noFill/>
        </p:spPr>
        <p:txBody>
          <a:bodyPr wrap="square" lIns="0" tIns="0" rIns="0" bIns="0" anchor="t">
            <a:spAutoFit/>
          </a:bodyPr>
          <a:lstStyle/>
          <a:p>
            <a:pPr>
              <a:lnSpc>
                <a:spcPct val="100000"/>
              </a:lnSpc>
            </a:pPr>
            <a:r>
              <a:rPr lang="en-US" sz="1100" b="1" noProof="1">
                <a:solidFill>
                  <a:srgbClr val="E07A5F"/>
                </a:solidFill>
                <a:latin typeface="Consolas"/>
              </a:rPr>
              <a:t>A7  </a:t>
            </a:r>
            <a:r>
              <a:rPr lang="en-US" sz="1100" b="1" noProof="1">
                <a:solidFill>
                  <a:srgbClr val="2A9D8F"/>
                </a:solidFill>
                <a:latin typeface="Consolas"/>
              </a:rPr>
              <a:t>Vertical Pendulum Control</a:t>
            </a:r>
            <a:endParaRPr lang="en-US" sz="1100" noProof="1">
              <a:solidFill>
                <a:srgbClr val="2A9D8F"/>
              </a:solidFill>
              <a:latin typeface="Consolas"/>
            </a:endParaRPr>
          </a:p>
        </p:txBody>
      </p:sp>
      <p:sp>
        <p:nvSpPr>
          <p:cNvPr id="62" name="TextBox 61">
            <a:extLst>
              <a:ext uri="{FF2B5EF4-FFF2-40B4-BE49-F238E27FC236}">
                <a16:creationId xmlns:a16="http://schemas.microsoft.com/office/drawing/2014/main" id="{67C47C8A-DF20-9D88-3F65-A7EFEE6EB0F1}"/>
              </a:ext>
            </a:extLst>
          </p:cNvPr>
          <p:cNvSpPr txBox="1"/>
          <p:nvPr/>
        </p:nvSpPr>
        <p:spPr>
          <a:xfrm>
            <a:off x="868680" y="866813"/>
            <a:ext cx="10607040" cy="412805"/>
          </a:xfrm>
          <a:prstGeom prst="rect">
            <a:avLst/>
          </a:prstGeom>
          <a:noFill/>
        </p:spPr>
        <p:txBody>
          <a:bodyPr wrap="square" lIns="0" tIns="0" rIns="0" bIns="0" anchor="t">
            <a:spAutoFit/>
          </a:bodyPr>
          <a:lstStyle/>
          <a:p>
            <a:pPr algn="l">
              <a:lnSpc>
                <a:spcPct val="102000"/>
              </a:lnSpc>
              <a:spcBef>
                <a:spcPts val="0"/>
              </a:spcBef>
              <a:spcAft>
                <a:spcPts val="600"/>
              </a:spcAft>
            </a:pPr>
            <a:r>
              <a:rPr lang="en-US" sz="2800" b="1" noProof="1">
                <a:solidFill>
                  <a:srgbClr val="1D3557"/>
                </a:solidFill>
                <a:latin typeface="Georgia"/>
              </a:rPr>
              <a:t>Conclusion</a:t>
            </a:r>
          </a:p>
        </p:txBody>
      </p:sp>
      <p:graphicFrame>
        <p:nvGraphicFramePr>
          <p:cNvPr id="6" name="Table 5">
            <a:extLst>
              <a:ext uri="{FF2B5EF4-FFF2-40B4-BE49-F238E27FC236}">
                <a16:creationId xmlns:a16="http://schemas.microsoft.com/office/drawing/2014/main" id="{B93FD4CC-28B3-BE87-7A6C-7541E4C60A96}"/>
              </a:ext>
            </a:extLst>
          </p:cNvPr>
          <p:cNvGraphicFramePr>
            <a:graphicFrameLocks noGrp="1"/>
          </p:cNvGraphicFramePr>
          <p:nvPr>
            <p:extLst>
              <p:ext uri="{D42A27DB-BD31-4B8C-83A1-F6EECF244321}">
                <p14:modId xmlns:p14="http://schemas.microsoft.com/office/powerpoint/2010/main" val="3023497728"/>
              </p:ext>
            </p:extLst>
          </p:nvPr>
        </p:nvGraphicFramePr>
        <p:xfrm>
          <a:off x="1710109" y="1468255"/>
          <a:ext cx="8771782" cy="2654752"/>
        </p:xfrm>
        <a:graphic>
          <a:graphicData uri="http://schemas.openxmlformats.org/drawingml/2006/table">
            <a:tbl>
              <a:tblPr/>
              <a:tblGrid>
                <a:gridCol w="1199319">
                  <a:extLst>
                    <a:ext uri="{9D8B030D-6E8A-4147-A177-3AD203B41FA5}">
                      <a16:colId xmlns:a16="http://schemas.microsoft.com/office/drawing/2014/main" val="76437665"/>
                    </a:ext>
                  </a:extLst>
                </a:gridCol>
                <a:gridCol w="762936">
                  <a:extLst>
                    <a:ext uri="{9D8B030D-6E8A-4147-A177-3AD203B41FA5}">
                      <a16:colId xmlns:a16="http://schemas.microsoft.com/office/drawing/2014/main" val="3733846312"/>
                    </a:ext>
                  </a:extLst>
                </a:gridCol>
                <a:gridCol w="981128">
                  <a:extLst>
                    <a:ext uri="{9D8B030D-6E8A-4147-A177-3AD203B41FA5}">
                      <a16:colId xmlns:a16="http://schemas.microsoft.com/office/drawing/2014/main" val="1216254771"/>
                    </a:ext>
                  </a:extLst>
                </a:gridCol>
                <a:gridCol w="981128">
                  <a:extLst>
                    <a:ext uri="{9D8B030D-6E8A-4147-A177-3AD203B41FA5}">
                      <a16:colId xmlns:a16="http://schemas.microsoft.com/office/drawing/2014/main" val="3263012641"/>
                    </a:ext>
                  </a:extLst>
                </a:gridCol>
                <a:gridCol w="981128">
                  <a:extLst>
                    <a:ext uri="{9D8B030D-6E8A-4147-A177-3AD203B41FA5}">
                      <a16:colId xmlns:a16="http://schemas.microsoft.com/office/drawing/2014/main" val="1690925198"/>
                    </a:ext>
                  </a:extLst>
                </a:gridCol>
                <a:gridCol w="981128">
                  <a:extLst>
                    <a:ext uri="{9D8B030D-6E8A-4147-A177-3AD203B41FA5}">
                      <a16:colId xmlns:a16="http://schemas.microsoft.com/office/drawing/2014/main" val="1983400545"/>
                    </a:ext>
                  </a:extLst>
                </a:gridCol>
                <a:gridCol w="981128">
                  <a:extLst>
                    <a:ext uri="{9D8B030D-6E8A-4147-A177-3AD203B41FA5}">
                      <a16:colId xmlns:a16="http://schemas.microsoft.com/office/drawing/2014/main" val="174646616"/>
                    </a:ext>
                  </a:extLst>
                </a:gridCol>
                <a:gridCol w="981128">
                  <a:extLst>
                    <a:ext uri="{9D8B030D-6E8A-4147-A177-3AD203B41FA5}">
                      <a16:colId xmlns:a16="http://schemas.microsoft.com/office/drawing/2014/main" val="3274502385"/>
                    </a:ext>
                  </a:extLst>
                </a:gridCol>
                <a:gridCol w="922759">
                  <a:extLst>
                    <a:ext uri="{9D8B030D-6E8A-4147-A177-3AD203B41FA5}">
                      <a16:colId xmlns:a16="http://schemas.microsoft.com/office/drawing/2014/main" val="2406664087"/>
                    </a:ext>
                  </a:extLst>
                </a:gridCol>
              </a:tblGrid>
              <a:tr h="1023324">
                <a:tc>
                  <a:txBody>
                    <a:bodyPr/>
                    <a:lstStyle/>
                    <a:p>
                      <a:pPr marL="0" algn="ctr" defTabSz="457200" rtl="0" eaLnBrk="1" latinLnBrk="0" hangingPunct="1">
                        <a:buNone/>
                      </a:pPr>
                      <a:r>
                        <a:rPr lang="th-TH" sz="1200" b="0" kern="1200" dirty="0">
                          <a:solidFill>
                            <a:srgbClr val="1D3557"/>
                          </a:solidFill>
                          <a:latin typeface="+mn-lt"/>
                          <a:ea typeface="+mn-ea"/>
                          <a:cs typeface="+mn-cs"/>
                        </a:rPr>
                        <a:t>Metric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457200" rtl="0" eaLnBrk="1" latinLnBrk="0" hangingPunct="1">
                        <a:buNone/>
                      </a:pPr>
                      <a:r>
                        <a:rPr lang="th-TH" sz="1200" b="0" kern="1200" dirty="0">
                          <a:solidFill>
                            <a:srgbClr val="1D3557"/>
                          </a:solidFill>
                          <a:latin typeface="+mn-lt"/>
                          <a:ea typeface="+mn-ea"/>
                          <a:cs typeface="+mn-cs"/>
                        </a:rPr>
                        <a:t>PI </a:t>
                      </a:r>
                      <a:r>
                        <a:rPr lang="en-US" sz="1200" b="0" kern="1200" dirty="0">
                          <a:solidFill>
                            <a:srgbClr val="1D3557"/>
                          </a:solidFill>
                          <a:latin typeface="+mn-lt"/>
                          <a:ea typeface="+mn-ea"/>
                          <a:cs typeface="+mn-cs"/>
                        </a:rPr>
                        <a:t>(c)</a:t>
                      </a:r>
                      <a:endParaRPr lang="th-TH" sz="1200" b="0" kern="1200" dirty="0">
                        <a:solidFill>
                          <a:srgbClr val="1D3557"/>
                        </a:solidFill>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457200" rtl="0" eaLnBrk="1" latinLnBrk="0" hangingPunct="1">
                        <a:buNone/>
                      </a:pPr>
                      <a:r>
                        <a:rPr lang="th-TH" sz="1200" b="0" kern="1200" dirty="0">
                          <a:solidFill>
                            <a:srgbClr val="1D3557"/>
                          </a:solidFill>
                          <a:latin typeface="+mn-lt"/>
                          <a:ea typeface="+mn-ea"/>
                          <a:cs typeface="+mn-cs"/>
                        </a:rPr>
                        <a:t>PI </a:t>
                      </a:r>
                      <a:r>
                        <a:rPr lang="en-US" sz="1200" b="0" kern="1200" dirty="0">
                          <a:solidFill>
                            <a:srgbClr val="1D3557"/>
                          </a:solidFill>
                          <a:latin typeface="+mn-lt"/>
                          <a:ea typeface="+mn-ea"/>
                          <a:cs typeface="+mn-cs"/>
                        </a:rPr>
                        <a:t>(t)</a:t>
                      </a:r>
                      <a:endParaRPr lang="th-TH" sz="1200" b="0" kern="1200" dirty="0">
                        <a:solidFill>
                          <a:srgbClr val="1D3557"/>
                        </a:solidFill>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457200" rtl="0" eaLnBrk="1" latinLnBrk="0" hangingPunct="1">
                        <a:buNone/>
                      </a:pPr>
                      <a:r>
                        <a:rPr lang="th-TH" sz="1200" b="0" kern="1200" dirty="0">
                          <a:solidFill>
                            <a:srgbClr val="1D3557"/>
                          </a:solidFill>
                          <a:latin typeface="+mn-lt"/>
                          <a:ea typeface="+mn-ea"/>
                          <a:cs typeface="+mn-cs"/>
                        </a:rPr>
                        <a:t>PI + full model FFW </a:t>
                      </a:r>
                    </a:p>
                    <a:p>
                      <a:pPr marL="0" algn="ctr" defTabSz="457200" rtl="0" eaLnBrk="1" latinLnBrk="0" hangingPunct="1">
                        <a:buNone/>
                      </a:pPr>
                      <a:r>
                        <a:rPr lang="en-US" sz="1200" b="0" kern="1200" dirty="0">
                          <a:solidFill>
                            <a:srgbClr val="1D3557"/>
                          </a:solidFill>
                          <a:latin typeface="+mn-lt"/>
                          <a:ea typeface="+mn-ea"/>
                          <a:cs typeface="+mn-cs"/>
                        </a:rPr>
                        <a:t>(c)</a:t>
                      </a:r>
                      <a:endParaRPr lang="th-TH" sz="1200" b="0" kern="1200" dirty="0">
                        <a:solidFill>
                          <a:srgbClr val="1D3557"/>
                        </a:solidFill>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457200" rtl="0" eaLnBrk="1" latinLnBrk="0" hangingPunct="1">
                        <a:buNone/>
                      </a:pPr>
                      <a:r>
                        <a:rPr lang="th-TH" sz="1200" b="0" kern="1200" dirty="0">
                          <a:solidFill>
                            <a:srgbClr val="1D3557"/>
                          </a:solidFill>
                          <a:latin typeface="+mn-lt"/>
                          <a:ea typeface="+mn-ea"/>
                          <a:cs typeface="+mn-cs"/>
                        </a:rPr>
                        <a:t>PI + full model FFW </a:t>
                      </a:r>
                    </a:p>
                    <a:p>
                      <a:pPr marL="0" algn="ctr" defTabSz="457200" rtl="0" eaLnBrk="1" latinLnBrk="0" hangingPunct="1">
                        <a:buNone/>
                      </a:pPr>
                      <a:r>
                        <a:rPr lang="en-US" sz="1200" b="0" kern="1200" dirty="0">
                          <a:solidFill>
                            <a:srgbClr val="1D3557"/>
                          </a:solidFill>
                          <a:latin typeface="+mn-lt"/>
                          <a:ea typeface="+mn-ea"/>
                          <a:cs typeface="+mn-cs"/>
                        </a:rPr>
                        <a:t>(t)</a:t>
                      </a:r>
                      <a:endParaRPr lang="th-TH" sz="1200" b="0" kern="1200" dirty="0">
                        <a:solidFill>
                          <a:srgbClr val="1D3557"/>
                        </a:solidFill>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457200" rtl="0" eaLnBrk="1" latinLnBrk="0" hangingPunct="1">
                        <a:buNone/>
                      </a:pPr>
                      <a:r>
                        <a:rPr lang="th-TH" sz="1200" b="0" kern="1200" dirty="0">
                          <a:solidFill>
                            <a:srgbClr val="1D3557"/>
                          </a:solidFill>
                          <a:latin typeface="+mn-lt"/>
                          <a:ea typeface="+mn-ea"/>
                          <a:cs typeface="+mn-cs"/>
                        </a:rPr>
                        <a:t>PI + poly FFW + grav FFW </a:t>
                      </a:r>
                      <a:r>
                        <a:rPr lang="en-US" sz="1200" b="0" kern="1200" dirty="0">
                          <a:solidFill>
                            <a:srgbClr val="1D3557"/>
                          </a:solidFill>
                          <a:latin typeface="+mn-lt"/>
                          <a:ea typeface="+mn-ea"/>
                          <a:cs typeface="+mn-cs"/>
                        </a:rPr>
                        <a:t>(c)</a:t>
                      </a:r>
                      <a:endParaRPr lang="th-TH" sz="1200" b="0" kern="1200" dirty="0">
                        <a:solidFill>
                          <a:srgbClr val="1D3557"/>
                        </a:solidFill>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457200" rtl="0" eaLnBrk="1" latinLnBrk="0" hangingPunct="1">
                        <a:buNone/>
                      </a:pPr>
                      <a:r>
                        <a:rPr lang="th-TH" sz="1200" b="0" kern="1200" dirty="0">
                          <a:solidFill>
                            <a:srgbClr val="1D3557"/>
                          </a:solidFill>
                          <a:latin typeface="+mn-lt"/>
                          <a:ea typeface="+mn-ea"/>
                          <a:cs typeface="+mn-cs"/>
                        </a:rPr>
                        <a:t>PI + poly FFW + grav FFW</a:t>
                      </a:r>
                    </a:p>
                    <a:p>
                      <a:pPr marL="0" algn="ctr" defTabSz="457200" rtl="0" eaLnBrk="1" latinLnBrk="0" hangingPunct="1">
                        <a:buNone/>
                      </a:pPr>
                      <a:r>
                        <a:rPr lang="en-US" sz="1200" b="0" kern="1200" dirty="0">
                          <a:solidFill>
                            <a:srgbClr val="1D3557"/>
                          </a:solidFill>
                          <a:latin typeface="+mn-lt"/>
                          <a:ea typeface="+mn-ea"/>
                          <a:cs typeface="+mn-cs"/>
                        </a:rPr>
                        <a:t>(t)</a:t>
                      </a:r>
                      <a:endParaRPr lang="th-TH" sz="1200" b="0" kern="1200" dirty="0">
                        <a:solidFill>
                          <a:srgbClr val="1D3557"/>
                        </a:solidFill>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457200" rtl="0" eaLnBrk="1" latinLnBrk="0" hangingPunct="1">
                        <a:buNone/>
                      </a:pPr>
                      <a:r>
                        <a:rPr lang="th-TH" sz="1200" b="0" kern="1200" dirty="0">
                          <a:solidFill>
                            <a:srgbClr val="1D3557"/>
                          </a:solidFill>
                          <a:latin typeface="+mn-lt"/>
                          <a:ea typeface="+mn-ea"/>
                          <a:cs typeface="+mn-cs"/>
                        </a:rPr>
                        <a:t>PI + NN FFW + grav FFW </a:t>
                      </a:r>
                    </a:p>
                    <a:p>
                      <a:pPr marL="0" algn="ctr" defTabSz="457200" rtl="0" eaLnBrk="1" latinLnBrk="0" hangingPunct="1">
                        <a:buNone/>
                      </a:pPr>
                      <a:r>
                        <a:rPr lang="en-US" sz="1200" b="0" kern="1200" dirty="0">
                          <a:solidFill>
                            <a:srgbClr val="1D3557"/>
                          </a:solidFill>
                          <a:latin typeface="+mn-lt"/>
                          <a:ea typeface="+mn-ea"/>
                          <a:cs typeface="+mn-cs"/>
                        </a:rPr>
                        <a:t>(c)</a:t>
                      </a:r>
                      <a:endParaRPr lang="th-TH" sz="1200" b="0" kern="1200" dirty="0">
                        <a:solidFill>
                          <a:srgbClr val="1D3557"/>
                        </a:solidFill>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457200" rtl="0" eaLnBrk="1" latinLnBrk="0" hangingPunct="1">
                        <a:buNone/>
                      </a:pPr>
                      <a:r>
                        <a:rPr lang="th-TH" sz="1200" b="0" kern="1200" dirty="0">
                          <a:solidFill>
                            <a:srgbClr val="1D3557"/>
                          </a:solidFill>
                          <a:latin typeface="+mn-lt"/>
                          <a:ea typeface="+mn-ea"/>
                          <a:cs typeface="+mn-cs"/>
                        </a:rPr>
                        <a:t>PI + NN FFW + grav FFW</a:t>
                      </a:r>
                    </a:p>
                    <a:p>
                      <a:pPr marL="0" algn="ctr" defTabSz="457200" rtl="0" eaLnBrk="1" latinLnBrk="0" hangingPunct="1">
                        <a:buNone/>
                      </a:pPr>
                      <a:r>
                        <a:rPr lang="en-US" sz="1200" b="0" kern="1200" dirty="0">
                          <a:solidFill>
                            <a:srgbClr val="1D3557"/>
                          </a:solidFill>
                          <a:latin typeface="+mn-lt"/>
                          <a:ea typeface="+mn-ea"/>
                          <a:cs typeface="+mn-cs"/>
                        </a:rPr>
                        <a:t>(t)</a:t>
                      </a:r>
                      <a:endParaRPr lang="th-TH" sz="1200" b="0" kern="1200" dirty="0">
                        <a:solidFill>
                          <a:srgbClr val="1D3557"/>
                        </a:solidFill>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2631807"/>
                  </a:ext>
                </a:extLst>
              </a:tr>
              <a:tr h="548036">
                <a:tc>
                  <a:txBody>
                    <a:bodyPr/>
                    <a:lstStyle/>
                    <a:p>
                      <a:pPr marL="0" algn="ctr" defTabSz="457200" rtl="0" eaLnBrk="1" latinLnBrk="0" hangingPunct="1">
                        <a:buNone/>
                      </a:pPr>
                      <a:r>
                        <a:rPr lang="th-TH" sz="1200" b="0" kern="1200" dirty="0">
                          <a:solidFill>
                            <a:srgbClr val="1D3557"/>
                          </a:solidFill>
                          <a:latin typeface="+mn-lt"/>
                          <a:ea typeface="+mn-ea"/>
                          <a:cs typeface="+mn-cs"/>
                        </a:rPr>
                        <a:t>RMSE (</a:t>
                      </a:r>
                      <a:r>
                        <a:rPr lang="th-TH" sz="1200" b="0" kern="1200" dirty="0" err="1">
                          <a:solidFill>
                            <a:srgbClr val="1D3557"/>
                          </a:solidFill>
                          <a:latin typeface="+mn-lt"/>
                          <a:ea typeface="+mn-ea"/>
                          <a:cs typeface="+mn-cs"/>
                        </a:rPr>
                        <a:t>rad</a:t>
                      </a:r>
                      <a:r>
                        <a:rPr lang="th-TH" sz="1200" b="0" kern="1200" dirty="0">
                          <a:solidFill>
                            <a:srgbClr val="1D3557"/>
                          </a:solidFill>
                          <a:latin typeface="+mn-lt"/>
                          <a:ea typeface="+mn-ea"/>
                          <a:cs typeface="+mn-cs"/>
                        </a:rPr>
                        <a:t>/s)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457200" rtl="0" eaLnBrk="1" latinLnBrk="0" hangingPunct="1">
                        <a:buNone/>
                      </a:pPr>
                      <a:r>
                        <a:rPr lang="th-TH" sz="1200" b="0" kern="1200" dirty="0">
                          <a:solidFill>
                            <a:srgbClr val="1D3557"/>
                          </a:solidFill>
                          <a:latin typeface="+mn-lt"/>
                          <a:ea typeface="+mn-ea"/>
                          <a:cs typeface="+mn-cs"/>
                        </a:rPr>
                        <a:t>0.4950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457200" rtl="0" eaLnBrk="1" latinLnBrk="0" hangingPunct="1">
                        <a:buNone/>
                      </a:pPr>
                      <a:r>
                        <a:rPr lang="th-TH" sz="1200" b="0" kern="1200">
                          <a:solidFill>
                            <a:srgbClr val="1D3557"/>
                          </a:solidFill>
                          <a:latin typeface="+mn-lt"/>
                          <a:ea typeface="+mn-ea"/>
                          <a:cs typeface="+mn-cs"/>
                        </a:rPr>
                        <a:t>0.3217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457200" rtl="0" eaLnBrk="1" latinLnBrk="0" hangingPunct="1">
                        <a:buNone/>
                      </a:pPr>
                      <a:r>
                        <a:rPr lang="th-TH" sz="1600" b="0" kern="1200" dirty="0">
                          <a:solidFill>
                            <a:srgbClr val="00B050"/>
                          </a:solidFill>
                          <a:latin typeface="+mn-lt"/>
                          <a:ea typeface="+mn-ea"/>
                          <a:cs typeface="+mn-cs"/>
                        </a:rPr>
                        <a:t>0.3183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457200" rtl="0" eaLnBrk="1" latinLnBrk="0" hangingPunct="1">
                        <a:buNone/>
                      </a:pPr>
                      <a:r>
                        <a:rPr lang="th-TH" sz="1600" b="1" kern="1200" dirty="0">
                          <a:solidFill>
                            <a:srgbClr val="1D3557"/>
                          </a:solidFill>
                          <a:latin typeface="+mn-lt"/>
                          <a:ea typeface="+mn-ea"/>
                          <a:cs typeface="+mn-cs"/>
                        </a:rPr>
                        <a:t>0.0053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457200" rtl="0" eaLnBrk="1" latinLnBrk="0" hangingPunct="1">
                        <a:buNone/>
                      </a:pPr>
                      <a:r>
                        <a:rPr lang="th-TH" sz="1600" b="0" kern="1200" dirty="0">
                          <a:solidFill>
                            <a:srgbClr val="00B050"/>
                          </a:solidFill>
                          <a:latin typeface="+mn-lt"/>
                          <a:ea typeface="+mn-ea"/>
                          <a:cs typeface="+mn-cs"/>
                        </a:rPr>
                        <a:t>0.3183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457200" rtl="0" eaLnBrk="1" latinLnBrk="0" hangingPunct="1">
                        <a:buNone/>
                      </a:pPr>
                      <a:r>
                        <a:rPr lang="th-TH" sz="1600" b="1" kern="1200" dirty="0">
                          <a:solidFill>
                            <a:srgbClr val="1D3557"/>
                          </a:solidFill>
                          <a:latin typeface="+mn-lt"/>
                          <a:ea typeface="+mn-ea"/>
                          <a:cs typeface="+mn-cs"/>
                        </a:rPr>
                        <a:t>0.0054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457200" rtl="0" eaLnBrk="1" latinLnBrk="0" hangingPunct="1">
                        <a:buNone/>
                      </a:pPr>
                      <a:r>
                        <a:rPr lang="th-TH" sz="1200" b="0" kern="1200" dirty="0">
                          <a:solidFill>
                            <a:srgbClr val="1D3557"/>
                          </a:solidFill>
                          <a:latin typeface="+mn-lt"/>
                          <a:ea typeface="+mn-ea"/>
                          <a:cs typeface="+mn-cs"/>
                        </a:rPr>
                        <a:t>0.4450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457200" rtl="0" eaLnBrk="1" latinLnBrk="0" hangingPunct="1">
                        <a:buNone/>
                      </a:pPr>
                      <a:r>
                        <a:rPr lang="th-TH" sz="1200" b="0" kern="1200">
                          <a:solidFill>
                            <a:srgbClr val="1D3557"/>
                          </a:solidFill>
                          <a:latin typeface="+mn-lt"/>
                          <a:ea typeface="+mn-ea"/>
                          <a:cs typeface="+mn-cs"/>
                        </a:rPr>
                        <a:t>0.2714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92528171"/>
                  </a:ext>
                </a:extLst>
              </a:tr>
              <a:tr h="548036">
                <a:tc>
                  <a:txBody>
                    <a:bodyPr/>
                    <a:lstStyle/>
                    <a:p>
                      <a:pPr marL="0" algn="ctr" defTabSz="457200" rtl="0" eaLnBrk="1" latinLnBrk="0" hangingPunct="1">
                        <a:buNone/>
                      </a:pPr>
                      <a:r>
                        <a:rPr lang="th-TH" sz="1200" b="0" kern="1200">
                          <a:solidFill>
                            <a:srgbClr val="1D3557"/>
                          </a:solidFill>
                          <a:latin typeface="+mn-lt"/>
                          <a:ea typeface="+mn-ea"/>
                          <a:cs typeface="+mn-cs"/>
                        </a:rPr>
                        <a:t>MAE (rad/s)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457200" rtl="0" eaLnBrk="1" latinLnBrk="0" hangingPunct="1">
                        <a:buNone/>
                      </a:pPr>
                      <a:r>
                        <a:rPr lang="th-TH" sz="1200" b="0" kern="1200">
                          <a:solidFill>
                            <a:srgbClr val="1D3557"/>
                          </a:solidFill>
                          <a:latin typeface="+mn-lt"/>
                          <a:ea typeface="+mn-ea"/>
                          <a:cs typeface="+mn-cs"/>
                        </a:rPr>
                        <a:t>0.3248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457200" rtl="0" eaLnBrk="1" latinLnBrk="0" hangingPunct="1">
                        <a:buNone/>
                      </a:pPr>
                      <a:r>
                        <a:rPr lang="th-TH" sz="1200" b="0" kern="1200">
                          <a:solidFill>
                            <a:srgbClr val="1D3557"/>
                          </a:solidFill>
                          <a:latin typeface="+mn-lt"/>
                          <a:ea typeface="+mn-ea"/>
                          <a:cs typeface="+mn-cs"/>
                        </a:rPr>
                        <a:t>0.2476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457200" rtl="0" eaLnBrk="1" latinLnBrk="0" hangingPunct="1">
                        <a:buNone/>
                      </a:pPr>
                      <a:r>
                        <a:rPr lang="th-TH" sz="1600" b="0" kern="1200" dirty="0">
                          <a:solidFill>
                            <a:srgbClr val="00B050"/>
                          </a:solidFill>
                          <a:latin typeface="+mn-lt"/>
                          <a:ea typeface="+mn-ea"/>
                          <a:cs typeface="+mn-cs"/>
                        </a:rPr>
                        <a:t>0.0294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457200" rtl="0" eaLnBrk="1" latinLnBrk="0" hangingPunct="1">
                        <a:buNone/>
                      </a:pPr>
                      <a:r>
                        <a:rPr lang="th-TH" sz="1600" b="1" kern="1200" dirty="0">
                          <a:solidFill>
                            <a:srgbClr val="1D3557"/>
                          </a:solidFill>
                          <a:latin typeface="+mn-lt"/>
                          <a:ea typeface="+mn-ea"/>
                          <a:cs typeface="+mn-cs"/>
                        </a:rPr>
                        <a:t>0.0043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457200" rtl="0" eaLnBrk="1" latinLnBrk="0" hangingPunct="1">
                        <a:buNone/>
                      </a:pPr>
                      <a:r>
                        <a:rPr lang="th-TH" sz="1600" b="0" kern="1200" dirty="0">
                          <a:solidFill>
                            <a:srgbClr val="00B050"/>
                          </a:solidFill>
                          <a:latin typeface="+mn-lt"/>
                          <a:ea typeface="+mn-ea"/>
                          <a:cs typeface="+mn-cs"/>
                        </a:rPr>
                        <a:t>0.0298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457200" rtl="0" eaLnBrk="1" latinLnBrk="0" hangingPunct="1">
                        <a:buNone/>
                      </a:pPr>
                      <a:r>
                        <a:rPr lang="th-TH" sz="1600" b="1" kern="1200" dirty="0">
                          <a:solidFill>
                            <a:srgbClr val="1D3557"/>
                          </a:solidFill>
                          <a:latin typeface="+mn-lt"/>
                          <a:ea typeface="+mn-ea"/>
                          <a:cs typeface="+mn-cs"/>
                        </a:rPr>
                        <a:t>0.0044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457200" rtl="0" eaLnBrk="1" latinLnBrk="0" hangingPunct="1">
                        <a:buNone/>
                      </a:pPr>
                      <a:r>
                        <a:rPr lang="th-TH" sz="1200" b="0" kern="1200" dirty="0">
                          <a:solidFill>
                            <a:srgbClr val="1D3557"/>
                          </a:solidFill>
                          <a:latin typeface="+mn-lt"/>
                          <a:ea typeface="+mn-ea"/>
                          <a:cs typeface="+mn-cs"/>
                        </a:rPr>
                        <a:t>0.2904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457200" rtl="0" eaLnBrk="1" latinLnBrk="0" hangingPunct="1">
                        <a:buNone/>
                      </a:pPr>
                      <a:r>
                        <a:rPr lang="th-TH" sz="1200" b="0" kern="1200">
                          <a:solidFill>
                            <a:srgbClr val="1D3557"/>
                          </a:solidFill>
                          <a:latin typeface="+mn-lt"/>
                          <a:ea typeface="+mn-ea"/>
                          <a:cs typeface="+mn-cs"/>
                        </a:rPr>
                        <a:t>0.2308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55478621"/>
                  </a:ext>
                </a:extLst>
              </a:tr>
              <a:tr h="535356">
                <a:tc>
                  <a:txBody>
                    <a:bodyPr/>
                    <a:lstStyle/>
                    <a:p>
                      <a:pPr marL="0" algn="ctr" defTabSz="457200" rtl="0" eaLnBrk="1" latinLnBrk="0" hangingPunct="1">
                        <a:buNone/>
                      </a:pPr>
                      <a:r>
                        <a:rPr lang="th-TH" sz="1200" b="0" kern="1200" dirty="0">
                          <a:solidFill>
                            <a:srgbClr val="1D3557"/>
                          </a:solidFill>
                          <a:latin typeface="+mn-lt"/>
                          <a:ea typeface="+mn-ea"/>
                          <a:cs typeface="+mn-cs"/>
                        </a:rPr>
                        <a:t>Control effort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457200" rtl="0" eaLnBrk="1" latinLnBrk="0" hangingPunct="1">
                        <a:buNone/>
                      </a:pPr>
                      <a:r>
                        <a:rPr lang="th-TH" sz="1200" b="0" kern="1200" dirty="0">
                          <a:solidFill>
                            <a:srgbClr val="1D3557"/>
                          </a:solidFill>
                          <a:latin typeface="+mn-lt"/>
                          <a:ea typeface="+mn-ea"/>
                          <a:cs typeface="+mn-cs"/>
                        </a:rPr>
                        <a:t>17.4124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457200" rtl="0" eaLnBrk="1" latinLnBrk="0" hangingPunct="1">
                        <a:buNone/>
                      </a:pPr>
                      <a:r>
                        <a:rPr lang="th-TH" sz="1200" b="0" kern="1200" dirty="0">
                          <a:solidFill>
                            <a:srgbClr val="1D3557"/>
                          </a:solidFill>
                          <a:latin typeface="+mn-lt"/>
                          <a:ea typeface="+mn-ea"/>
                          <a:cs typeface="+mn-cs"/>
                        </a:rPr>
                        <a:t>11.1069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457200" rtl="0" eaLnBrk="1" latinLnBrk="0" hangingPunct="1">
                        <a:buNone/>
                      </a:pPr>
                      <a:r>
                        <a:rPr lang="th-TH" sz="1200" b="0" kern="1200" dirty="0">
                          <a:solidFill>
                            <a:srgbClr val="1D3557"/>
                          </a:solidFill>
                          <a:latin typeface="+mn-lt"/>
                          <a:ea typeface="+mn-ea"/>
                          <a:cs typeface="+mn-cs"/>
                        </a:rPr>
                        <a:t>17.6503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457200" rtl="0" eaLnBrk="1" latinLnBrk="0" hangingPunct="1">
                        <a:buNone/>
                      </a:pPr>
                      <a:r>
                        <a:rPr lang="th-TH" sz="1200" b="0" kern="1200" dirty="0">
                          <a:solidFill>
                            <a:srgbClr val="1D3557"/>
                          </a:solidFill>
                          <a:latin typeface="+mn-lt"/>
                          <a:ea typeface="+mn-ea"/>
                          <a:cs typeface="+mn-cs"/>
                        </a:rPr>
                        <a:t>11.2862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457200" rtl="0" eaLnBrk="1" latinLnBrk="0" hangingPunct="1">
                        <a:buNone/>
                      </a:pPr>
                      <a:r>
                        <a:rPr lang="th-TH" sz="1200" b="0" kern="1200" dirty="0">
                          <a:solidFill>
                            <a:srgbClr val="1D3557"/>
                          </a:solidFill>
                          <a:latin typeface="+mn-lt"/>
                          <a:ea typeface="+mn-ea"/>
                          <a:cs typeface="+mn-cs"/>
                        </a:rPr>
                        <a:t>17.6509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457200" rtl="0" eaLnBrk="1" latinLnBrk="0" hangingPunct="1">
                        <a:buNone/>
                      </a:pPr>
                      <a:r>
                        <a:rPr lang="th-TH" sz="1200" b="0" kern="1200" dirty="0">
                          <a:solidFill>
                            <a:srgbClr val="1D3557"/>
                          </a:solidFill>
                          <a:latin typeface="+mn-lt"/>
                          <a:ea typeface="+mn-ea"/>
                          <a:cs typeface="+mn-cs"/>
                        </a:rPr>
                        <a:t>11.2866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457200" rtl="0" eaLnBrk="1" latinLnBrk="0" hangingPunct="1">
                        <a:buNone/>
                      </a:pPr>
                      <a:r>
                        <a:rPr lang="th-TH" sz="1200" b="0" kern="1200" dirty="0">
                          <a:solidFill>
                            <a:srgbClr val="1D3557"/>
                          </a:solidFill>
                          <a:latin typeface="+mn-lt"/>
                          <a:ea typeface="+mn-ea"/>
                          <a:cs typeface="+mn-cs"/>
                        </a:rPr>
                        <a:t>17.3144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457200" rtl="0" eaLnBrk="1" latinLnBrk="0" hangingPunct="1">
                        <a:buNone/>
                      </a:pPr>
                      <a:r>
                        <a:rPr lang="th-TH" sz="1200" b="0" kern="1200" dirty="0">
                          <a:solidFill>
                            <a:srgbClr val="1D3557"/>
                          </a:solidFill>
                          <a:latin typeface="+mn-lt"/>
                          <a:ea typeface="+mn-ea"/>
                          <a:cs typeface="+mn-cs"/>
                        </a:rPr>
                        <a:t>11.0674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716216"/>
                  </a:ext>
                </a:extLst>
              </a:tr>
            </a:tbl>
          </a:graphicData>
        </a:graphic>
      </p:graphicFrame>
      <p:sp>
        <p:nvSpPr>
          <p:cNvPr id="8" name="Rounded Rectangle 73">
            <a:extLst>
              <a:ext uri="{FF2B5EF4-FFF2-40B4-BE49-F238E27FC236}">
                <a16:creationId xmlns:a16="http://schemas.microsoft.com/office/drawing/2014/main" id="{CB955E36-97CE-CF7F-5D96-9AFFFC671D55}"/>
              </a:ext>
            </a:extLst>
          </p:cNvPr>
          <p:cNvSpPr/>
          <p:nvPr/>
        </p:nvSpPr>
        <p:spPr>
          <a:xfrm>
            <a:off x="899160" y="4306539"/>
            <a:ext cx="10875301" cy="1011911"/>
          </a:xfrm>
          <a:prstGeom prst="roundRect">
            <a:avLst>
              <a:gd name="adj" fmla="val 6000"/>
            </a:avLst>
          </a:prstGeom>
          <a:solidFill>
            <a:srgbClr val="E7F2F0"/>
          </a:solidFill>
          <a:ln w="12700">
            <a:solidFill>
              <a:srgbClr val="E7F2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9" name="Rectangle 8">
            <a:extLst>
              <a:ext uri="{FF2B5EF4-FFF2-40B4-BE49-F238E27FC236}">
                <a16:creationId xmlns:a16="http://schemas.microsoft.com/office/drawing/2014/main" id="{D2C26ADC-A51B-1B8A-EDAA-6668649FB065}"/>
              </a:ext>
            </a:extLst>
          </p:cNvPr>
          <p:cNvSpPr/>
          <p:nvPr/>
        </p:nvSpPr>
        <p:spPr>
          <a:xfrm>
            <a:off x="868679" y="4316351"/>
            <a:ext cx="45719" cy="1002100"/>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10" name="TextBox 9">
            <a:extLst>
              <a:ext uri="{FF2B5EF4-FFF2-40B4-BE49-F238E27FC236}">
                <a16:creationId xmlns:a16="http://schemas.microsoft.com/office/drawing/2014/main" id="{2A28BDA0-EBA0-5CE2-2A50-FDF84C67F650}"/>
              </a:ext>
            </a:extLst>
          </p:cNvPr>
          <p:cNvSpPr txBox="1"/>
          <p:nvPr/>
        </p:nvSpPr>
        <p:spPr>
          <a:xfrm>
            <a:off x="1069848" y="4391588"/>
            <a:ext cx="10555224" cy="761747"/>
          </a:xfrm>
          <a:prstGeom prst="rect">
            <a:avLst/>
          </a:prstGeom>
          <a:noFill/>
        </p:spPr>
        <p:txBody>
          <a:bodyPr wrap="square" lIns="0" tIns="0" rIns="0" bIns="0" anchor="ctr">
            <a:spAutoFit/>
          </a:bodyPr>
          <a:lstStyle/>
          <a:p>
            <a:pPr>
              <a:lnSpc>
                <a:spcPct val="112000"/>
              </a:lnSpc>
            </a:pPr>
            <a:r>
              <a:rPr lang="en-US" sz="1500" noProof="1">
                <a:solidFill>
                  <a:srgbClr val="4A5A66"/>
                </a:solidFill>
              </a:rPr>
              <a:t>Machine learning can </a:t>
            </a:r>
            <a:r>
              <a:rPr lang="en-US" sz="1500" b="1" i="1" noProof="1">
                <a:solidFill>
                  <a:srgbClr val="4A5A66"/>
                </a:solidFill>
              </a:rPr>
              <a:t>reduce the need for full analytical understanding of the system</a:t>
            </a:r>
            <a:r>
              <a:rPr lang="en-US" sz="1500" noProof="1">
                <a:solidFill>
                  <a:srgbClr val="4A5A66"/>
                </a:solidFill>
              </a:rPr>
              <a:t>. It can </a:t>
            </a:r>
            <a:r>
              <a:rPr lang="en-US" sz="1500" b="1" noProof="1">
                <a:solidFill>
                  <a:srgbClr val="4A5A66"/>
                </a:solidFill>
              </a:rPr>
              <a:t>achieve performance almost the same as a fully analytical model </a:t>
            </a:r>
            <a:r>
              <a:rPr lang="en-US" sz="1500" noProof="1">
                <a:solidFill>
                  <a:srgbClr val="4A5A66"/>
                </a:solidFill>
              </a:rPr>
              <a:t>and already simplifies system identification by </a:t>
            </a:r>
            <a:r>
              <a:rPr lang="en-US" sz="1500" b="1" noProof="1">
                <a:solidFill>
                  <a:srgbClr val="4A5A66"/>
                </a:solidFill>
              </a:rPr>
              <a:t>avoiding explicit estimation of parameters such as damping (b) and back-EMF constant (k_b)</a:t>
            </a:r>
            <a:r>
              <a:rPr lang="en-US" sz="1500" noProof="1">
                <a:solidFill>
                  <a:srgbClr val="4A5A66"/>
                </a:solidFill>
              </a:rPr>
              <a:t>. A simple linear regression model can already reproduce </a:t>
            </a:r>
            <a:r>
              <a:rPr lang="en-US" sz="1500" b="1" noProof="1">
                <a:solidFill>
                  <a:srgbClr val="4A5A66"/>
                </a:solidFill>
              </a:rPr>
              <a:t>behavior close to a fully derived physical model.</a:t>
            </a:r>
            <a:endParaRPr lang="en-US" sz="1500" b="1" noProof="1">
              <a:solidFill>
                <a:srgbClr val="4A5A66"/>
              </a:solidFill>
              <a:latin typeface="Calibri"/>
            </a:endParaRPr>
          </a:p>
        </p:txBody>
      </p:sp>
      <p:graphicFrame>
        <p:nvGraphicFramePr>
          <p:cNvPr id="11" name="Object 10">
            <a:extLst>
              <a:ext uri="{FF2B5EF4-FFF2-40B4-BE49-F238E27FC236}">
                <a16:creationId xmlns:a16="http://schemas.microsoft.com/office/drawing/2014/main" id="{1C36D5D8-2CA2-4E46-E40F-429619CF25A6}"/>
              </a:ext>
            </a:extLst>
          </p:cNvPr>
          <p:cNvGraphicFramePr>
            <a:graphicFrameLocks noChangeAspect="1"/>
          </p:cNvGraphicFramePr>
          <p:nvPr>
            <p:extLst>
              <p:ext uri="{D42A27DB-BD31-4B8C-83A1-F6EECF244321}">
                <p14:modId xmlns:p14="http://schemas.microsoft.com/office/powerpoint/2010/main" val="1870200659"/>
              </p:ext>
            </p:extLst>
          </p:nvPr>
        </p:nvGraphicFramePr>
        <p:xfrm>
          <a:off x="899160" y="5594490"/>
          <a:ext cx="2489200" cy="647700"/>
        </p:xfrm>
        <a:graphic>
          <a:graphicData uri="http://schemas.openxmlformats.org/presentationml/2006/ole">
            <mc:AlternateContent xmlns:mc="http://schemas.openxmlformats.org/markup-compatibility/2006">
              <mc:Choice xmlns:v="urn:schemas-microsoft-com:vml" Requires="v">
                <p:oleObj spid="_x0000_s6157" name="Equation" r:id="rId3" imgW="2489040" imgH="647640" progId="Equation.DSMT4">
                  <p:embed/>
                </p:oleObj>
              </mc:Choice>
              <mc:Fallback>
                <p:oleObj name="Equation" r:id="rId3" imgW="2489040" imgH="647640" progId="Equation.DSMT4">
                  <p:embed/>
                  <p:pic>
                    <p:nvPicPr>
                      <p:cNvPr id="121" name="Object 120">
                        <a:extLst>
                          <a:ext uri="{FF2B5EF4-FFF2-40B4-BE49-F238E27FC236}">
                            <a16:creationId xmlns:a16="http://schemas.microsoft.com/office/drawing/2014/main" id="{78ACFB92-E909-1634-BFED-EA21B739CC88}"/>
                          </a:ext>
                        </a:extLst>
                      </p:cNvPr>
                      <p:cNvPicPr/>
                      <p:nvPr/>
                    </p:nvPicPr>
                    <p:blipFill>
                      <a:blip r:embed="rId4"/>
                      <a:stretch>
                        <a:fillRect/>
                      </a:stretch>
                    </p:blipFill>
                    <p:spPr>
                      <a:xfrm>
                        <a:off x="899160" y="5594490"/>
                        <a:ext cx="2489200" cy="647700"/>
                      </a:xfrm>
                      <a:prstGeom prst="rect">
                        <a:avLst/>
                      </a:prstGeom>
                    </p:spPr>
                  </p:pic>
                </p:oleObj>
              </mc:Fallback>
            </mc:AlternateContent>
          </a:graphicData>
        </a:graphic>
      </p:graphicFrame>
      <p:sp>
        <p:nvSpPr>
          <p:cNvPr id="12" name="Rectangle 11">
            <a:extLst>
              <a:ext uri="{FF2B5EF4-FFF2-40B4-BE49-F238E27FC236}">
                <a16:creationId xmlns:a16="http://schemas.microsoft.com/office/drawing/2014/main" id="{AC881728-93CF-34EC-79F4-80FEB5128946}"/>
              </a:ext>
            </a:extLst>
          </p:cNvPr>
          <p:cNvSpPr/>
          <p:nvPr/>
        </p:nvSpPr>
        <p:spPr>
          <a:xfrm rot="16200000" flipH="1">
            <a:off x="1652909" y="5794634"/>
            <a:ext cx="45719" cy="940831"/>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13" name="Rectangle 12">
            <a:extLst>
              <a:ext uri="{FF2B5EF4-FFF2-40B4-BE49-F238E27FC236}">
                <a16:creationId xmlns:a16="http://schemas.microsoft.com/office/drawing/2014/main" id="{6F3DAD69-E217-2FEB-2CD9-648E24B10E4B}"/>
              </a:ext>
            </a:extLst>
          </p:cNvPr>
          <p:cNvSpPr/>
          <p:nvPr/>
        </p:nvSpPr>
        <p:spPr>
          <a:xfrm rot="16200000" flipH="1">
            <a:off x="2788976" y="5745411"/>
            <a:ext cx="45719" cy="1039277"/>
          </a:xfrm>
          <a:prstGeom prst="rect">
            <a:avLst/>
          </a:prstGeom>
          <a:solidFill>
            <a:srgbClr val="28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14" name="TextBox 13">
            <a:extLst>
              <a:ext uri="{FF2B5EF4-FFF2-40B4-BE49-F238E27FC236}">
                <a16:creationId xmlns:a16="http://schemas.microsoft.com/office/drawing/2014/main" id="{6E52F199-3294-0863-436E-33D00DC235F3}"/>
              </a:ext>
            </a:extLst>
          </p:cNvPr>
          <p:cNvSpPr txBox="1"/>
          <p:nvPr/>
        </p:nvSpPr>
        <p:spPr>
          <a:xfrm>
            <a:off x="1323730" y="6296546"/>
            <a:ext cx="750642" cy="155107"/>
          </a:xfrm>
          <a:prstGeom prst="rect">
            <a:avLst/>
          </a:prstGeom>
          <a:noFill/>
        </p:spPr>
        <p:txBody>
          <a:bodyPr wrap="square" lIns="0" tIns="0" rIns="0" bIns="0" anchor="t">
            <a:spAutoFit/>
          </a:bodyPr>
          <a:lstStyle/>
          <a:p>
            <a:pPr>
              <a:lnSpc>
                <a:spcPct val="120000"/>
              </a:lnSpc>
            </a:pPr>
            <a:r>
              <a:rPr lang="en-US" sz="900" noProof="1">
                <a:solidFill>
                  <a:srgbClr val="1D3557"/>
                </a:solidFill>
              </a:rPr>
              <a:t>Disturbance ffw</a:t>
            </a:r>
          </a:p>
        </p:txBody>
      </p:sp>
      <p:sp>
        <p:nvSpPr>
          <p:cNvPr id="15" name="TextBox 14">
            <a:extLst>
              <a:ext uri="{FF2B5EF4-FFF2-40B4-BE49-F238E27FC236}">
                <a16:creationId xmlns:a16="http://schemas.microsoft.com/office/drawing/2014/main" id="{C0B08EE4-DFF1-24A2-1F84-82E25B6996AB}"/>
              </a:ext>
            </a:extLst>
          </p:cNvPr>
          <p:cNvSpPr txBox="1"/>
          <p:nvPr/>
        </p:nvSpPr>
        <p:spPr>
          <a:xfrm>
            <a:off x="2486056" y="6297721"/>
            <a:ext cx="750642" cy="155107"/>
          </a:xfrm>
          <a:prstGeom prst="rect">
            <a:avLst/>
          </a:prstGeom>
          <a:noFill/>
        </p:spPr>
        <p:txBody>
          <a:bodyPr wrap="square" lIns="0" tIns="0" rIns="0" bIns="0" anchor="t">
            <a:spAutoFit/>
          </a:bodyPr>
          <a:lstStyle/>
          <a:p>
            <a:pPr>
              <a:lnSpc>
                <a:spcPct val="120000"/>
              </a:lnSpc>
            </a:pPr>
            <a:r>
              <a:rPr lang="en-US" sz="900" noProof="1">
                <a:solidFill>
                  <a:srgbClr val="1D3557"/>
                </a:solidFill>
              </a:rPr>
              <a:t>Reffernce ffw</a:t>
            </a:r>
          </a:p>
        </p:txBody>
      </p:sp>
      <p:sp>
        <p:nvSpPr>
          <p:cNvPr id="16" name="Rounded Rectangle 6">
            <a:extLst>
              <a:ext uri="{FF2B5EF4-FFF2-40B4-BE49-F238E27FC236}">
                <a16:creationId xmlns:a16="http://schemas.microsoft.com/office/drawing/2014/main" id="{E00C0EFD-FE01-39BC-130D-C1F0601B585F}"/>
              </a:ext>
            </a:extLst>
          </p:cNvPr>
          <p:cNvSpPr/>
          <p:nvPr/>
        </p:nvSpPr>
        <p:spPr>
          <a:xfrm>
            <a:off x="4781397" y="5717800"/>
            <a:ext cx="1104826" cy="616091"/>
          </a:xfrm>
          <a:prstGeom prst="roundRect">
            <a:avLst/>
          </a:prstGeom>
          <a:ln w="15875">
            <a:solidFill>
              <a:srgbClr val="289D8F"/>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200" noProof="1">
                <a:solidFill>
                  <a:srgbClr val="289D8F"/>
                </a:solidFill>
              </a:rPr>
              <a:t>Reference feedforward (ML)</a:t>
            </a:r>
          </a:p>
        </p:txBody>
      </p:sp>
      <p:cxnSp>
        <p:nvCxnSpPr>
          <p:cNvPr id="17" name="Straight Arrow Connector 16">
            <a:extLst>
              <a:ext uri="{FF2B5EF4-FFF2-40B4-BE49-F238E27FC236}">
                <a16:creationId xmlns:a16="http://schemas.microsoft.com/office/drawing/2014/main" id="{9E936D47-3F76-BC53-78E2-9D48D154CB56}"/>
              </a:ext>
            </a:extLst>
          </p:cNvPr>
          <p:cNvCxnSpPr>
            <a:cxnSpLocks/>
          </p:cNvCxnSpPr>
          <p:nvPr/>
        </p:nvCxnSpPr>
        <p:spPr>
          <a:xfrm>
            <a:off x="4317602" y="5997308"/>
            <a:ext cx="463795" cy="6982"/>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D22226AC-6BAE-540A-C327-03FFC910B74A}"/>
              </a:ext>
            </a:extLst>
          </p:cNvPr>
          <p:cNvCxnSpPr>
            <a:cxnSpLocks/>
          </p:cNvCxnSpPr>
          <p:nvPr/>
        </p:nvCxnSpPr>
        <p:spPr>
          <a:xfrm>
            <a:off x="5886223" y="6004290"/>
            <a:ext cx="63000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7292AE82-C46D-5F97-FE27-B728A7CEE8EA}"/>
                  </a:ext>
                </a:extLst>
              </p:cNvPr>
              <p:cNvSpPr txBox="1"/>
              <p:nvPr/>
            </p:nvSpPr>
            <p:spPr>
              <a:xfrm>
                <a:off x="4396443" y="5717800"/>
                <a:ext cx="243848"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en-US" sz="1400" b="0" i="1" noProof="1" dirty="0" smtClean="0">
                              <a:solidFill>
                                <a:srgbClr val="1D3456"/>
                              </a:solidFill>
                              <a:latin typeface="Cambria Math" panose="02040503050406030204" pitchFamily="18" charset="0"/>
                              <a:ea typeface="Cambria Math" panose="02040503050406030204" pitchFamily="18" charset="0"/>
                            </a:rPr>
                          </m:ctrlPr>
                        </m:sSupPr>
                        <m:e>
                          <m:r>
                            <a:rPr lang="en-US" sz="1400" b="0" i="1" noProof="1" dirty="0" smtClean="0">
                              <a:solidFill>
                                <a:srgbClr val="1D3456"/>
                              </a:solidFill>
                              <a:latin typeface="Cambria Math" panose="02040503050406030204" pitchFamily="18" charset="0"/>
                              <a:ea typeface="Cambria Math" panose="02040503050406030204" pitchFamily="18" charset="0"/>
                            </a:rPr>
                            <m:t>𝜔</m:t>
                          </m:r>
                        </m:e>
                        <m:sup>
                          <m:r>
                            <a:rPr lang="en-US" sz="1400" b="0" i="1" noProof="1" dirty="0" smtClean="0">
                              <a:solidFill>
                                <a:srgbClr val="1D3456"/>
                              </a:solidFill>
                              <a:latin typeface="Cambria Math" panose="02040503050406030204" pitchFamily="18" charset="0"/>
                              <a:ea typeface="Cambria Math" panose="02040503050406030204" pitchFamily="18" charset="0"/>
                            </a:rPr>
                            <m:t>∗</m:t>
                          </m:r>
                        </m:sup>
                      </m:sSup>
                    </m:oMath>
                  </m:oMathPara>
                </a14:m>
                <a:endParaRPr lang="en-US" sz="1400" noProof="1"/>
              </a:p>
            </p:txBody>
          </p:sp>
        </mc:Choice>
        <mc:Fallback xmlns="">
          <p:sp>
            <p:nvSpPr>
              <p:cNvPr id="19" name="TextBox 18">
                <a:extLst>
                  <a:ext uri="{FF2B5EF4-FFF2-40B4-BE49-F238E27FC236}">
                    <a16:creationId xmlns:a16="http://schemas.microsoft.com/office/drawing/2014/main" id="{7292AE82-C46D-5F97-FE27-B728A7CEE8EA}"/>
                  </a:ext>
                </a:extLst>
              </p:cNvPr>
              <p:cNvSpPr txBox="1">
                <a:spLocks noRot="1" noChangeAspect="1" noMove="1" noResize="1" noEditPoints="1" noAdjustHandles="1" noChangeArrowheads="1" noChangeShapeType="1" noTextEdit="1"/>
              </p:cNvSpPr>
              <p:nvPr/>
            </p:nvSpPr>
            <p:spPr>
              <a:xfrm>
                <a:off x="4396443" y="5717800"/>
                <a:ext cx="243848" cy="215444"/>
              </a:xfrm>
              <a:prstGeom prst="rect">
                <a:avLst/>
              </a:prstGeom>
              <a:blipFill>
                <a:blip r:embed="rId5"/>
                <a:stretch>
                  <a:fillRect l="-10000" r="-2500"/>
                </a:stretch>
              </a:blipFill>
            </p:spPr>
            <p:txBody>
              <a:bodyPr/>
              <a:lstStyle/>
              <a:p>
                <a:r>
                  <a:rPr lang="th-TH">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D5A909B8-562A-8251-C1D8-804A55764211}"/>
                  </a:ext>
                </a:extLst>
              </p:cNvPr>
              <p:cNvSpPr txBox="1"/>
              <p:nvPr/>
            </p:nvSpPr>
            <p:spPr>
              <a:xfrm>
                <a:off x="6022520" y="5724735"/>
                <a:ext cx="357406" cy="23269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400" i="1" noProof="1" dirty="0" smtClean="0">
                              <a:solidFill>
                                <a:srgbClr val="1D3456"/>
                              </a:solidFill>
                              <a:latin typeface="Cambria Math" panose="02040503050406030204" pitchFamily="18" charset="0"/>
                            </a:rPr>
                          </m:ctrlPr>
                        </m:sSubPr>
                        <m:e>
                          <m:r>
                            <a:rPr lang="en-US" sz="1400" b="0" i="1" noProof="1" dirty="0" smtClean="0">
                              <a:solidFill>
                                <a:srgbClr val="1D3456"/>
                              </a:solidFill>
                              <a:latin typeface="Cambria Math" panose="02040503050406030204" pitchFamily="18" charset="0"/>
                            </a:rPr>
                            <m:t>𝑉</m:t>
                          </m:r>
                        </m:e>
                        <m:sub>
                          <m:r>
                            <a:rPr lang="en-US" sz="1400" b="0" i="1" noProof="1" dirty="0" smtClean="0">
                              <a:solidFill>
                                <a:srgbClr val="1D3456"/>
                              </a:solidFill>
                              <a:latin typeface="Cambria Math" panose="02040503050406030204" pitchFamily="18" charset="0"/>
                            </a:rPr>
                            <m:t>𝑟𝑒𝑓</m:t>
                          </m:r>
                        </m:sub>
                      </m:sSub>
                    </m:oMath>
                  </m:oMathPara>
                </a14:m>
                <a:endParaRPr lang="en-US" sz="1400" noProof="1"/>
              </a:p>
            </p:txBody>
          </p:sp>
        </mc:Choice>
        <mc:Fallback xmlns="">
          <p:sp>
            <p:nvSpPr>
              <p:cNvPr id="20" name="TextBox 19">
                <a:extLst>
                  <a:ext uri="{FF2B5EF4-FFF2-40B4-BE49-F238E27FC236}">
                    <a16:creationId xmlns:a16="http://schemas.microsoft.com/office/drawing/2014/main" id="{D5A909B8-562A-8251-C1D8-804A55764211}"/>
                  </a:ext>
                </a:extLst>
              </p:cNvPr>
              <p:cNvSpPr txBox="1">
                <a:spLocks noRot="1" noChangeAspect="1" noMove="1" noResize="1" noEditPoints="1" noAdjustHandles="1" noChangeArrowheads="1" noChangeShapeType="1" noTextEdit="1"/>
              </p:cNvSpPr>
              <p:nvPr/>
            </p:nvSpPr>
            <p:spPr>
              <a:xfrm>
                <a:off x="6022520" y="5724735"/>
                <a:ext cx="357406" cy="232692"/>
              </a:xfrm>
              <a:prstGeom prst="rect">
                <a:avLst/>
              </a:prstGeom>
              <a:blipFill>
                <a:blip r:embed="rId6"/>
                <a:stretch>
                  <a:fillRect l="-10169" r="-5085" b="-26316"/>
                </a:stretch>
              </a:blipFill>
            </p:spPr>
            <p:txBody>
              <a:bodyPr/>
              <a:lstStyle/>
              <a:p>
                <a:r>
                  <a:rPr lang="th-TH">
                    <a:noFill/>
                  </a:rPr>
                  <a:t> </a:t>
                </a:r>
              </a:p>
            </p:txBody>
          </p:sp>
        </mc:Fallback>
      </mc:AlternateContent>
      <p:cxnSp>
        <p:nvCxnSpPr>
          <p:cNvPr id="22" name="Straight Connector 21">
            <a:extLst>
              <a:ext uri="{FF2B5EF4-FFF2-40B4-BE49-F238E27FC236}">
                <a16:creationId xmlns:a16="http://schemas.microsoft.com/office/drawing/2014/main" id="{833B46C5-60FA-E73C-5DF7-913ACE11380E}"/>
              </a:ext>
            </a:extLst>
          </p:cNvPr>
          <p:cNvCxnSpPr/>
          <p:nvPr/>
        </p:nvCxnSpPr>
        <p:spPr>
          <a:xfrm flipV="1">
            <a:off x="2292197" y="5393094"/>
            <a:ext cx="1166326" cy="1166326"/>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sp>
        <p:nvSpPr>
          <p:cNvPr id="23" name="Arrow: Right 22">
            <a:extLst>
              <a:ext uri="{FF2B5EF4-FFF2-40B4-BE49-F238E27FC236}">
                <a16:creationId xmlns:a16="http://schemas.microsoft.com/office/drawing/2014/main" id="{9BD52478-E727-5652-848D-B0F5D724622E}"/>
              </a:ext>
            </a:extLst>
          </p:cNvPr>
          <p:cNvSpPr/>
          <p:nvPr/>
        </p:nvSpPr>
        <p:spPr>
          <a:xfrm>
            <a:off x="3610947" y="5822302"/>
            <a:ext cx="375329" cy="314956"/>
          </a:xfrm>
          <a:prstGeom prst="righ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th-TH"/>
          </a:p>
        </p:txBody>
      </p:sp>
    </p:spTree>
    <p:extLst>
      <p:ext uri="{BB962C8B-B14F-4D97-AF65-F5344CB8AC3E}">
        <p14:creationId xmlns:p14="http://schemas.microsoft.com/office/powerpoint/2010/main" val="106710152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BFAF6"/>
        </a:solidFill>
        <a:effectLst/>
      </p:bgPr>
    </p:bg>
    <p:spTree>
      <p:nvGrpSpPr>
        <p:cNvPr id="1" name="">
          <a:extLst>
            <a:ext uri="{FF2B5EF4-FFF2-40B4-BE49-F238E27FC236}">
              <a16:creationId xmlns:a16="http://schemas.microsoft.com/office/drawing/2014/main" id="{15DAAA30-BADF-E0C1-DB26-B57069711734}"/>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1E9E5809-F400-BBB0-2CE8-D1298890B3F9}"/>
              </a:ext>
            </a:extLst>
          </p:cNvPr>
          <p:cNvSpPr/>
          <p:nvPr/>
        </p:nvSpPr>
        <p:spPr>
          <a:xfrm>
            <a:off x="566928" y="502920"/>
            <a:ext cx="17780" cy="5852160"/>
          </a:xfrm>
          <a:prstGeom prst="rect">
            <a:avLst/>
          </a:prstGeom>
          <a:solidFill>
            <a:srgbClr val="D9D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3" name="Rectangle 2">
            <a:extLst>
              <a:ext uri="{FF2B5EF4-FFF2-40B4-BE49-F238E27FC236}">
                <a16:creationId xmlns:a16="http://schemas.microsoft.com/office/drawing/2014/main" id="{D985FEF6-F1EE-2F74-9578-5F6BE6F6BF7D}"/>
              </a:ext>
            </a:extLst>
          </p:cNvPr>
          <p:cNvSpPr/>
          <p:nvPr/>
        </p:nvSpPr>
        <p:spPr>
          <a:xfrm>
            <a:off x="566928" y="502920"/>
            <a:ext cx="30480" cy="56692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4" name="TextBox 3">
            <a:extLst>
              <a:ext uri="{FF2B5EF4-FFF2-40B4-BE49-F238E27FC236}">
                <a16:creationId xmlns:a16="http://schemas.microsoft.com/office/drawing/2014/main" id="{0570221E-23F4-5837-E170-D83591F4243A}"/>
              </a:ext>
            </a:extLst>
          </p:cNvPr>
          <p:cNvSpPr txBox="1"/>
          <p:nvPr/>
        </p:nvSpPr>
        <p:spPr>
          <a:xfrm>
            <a:off x="868680" y="548640"/>
            <a:ext cx="10607040" cy="169277"/>
          </a:xfrm>
          <a:prstGeom prst="rect">
            <a:avLst/>
          </a:prstGeom>
          <a:noFill/>
        </p:spPr>
        <p:txBody>
          <a:bodyPr wrap="square" lIns="0" tIns="0" rIns="0" bIns="0" anchor="t">
            <a:spAutoFit/>
          </a:bodyPr>
          <a:lstStyle/>
          <a:p>
            <a:pPr>
              <a:lnSpc>
                <a:spcPct val="100000"/>
              </a:lnSpc>
            </a:pPr>
            <a:r>
              <a:rPr lang="en-US" sz="1100" b="1" noProof="1">
                <a:solidFill>
                  <a:srgbClr val="E07A5F"/>
                </a:solidFill>
                <a:latin typeface="Consolas"/>
              </a:rPr>
              <a:t>A1  </a:t>
            </a:r>
            <a:r>
              <a:rPr lang="en-US" sz="1100" b="1" noProof="1">
                <a:solidFill>
                  <a:srgbClr val="2A9D8F"/>
                </a:solidFill>
                <a:latin typeface="Consolas"/>
              </a:rPr>
              <a:t>Vertical Pendulum Control</a:t>
            </a:r>
            <a:r>
              <a:rPr lang="en-US" sz="1100" noProof="1">
                <a:solidFill>
                  <a:srgbClr val="2A9D8F"/>
                </a:solidFill>
                <a:latin typeface="Consolas"/>
              </a:rPr>
              <a:t> - Introduction</a:t>
            </a:r>
          </a:p>
        </p:txBody>
      </p:sp>
      <p:sp>
        <p:nvSpPr>
          <p:cNvPr id="7" name="Rounded Rectangle 6">
            <a:extLst>
              <a:ext uri="{FF2B5EF4-FFF2-40B4-BE49-F238E27FC236}">
                <a16:creationId xmlns:a16="http://schemas.microsoft.com/office/drawing/2014/main" id="{F12D2E04-BEC0-E89C-5C2C-B7240FFF7D46}"/>
              </a:ext>
            </a:extLst>
          </p:cNvPr>
          <p:cNvSpPr/>
          <p:nvPr/>
        </p:nvSpPr>
        <p:spPr>
          <a:xfrm>
            <a:off x="2164391" y="3537585"/>
            <a:ext cx="1104826" cy="479453"/>
          </a:xfrm>
          <a:prstGeom prst="roundRect">
            <a:avLst/>
          </a:prstGeom>
          <a:ln w="15875">
            <a:solidFill>
              <a:srgbClr val="1D3456"/>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noProof="1">
                <a:solidFill>
                  <a:srgbClr val="1D3456"/>
                </a:solidFill>
              </a:rPr>
              <a:t>PI</a:t>
            </a:r>
          </a:p>
          <a:p>
            <a:pPr algn="ctr"/>
            <a:r>
              <a:rPr lang="en-US" sz="1400" noProof="1">
                <a:solidFill>
                  <a:srgbClr val="1D3456"/>
                </a:solidFill>
              </a:rPr>
              <a:t>(Baseline)</a:t>
            </a:r>
          </a:p>
        </p:txBody>
      </p:sp>
      <p:cxnSp>
        <p:nvCxnSpPr>
          <p:cNvPr id="9" name="Straight Arrow Connector 8">
            <a:extLst>
              <a:ext uri="{FF2B5EF4-FFF2-40B4-BE49-F238E27FC236}">
                <a16:creationId xmlns:a16="http://schemas.microsoft.com/office/drawing/2014/main" id="{7E1E8A7D-B3DC-741B-74BF-AEC4A273A49D}"/>
              </a:ext>
            </a:extLst>
          </p:cNvPr>
          <p:cNvCxnSpPr>
            <a:cxnSpLocks/>
          </p:cNvCxnSpPr>
          <p:nvPr/>
        </p:nvCxnSpPr>
        <p:spPr>
          <a:xfrm>
            <a:off x="3269217" y="3784644"/>
            <a:ext cx="72000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EFC3BA65-51BD-CCA9-95D0-3C12583C1686}"/>
                  </a:ext>
                </a:extLst>
              </p:cNvPr>
              <p:cNvSpPr txBox="1"/>
              <p:nvPr/>
            </p:nvSpPr>
            <p:spPr>
              <a:xfrm>
                <a:off x="3393359" y="3537585"/>
                <a:ext cx="434799"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400" i="1" noProof="1" dirty="0" smtClean="0">
                              <a:solidFill>
                                <a:srgbClr val="1D3456"/>
                              </a:solidFill>
                              <a:latin typeface="Cambria Math" panose="02040503050406030204" pitchFamily="18" charset="0"/>
                            </a:rPr>
                          </m:ctrlPr>
                        </m:sSubPr>
                        <m:e>
                          <m:r>
                            <a:rPr lang="en-US" sz="1400" b="0" i="1" noProof="1" dirty="0" smtClean="0">
                              <a:solidFill>
                                <a:srgbClr val="1D3456"/>
                              </a:solidFill>
                              <a:latin typeface="Cambria Math" panose="02040503050406030204" pitchFamily="18" charset="0"/>
                            </a:rPr>
                            <m:t>𝑉</m:t>
                          </m:r>
                        </m:e>
                        <m:sub>
                          <m:r>
                            <a:rPr lang="en-US" sz="1400" b="0" i="1" noProof="1" dirty="0" smtClean="0">
                              <a:solidFill>
                                <a:srgbClr val="1D3456"/>
                              </a:solidFill>
                              <a:latin typeface="Cambria Math" panose="02040503050406030204" pitchFamily="18" charset="0"/>
                            </a:rPr>
                            <m:t>𝑏𝑎𝑠𝑒</m:t>
                          </m:r>
                        </m:sub>
                      </m:sSub>
                    </m:oMath>
                  </m:oMathPara>
                </a14:m>
                <a:endParaRPr lang="en-US" sz="1400" noProof="1"/>
              </a:p>
            </p:txBody>
          </p:sp>
        </mc:Choice>
        <mc:Fallback xmlns="">
          <p:sp>
            <p:nvSpPr>
              <p:cNvPr id="12" name="TextBox 11">
                <a:extLst>
                  <a:ext uri="{FF2B5EF4-FFF2-40B4-BE49-F238E27FC236}">
                    <a16:creationId xmlns:a16="http://schemas.microsoft.com/office/drawing/2014/main" id="{EFC3BA65-51BD-CCA9-95D0-3C12583C1686}"/>
                  </a:ext>
                </a:extLst>
              </p:cNvPr>
              <p:cNvSpPr txBox="1">
                <a:spLocks noRot="1" noChangeAspect="1" noMove="1" noResize="1" noEditPoints="1" noAdjustHandles="1" noChangeArrowheads="1" noChangeShapeType="1" noTextEdit="1"/>
              </p:cNvSpPr>
              <p:nvPr/>
            </p:nvSpPr>
            <p:spPr>
              <a:xfrm>
                <a:off x="3393359" y="3537585"/>
                <a:ext cx="434799" cy="215444"/>
              </a:xfrm>
              <a:prstGeom prst="rect">
                <a:avLst/>
              </a:prstGeom>
              <a:blipFill>
                <a:blip r:embed="rId2"/>
                <a:stretch>
                  <a:fillRect l="-9859" r="-1408" b="-13889"/>
                </a:stretch>
              </a:blipFill>
            </p:spPr>
            <p:txBody>
              <a:bodyPr/>
              <a:lstStyle/>
              <a:p>
                <a:r>
                  <a:rPr lang="th-TH">
                    <a:noFill/>
                  </a:rPr>
                  <a:t> </a:t>
                </a:r>
              </a:p>
            </p:txBody>
          </p:sp>
        </mc:Fallback>
      </mc:AlternateContent>
      <p:sp>
        <p:nvSpPr>
          <p:cNvPr id="13" name="Oval 12">
            <a:extLst>
              <a:ext uri="{FF2B5EF4-FFF2-40B4-BE49-F238E27FC236}">
                <a16:creationId xmlns:a16="http://schemas.microsoft.com/office/drawing/2014/main" id="{9F5200E3-19A9-5D6A-50A8-A6E7F88EB76D}"/>
              </a:ext>
            </a:extLst>
          </p:cNvPr>
          <p:cNvSpPr/>
          <p:nvPr/>
        </p:nvSpPr>
        <p:spPr>
          <a:xfrm>
            <a:off x="3978359" y="3649644"/>
            <a:ext cx="270000" cy="270000"/>
          </a:xfrm>
          <a:prstGeom prst="ellipse">
            <a:avLst/>
          </a:prstGeom>
          <a:noFill/>
          <a:ln w="15875">
            <a:solidFill>
              <a:srgbClr val="1D34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14" name="TextBox 13">
            <a:extLst>
              <a:ext uri="{FF2B5EF4-FFF2-40B4-BE49-F238E27FC236}">
                <a16:creationId xmlns:a16="http://schemas.microsoft.com/office/drawing/2014/main" id="{55836C06-8FCC-5E60-9150-74674E7C7766}"/>
              </a:ext>
            </a:extLst>
          </p:cNvPr>
          <p:cNvSpPr txBox="1"/>
          <p:nvPr/>
        </p:nvSpPr>
        <p:spPr>
          <a:xfrm>
            <a:off x="3965418" y="3587291"/>
            <a:ext cx="300082" cy="369332"/>
          </a:xfrm>
          <a:prstGeom prst="rect">
            <a:avLst/>
          </a:prstGeom>
          <a:noFill/>
        </p:spPr>
        <p:txBody>
          <a:bodyPr wrap="none" rtlCol="0">
            <a:spAutoFit/>
          </a:bodyPr>
          <a:lstStyle/>
          <a:p>
            <a:r>
              <a:rPr lang="en-US" noProof="1">
                <a:solidFill>
                  <a:srgbClr val="1D3456"/>
                </a:solidFill>
              </a:rPr>
              <a:t>+</a:t>
            </a: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0BA44168-9D27-855A-08AB-EBED65F20D36}"/>
                  </a:ext>
                </a:extLst>
              </p:cNvPr>
              <p:cNvSpPr txBox="1"/>
              <p:nvPr/>
            </p:nvSpPr>
            <p:spPr>
              <a:xfrm>
                <a:off x="4390609" y="3550043"/>
                <a:ext cx="157992"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400" b="0" i="1" noProof="1" dirty="0" smtClean="0">
                          <a:solidFill>
                            <a:srgbClr val="1D3456"/>
                          </a:solidFill>
                          <a:latin typeface="Cambria Math" panose="02040503050406030204" pitchFamily="18" charset="0"/>
                        </a:rPr>
                        <m:t>𝑉</m:t>
                      </m:r>
                    </m:oMath>
                  </m:oMathPara>
                </a14:m>
                <a:endParaRPr lang="en-US" sz="1400" noProof="1"/>
              </a:p>
            </p:txBody>
          </p:sp>
        </mc:Choice>
        <mc:Fallback xmlns="">
          <p:sp>
            <p:nvSpPr>
              <p:cNvPr id="16" name="TextBox 15">
                <a:extLst>
                  <a:ext uri="{FF2B5EF4-FFF2-40B4-BE49-F238E27FC236}">
                    <a16:creationId xmlns:a16="http://schemas.microsoft.com/office/drawing/2014/main" id="{0BA44168-9D27-855A-08AB-EBED65F20D36}"/>
                  </a:ext>
                </a:extLst>
              </p:cNvPr>
              <p:cNvSpPr txBox="1">
                <a:spLocks noRot="1" noChangeAspect="1" noMove="1" noResize="1" noEditPoints="1" noAdjustHandles="1" noChangeArrowheads="1" noChangeShapeType="1" noTextEdit="1"/>
              </p:cNvSpPr>
              <p:nvPr/>
            </p:nvSpPr>
            <p:spPr>
              <a:xfrm>
                <a:off x="4390609" y="3550043"/>
                <a:ext cx="157992" cy="215444"/>
              </a:xfrm>
              <a:prstGeom prst="rect">
                <a:avLst/>
              </a:prstGeom>
              <a:blipFill>
                <a:blip r:embed="rId3"/>
                <a:stretch>
                  <a:fillRect l="-26923" r="-19231" b="-2778"/>
                </a:stretch>
              </a:blipFill>
            </p:spPr>
            <p:txBody>
              <a:bodyPr/>
              <a:lstStyle/>
              <a:p>
                <a:r>
                  <a:rPr lang="th-TH">
                    <a:noFill/>
                  </a:rPr>
                  <a:t> </a:t>
                </a:r>
              </a:p>
            </p:txBody>
          </p:sp>
        </mc:Fallback>
      </mc:AlternateContent>
      <p:sp>
        <p:nvSpPr>
          <p:cNvPr id="17" name="Rounded Rectangle 16">
            <a:extLst>
              <a:ext uri="{FF2B5EF4-FFF2-40B4-BE49-F238E27FC236}">
                <a16:creationId xmlns:a16="http://schemas.microsoft.com/office/drawing/2014/main" id="{49946973-FDAA-737E-E927-3CBA3B2600DA}"/>
              </a:ext>
            </a:extLst>
          </p:cNvPr>
          <p:cNvSpPr/>
          <p:nvPr/>
        </p:nvSpPr>
        <p:spPr>
          <a:xfrm>
            <a:off x="5629736" y="3532231"/>
            <a:ext cx="1104826" cy="479453"/>
          </a:xfrm>
          <a:prstGeom prst="roundRect">
            <a:avLst/>
          </a:prstGeom>
          <a:ln w="15875">
            <a:solidFill>
              <a:srgbClr val="1D3456"/>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noProof="1">
                <a:solidFill>
                  <a:srgbClr val="1D3456"/>
                </a:solidFill>
              </a:rPr>
              <a:t>Plant</a:t>
            </a:r>
          </a:p>
          <a:p>
            <a:pPr algn="ctr"/>
            <a:r>
              <a:rPr lang="en-US" sz="1300" noProof="1">
                <a:solidFill>
                  <a:srgbClr val="1D3456"/>
                </a:solidFill>
              </a:rPr>
              <a:t>(Motor+Rod)</a:t>
            </a:r>
          </a:p>
        </p:txBody>
      </p:sp>
      <p:cxnSp>
        <p:nvCxnSpPr>
          <p:cNvPr id="18" name="Straight Arrow Connector 17">
            <a:extLst>
              <a:ext uri="{FF2B5EF4-FFF2-40B4-BE49-F238E27FC236}">
                <a16:creationId xmlns:a16="http://schemas.microsoft.com/office/drawing/2014/main" id="{0626AE4B-062A-69BE-A53B-E0DA6068AAA7}"/>
              </a:ext>
            </a:extLst>
          </p:cNvPr>
          <p:cNvCxnSpPr>
            <a:cxnSpLocks/>
          </p:cNvCxnSpPr>
          <p:nvPr/>
        </p:nvCxnSpPr>
        <p:spPr>
          <a:xfrm>
            <a:off x="6734562" y="3773053"/>
            <a:ext cx="63000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F42138CC-C499-6FC3-C42B-FB07B8818A90}"/>
                  </a:ext>
                </a:extLst>
              </p:cNvPr>
              <p:cNvSpPr txBox="1"/>
              <p:nvPr/>
            </p:nvSpPr>
            <p:spPr>
              <a:xfrm>
                <a:off x="7049562" y="3544920"/>
                <a:ext cx="173894"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400" b="0" i="1" noProof="1" dirty="0" smtClean="0">
                          <a:solidFill>
                            <a:srgbClr val="1D3456"/>
                          </a:solidFill>
                          <a:latin typeface="Cambria Math" panose="02040503050406030204" pitchFamily="18" charset="0"/>
                          <a:ea typeface="Cambria Math" panose="02040503050406030204" pitchFamily="18" charset="0"/>
                        </a:rPr>
                        <m:t>𝜔</m:t>
                      </m:r>
                    </m:oMath>
                  </m:oMathPara>
                </a14:m>
                <a:endParaRPr lang="en-US" sz="1400" noProof="1"/>
              </a:p>
            </p:txBody>
          </p:sp>
        </mc:Choice>
        <mc:Fallback xmlns="">
          <p:sp>
            <p:nvSpPr>
              <p:cNvPr id="21" name="TextBox 20">
                <a:extLst>
                  <a:ext uri="{FF2B5EF4-FFF2-40B4-BE49-F238E27FC236}">
                    <a16:creationId xmlns:a16="http://schemas.microsoft.com/office/drawing/2014/main" id="{F42138CC-C499-6FC3-C42B-FB07B8818A90}"/>
                  </a:ext>
                </a:extLst>
              </p:cNvPr>
              <p:cNvSpPr txBox="1">
                <a:spLocks noRot="1" noChangeAspect="1" noMove="1" noResize="1" noEditPoints="1" noAdjustHandles="1" noChangeArrowheads="1" noChangeShapeType="1" noTextEdit="1"/>
              </p:cNvSpPr>
              <p:nvPr/>
            </p:nvSpPr>
            <p:spPr>
              <a:xfrm>
                <a:off x="7049562" y="3544920"/>
                <a:ext cx="173894" cy="215444"/>
              </a:xfrm>
              <a:prstGeom prst="rect">
                <a:avLst/>
              </a:prstGeom>
              <a:blipFill>
                <a:blip r:embed="rId4"/>
                <a:stretch>
                  <a:fillRect l="-13793" r="-10345"/>
                </a:stretch>
              </a:blipFill>
            </p:spPr>
            <p:txBody>
              <a:bodyPr/>
              <a:lstStyle/>
              <a:p>
                <a:r>
                  <a:rPr lang="th-TH">
                    <a:noFill/>
                  </a:rPr>
                  <a:t> </a:t>
                </a:r>
              </a:p>
            </p:txBody>
          </p:sp>
        </mc:Fallback>
      </mc:AlternateContent>
      <p:sp>
        <p:nvSpPr>
          <p:cNvPr id="23" name="Oval 22">
            <a:extLst>
              <a:ext uri="{FF2B5EF4-FFF2-40B4-BE49-F238E27FC236}">
                <a16:creationId xmlns:a16="http://schemas.microsoft.com/office/drawing/2014/main" id="{C07037DA-C248-A00F-8BF0-F37EB0CA4C80}"/>
              </a:ext>
            </a:extLst>
          </p:cNvPr>
          <p:cNvSpPr/>
          <p:nvPr/>
        </p:nvSpPr>
        <p:spPr>
          <a:xfrm>
            <a:off x="1620767" y="3664356"/>
            <a:ext cx="270000" cy="270000"/>
          </a:xfrm>
          <a:prstGeom prst="ellipse">
            <a:avLst/>
          </a:prstGeom>
          <a:noFill/>
          <a:ln w="15875">
            <a:solidFill>
              <a:srgbClr val="1D34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B63C697F-AB3E-FC4E-8A81-B2E54CD43F2D}"/>
                  </a:ext>
                </a:extLst>
              </p:cNvPr>
              <p:cNvSpPr txBox="1"/>
              <p:nvPr/>
            </p:nvSpPr>
            <p:spPr>
              <a:xfrm>
                <a:off x="1668403" y="3680446"/>
                <a:ext cx="174727"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400" b="1" i="1" noProof="1" dirty="0" smtClean="0">
                          <a:solidFill>
                            <a:srgbClr val="1D3456"/>
                          </a:solidFill>
                          <a:latin typeface="Cambria Math" panose="02040503050406030204" pitchFamily="18" charset="0"/>
                          <a:ea typeface="Cambria Math" panose="02040503050406030204" pitchFamily="18" charset="0"/>
                        </a:rPr>
                        <m:t>±</m:t>
                      </m:r>
                    </m:oMath>
                  </m:oMathPara>
                </a14:m>
                <a:endParaRPr lang="en-US" sz="1400" b="1" noProof="1">
                  <a:solidFill>
                    <a:srgbClr val="1D3456"/>
                  </a:solidFill>
                </a:endParaRPr>
              </a:p>
            </p:txBody>
          </p:sp>
        </mc:Choice>
        <mc:Fallback xmlns="">
          <p:sp>
            <p:nvSpPr>
              <p:cNvPr id="26" name="TextBox 25">
                <a:extLst>
                  <a:ext uri="{FF2B5EF4-FFF2-40B4-BE49-F238E27FC236}">
                    <a16:creationId xmlns:a16="http://schemas.microsoft.com/office/drawing/2014/main" id="{B63C697F-AB3E-FC4E-8A81-B2E54CD43F2D}"/>
                  </a:ext>
                </a:extLst>
              </p:cNvPr>
              <p:cNvSpPr txBox="1">
                <a:spLocks noRot="1" noChangeAspect="1" noMove="1" noResize="1" noEditPoints="1" noAdjustHandles="1" noChangeArrowheads="1" noChangeShapeType="1" noTextEdit="1"/>
              </p:cNvSpPr>
              <p:nvPr/>
            </p:nvSpPr>
            <p:spPr>
              <a:xfrm>
                <a:off x="1668403" y="3680446"/>
                <a:ext cx="174727" cy="215444"/>
              </a:xfrm>
              <a:prstGeom prst="rect">
                <a:avLst/>
              </a:prstGeom>
              <a:blipFill>
                <a:blip r:embed="rId5"/>
                <a:stretch>
                  <a:fillRect l="-32143" r="-28571" b="-17143"/>
                </a:stretch>
              </a:blipFill>
            </p:spPr>
            <p:txBody>
              <a:bodyPr/>
              <a:lstStyle/>
              <a:p>
                <a:r>
                  <a:rPr lang="th-TH">
                    <a:noFill/>
                  </a:rPr>
                  <a:t> </a:t>
                </a:r>
              </a:p>
            </p:txBody>
          </p:sp>
        </mc:Fallback>
      </mc:AlternateContent>
      <p:cxnSp>
        <p:nvCxnSpPr>
          <p:cNvPr id="27" name="Straight Arrow Connector 26">
            <a:extLst>
              <a:ext uri="{FF2B5EF4-FFF2-40B4-BE49-F238E27FC236}">
                <a16:creationId xmlns:a16="http://schemas.microsoft.com/office/drawing/2014/main" id="{E5FD1457-4902-BF18-DD42-5CEF9224CD51}"/>
              </a:ext>
            </a:extLst>
          </p:cNvPr>
          <p:cNvCxnSpPr>
            <a:cxnSpLocks/>
          </p:cNvCxnSpPr>
          <p:nvPr/>
        </p:nvCxnSpPr>
        <p:spPr>
          <a:xfrm>
            <a:off x="6976195" y="3775871"/>
            <a:ext cx="0" cy="630000"/>
          </a:xfrm>
          <a:prstGeom prst="straightConnector1">
            <a:avLst/>
          </a:prstGeom>
          <a:ln w="15875">
            <a:solidFill>
              <a:srgbClr val="1D3456"/>
            </a:solidFill>
            <a:headEnd type="oval"/>
            <a:tailEnd type="none"/>
          </a:ln>
          <a:effectLst/>
        </p:spPr>
        <p:style>
          <a:lnRef idx="2">
            <a:schemeClr val="accent1"/>
          </a:lnRef>
          <a:fillRef idx="0">
            <a:schemeClr val="accent1"/>
          </a:fillRef>
          <a:effectRef idx="1">
            <a:schemeClr val="accent1"/>
          </a:effectRef>
          <a:fontRef idx="minor">
            <a:schemeClr val="tx1"/>
          </a:fontRef>
        </p:style>
      </p:cxnSp>
      <p:cxnSp>
        <p:nvCxnSpPr>
          <p:cNvPr id="30" name="Straight Arrow Connector 29">
            <a:extLst>
              <a:ext uri="{FF2B5EF4-FFF2-40B4-BE49-F238E27FC236}">
                <a16:creationId xmlns:a16="http://schemas.microsoft.com/office/drawing/2014/main" id="{484AE01E-9905-785C-FDD3-5C911A854133}"/>
              </a:ext>
            </a:extLst>
          </p:cNvPr>
          <p:cNvCxnSpPr>
            <a:cxnSpLocks/>
          </p:cNvCxnSpPr>
          <p:nvPr/>
        </p:nvCxnSpPr>
        <p:spPr>
          <a:xfrm>
            <a:off x="1755766" y="4405871"/>
            <a:ext cx="5220429" cy="0"/>
          </a:xfrm>
          <a:prstGeom prst="straightConnector1">
            <a:avLst/>
          </a:prstGeom>
          <a:ln w="15875">
            <a:solidFill>
              <a:srgbClr val="1D3456"/>
            </a:solidFill>
            <a:tailEnd type="none"/>
          </a:ln>
          <a:effectLst/>
        </p:spPr>
        <p:style>
          <a:lnRef idx="2">
            <a:schemeClr val="accent1"/>
          </a:lnRef>
          <a:fillRef idx="0">
            <a:schemeClr val="accent1"/>
          </a:fillRef>
          <a:effectRef idx="1">
            <a:schemeClr val="accent1"/>
          </a:effectRef>
          <a:fontRef idx="minor">
            <a:schemeClr val="tx1"/>
          </a:fontRef>
        </p:style>
      </p:cxnSp>
      <p:cxnSp>
        <p:nvCxnSpPr>
          <p:cNvPr id="32" name="Straight Arrow Connector 31">
            <a:extLst>
              <a:ext uri="{FF2B5EF4-FFF2-40B4-BE49-F238E27FC236}">
                <a16:creationId xmlns:a16="http://schemas.microsoft.com/office/drawing/2014/main" id="{0601789A-6C08-2465-BBF7-CEEE555CB6A9}"/>
              </a:ext>
            </a:extLst>
          </p:cNvPr>
          <p:cNvCxnSpPr>
            <a:cxnSpLocks/>
          </p:cNvCxnSpPr>
          <p:nvPr/>
        </p:nvCxnSpPr>
        <p:spPr>
          <a:xfrm>
            <a:off x="1760909" y="3934357"/>
            <a:ext cx="0" cy="471514"/>
          </a:xfrm>
          <a:prstGeom prst="straightConnector1">
            <a:avLst/>
          </a:prstGeom>
          <a:ln w="15875">
            <a:solidFill>
              <a:srgbClr val="1D3456"/>
            </a:solidFill>
            <a:headEnd type="triangle"/>
            <a:tailEnd type="none"/>
          </a:ln>
          <a:effectLst/>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C9502CC9-D0D2-E547-448F-3A241AF84DE2}"/>
              </a:ext>
            </a:extLst>
          </p:cNvPr>
          <p:cNvCxnSpPr>
            <a:cxnSpLocks/>
          </p:cNvCxnSpPr>
          <p:nvPr/>
        </p:nvCxnSpPr>
        <p:spPr>
          <a:xfrm>
            <a:off x="972152" y="3791626"/>
            <a:ext cx="648615"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1C36FD3B-2699-C37E-8897-B4D59B3BAAF4}"/>
                  </a:ext>
                </a:extLst>
              </p:cNvPr>
              <p:cNvSpPr txBox="1"/>
              <p:nvPr/>
            </p:nvSpPr>
            <p:spPr>
              <a:xfrm>
                <a:off x="1035048" y="3569200"/>
                <a:ext cx="243848"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en-US" sz="1400" b="0" i="1" noProof="1" dirty="0" smtClean="0">
                              <a:solidFill>
                                <a:srgbClr val="1D3456"/>
                              </a:solidFill>
                              <a:latin typeface="Cambria Math" panose="02040503050406030204" pitchFamily="18" charset="0"/>
                              <a:ea typeface="Cambria Math" panose="02040503050406030204" pitchFamily="18" charset="0"/>
                            </a:rPr>
                          </m:ctrlPr>
                        </m:sSupPr>
                        <m:e>
                          <m:r>
                            <a:rPr lang="en-US" sz="1400" b="0" i="1" noProof="1" dirty="0" smtClean="0">
                              <a:solidFill>
                                <a:srgbClr val="1D3456"/>
                              </a:solidFill>
                              <a:latin typeface="Cambria Math" panose="02040503050406030204" pitchFamily="18" charset="0"/>
                              <a:ea typeface="Cambria Math" panose="02040503050406030204" pitchFamily="18" charset="0"/>
                            </a:rPr>
                            <m:t>𝜔</m:t>
                          </m:r>
                        </m:e>
                        <m:sup>
                          <m:r>
                            <a:rPr lang="en-US" sz="1400" b="0" i="1" noProof="1" dirty="0" smtClean="0">
                              <a:solidFill>
                                <a:srgbClr val="1D3456"/>
                              </a:solidFill>
                              <a:latin typeface="Cambria Math" panose="02040503050406030204" pitchFamily="18" charset="0"/>
                              <a:ea typeface="Cambria Math" panose="02040503050406030204" pitchFamily="18" charset="0"/>
                            </a:rPr>
                            <m:t>∗</m:t>
                          </m:r>
                        </m:sup>
                      </m:sSup>
                    </m:oMath>
                  </m:oMathPara>
                </a14:m>
                <a:endParaRPr lang="en-US" sz="1400" noProof="1"/>
              </a:p>
            </p:txBody>
          </p:sp>
        </mc:Choice>
        <mc:Fallback xmlns="">
          <p:sp>
            <p:nvSpPr>
              <p:cNvPr id="36" name="TextBox 35">
                <a:extLst>
                  <a:ext uri="{FF2B5EF4-FFF2-40B4-BE49-F238E27FC236}">
                    <a16:creationId xmlns:a16="http://schemas.microsoft.com/office/drawing/2014/main" id="{1C36FD3B-2699-C37E-8897-B4D59B3BAAF4}"/>
                  </a:ext>
                </a:extLst>
              </p:cNvPr>
              <p:cNvSpPr txBox="1">
                <a:spLocks noRot="1" noChangeAspect="1" noMove="1" noResize="1" noEditPoints="1" noAdjustHandles="1" noChangeArrowheads="1" noChangeShapeType="1" noTextEdit="1"/>
              </p:cNvSpPr>
              <p:nvPr/>
            </p:nvSpPr>
            <p:spPr>
              <a:xfrm>
                <a:off x="1035048" y="3569200"/>
                <a:ext cx="243848" cy="215444"/>
              </a:xfrm>
              <a:prstGeom prst="rect">
                <a:avLst/>
              </a:prstGeom>
              <a:blipFill>
                <a:blip r:embed="rId6"/>
                <a:stretch>
                  <a:fillRect l="-12500"/>
                </a:stretch>
              </a:blipFill>
            </p:spPr>
            <p:txBody>
              <a:bodyPr/>
              <a:lstStyle/>
              <a:p>
                <a:r>
                  <a:rPr lang="th-TH">
                    <a:noFill/>
                  </a:rPr>
                  <a:t> </a:t>
                </a:r>
              </a:p>
            </p:txBody>
          </p:sp>
        </mc:Fallback>
      </mc:AlternateContent>
      <mc:AlternateContent xmlns:mc="http://schemas.openxmlformats.org/markup-compatibility/2006" xmlns:a14="http://schemas.microsoft.com/office/drawing/2010/main">
        <mc:Choice Requires="a14">
          <p:sp>
            <p:nvSpPr>
              <p:cNvPr id="37" name="Rounded Rectangle 36">
                <a:extLst>
                  <a:ext uri="{FF2B5EF4-FFF2-40B4-BE49-F238E27FC236}">
                    <a16:creationId xmlns:a16="http://schemas.microsoft.com/office/drawing/2014/main" id="{49C098F7-C347-78BF-5360-0672965ADE24}"/>
                  </a:ext>
                </a:extLst>
              </p:cNvPr>
              <p:cNvSpPr/>
              <p:nvPr/>
            </p:nvSpPr>
            <p:spPr>
              <a:xfrm>
                <a:off x="3560946" y="2711870"/>
                <a:ext cx="1104826" cy="479453"/>
              </a:xfrm>
              <a:prstGeom prst="roundRect">
                <a:avLst/>
              </a:prstGeom>
              <a:solidFill>
                <a:schemeClr val="bg1"/>
              </a:solidFill>
              <a:ln w="15875">
                <a:solidFill>
                  <a:srgbClr val="2BB5A5"/>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noProof="1">
                    <a:solidFill>
                      <a:srgbClr val="2BB5A5"/>
                    </a:solidFill>
                  </a:rPr>
                  <a:t>RL Policy</a:t>
                </a:r>
              </a:p>
              <a:p>
                <a:pPr algn="ctr"/>
                <a14:m>
                  <m:oMathPara xmlns:m="http://schemas.openxmlformats.org/officeDocument/2006/math">
                    <m:oMathParaPr>
                      <m:jc m:val="centerGroup"/>
                    </m:oMathParaPr>
                    <m:oMath xmlns:m="http://schemas.openxmlformats.org/officeDocument/2006/math">
                      <m:sSub>
                        <m:sSubPr>
                          <m:ctrlPr>
                            <a:rPr lang="en-US" sz="1400" i="1" noProof="1" dirty="0" smtClean="0">
                              <a:solidFill>
                                <a:srgbClr val="2BB5A5"/>
                              </a:solidFill>
                              <a:latin typeface="Cambria Math" panose="02040503050406030204" pitchFamily="18" charset="0"/>
                            </a:rPr>
                          </m:ctrlPr>
                        </m:sSubPr>
                        <m:e>
                          <m:r>
                            <a:rPr lang="en-US" sz="1400" i="1" noProof="1" dirty="0" smtClean="0">
                              <a:solidFill>
                                <a:srgbClr val="2BB5A5"/>
                              </a:solidFill>
                              <a:latin typeface="Cambria Math" panose="02040503050406030204" pitchFamily="18" charset="0"/>
                              <a:ea typeface="Cambria Math" panose="02040503050406030204" pitchFamily="18" charset="0"/>
                            </a:rPr>
                            <m:t>𝜋</m:t>
                          </m:r>
                        </m:e>
                        <m:sub>
                          <m:r>
                            <a:rPr lang="en-US" sz="1400" i="1" noProof="1" dirty="0" smtClean="0">
                              <a:solidFill>
                                <a:srgbClr val="2BB5A5"/>
                              </a:solidFill>
                              <a:latin typeface="Cambria Math" panose="02040503050406030204" pitchFamily="18" charset="0"/>
                              <a:ea typeface="Cambria Math" panose="02040503050406030204" pitchFamily="18" charset="0"/>
                            </a:rPr>
                            <m:t>𝜃</m:t>
                          </m:r>
                        </m:sub>
                      </m:sSub>
                    </m:oMath>
                  </m:oMathPara>
                </a14:m>
                <a:endParaRPr lang="en-US" sz="1400" noProof="1">
                  <a:solidFill>
                    <a:srgbClr val="2BB5A5"/>
                  </a:solidFill>
                </a:endParaRPr>
              </a:p>
            </p:txBody>
          </p:sp>
        </mc:Choice>
        <mc:Fallback xmlns="">
          <p:sp>
            <p:nvSpPr>
              <p:cNvPr id="37" name="Rounded Rectangle 36">
                <a:extLst>
                  <a:ext uri="{FF2B5EF4-FFF2-40B4-BE49-F238E27FC236}">
                    <a16:creationId xmlns:a16="http://schemas.microsoft.com/office/drawing/2014/main" id="{49C098F7-C347-78BF-5360-0672965ADE24}"/>
                  </a:ext>
                </a:extLst>
              </p:cNvPr>
              <p:cNvSpPr>
                <a:spLocks noRot="1" noChangeAspect="1" noMove="1" noResize="1" noEditPoints="1" noAdjustHandles="1" noChangeArrowheads="1" noChangeShapeType="1" noTextEdit="1"/>
              </p:cNvSpPr>
              <p:nvPr/>
            </p:nvSpPr>
            <p:spPr>
              <a:xfrm>
                <a:off x="3560946" y="2711870"/>
                <a:ext cx="1104826" cy="479453"/>
              </a:xfrm>
              <a:prstGeom prst="roundRect">
                <a:avLst/>
              </a:prstGeom>
              <a:blipFill>
                <a:blip r:embed="rId7"/>
                <a:stretch>
                  <a:fillRect t="-9756" b="-2439"/>
                </a:stretch>
              </a:blipFill>
              <a:ln w="15875">
                <a:solidFill>
                  <a:srgbClr val="2BB5A5"/>
                </a:solidFill>
              </a:ln>
            </p:spPr>
            <p:txBody>
              <a:bodyPr/>
              <a:lstStyle/>
              <a:p>
                <a:r>
                  <a:rPr lang="th-TH">
                    <a:noFill/>
                  </a:rPr>
                  <a:t> </a:t>
                </a:r>
              </a:p>
            </p:txBody>
          </p:sp>
        </mc:Fallback>
      </mc:AlternateContent>
      <p:cxnSp>
        <p:nvCxnSpPr>
          <p:cNvPr id="38" name="Straight Arrow Connector 37">
            <a:extLst>
              <a:ext uri="{FF2B5EF4-FFF2-40B4-BE49-F238E27FC236}">
                <a16:creationId xmlns:a16="http://schemas.microsoft.com/office/drawing/2014/main" id="{15BBEF88-2B96-48E0-E8FD-5EAE408213EC}"/>
              </a:ext>
            </a:extLst>
          </p:cNvPr>
          <p:cNvCxnSpPr>
            <a:cxnSpLocks/>
            <a:stCxn id="37" idx="3"/>
            <a:endCxn id="5" idx="1"/>
          </p:cNvCxnSpPr>
          <p:nvPr/>
        </p:nvCxnSpPr>
        <p:spPr>
          <a:xfrm>
            <a:off x="4665772" y="2951597"/>
            <a:ext cx="1043142" cy="4909"/>
          </a:xfrm>
          <a:prstGeom prst="straightConnector1">
            <a:avLst/>
          </a:prstGeom>
          <a:ln w="15875">
            <a:solidFill>
              <a:srgbClr val="2BB5A5"/>
            </a:solidFill>
            <a:tailEnd type="none"/>
          </a:ln>
          <a:effectLst/>
        </p:spPr>
        <p:style>
          <a:lnRef idx="2">
            <a:schemeClr val="accent1"/>
          </a:lnRef>
          <a:fillRef idx="0">
            <a:schemeClr val="accent1"/>
          </a:fillRef>
          <a:effectRef idx="1">
            <a:schemeClr val="accent1"/>
          </a:effectRef>
          <a:fontRef idx="minor">
            <a:schemeClr val="tx1"/>
          </a:fontRef>
        </p:style>
      </p:cxnSp>
      <p:cxnSp>
        <p:nvCxnSpPr>
          <p:cNvPr id="39" name="Straight Arrow Connector 38">
            <a:extLst>
              <a:ext uri="{FF2B5EF4-FFF2-40B4-BE49-F238E27FC236}">
                <a16:creationId xmlns:a16="http://schemas.microsoft.com/office/drawing/2014/main" id="{7B121A71-1151-0249-42E7-EA014E2FAAC1}"/>
              </a:ext>
            </a:extLst>
          </p:cNvPr>
          <p:cNvCxnSpPr>
            <a:cxnSpLocks/>
            <a:stCxn id="37" idx="2"/>
            <a:endCxn id="13" idx="0"/>
          </p:cNvCxnSpPr>
          <p:nvPr/>
        </p:nvCxnSpPr>
        <p:spPr>
          <a:xfrm>
            <a:off x="4113359" y="3191323"/>
            <a:ext cx="0" cy="458321"/>
          </a:xfrm>
          <a:prstGeom prst="straightConnector1">
            <a:avLst/>
          </a:prstGeom>
          <a:ln w="15875">
            <a:solidFill>
              <a:srgbClr val="2BB5A5"/>
            </a:solidFill>
            <a:tailEnd type="triangle"/>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1B2DCA50-AE76-759E-C843-F5D271A126F5}"/>
                  </a:ext>
                </a:extLst>
              </p:cNvPr>
              <p:cNvSpPr txBox="1"/>
              <p:nvPr/>
            </p:nvSpPr>
            <p:spPr>
              <a:xfrm>
                <a:off x="3815247" y="3349924"/>
                <a:ext cx="265394"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en-US" sz="1400" i="1" noProof="1" dirty="0" smtClean="0">
                          <a:solidFill>
                            <a:srgbClr val="2BB5A5"/>
                          </a:solidFill>
                          <a:latin typeface="Cambria Math" panose="02040503050406030204" pitchFamily="18" charset="0"/>
                          <a:ea typeface="Cambria Math" panose="02040503050406030204" pitchFamily="18" charset="0"/>
                        </a:rPr>
                        <m:t>Δ</m:t>
                      </m:r>
                      <m:r>
                        <a:rPr lang="en-US" sz="1400" b="0" i="1" noProof="1" dirty="0" smtClean="0">
                          <a:solidFill>
                            <a:srgbClr val="2BB5A5"/>
                          </a:solidFill>
                          <a:latin typeface="Cambria Math" panose="02040503050406030204" pitchFamily="18" charset="0"/>
                          <a:ea typeface="Cambria Math" panose="02040503050406030204" pitchFamily="18" charset="0"/>
                        </a:rPr>
                        <m:t>𝑉</m:t>
                      </m:r>
                    </m:oMath>
                  </m:oMathPara>
                </a14:m>
                <a:endParaRPr lang="en-US" sz="1400" noProof="1">
                  <a:solidFill>
                    <a:srgbClr val="2BB5A5"/>
                  </a:solidFill>
                </a:endParaRPr>
              </a:p>
            </p:txBody>
          </p:sp>
        </mc:Choice>
        <mc:Fallback xmlns="">
          <p:sp>
            <p:nvSpPr>
              <p:cNvPr id="43" name="TextBox 42">
                <a:extLst>
                  <a:ext uri="{FF2B5EF4-FFF2-40B4-BE49-F238E27FC236}">
                    <a16:creationId xmlns:a16="http://schemas.microsoft.com/office/drawing/2014/main" id="{1B2DCA50-AE76-759E-C843-F5D271A126F5}"/>
                  </a:ext>
                </a:extLst>
              </p:cNvPr>
              <p:cNvSpPr txBox="1">
                <a:spLocks noRot="1" noChangeAspect="1" noMove="1" noResize="1" noEditPoints="1" noAdjustHandles="1" noChangeArrowheads="1" noChangeShapeType="1" noTextEdit="1"/>
              </p:cNvSpPr>
              <p:nvPr/>
            </p:nvSpPr>
            <p:spPr>
              <a:xfrm>
                <a:off x="3815247" y="3349924"/>
                <a:ext cx="265394" cy="215444"/>
              </a:xfrm>
              <a:prstGeom prst="rect">
                <a:avLst/>
              </a:prstGeom>
              <a:blipFill>
                <a:blip r:embed="rId8"/>
                <a:stretch>
                  <a:fillRect l="-16279" r="-11628" b="-5714"/>
                </a:stretch>
              </a:blipFill>
            </p:spPr>
            <p:txBody>
              <a:bodyPr/>
              <a:lstStyle/>
              <a:p>
                <a:r>
                  <a:rPr lang="th-TH">
                    <a:noFill/>
                  </a:rPr>
                  <a:t> </a:t>
                </a:r>
              </a:p>
            </p:txBody>
          </p:sp>
        </mc:Fallback>
      </mc:AlternateContent>
      <p:cxnSp>
        <p:nvCxnSpPr>
          <p:cNvPr id="50" name="Straight Arrow Connector 49">
            <a:extLst>
              <a:ext uri="{FF2B5EF4-FFF2-40B4-BE49-F238E27FC236}">
                <a16:creationId xmlns:a16="http://schemas.microsoft.com/office/drawing/2014/main" id="{9E948CD1-739F-E35D-535D-1A4D09AFDAD2}"/>
              </a:ext>
            </a:extLst>
          </p:cNvPr>
          <p:cNvCxnSpPr>
            <a:cxnSpLocks/>
          </p:cNvCxnSpPr>
          <p:nvPr/>
        </p:nvCxnSpPr>
        <p:spPr>
          <a:xfrm flipV="1">
            <a:off x="1320249" y="2951597"/>
            <a:ext cx="0" cy="840029"/>
          </a:xfrm>
          <a:prstGeom prst="straightConnector1">
            <a:avLst/>
          </a:prstGeom>
          <a:ln w="15875">
            <a:solidFill>
              <a:srgbClr val="2BB5A5"/>
            </a:solidFill>
            <a:headEnd type="oval"/>
            <a:tailEnd type="none"/>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5" name="Rounded Rectangle 54">
                <a:extLst>
                  <a:ext uri="{FF2B5EF4-FFF2-40B4-BE49-F238E27FC236}">
                    <a16:creationId xmlns:a16="http://schemas.microsoft.com/office/drawing/2014/main" id="{679156CA-A358-FC7B-D078-B3E96464FE8E}"/>
                  </a:ext>
                </a:extLst>
              </p:cNvPr>
              <p:cNvSpPr/>
              <p:nvPr/>
            </p:nvSpPr>
            <p:spPr>
              <a:xfrm>
                <a:off x="4680359" y="3532231"/>
                <a:ext cx="679377" cy="479453"/>
              </a:xfrm>
              <a:prstGeom prst="roundRect">
                <a:avLst/>
              </a:prstGeom>
              <a:ln w="15875">
                <a:solidFill>
                  <a:srgbClr val="1D3456"/>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200" noProof="1">
                    <a:solidFill>
                      <a:srgbClr val="1D3456"/>
                    </a:solidFill>
                  </a:rPr>
                  <a:t>Clip to </a:t>
                </a:r>
                <a14:m>
                  <m:oMath xmlns:m="http://schemas.openxmlformats.org/officeDocument/2006/math">
                    <m:r>
                      <a:rPr lang="en-US" sz="1200" i="1" noProof="1" dirty="0" smtClean="0">
                        <a:solidFill>
                          <a:srgbClr val="1D3456"/>
                        </a:solidFill>
                        <a:latin typeface="Cambria Math" panose="02040503050406030204" pitchFamily="18" charset="0"/>
                        <a:ea typeface="Cambria Math" panose="02040503050406030204" pitchFamily="18" charset="0"/>
                      </a:rPr>
                      <m:t>±</m:t>
                    </m:r>
                    <m:r>
                      <a:rPr lang="en-US" sz="1200" b="0" i="1" noProof="1" dirty="0" smtClean="0">
                        <a:solidFill>
                          <a:srgbClr val="1D3456"/>
                        </a:solidFill>
                        <a:latin typeface="Cambria Math" panose="02040503050406030204" pitchFamily="18" charset="0"/>
                        <a:ea typeface="Cambria Math" panose="02040503050406030204" pitchFamily="18" charset="0"/>
                      </a:rPr>
                      <m:t>12</m:t>
                    </m:r>
                    <m:r>
                      <a:rPr lang="en-US" sz="1200" b="0" i="1" noProof="1" dirty="0" smtClean="0">
                        <a:solidFill>
                          <a:srgbClr val="1D3456"/>
                        </a:solidFill>
                        <a:latin typeface="Cambria Math" panose="02040503050406030204" pitchFamily="18" charset="0"/>
                        <a:ea typeface="Cambria Math" panose="02040503050406030204" pitchFamily="18" charset="0"/>
                      </a:rPr>
                      <m:t>𝑉</m:t>
                    </m:r>
                  </m:oMath>
                </a14:m>
                <a:endParaRPr lang="en-US" sz="1200" noProof="1">
                  <a:solidFill>
                    <a:srgbClr val="1D3456"/>
                  </a:solidFill>
                </a:endParaRPr>
              </a:p>
            </p:txBody>
          </p:sp>
        </mc:Choice>
        <mc:Fallback xmlns="">
          <p:sp>
            <p:nvSpPr>
              <p:cNvPr id="55" name="Rounded Rectangle 54">
                <a:extLst>
                  <a:ext uri="{FF2B5EF4-FFF2-40B4-BE49-F238E27FC236}">
                    <a16:creationId xmlns:a16="http://schemas.microsoft.com/office/drawing/2014/main" id="{679156CA-A358-FC7B-D078-B3E96464FE8E}"/>
                  </a:ext>
                </a:extLst>
              </p:cNvPr>
              <p:cNvSpPr>
                <a:spLocks noRot="1" noChangeAspect="1" noMove="1" noResize="1" noEditPoints="1" noAdjustHandles="1" noChangeArrowheads="1" noChangeShapeType="1" noTextEdit="1"/>
              </p:cNvSpPr>
              <p:nvPr/>
            </p:nvSpPr>
            <p:spPr>
              <a:xfrm>
                <a:off x="4680359" y="3532231"/>
                <a:ext cx="679377" cy="479453"/>
              </a:xfrm>
              <a:prstGeom prst="roundRect">
                <a:avLst/>
              </a:prstGeom>
              <a:blipFill>
                <a:blip r:embed="rId9"/>
                <a:stretch>
                  <a:fillRect/>
                </a:stretch>
              </a:blipFill>
              <a:ln w="15875">
                <a:solidFill>
                  <a:srgbClr val="1D3456"/>
                </a:solidFill>
              </a:ln>
            </p:spPr>
            <p:txBody>
              <a:bodyPr/>
              <a:lstStyle/>
              <a:p>
                <a:r>
                  <a:rPr lang="th-TH">
                    <a:noFill/>
                  </a:rPr>
                  <a:t> </a:t>
                </a:r>
              </a:p>
            </p:txBody>
          </p:sp>
        </mc:Fallback>
      </mc:AlternateContent>
      <p:cxnSp>
        <p:nvCxnSpPr>
          <p:cNvPr id="56" name="Straight Arrow Connector 55">
            <a:extLst>
              <a:ext uri="{FF2B5EF4-FFF2-40B4-BE49-F238E27FC236}">
                <a16:creationId xmlns:a16="http://schemas.microsoft.com/office/drawing/2014/main" id="{C04881F1-27AD-D168-F137-BBA18EAD7D7D}"/>
              </a:ext>
            </a:extLst>
          </p:cNvPr>
          <p:cNvCxnSpPr>
            <a:cxnSpLocks/>
          </p:cNvCxnSpPr>
          <p:nvPr/>
        </p:nvCxnSpPr>
        <p:spPr>
          <a:xfrm>
            <a:off x="4248359" y="3775871"/>
            <a:ext cx="43200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58" name="Straight Arrow Connector 57">
            <a:extLst>
              <a:ext uri="{FF2B5EF4-FFF2-40B4-BE49-F238E27FC236}">
                <a16:creationId xmlns:a16="http://schemas.microsoft.com/office/drawing/2014/main" id="{7864BFDF-3784-01C2-BB20-0475811D0A62}"/>
              </a:ext>
            </a:extLst>
          </p:cNvPr>
          <p:cNvCxnSpPr>
            <a:cxnSpLocks/>
          </p:cNvCxnSpPr>
          <p:nvPr/>
        </p:nvCxnSpPr>
        <p:spPr>
          <a:xfrm>
            <a:off x="5359736" y="3765487"/>
            <a:ext cx="27000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85BD29C4-0DA2-F53A-D720-BBF3ECF52335}"/>
              </a:ext>
            </a:extLst>
          </p:cNvPr>
          <p:cNvSpPr txBox="1"/>
          <p:nvPr/>
        </p:nvSpPr>
        <p:spPr>
          <a:xfrm>
            <a:off x="868680" y="960120"/>
            <a:ext cx="10607040" cy="412805"/>
          </a:xfrm>
          <a:prstGeom prst="rect">
            <a:avLst/>
          </a:prstGeom>
          <a:noFill/>
        </p:spPr>
        <p:txBody>
          <a:bodyPr wrap="square" lIns="0" tIns="0" rIns="0" bIns="0" anchor="t">
            <a:spAutoFit/>
          </a:bodyPr>
          <a:lstStyle/>
          <a:p>
            <a:pPr algn="l">
              <a:lnSpc>
                <a:spcPct val="102000"/>
              </a:lnSpc>
              <a:spcBef>
                <a:spcPts val="0"/>
              </a:spcBef>
              <a:spcAft>
                <a:spcPts val="600"/>
              </a:spcAft>
            </a:pPr>
            <a:r>
              <a:rPr lang="en-US" sz="2800" b="1" noProof="1">
                <a:solidFill>
                  <a:srgbClr val="1D3557"/>
                </a:solidFill>
                <a:latin typeface="Georgia"/>
              </a:rPr>
              <a:t>Residual Reinforcement Learning for Speed Control</a:t>
            </a:r>
          </a:p>
        </p:txBody>
      </p:sp>
      <p:sp>
        <p:nvSpPr>
          <p:cNvPr id="63" name="TextBox 62">
            <a:extLst>
              <a:ext uri="{FF2B5EF4-FFF2-40B4-BE49-F238E27FC236}">
                <a16:creationId xmlns:a16="http://schemas.microsoft.com/office/drawing/2014/main" id="{CE43FF58-EEAE-1CF9-A013-BF3A12E90855}"/>
              </a:ext>
            </a:extLst>
          </p:cNvPr>
          <p:cNvSpPr txBox="1"/>
          <p:nvPr/>
        </p:nvSpPr>
        <p:spPr>
          <a:xfrm>
            <a:off x="868680" y="1507925"/>
            <a:ext cx="10970278" cy="866712"/>
          </a:xfrm>
          <a:prstGeom prst="rect">
            <a:avLst/>
          </a:prstGeom>
          <a:noFill/>
        </p:spPr>
        <p:txBody>
          <a:bodyPr wrap="square" lIns="0" tIns="0" rIns="0" bIns="0" anchor="t">
            <a:spAutoFit/>
          </a:bodyPr>
          <a:lstStyle/>
          <a:p>
            <a:pPr>
              <a:lnSpc>
                <a:spcPct val="120000"/>
              </a:lnSpc>
            </a:pPr>
            <a:r>
              <a:rPr lang="en-GB" sz="1600" dirty="0">
                <a:solidFill>
                  <a:srgbClr val="495A66"/>
                </a:solidFill>
              </a:rPr>
              <a:t>A pure PI controller compensates the speed error but ignores gravity and the </a:t>
            </a:r>
            <a:r>
              <a:rPr lang="en-GB" sz="1600" b="1" dirty="0">
                <a:solidFill>
                  <a:srgbClr val="495A66"/>
                </a:solidFill>
              </a:rPr>
              <a:t>nonlinear dynamics </a:t>
            </a:r>
            <a:r>
              <a:rPr lang="en-GB" sz="1600" dirty="0">
                <a:solidFill>
                  <a:srgbClr val="495A66"/>
                </a:solidFill>
              </a:rPr>
              <a:t>of the system. Adding a feedforward term requires an accurate physical model. The residual approach lets us </a:t>
            </a:r>
            <a:r>
              <a:rPr lang="en-GB" sz="1600" i="1" dirty="0">
                <a:solidFill>
                  <a:srgbClr val="495A66"/>
                </a:solidFill>
              </a:rPr>
              <a:t>learn</a:t>
            </a:r>
            <a:r>
              <a:rPr lang="en-GB" sz="1600" dirty="0">
                <a:solidFill>
                  <a:srgbClr val="495A66"/>
                </a:solidFill>
              </a:rPr>
              <a:t> that correction directly from interaction with the system, with no knowledge of the motor parameters</a:t>
            </a:r>
            <a:r>
              <a:rPr lang="en-GB" sz="1600" dirty="0"/>
              <a:t>.</a:t>
            </a:r>
            <a:endParaRPr lang="en-US" sz="1400" noProof="1">
              <a:solidFill>
                <a:srgbClr val="1D3557"/>
              </a:solidFill>
            </a:endParaRPr>
          </a:p>
        </p:txBody>
      </p:sp>
      <p:sp>
        <p:nvSpPr>
          <p:cNvPr id="64" name="TextBox 63">
            <a:extLst>
              <a:ext uri="{FF2B5EF4-FFF2-40B4-BE49-F238E27FC236}">
                <a16:creationId xmlns:a16="http://schemas.microsoft.com/office/drawing/2014/main" id="{76C48D35-F283-C59F-C43D-050F8900DB73}"/>
              </a:ext>
            </a:extLst>
          </p:cNvPr>
          <p:cNvSpPr txBox="1"/>
          <p:nvPr/>
        </p:nvSpPr>
        <p:spPr>
          <a:xfrm>
            <a:off x="972152" y="4589097"/>
            <a:ext cx="6392409" cy="362150"/>
          </a:xfrm>
          <a:prstGeom prst="rect">
            <a:avLst/>
          </a:prstGeom>
          <a:noFill/>
        </p:spPr>
        <p:txBody>
          <a:bodyPr wrap="square" lIns="0" tIns="0" rIns="0" bIns="0" anchor="t">
            <a:spAutoFit/>
          </a:bodyPr>
          <a:lstStyle/>
          <a:p>
            <a:pPr>
              <a:lnSpc>
                <a:spcPct val="110000"/>
              </a:lnSpc>
              <a:spcAft>
                <a:spcPts val="600"/>
              </a:spcAft>
            </a:pPr>
            <a:r>
              <a:rPr lang="en-US" sz="1100" b="0" noProof="1">
                <a:solidFill>
                  <a:srgbClr val="4A5A66"/>
                </a:solidFill>
                <a:latin typeface="Consolas"/>
              </a:rPr>
              <a:t>Fig. 1 - </a:t>
            </a:r>
            <a:r>
              <a:rPr lang="en-GB" sz="1100" dirty="0">
                <a:solidFill>
                  <a:srgbClr val="495A66"/>
                </a:solidFill>
                <a:latin typeface="Consolas" panose="020B0609020204030204" pitchFamily="49" charset="0"/>
                <a:cs typeface="Consolas" panose="020B0609020204030204" pitchFamily="49" charset="0"/>
              </a:rPr>
              <a:t>The policy does not replace the PI; it adds a bounded correction on top. Safety is guaranteed by design: </a:t>
            </a:r>
            <a:r>
              <a:rPr lang="en-GB" sz="1100" i="1" dirty="0">
                <a:solidFill>
                  <a:srgbClr val="495A66"/>
                </a:solidFill>
                <a:latin typeface="Consolas" panose="020B0609020204030204" pitchFamily="49" charset="0"/>
                <a:cs typeface="Consolas" panose="020B0609020204030204" pitchFamily="49" charset="0"/>
              </a:rPr>
              <a:t>|</a:t>
            </a:r>
            <a:r>
              <a:rPr lang="el-GR" sz="1100" i="1" dirty="0">
                <a:solidFill>
                  <a:srgbClr val="495A66"/>
                </a:solidFill>
                <a:latin typeface="Consolas" panose="020B0609020204030204" pitchFamily="49" charset="0"/>
                <a:cs typeface="Consolas" panose="020B0609020204030204" pitchFamily="49" charset="0"/>
              </a:rPr>
              <a:t>Δ</a:t>
            </a:r>
            <a:r>
              <a:rPr lang="en-GB" sz="1100" i="1" dirty="0">
                <a:solidFill>
                  <a:srgbClr val="495A66"/>
                </a:solidFill>
                <a:latin typeface="Consolas" panose="020B0609020204030204" pitchFamily="49" charset="0"/>
                <a:cs typeface="Consolas" panose="020B0609020204030204" pitchFamily="49" charset="0"/>
              </a:rPr>
              <a:t>V|≤3.6V </a:t>
            </a:r>
            <a:r>
              <a:rPr lang="en-GB" sz="1100" dirty="0">
                <a:solidFill>
                  <a:srgbClr val="495A66"/>
                </a:solidFill>
                <a:latin typeface="Consolas" panose="020B0609020204030204" pitchFamily="49" charset="0"/>
                <a:cs typeface="Consolas" panose="020B0609020204030204" pitchFamily="49" charset="0"/>
              </a:rPr>
              <a:t>and the total voltage never exceeds</a:t>
            </a:r>
            <a:r>
              <a:rPr lang="en-GB" sz="1100" i="1" dirty="0">
                <a:solidFill>
                  <a:srgbClr val="495A66"/>
                </a:solidFill>
                <a:latin typeface="Consolas" panose="020B0609020204030204" pitchFamily="49" charset="0"/>
                <a:cs typeface="Consolas" panose="020B0609020204030204" pitchFamily="49" charset="0"/>
              </a:rPr>
              <a:t> ±12V.</a:t>
            </a:r>
            <a:endParaRPr lang="en-US" sz="1100" b="0" noProof="1">
              <a:solidFill>
                <a:srgbClr val="495A66"/>
              </a:solidFill>
              <a:latin typeface="Consolas" panose="020B0609020204030204" pitchFamily="49" charset="0"/>
              <a:cs typeface="Consolas" panose="020B0609020204030204" pitchFamily="49" charset="0"/>
            </a:endParaRPr>
          </a:p>
        </p:txBody>
      </p:sp>
      <mc:AlternateContent xmlns:mc="http://schemas.openxmlformats.org/markup-compatibility/2006" xmlns:a14="http://schemas.microsoft.com/office/drawing/2010/main">
        <mc:Choice Requires="a14">
          <p:graphicFrame>
            <p:nvGraphicFramePr>
              <p:cNvPr id="68" name="Table 67">
                <a:extLst>
                  <a:ext uri="{FF2B5EF4-FFF2-40B4-BE49-F238E27FC236}">
                    <a16:creationId xmlns:a16="http://schemas.microsoft.com/office/drawing/2014/main" id="{DD6ACE87-8CC8-A234-125A-7A0DDCFFBA3C}"/>
                  </a:ext>
                </a:extLst>
              </p:cNvPr>
              <p:cNvGraphicFramePr>
                <a:graphicFrameLocks noGrp="1"/>
              </p:cNvGraphicFramePr>
              <p:nvPr/>
            </p:nvGraphicFramePr>
            <p:xfrm>
              <a:off x="7641810" y="2574275"/>
              <a:ext cx="4298562" cy="2468880"/>
            </p:xfrm>
            <a:graphic>
              <a:graphicData uri="http://schemas.openxmlformats.org/drawingml/2006/table">
                <a:tbl>
                  <a:tblPr>
                    <a:tableStyleId>{5C22544A-7EE6-4342-B048-85BDC9FD1C3A}</a:tableStyleId>
                  </a:tblPr>
                  <a:tblGrid>
                    <a:gridCol w="972586">
                      <a:extLst>
                        <a:ext uri="{9D8B030D-6E8A-4147-A177-3AD203B41FA5}">
                          <a16:colId xmlns:a16="http://schemas.microsoft.com/office/drawing/2014/main" val="20000"/>
                        </a:ext>
                      </a:extLst>
                    </a:gridCol>
                    <a:gridCol w="3325976">
                      <a:extLst>
                        <a:ext uri="{9D8B030D-6E8A-4147-A177-3AD203B41FA5}">
                          <a16:colId xmlns:a16="http://schemas.microsoft.com/office/drawing/2014/main" val="20001"/>
                        </a:ext>
                      </a:extLst>
                    </a:gridCol>
                  </a:tblGrid>
                  <a:tr h="411480">
                    <a:tc>
                      <a:txBody>
                        <a:bodyPr/>
                        <a:lstStyle/>
                        <a:p>
                          <a:r>
                            <a:rPr lang="en-US" sz="1200" b="0" noProof="1">
                              <a:solidFill>
                                <a:srgbClr val="1D3557"/>
                              </a:solidFill>
                              <a:latin typeface="+mn-lt"/>
                            </a:rPr>
                            <a:t>Agent</a:t>
                          </a:r>
                        </a:p>
                      </a:txBody>
                      <a:tcPr marL="73152" marT="27432" marB="27432" anchor="ctr">
                        <a:solidFill>
                          <a:srgbClr val="FBFAF6"/>
                        </a:solidFill>
                      </a:tcPr>
                    </a:tc>
                    <a:tc>
                      <a:txBody>
                        <a:bodyPr/>
                        <a:lstStyle/>
                        <a:p>
                          <a:r>
                            <a:rPr lang="en-US" sz="1200" b="0" noProof="1">
                              <a:solidFill>
                                <a:srgbClr val="4A5A66"/>
                              </a:solidFill>
                              <a:latin typeface="+mn-lt"/>
                            </a:rPr>
                            <a:t>Neural Network (SAC) learning </a:t>
                          </a:r>
                          <a14:m>
                            <m:oMath xmlns:m="http://schemas.openxmlformats.org/officeDocument/2006/math">
                              <m:sSub>
                                <m:sSubPr>
                                  <m:ctrlPr>
                                    <a:rPr lang="en-US" sz="1200" b="0" i="1" noProof="1" smtClean="0">
                                      <a:solidFill>
                                        <a:srgbClr val="4A5A66"/>
                                      </a:solidFill>
                                      <a:latin typeface="Cambria Math" panose="02040503050406030204" pitchFamily="18" charset="0"/>
                                    </a:rPr>
                                  </m:ctrlPr>
                                </m:sSubPr>
                                <m:e>
                                  <m:r>
                                    <a:rPr lang="en-US" sz="1200" b="0" i="1" noProof="1" smtClean="0">
                                      <a:solidFill>
                                        <a:srgbClr val="4A5A66"/>
                                      </a:solidFill>
                                      <a:latin typeface="Cambria Math" panose="02040503050406030204" pitchFamily="18" charset="0"/>
                                      <a:ea typeface="Cambria Math" panose="02040503050406030204" pitchFamily="18" charset="0"/>
                                    </a:rPr>
                                    <m:t>𝜋</m:t>
                                  </m:r>
                                </m:e>
                                <m:sub>
                                  <m:r>
                                    <a:rPr lang="en-US" sz="1200" b="0" i="1" noProof="1" smtClean="0">
                                      <a:solidFill>
                                        <a:srgbClr val="4A5A66"/>
                                      </a:solidFill>
                                      <a:latin typeface="Cambria Math" panose="02040503050406030204" pitchFamily="18" charset="0"/>
                                      <a:ea typeface="Cambria Math" panose="02040503050406030204" pitchFamily="18" charset="0"/>
                                    </a:rPr>
                                    <m:t>𝜗</m:t>
                                  </m:r>
                                </m:sub>
                              </m:sSub>
                            </m:oMath>
                          </a14:m>
                          <a:endParaRPr lang="en-US" sz="1200" b="0" noProof="1">
                            <a:solidFill>
                              <a:srgbClr val="4A5A66"/>
                            </a:solidFill>
                            <a:latin typeface="+mn-lt"/>
                          </a:endParaRPr>
                        </a:p>
                      </a:txBody>
                      <a:tcPr marL="73152" marT="27432" marB="27432" anchor="ctr">
                        <a:solidFill>
                          <a:srgbClr val="FBFAF6"/>
                        </a:solidFill>
                      </a:tcPr>
                    </a:tc>
                    <a:extLst>
                      <a:ext uri="{0D108BD9-81ED-4DB2-BD59-A6C34878D82A}">
                        <a16:rowId xmlns:a16="http://schemas.microsoft.com/office/drawing/2014/main" val="10000"/>
                      </a:ext>
                    </a:extLst>
                  </a:tr>
                  <a:tr h="411480">
                    <a:tc>
                      <a:txBody>
                        <a:bodyPr/>
                        <a:lstStyle/>
                        <a:p>
                          <a:r>
                            <a:rPr lang="en-US" sz="1200" b="0" noProof="1">
                              <a:solidFill>
                                <a:srgbClr val="1D3557"/>
                              </a:solidFill>
                              <a:latin typeface="+mn-lt"/>
                            </a:rPr>
                            <a:t>Environment</a:t>
                          </a:r>
                        </a:p>
                      </a:txBody>
                      <a:tcPr marL="73152" marT="27432" marB="27432" anchor="ctr">
                        <a:solidFill>
                          <a:srgbClr val="FBFAF6"/>
                        </a:solidFill>
                      </a:tcPr>
                    </a:tc>
                    <a:tc>
                      <a:txBody>
                        <a:bodyPr/>
                        <a:lstStyle/>
                        <a:p>
                          <a:r>
                            <a:rPr lang="en-US" sz="1200" b="0" noProof="1">
                              <a:solidFill>
                                <a:srgbClr val="4A5A66"/>
                              </a:solidFill>
                              <a:latin typeface="+mn-lt"/>
                            </a:rPr>
                            <a:t>BDC Motor + rod simulated at 1 kHz</a:t>
                          </a:r>
                        </a:p>
                      </a:txBody>
                      <a:tcPr marL="73152" marT="27432" marB="27432" anchor="ctr">
                        <a:solidFill>
                          <a:srgbClr val="FBFAF6"/>
                        </a:solidFill>
                      </a:tcPr>
                    </a:tc>
                    <a:extLst>
                      <a:ext uri="{0D108BD9-81ED-4DB2-BD59-A6C34878D82A}">
                        <a16:rowId xmlns:a16="http://schemas.microsoft.com/office/drawing/2014/main" val="10001"/>
                      </a:ext>
                    </a:extLst>
                  </a:tr>
                  <a:tr h="411480">
                    <a:tc>
                      <a:txBody>
                        <a:bodyPr/>
                        <a:lstStyle/>
                        <a:p>
                          <a:r>
                            <a:rPr lang="en-US" sz="1200" b="0" noProof="1">
                              <a:solidFill>
                                <a:srgbClr val="1D3557"/>
                              </a:solidFill>
                              <a:latin typeface="+mn-lt"/>
                            </a:rPr>
                            <a:t>State </a:t>
                          </a:r>
                          <a:r>
                            <a:rPr lang="en-US" sz="1200" b="0" i="1" noProof="1">
                              <a:solidFill>
                                <a:srgbClr val="1D3557"/>
                              </a:solidFill>
                              <a:latin typeface="+mn-lt"/>
                            </a:rPr>
                            <a:t>s</a:t>
                          </a:r>
                        </a:p>
                      </a:txBody>
                      <a:tcPr marL="73152" marT="27432" marB="27432" anchor="ctr">
                        <a:solidFill>
                          <a:srgbClr val="FBFAF6"/>
                        </a:solidFill>
                      </a:tcPr>
                    </a:tc>
                    <a:tc>
                      <a:txBody>
                        <a:bodyPr/>
                        <a:lstStyle/>
                        <a:p>
                          <a:r>
                            <a:rPr lang="en-US" sz="1200" b="0" noProof="1">
                              <a:solidFill>
                                <a:srgbClr val="4A5A66"/>
                              </a:solidFill>
                              <a:latin typeface="+mn-lt"/>
                            </a:rPr>
                            <a:t>Speed error, velocity, </a:t>
                          </a:r>
                          <a14:m>
                            <m:oMath xmlns:m="http://schemas.openxmlformats.org/officeDocument/2006/math">
                              <m:r>
                                <a:rPr lang="it-IT" sz="1200" b="0" i="1" noProof="1" smtClean="0">
                                  <a:solidFill>
                                    <a:srgbClr val="4A5A66"/>
                                  </a:solidFill>
                                  <a:latin typeface="Cambria Math" panose="02040503050406030204" pitchFamily="18" charset="0"/>
                                </a:rPr>
                                <m:t>𝑠𝑖𝑛</m:t>
                              </m:r>
                              <m:r>
                                <a:rPr lang="it-IT" sz="1200" b="0" i="1" noProof="1" smtClean="0">
                                  <a:solidFill>
                                    <a:srgbClr val="4A5A66"/>
                                  </a:solidFill>
                                  <a:latin typeface="Cambria Math" panose="02040503050406030204" pitchFamily="18" charset="0"/>
                                </a:rPr>
                                <m:t>/</m:t>
                              </m:r>
                              <m:func>
                                <m:funcPr>
                                  <m:ctrlPr>
                                    <a:rPr lang="it-IT" sz="1200" b="0" i="1" noProof="1" smtClean="0">
                                      <a:solidFill>
                                        <a:srgbClr val="4A5A66"/>
                                      </a:solidFill>
                                      <a:latin typeface="Cambria Math" panose="02040503050406030204" pitchFamily="18" charset="0"/>
                                    </a:rPr>
                                  </m:ctrlPr>
                                </m:funcPr>
                                <m:fName>
                                  <m:r>
                                    <m:rPr>
                                      <m:sty m:val="p"/>
                                    </m:rPr>
                                    <a:rPr lang="it-IT" sz="1200" b="0" i="0" noProof="1" smtClean="0">
                                      <a:solidFill>
                                        <a:srgbClr val="4A5A66"/>
                                      </a:solidFill>
                                      <a:latin typeface="Cambria Math" panose="02040503050406030204" pitchFamily="18" charset="0"/>
                                    </a:rPr>
                                    <m:t>cos</m:t>
                                  </m:r>
                                </m:fName>
                                <m:e>
                                  <m:r>
                                    <a:rPr lang="it-IT" sz="1200" b="0" i="1" noProof="1" smtClean="0">
                                      <a:solidFill>
                                        <a:srgbClr val="4A5A66"/>
                                      </a:solidFill>
                                      <a:latin typeface="Cambria Math" panose="02040503050406030204" pitchFamily="18" charset="0"/>
                                      <a:ea typeface="Cambria Math" panose="02040503050406030204" pitchFamily="18" charset="0"/>
                                    </a:rPr>
                                    <m:t>𝜃</m:t>
                                  </m:r>
                                </m:e>
                              </m:func>
                              <m:r>
                                <a:rPr lang="it-IT" sz="1200" b="0" i="1" noProof="1" smtClean="0">
                                  <a:solidFill>
                                    <a:srgbClr val="4A5A66"/>
                                  </a:solidFill>
                                  <a:latin typeface="Cambria Math" panose="02040503050406030204" pitchFamily="18" charset="0"/>
                                </a:rPr>
                                <m:t>, </m:t>
                              </m:r>
                              <m:sSup>
                                <m:sSupPr>
                                  <m:ctrlPr>
                                    <a:rPr lang="it-IT" sz="1200" b="0" i="1" noProof="1" smtClean="0">
                                      <a:solidFill>
                                        <a:srgbClr val="4A5A66"/>
                                      </a:solidFill>
                                      <a:latin typeface="Cambria Math" panose="02040503050406030204" pitchFamily="18" charset="0"/>
                                    </a:rPr>
                                  </m:ctrlPr>
                                </m:sSupPr>
                                <m:e>
                                  <m:r>
                                    <a:rPr lang="it-IT" sz="1200" b="0" i="1" noProof="1" smtClean="0">
                                      <a:solidFill>
                                        <a:srgbClr val="4A5A66"/>
                                      </a:solidFill>
                                      <a:latin typeface="Cambria Math" panose="02040503050406030204" pitchFamily="18" charset="0"/>
                                      <a:ea typeface="Cambria Math" panose="02040503050406030204" pitchFamily="18" charset="0"/>
                                    </a:rPr>
                                    <m:t>𝜔</m:t>
                                  </m:r>
                                </m:e>
                                <m:sup>
                                  <m:r>
                                    <a:rPr lang="it-IT" sz="1200" b="0" i="1" noProof="1" smtClean="0">
                                      <a:solidFill>
                                        <a:srgbClr val="4A5A66"/>
                                      </a:solidFill>
                                      <a:latin typeface="Cambria Math" panose="02040503050406030204" pitchFamily="18" charset="0"/>
                                    </a:rPr>
                                    <m:t>∗</m:t>
                                  </m:r>
                                </m:sup>
                              </m:sSup>
                              <m:r>
                                <a:rPr lang="it-IT" sz="1200" b="0" i="1" noProof="1" smtClean="0">
                                  <a:solidFill>
                                    <a:srgbClr val="4A5A66"/>
                                  </a:solidFill>
                                  <a:latin typeface="Cambria Math" panose="02040503050406030204" pitchFamily="18" charset="0"/>
                                </a:rPr>
                                <m:t>, </m:t>
                              </m:r>
                              <m:sSub>
                                <m:sSubPr>
                                  <m:ctrlPr>
                                    <a:rPr lang="it-IT" sz="1200" b="0" i="1" noProof="1" smtClean="0">
                                      <a:solidFill>
                                        <a:srgbClr val="4A5A66"/>
                                      </a:solidFill>
                                      <a:latin typeface="Cambria Math" panose="02040503050406030204" pitchFamily="18" charset="0"/>
                                    </a:rPr>
                                  </m:ctrlPr>
                                </m:sSubPr>
                                <m:e>
                                  <m:r>
                                    <a:rPr lang="it-IT" sz="1200" b="0" i="1" noProof="1" smtClean="0">
                                      <a:solidFill>
                                        <a:srgbClr val="4A5A66"/>
                                      </a:solidFill>
                                      <a:latin typeface="Cambria Math" panose="02040503050406030204" pitchFamily="18" charset="0"/>
                                    </a:rPr>
                                    <m:t>𝑉</m:t>
                                  </m:r>
                                </m:e>
                                <m:sub>
                                  <m:r>
                                    <a:rPr lang="it-IT" sz="1200" b="0" i="1" noProof="1" smtClean="0">
                                      <a:solidFill>
                                        <a:srgbClr val="4A5A66"/>
                                      </a:solidFill>
                                      <a:latin typeface="Cambria Math" panose="02040503050406030204" pitchFamily="18" charset="0"/>
                                    </a:rPr>
                                    <m:t>𝑏𝑎𝑠𝑒</m:t>
                                  </m:r>
                                </m:sub>
                              </m:sSub>
                            </m:oMath>
                          </a14:m>
                          <a:endParaRPr lang="en-US" sz="1200" b="0" noProof="1">
                            <a:solidFill>
                              <a:srgbClr val="4A5A66"/>
                            </a:solidFill>
                            <a:latin typeface="+mn-lt"/>
                          </a:endParaRPr>
                        </a:p>
                      </a:txBody>
                      <a:tcPr marL="73152" marT="27432" marB="27432" anchor="ctr">
                        <a:solidFill>
                          <a:srgbClr val="FBFAF6"/>
                        </a:solidFill>
                      </a:tcPr>
                    </a:tc>
                    <a:extLst>
                      <a:ext uri="{0D108BD9-81ED-4DB2-BD59-A6C34878D82A}">
                        <a16:rowId xmlns:a16="http://schemas.microsoft.com/office/drawing/2014/main" val="10002"/>
                      </a:ext>
                    </a:extLst>
                  </a:tr>
                  <a:tr h="411480">
                    <a:tc>
                      <a:txBody>
                        <a:bodyPr/>
                        <a:lstStyle/>
                        <a:p>
                          <a:r>
                            <a:rPr lang="en-US" sz="1200" b="0" noProof="1">
                              <a:solidFill>
                                <a:srgbClr val="1D3557"/>
                              </a:solidFill>
                              <a:latin typeface="+mn-lt"/>
                            </a:rPr>
                            <a:t>Action </a:t>
                          </a:r>
                          <a:r>
                            <a:rPr lang="en-US" sz="1200" b="0" i="1" noProof="1">
                              <a:solidFill>
                                <a:srgbClr val="1D3557"/>
                              </a:solidFill>
                              <a:latin typeface="+mn-lt"/>
                            </a:rPr>
                            <a:t>a</a:t>
                          </a:r>
                          <a:r>
                            <a:rPr lang="en-US" sz="1200" b="0" noProof="1">
                              <a:solidFill>
                                <a:srgbClr val="1D3557"/>
                              </a:solidFill>
                              <a:latin typeface="+mn-lt"/>
                            </a:rPr>
                            <a:t> </a:t>
                          </a:r>
                        </a:p>
                      </a:txBody>
                      <a:tcPr marL="73152" marT="27432" marB="27432" anchor="ctr">
                        <a:solidFill>
                          <a:srgbClr val="FBFAF6"/>
                        </a:solidFill>
                      </a:tcPr>
                    </a:tc>
                    <a:tc>
                      <a:txBody>
                        <a:bodyPr/>
                        <a:lstStyle/>
                        <a:p>
                          <a14:m>
                            <m:oMath xmlns:m="http://schemas.openxmlformats.org/officeDocument/2006/math">
                              <m:r>
                                <a:rPr lang="el-GR" sz="1200" b="0" i="1" kern="1200" smtClean="0">
                                  <a:solidFill>
                                    <a:srgbClr val="495A66"/>
                                  </a:solidFill>
                                  <a:effectLst/>
                                  <a:latin typeface="Cambria Math" panose="02040503050406030204" pitchFamily="18" charset="0"/>
                                  <a:ea typeface="Cambria Math" panose="02040503050406030204" pitchFamily="18" charset="0"/>
                                  <a:cs typeface="+mn-cs"/>
                                </a:rPr>
                                <m:t>∆</m:t>
                              </m:r>
                              <m:r>
                                <a:rPr lang="it-IT" sz="1200" b="0" i="1" kern="1200" smtClean="0">
                                  <a:solidFill>
                                    <a:srgbClr val="495A66"/>
                                  </a:solidFill>
                                  <a:effectLst/>
                                  <a:latin typeface="Cambria Math" panose="02040503050406030204" pitchFamily="18" charset="0"/>
                                  <a:ea typeface="Cambria Math" panose="02040503050406030204" pitchFamily="18" charset="0"/>
                                  <a:cs typeface="+mn-cs"/>
                                </a:rPr>
                                <m:t>𝑉</m:t>
                              </m:r>
                              <m:r>
                                <a:rPr lang="it-IT" sz="1200" b="0" i="1" kern="1200" smtClean="0">
                                  <a:solidFill>
                                    <a:srgbClr val="495A66"/>
                                  </a:solidFill>
                                  <a:effectLst/>
                                  <a:latin typeface="Cambria Math" panose="02040503050406030204" pitchFamily="18" charset="0"/>
                                  <a:ea typeface="Cambria Math" panose="02040503050406030204" pitchFamily="18" charset="0"/>
                                  <a:cs typeface="+mn-cs"/>
                                </a:rPr>
                                <m:t>∈</m:t>
                              </m:r>
                              <m:d>
                                <m:dPr>
                                  <m:begChr m:val="["/>
                                  <m:endChr m:val="]"/>
                                  <m:ctrlPr>
                                    <a:rPr lang="it-IT" sz="1200" b="0" i="1" kern="1200" smtClean="0">
                                      <a:solidFill>
                                        <a:srgbClr val="495A66"/>
                                      </a:solidFill>
                                      <a:effectLst/>
                                      <a:latin typeface="Cambria Math" panose="02040503050406030204" pitchFamily="18" charset="0"/>
                                      <a:ea typeface="Cambria Math" panose="02040503050406030204" pitchFamily="18" charset="0"/>
                                      <a:cs typeface="+mn-cs"/>
                                    </a:rPr>
                                  </m:ctrlPr>
                                </m:dPr>
                                <m:e>
                                  <m:r>
                                    <a:rPr lang="it-IT" sz="1200" b="0" i="1" kern="1200" smtClean="0">
                                      <a:solidFill>
                                        <a:srgbClr val="495A66"/>
                                      </a:solidFill>
                                      <a:effectLst/>
                                      <a:latin typeface="Cambria Math" panose="02040503050406030204" pitchFamily="18" charset="0"/>
                                      <a:ea typeface="Cambria Math" panose="02040503050406030204" pitchFamily="18" charset="0"/>
                                      <a:cs typeface="+mn-cs"/>
                                    </a:rPr>
                                    <m:t>−3.6, +3.6</m:t>
                                  </m:r>
                                </m:e>
                              </m:d>
                              <m:r>
                                <a:rPr lang="it-IT" sz="1200" b="0" i="1" kern="1200" smtClean="0">
                                  <a:solidFill>
                                    <a:srgbClr val="495A66"/>
                                  </a:solidFill>
                                  <a:effectLst/>
                                  <a:latin typeface="Cambria Math" panose="02040503050406030204" pitchFamily="18" charset="0"/>
                                  <a:ea typeface="Cambria Math" panose="02040503050406030204" pitchFamily="18" charset="0"/>
                                  <a:cs typeface="+mn-cs"/>
                                </a:rPr>
                                <m:t> </m:t>
                              </m:r>
                              <m:r>
                                <a:rPr lang="it-IT" sz="1200" b="0" i="1" kern="1200" smtClean="0">
                                  <a:solidFill>
                                    <a:srgbClr val="495A66"/>
                                  </a:solidFill>
                                  <a:effectLst/>
                                  <a:latin typeface="Cambria Math" panose="02040503050406030204" pitchFamily="18" charset="0"/>
                                  <a:ea typeface="Cambria Math" panose="02040503050406030204" pitchFamily="18" charset="0"/>
                                  <a:cs typeface="+mn-cs"/>
                                </a:rPr>
                                <m:t>𝑉</m:t>
                              </m:r>
                            </m:oMath>
                          </a14:m>
                          <a:r>
                            <a:rPr lang="en-GB" sz="1200" b="0" i="0" kern="1200" dirty="0">
                              <a:solidFill>
                                <a:srgbClr val="495A66"/>
                              </a:solidFill>
                              <a:effectLst/>
                              <a:latin typeface="+mn-lt"/>
                              <a:ea typeface="+mn-ea"/>
                              <a:cs typeface="+mn-cs"/>
                            </a:rPr>
                            <a:t> (bounded)</a:t>
                          </a:r>
                          <a:endParaRPr lang="en-US" sz="1200" b="1" noProof="1">
                            <a:solidFill>
                              <a:srgbClr val="1C2B36"/>
                            </a:solidFill>
                            <a:latin typeface="+mn-lt"/>
                          </a:endParaRPr>
                        </a:p>
                      </a:txBody>
                      <a:tcPr marL="73152" marT="27432" marB="27432" anchor="ctr">
                        <a:solidFill>
                          <a:srgbClr val="FBFAF6"/>
                        </a:solidFill>
                      </a:tcPr>
                    </a:tc>
                    <a:extLst>
                      <a:ext uri="{0D108BD9-81ED-4DB2-BD59-A6C34878D82A}">
                        <a16:rowId xmlns:a16="http://schemas.microsoft.com/office/drawing/2014/main" val="10003"/>
                      </a:ext>
                    </a:extLst>
                  </a:tr>
                  <a:tr h="411480">
                    <a:tc>
                      <a:txBody>
                        <a:bodyPr/>
                        <a:lstStyle/>
                        <a:p>
                          <a:r>
                            <a:rPr lang="en-GB" sz="1200" b="0" i="0" kern="1200" dirty="0">
                              <a:solidFill>
                                <a:srgbClr val="495A66"/>
                              </a:solidFill>
                              <a:effectLst/>
                              <a:latin typeface="+mn-lt"/>
                              <a:ea typeface="+mn-ea"/>
                              <a:cs typeface="+mn-cs"/>
                            </a:rPr>
                            <a:t>Reward </a:t>
                          </a:r>
                          <a:r>
                            <a:rPr lang="en-GB" sz="1200" b="0" i="1" kern="1200" dirty="0">
                              <a:solidFill>
                                <a:srgbClr val="495A66"/>
                              </a:solidFill>
                              <a:effectLst/>
                              <a:latin typeface="+mn-lt"/>
                              <a:ea typeface="+mn-ea"/>
                              <a:cs typeface="+mn-cs"/>
                            </a:rPr>
                            <a:t>r</a:t>
                          </a:r>
                          <a:endParaRPr lang="en-US" sz="1200" b="0" i="1" noProof="1">
                            <a:solidFill>
                              <a:srgbClr val="495A66"/>
                            </a:solidFill>
                            <a:latin typeface="+mn-lt"/>
                          </a:endParaRPr>
                        </a:p>
                      </a:txBody>
                      <a:tcPr marL="73152" marT="27432" marB="27432" anchor="ctr">
                        <a:solidFill>
                          <a:srgbClr val="FBFAF6"/>
                        </a:solidFill>
                      </a:tcPr>
                    </a:tc>
                    <a:tc>
                      <a:txBody>
                        <a:bodyPr/>
                        <a:lstStyle/>
                        <a:p>
                          <a:r>
                            <a:rPr lang="en-GB" sz="1200" b="0" i="0" kern="1200" dirty="0">
                              <a:solidFill>
                                <a:srgbClr val="495A66"/>
                              </a:solidFill>
                              <a:effectLst/>
                              <a:latin typeface="+mn-lt"/>
                              <a:ea typeface="+mn-ea"/>
                              <a:cs typeface="+mn-cs"/>
                            </a:rPr>
                            <a:t>−</a:t>
                          </a:r>
                          <a14:m>
                            <m:oMath xmlns:m="http://schemas.openxmlformats.org/officeDocument/2006/math">
                              <m:d>
                                <m:dPr>
                                  <m:begChr m:val="|"/>
                                  <m:endChr m:val="|"/>
                                  <m:ctrlPr>
                                    <a:rPr lang="en-GB" sz="1200" b="0" i="1" kern="1200" smtClean="0">
                                      <a:solidFill>
                                        <a:srgbClr val="495A66"/>
                                      </a:solidFill>
                                      <a:effectLst/>
                                      <a:latin typeface="Cambria Math" panose="02040503050406030204" pitchFamily="18" charset="0"/>
                                      <a:ea typeface="+mn-ea"/>
                                      <a:cs typeface="+mn-cs"/>
                                    </a:rPr>
                                  </m:ctrlPr>
                                </m:dPr>
                                <m:e>
                                  <m:r>
                                    <a:rPr lang="it-IT" sz="1200" b="0" i="1" kern="1200" smtClean="0">
                                      <a:solidFill>
                                        <a:srgbClr val="495A66"/>
                                      </a:solidFill>
                                      <a:effectLst/>
                                      <a:latin typeface="Cambria Math" panose="02040503050406030204" pitchFamily="18" charset="0"/>
                                      <a:ea typeface="+mn-ea"/>
                                      <a:cs typeface="+mn-cs"/>
                                    </a:rPr>
                                    <m:t>𝑒</m:t>
                                  </m:r>
                                </m:e>
                              </m:d>
                            </m:oMath>
                          </a14:m>
                          <a:r>
                            <a:rPr lang="en-GB" sz="1200" b="0" i="0" kern="1200" dirty="0">
                              <a:solidFill>
                                <a:srgbClr val="495A66"/>
                              </a:solidFill>
                              <a:effectLst/>
                              <a:latin typeface="+mn-lt"/>
                              <a:ea typeface="+mn-ea"/>
                              <a:cs typeface="+mn-cs"/>
                            </a:rPr>
                            <a:t> − effort penalty − rate penalty</a:t>
                          </a:r>
                          <a:endParaRPr lang="en-US" sz="1200" b="1" noProof="1">
                            <a:solidFill>
                              <a:srgbClr val="495A66"/>
                            </a:solidFill>
                            <a:latin typeface="+mn-lt"/>
                          </a:endParaRPr>
                        </a:p>
                      </a:txBody>
                      <a:tcPr marL="73152" marT="27432" marB="27432" anchor="ctr">
                        <a:solidFill>
                          <a:srgbClr val="FBFAF6"/>
                        </a:solidFill>
                      </a:tcPr>
                    </a:tc>
                    <a:extLst>
                      <a:ext uri="{0D108BD9-81ED-4DB2-BD59-A6C34878D82A}">
                        <a16:rowId xmlns:a16="http://schemas.microsoft.com/office/drawing/2014/main" val="10004"/>
                      </a:ext>
                    </a:extLst>
                  </a:tr>
                  <a:tr h="411480">
                    <a:tc>
                      <a:txBody>
                        <a:bodyPr/>
                        <a:lstStyle/>
                        <a:p>
                          <a:r>
                            <a:rPr lang="en-US" sz="1200" b="0" i="0" noProof="1">
                              <a:solidFill>
                                <a:srgbClr val="495A66"/>
                              </a:solidFill>
                              <a:latin typeface="+mn-lt"/>
                            </a:rPr>
                            <a:t>Objective</a:t>
                          </a:r>
                        </a:p>
                      </a:txBody>
                      <a:tcPr marL="73152" marT="27432" marB="27432" anchor="ctr">
                        <a:solidFill>
                          <a:srgbClr val="FBFAF6"/>
                        </a:solidFill>
                      </a:tcPr>
                    </a:tc>
                    <a:tc>
                      <a:txBody>
                        <a:bodyPr/>
                        <a:lstStyle/>
                        <a:p>
                          <a:r>
                            <a:rPr lang="en-GB" sz="1200" b="0" i="0" kern="1200" dirty="0">
                              <a:solidFill>
                                <a:srgbClr val="495A66"/>
                              </a:solidFill>
                              <a:effectLst/>
                              <a:latin typeface="+mn-lt"/>
                              <a:ea typeface="+mn-ea"/>
                              <a:cs typeface="+mn-cs"/>
                            </a:rPr>
                            <a:t>Accurate tracking, smooth control</a:t>
                          </a:r>
                          <a:r>
                            <a:rPr lang="en-GB" sz="1200" b="0" i="0" kern="1200" baseline="0" dirty="0">
                              <a:solidFill>
                                <a:srgbClr val="495A66"/>
                              </a:solidFill>
                              <a:effectLst/>
                              <a:latin typeface="+mn-lt"/>
                              <a:ea typeface="+mn-ea"/>
                              <a:cs typeface="+mn-cs"/>
                            </a:rPr>
                            <a:t> </a:t>
                          </a:r>
                          <a14:m>
                            <m:oMath xmlns:m="http://schemas.openxmlformats.org/officeDocument/2006/math">
                              <m:func>
                                <m:funcPr>
                                  <m:ctrlPr>
                                    <a:rPr lang="it-IT" sz="1200" b="0" i="1" kern="1200" smtClean="0">
                                      <a:solidFill>
                                        <a:srgbClr val="495A66"/>
                                      </a:solidFill>
                                      <a:effectLst/>
                                      <a:latin typeface="Cambria Math" panose="02040503050406030204" pitchFamily="18" charset="0"/>
                                      <a:ea typeface="+mn-ea"/>
                                      <a:cs typeface="+mn-cs"/>
                                    </a:rPr>
                                  </m:ctrlPr>
                                </m:funcPr>
                                <m:fName>
                                  <m:r>
                                    <m:rPr>
                                      <m:sty m:val="p"/>
                                    </m:rPr>
                                    <a:rPr lang="it-IT" sz="1200" b="0" i="0" kern="1200" smtClean="0">
                                      <a:solidFill>
                                        <a:srgbClr val="495A66"/>
                                      </a:solidFill>
                                      <a:effectLst/>
                                      <a:latin typeface="Cambria Math" panose="02040503050406030204" pitchFamily="18" charset="0"/>
                                      <a:ea typeface="+mn-ea"/>
                                      <a:cs typeface="+mn-cs"/>
                                    </a:rPr>
                                    <m:t>max</m:t>
                                  </m:r>
                                </m:fName>
                                <m:e>
                                  <m:r>
                                    <a:rPr lang="it-IT" sz="1200" b="0" i="1" kern="1200" smtClean="0">
                                      <a:solidFill>
                                        <a:srgbClr val="495A66"/>
                                      </a:solidFill>
                                      <a:effectLst/>
                                      <a:latin typeface="Cambria Math" panose="02040503050406030204" pitchFamily="18" charset="0"/>
                                      <a:ea typeface="+mn-ea"/>
                                      <a:cs typeface="+mn-cs"/>
                                    </a:rPr>
                                    <m:t>𝐸</m:t>
                                  </m:r>
                                  <m:d>
                                    <m:dPr>
                                      <m:begChr m:val="["/>
                                      <m:endChr m:val="]"/>
                                      <m:ctrlPr>
                                        <a:rPr lang="it-IT" sz="1200" b="0" i="1" kern="1200" smtClean="0">
                                          <a:solidFill>
                                            <a:srgbClr val="495A66"/>
                                          </a:solidFill>
                                          <a:effectLst/>
                                          <a:latin typeface="Cambria Math" panose="02040503050406030204" pitchFamily="18" charset="0"/>
                                          <a:ea typeface="+mn-ea"/>
                                          <a:cs typeface="+mn-cs"/>
                                        </a:rPr>
                                      </m:ctrlPr>
                                    </m:dPr>
                                    <m:e>
                                      <m:nary>
                                        <m:naryPr>
                                          <m:chr m:val="∑"/>
                                          <m:subHide m:val="on"/>
                                          <m:supHide m:val="on"/>
                                          <m:ctrlPr>
                                            <a:rPr lang="it-IT" sz="1200" b="0" i="1" kern="1200" smtClean="0">
                                              <a:solidFill>
                                                <a:srgbClr val="495A66"/>
                                              </a:solidFill>
                                              <a:effectLst/>
                                              <a:latin typeface="Cambria Math" panose="02040503050406030204" pitchFamily="18" charset="0"/>
                                              <a:ea typeface="+mn-ea"/>
                                              <a:cs typeface="+mn-cs"/>
                                            </a:rPr>
                                          </m:ctrlPr>
                                        </m:naryPr>
                                        <m:sub/>
                                        <m:sup/>
                                        <m:e>
                                          <m:sSup>
                                            <m:sSupPr>
                                              <m:ctrlPr>
                                                <a:rPr lang="it-IT" sz="1200" b="0" i="1" kern="1200" smtClean="0">
                                                  <a:solidFill>
                                                    <a:srgbClr val="495A66"/>
                                                  </a:solidFill>
                                                  <a:effectLst/>
                                                  <a:latin typeface="Cambria Math" panose="02040503050406030204" pitchFamily="18" charset="0"/>
                                                  <a:ea typeface="+mn-ea"/>
                                                  <a:cs typeface="+mn-cs"/>
                                                </a:rPr>
                                              </m:ctrlPr>
                                            </m:sSupPr>
                                            <m:e>
                                              <m:r>
                                                <a:rPr lang="it-IT" sz="1200" b="0" i="1" kern="1200" smtClean="0">
                                                  <a:solidFill>
                                                    <a:srgbClr val="495A66"/>
                                                  </a:solidFill>
                                                  <a:effectLst/>
                                                  <a:latin typeface="Cambria Math" panose="02040503050406030204" pitchFamily="18" charset="0"/>
                                                  <a:ea typeface="Cambria Math" panose="02040503050406030204" pitchFamily="18" charset="0"/>
                                                  <a:cs typeface="+mn-cs"/>
                                                </a:rPr>
                                                <m:t>𝛾</m:t>
                                              </m:r>
                                            </m:e>
                                            <m:sup>
                                              <m:r>
                                                <a:rPr lang="it-IT" sz="1200" b="0" i="1" kern="1200" smtClean="0">
                                                  <a:solidFill>
                                                    <a:srgbClr val="495A66"/>
                                                  </a:solidFill>
                                                  <a:effectLst/>
                                                  <a:latin typeface="Cambria Math" panose="02040503050406030204" pitchFamily="18" charset="0"/>
                                                  <a:ea typeface="+mn-ea"/>
                                                  <a:cs typeface="+mn-cs"/>
                                                </a:rPr>
                                                <m:t>𝑡</m:t>
                                              </m:r>
                                            </m:sup>
                                          </m:sSup>
                                          <m:sSub>
                                            <m:sSubPr>
                                              <m:ctrlPr>
                                                <a:rPr lang="it-IT" sz="1200" b="0" i="1" kern="1200" smtClean="0">
                                                  <a:solidFill>
                                                    <a:srgbClr val="495A66"/>
                                                  </a:solidFill>
                                                  <a:effectLst/>
                                                  <a:latin typeface="Cambria Math" panose="02040503050406030204" pitchFamily="18" charset="0"/>
                                                  <a:ea typeface="+mn-ea"/>
                                                  <a:cs typeface="+mn-cs"/>
                                                </a:rPr>
                                              </m:ctrlPr>
                                            </m:sSubPr>
                                            <m:e>
                                              <m:r>
                                                <a:rPr lang="it-IT" sz="1200" b="0" i="1" kern="1200" smtClean="0">
                                                  <a:solidFill>
                                                    <a:srgbClr val="495A66"/>
                                                  </a:solidFill>
                                                  <a:effectLst/>
                                                  <a:latin typeface="Cambria Math" panose="02040503050406030204" pitchFamily="18" charset="0"/>
                                                  <a:ea typeface="+mn-ea"/>
                                                  <a:cs typeface="+mn-cs"/>
                                                </a:rPr>
                                                <m:t>𝑟</m:t>
                                              </m:r>
                                            </m:e>
                                            <m:sub>
                                              <m:r>
                                                <a:rPr lang="it-IT" sz="1200" b="0" i="1" kern="1200" smtClean="0">
                                                  <a:solidFill>
                                                    <a:srgbClr val="495A66"/>
                                                  </a:solidFill>
                                                  <a:effectLst/>
                                                  <a:latin typeface="Cambria Math" panose="02040503050406030204" pitchFamily="18" charset="0"/>
                                                  <a:ea typeface="+mn-ea"/>
                                                  <a:cs typeface="+mn-cs"/>
                                                </a:rPr>
                                                <m:t>𝑡</m:t>
                                              </m:r>
                                            </m:sub>
                                          </m:sSub>
                                        </m:e>
                                      </m:nary>
                                    </m:e>
                                  </m:d>
                                </m:e>
                              </m:func>
                            </m:oMath>
                          </a14:m>
                          <a:endParaRPr lang="en-US" sz="1200" b="1" noProof="1">
                            <a:solidFill>
                              <a:srgbClr val="495A66"/>
                            </a:solidFill>
                            <a:latin typeface="+mn-lt"/>
                          </a:endParaRPr>
                        </a:p>
                      </a:txBody>
                      <a:tcPr marL="73152" marT="27432" marB="27432" anchor="ctr">
                        <a:solidFill>
                          <a:srgbClr val="FBFAF6"/>
                        </a:solidFill>
                      </a:tcPr>
                    </a:tc>
                    <a:extLst>
                      <a:ext uri="{0D108BD9-81ED-4DB2-BD59-A6C34878D82A}">
                        <a16:rowId xmlns:a16="http://schemas.microsoft.com/office/drawing/2014/main" val="3264284527"/>
                      </a:ext>
                    </a:extLst>
                  </a:tr>
                </a:tbl>
              </a:graphicData>
            </a:graphic>
          </p:graphicFrame>
        </mc:Choice>
        <mc:Fallback xmlns="">
          <p:graphicFrame>
            <p:nvGraphicFramePr>
              <p:cNvPr id="68" name="Table 67">
                <a:extLst>
                  <a:ext uri="{FF2B5EF4-FFF2-40B4-BE49-F238E27FC236}">
                    <a16:creationId xmlns:a16="http://schemas.microsoft.com/office/drawing/2014/main" id="{DD6ACE87-8CC8-A234-125A-7A0DDCFFBA3C}"/>
                  </a:ext>
                </a:extLst>
              </p:cNvPr>
              <p:cNvGraphicFramePr>
                <a:graphicFrameLocks noGrp="1"/>
              </p:cNvGraphicFramePr>
              <p:nvPr/>
            </p:nvGraphicFramePr>
            <p:xfrm>
              <a:off x="7641810" y="2574275"/>
              <a:ext cx="4298562" cy="2468880"/>
            </p:xfrm>
            <a:graphic>
              <a:graphicData uri="http://schemas.openxmlformats.org/drawingml/2006/table">
                <a:tbl>
                  <a:tblPr>
                    <a:tableStyleId>{5C22544A-7EE6-4342-B048-85BDC9FD1C3A}</a:tableStyleId>
                  </a:tblPr>
                  <a:tblGrid>
                    <a:gridCol w="972586">
                      <a:extLst>
                        <a:ext uri="{9D8B030D-6E8A-4147-A177-3AD203B41FA5}">
                          <a16:colId xmlns:a16="http://schemas.microsoft.com/office/drawing/2014/main" val="20000"/>
                        </a:ext>
                      </a:extLst>
                    </a:gridCol>
                    <a:gridCol w="3325976">
                      <a:extLst>
                        <a:ext uri="{9D8B030D-6E8A-4147-A177-3AD203B41FA5}">
                          <a16:colId xmlns:a16="http://schemas.microsoft.com/office/drawing/2014/main" val="20001"/>
                        </a:ext>
                      </a:extLst>
                    </a:gridCol>
                  </a:tblGrid>
                  <a:tr h="411480">
                    <a:tc>
                      <a:txBody>
                        <a:bodyPr/>
                        <a:lstStyle/>
                        <a:p>
                          <a:r>
                            <a:rPr lang="en-US" sz="1200" b="0" noProof="1">
                              <a:solidFill>
                                <a:srgbClr val="1D3557"/>
                              </a:solidFill>
                              <a:latin typeface="+mn-lt"/>
                            </a:rPr>
                            <a:t>Agent</a:t>
                          </a:r>
                        </a:p>
                      </a:txBody>
                      <a:tcPr marL="73152" marT="27432" marB="27432" anchor="ctr">
                        <a:solidFill>
                          <a:srgbClr val="FBFAF6"/>
                        </a:solidFill>
                      </a:tcPr>
                    </a:tc>
                    <a:tc>
                      <a:txBody>
                        <a:bodyPr/>
                        <a:lstStyle/>
                        <a:p>
                          <a:endParaRPr lang="th-TH"/>
                        </a:p>
                      </a:txBody>
                      <a:tcPr marL="73152" marT="27432" marB="27432" anchor="ctr">
                        <a:blipFill>
                          <a:blip r:embed="rId10"/>
                          <a:stretch>
                            <a:fillRect l="-29487" t="-1471" r="-366" b="-586765"/>
                          </a:stretch>
                        </a:blipFill>
                      </a:tcPr>
                    </a:tc>
                    <a:extLst>
                      <a:ext uri="{0D108BD9-81ED-4DB2-BD59-A6C34878D82A}">
                        <a16:rowId xmlns:a16="http://schemas.microsoft.com/office/drawing/2014/main" val="10000"/>
                      </a:ext>
                    </a:extLst>
                  </a:tr>
                  <a:tr h="411480">
                    <a:tc>
                      <a:txBody>
                        <a:bodyPr/>
                        <a:lstStyle/>
                        <a:p>
                          <a:r>
                            <a:rPr lang="en-US" sz="1200" b="0" noProof="1">
                              <a:solidFill>
                                <a:srgbClr val="1D3557"/>
                              </a:solidFill>
                              <a:latin typeface="+mn-lt"/>
                            </a:rPr>
                            <a:t>Environment</a:t>
                          </a:r>
                        </a:p>
                      </a:txBody>
                      <a:tcPr marL="73152" marT="27432" marB="27432" anchor="ctr">
                        <a:solidFill>
                          <a:srgbClr val="FBFAF6"/>
                        </a:solidFill>
                      </a:tcPr>
                    </a:tc>
                    <a:tc>
                      <a:txBody>
                        <a:bodyPr/>
                        <a:lstStyle/>
                        <a:p>
                          <a:r>
                            <a:rPr lang="en-US" sz="1200" b="0" noProof="1">
                              <a:solidFill>
                                <a:srgbClr val="4A5A66"/>
                              </a:solidFill>
                              <a:latin typeface="+mn-lt"/>
                            </a:rPr>
                            <a:t>BDC Motor + rod simulated at 1 kHz</a:t>
                          </a:r>
                        </a:p>
                      </a:txBody>
                      <a:tcPr marL="73152" marT="27432" marB="27432" anchor="ctr">
                        <a:solidFill>
                          <a:srgbClr val="FBFAF6"/>
                        </a:solidFill>
                      </a:tcPr>
                    </a:tc>
                    <a:extLst>
                      <a:ext uri="{0D108BD9-81ED-4DB2-BD59-A6C34878D82A}">
                        <a16:rowId xmlns:a16="http://schemas.microsoft.com/office/drawing/2014/main" val="10001"/>
                      </a:ext>
                    </a:extLst>
                  </a:tr>
                  <a:tr h="411480">
                    <a:tc>
                      <a:txBody>
                        <a:bodyPr/>
                        <a:lstStyle/>
                        <a:p>
                          <a:r>
                            <a:rPr lang="en-US" sz="1200" b="0" noProof="1">
                              <a:solidFill>
                                <a:srgbClr val="1D3557"/>
                              </a:solidFill>
                              <a:latin typeface="+mn-lt"/>
                            </a:rPr>
                            <a:t>State </a:t>
                          </a:r>
                          <a:r>
                            <a:rPr lang="en-US" sz="1200" b="0" i="1" noProof="1">
                              <a:solidFill>
                                <a:srgbClr val="1D3557"/>
                              </a:solidFill>
                              <a:latin typeface="+mn-lt"/>
                            </a:rPr>
                            <a:t>s</a:t>
                          </a:r>
                        </a:p>
                      </a:txBody>
                      <a:tcPr marL="73152" marT="27432" marB="27432" anchor="ctr">
                        <a:solidFill>
                          <a:srgbClr val="FBFAF6"/>
                        </a:solidFill>
                      </a:tcPr>
                    </a:tc>
                    <a:tc>
                      <a:txBody>
                        <a:bodyPr/>
                        <a:lstStyle/>
                        <a:p>
                          <a:endParaRPr lang="th-TH"/>
                        </a:p>
                      </a:txBody>
                      <a:tcPr marL="73152" marT="27432" marB="27432" anchor="ctr">
                        <a:blipFill>
                          <a:blip r:embed="rId10"/>
                          <a:stretch>
                            <a:fillRect l="-29487" t="-200000" r="-366" b="-388235"/>
                          </a:stretch>
                        </a:blipFill>
                      </a:tcPr>
                    </a:tc>
                    <a:extLst>
                      <a:ext uri="{0D108BD9-81ED-4DB2-BD59-A6C34878D82A}">
                        <a16:rowId xmlns:a16="http://schemas.microsoft.com/office/drawing/2014/main" val="10002"/>
                      </a:ext>
                    </a:extLst>
                  </a:tr>
                  <a:tr h="411480">
                    <a:tc>
                      <a:txBody>
                        <a:bodyPr/>
                        <a:lstStyle/>
                        <a:p>
                          <a:r>
                            <a:rPr lang="en-US" sz="1200" b="0" noProof="1">
                              <a:solidFill>
                                <a:srgbClr val="1D3557"/>
                              </a:solidFill>
                              <a:latin typeface="+mn-lt"/>
                            </a:rPr>
                            <a:t>Action </a:t>
                          </a:r>
                          <a:r>
                            <a:rPr lang="en-US" sz="1200" b="0" i="1" noProof="1">
                              <a:solidFill>
                                <a:srgbClr val="1D3557"/>
                              </a:solidFill>
                              <a:latin typeface="+mn-lt"/>
                            </a:rPr>
                            <a:t>a</a:t>
                          </a:r>
                          <a:r>
                            <a:rPr lang="en-US" sz="1200" b="0" noProof="1">
                              <a:solidFill>
                                <a:srgbClr val="1D3557"/>
                              </a:solidFill>
                              <a:latin typeface="+mn-lt"/>
                            </a:rPr>
                            <a:t> </a:t>
                          </a:r>
                        </a:p>
                      </a:txBody>
                      <a:tcPr marL="73152" marT="27432" marB="27432" anchor="ctr">
                        <a:solidFill>
                          <a:srgbClr val="FBFAF6"/>
                        </a:solidFill>
                      </a:tcPr>
                    </a:tc>
                    <a:tc>
                      <a:txBody>
                        <a:bodyPr/>
                        <a:lstStyle/>
                        <a:p>
                          <a:endParaRPr lang="th-TH"/>
                        </a:p>
                      </a:txBody>
                      <a:tcPr marL="73152" marT="27432" marB="27432" anchor="ctr">
                        <a:blipFill>
                          <a:blip r:embed="rId10"/>
                          <a:stretch>
                            <a:fillRect l="-29487" t="-300000" r="-366" b="-288235"/>
                          </a:stretch>
                        </a:blipFill>
                      </a:tcPr>
                    </a:tc>
                    <a:extLst>
                      <a:ext uri="{0D108BD9-81ED-4DB2-BD59-A6C34878D82A}">
                        <a16:rowId xmlns:a16="http://schemas.microsoft.com/office/drawing/2014/main" val="10003"/>
                      </a:ext>
                    </a:extLst>
                  </a:tr>
                  <a:tr h="411480">
                    <a:tc>
                      <a:txBody>
                        <a:bodyPr/>
                        <a:lstStyle/>
                        <a:p>
                          <a:r>
                            <a:rPr lang="en-GB" sz="1200" b="0" i="0" kern="1200" dirty="0">
                              <a:solidFill>
                                <a:srgbClr val="495A66"/>
                              </a:solidFill>
                              <a:effectLst/>
                              <a:latin typeface="+mn-lt"/>
                              <a:ea typeface="+mn-ea"/>
                              <a:cs typeface="+mn-cs"/>
                            </a:rPr>
                            <a:t>Reward </a:t>
                          </a:r>
                          <a:r>
                            <a:rPr lang="en-GB" sz="1200" b="0" i="1" kern="1200" dirty="0">
                              <a:solidFill>
                                <a:srgbClr val="495A66"/>
                              </a:solidFill>
                              <a:effectLst/>
                              <a:latin typeface="+mn-lt"/>
                              <a:ea typeface="+mn-ea"/>
                              <a:cs typeface="+mn-cs"/>
                            </a:rPr>
                            <a:t>r</a:t>
                          </a:r>
                          <a:endParaRPr lang="en-US" sz="1200" b="0" i="1" noProof="1">
                            <a:solidFill>
                              <a:srgbClr val="495A66"/>
                            </a:solidFill>
                            <a:latin typeface="+mn-lt"/>
                          </a:endParaRPr>
                        </a:p>
                      </a:txBody>
                      <a:tcPr marL="73152" marT="27432" marB="27432" anchor="ctr">
                        <a:solidFill>
                          <a:srgbClr val="FBFAF6"/>
                        </a:solidFill>
                      </a:tcPr>
                    </a:tc>
                    <a:tc>
                      <a:txBody>
                        <a:bodyPr/>
                        <a:lstStyle/>
                        <a:p>
                          <a:endParaRPr lang="th-TH"/>
                        </a:p>
                      </a:txBody>
                      <a:tcPr marL="73152" marT="27432" marB="27432" anchor="ctr">
                        <a:blipFill>
                          <a:blip r:embed="rId10"/>
                          <a:stretch>
                            <a:fillRect l="-29487" t="-405970" r="-366" b="-192537"/>
                          </a:stretch>
                        </a:blipFill>
                      </a:tcPr>
                    </a:tc>
                    <a:extLst>
                      <a:ext uri="{0D108BD9-81ED-4DB2-BD59-A6C34878D82A}">
                        <a16:rowId xmlns:a16="http://schemas.microsoft.com/office/drawing/2014/main" val="10004"/>
                      </a:ext>
                    </a:extLst>
                  </a:tr>
                  <a:tr h="411480">
                    <a:tc>
                      <a:txBody>
                        <a:bodyPr/>
                        <a:lstStyle/>
                        <a:p>
                          <a:r>
                            <a:rPr lang="en-US" sz="1200" b="0" i="0" noProof="1">
                              <a:solidFill>
                                <a:srgbClr val="495A66"/>
                              </a:solidFill>
                              <a:latin typeface="+mn-lt"/>
                            </a:rPr>
                            <a:t>Objective</a:t>
                          </a:r>
                        </a:p>
                      </a:txBody>
                      <a:tcPr marL="73152" marT="27432" marB="27432" anchor="ctr">
                        <a:solidFill>
                          <a:srgbClr val="FBFAF6"/>
                        </a:solidFill>
                      </a:tcPr>
                    </a:tc>
                    <a:tc>
                      <a:txBody>
                        <a:bodyPr/>
                        <a:lstStyle/>
                        <a:p>
                          <a:endParaRPr lang="th-TH"/>
                        </a:p>
                      </a:txBody>
                      <a:tcPr marL="73152" marT="27432" marB="27432" anchor="ctr">
                        <a:blipFill>
                          <a:blip r:embed="rId10"/>
                          <a:stretch>
                            <a:fillRect l="-29487" t="-498529" r="-366" b="-89706"/>
                          </a:stretch>
                        </a:blipFill>
                      </a:tcPr>
                    </a:tc>
                    <a:extLst>
                      <a:ext uri="{0D108BD9-81ED-4DB2-BD59-A6C34878D82A}">
                        <a16:rowId xmlns:a16="http://schemas.microsoft.com/office/drawing/2014/main" val="3264284527"/>
                      </a:ext>
                    </a:extLst>
                  </a:tr>
                </a:tbl>
              </a:graphicData>
            </a:graphic>
          </p:graphicFrame>
        </mc:Fallback>
      </mc:AlternateContent>
      <p:cxnSp>
        <p:nvCxnSpPr>
          <p:cNvPr id="69" name="Straight Arrow Connector 68">
            <a:extLst>
              <a:ext uri="{FF2B5EF4-FFF2-40B4-BE49-F238E27FC236}">
                <a16:creationId xmlns:a16="http://schemas.microsoft.com/office/drawing/2014/main" id="{DD9138B9-B78E-612D-9817-54FE3A3B84BF}"/>
              </a:ext>
            </a:extLst>
          </p:cNvPr>
          <p:cNvCxnSpPr>
            <a:cxnSpLocks/>
          </p:cNvCxnSpPr>
          <p:nvPr/>
        </p:nvCxnSpPr>
        <p:spPr>
          <a:xfrm>
            <a:off x="1894391" y="3792451"/>
            <a:ext cx="27000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7DC19455-7416-B4EC-0D6F-3DF0B169E8E9}"/>
              </a:ext>
            </a:extLst>
          </p:cNvPr>
          <p:cNvCxnSpPr>
            <a:cxnSpLocks/>
            <a:endCxn id="37" idx="1"/>
          </p:cNvCxnSpPr>
          <p:nvPr/>
        </p:nvCxnSpPr>
        <p:spPr>
          <a:xfrm flipV="1">
            <a:off x="1321393" y="2951597"/>
            <a:ext cx="2239553" cy="4909"/>
          </a:xfrm>
          <a:prstGeom prst="straightConnector1">
            <a:avLst/>
          </a:prstGeom>
          <a:ln w="15875">
            <a:solidFill>
              <a:srgbClr val="2BB5A5"/>
            </a:solidFill>
            <a:tailEnd type="none"/>
          </a:ln>
          <a:effectLst/>
        </p:spPr>
        <p:style>
          <a:lnRef idx="2">
            <a:schemeClr val="accent1"/>
          </a:lnRef>
          <a:fillRef idx="0">
            <a:schemeClr val="accent1"/>
          </a:fillRef>
          <a:effectRef idx="1">
            <a:schemeClr val="accent1"/>
          </a:effectRef>
          <a:fontRef idx="minor">
            <a:schemeClr val="tx1"/>
          </a:fontRef>
        </p:style>
      </p:cxnSp>
      <p:sp>
        <p:nvSpPr>
          <p:cNvPr id="74" name="Rounded Rectangle 73">
            <a:extLst>
              <a:ext uri="{FF2B5EF4-FFF2-40B4-BE49-F238E27FC236}">
                <a16:creationId xmlns:a16="http://schemas.microsoft.com/office/drawing/2014/main" id="{187B3AEB-CD2D-9B61-A09A-12F07648F932}"/>
              </a:ext>
            </a:extLst>
          </p:cNvPr>
          <p:cNvSpPr/>
          <p:nvPr/>
        </p:nvSpPr>
        <p:spPr>
          <a:xfrm>
            <a:off x="868679" y="5375208"/>
            <a:ext cx="10875301" cy="868680"/>
          </a:xfrm>
          <a:prstGeom prst="roundRect">
            <a:avLst>
              <a:gd name="adj" fmla="val 6000"/>
            </a:avLst>
          </a:prstGeom>
          <a:solidFill>
            <a:srgbClr val="E7F2F0"/>
          </a:solidFill>
          <a:ln w="12700">
            <a:solidFill>
              <a:srgbClr val="E7F2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75" name="Rectangle 74">
            <a:extLst>
              <a:ext uri="{FF2B5EF4-FFF2-40B4-BE49-F238E27FC236}">
                <a16:creationId xmlns:a16="http://schemas.microsoft.com/office/drawing/2014/main" id="{C0458BCF-85D4-434D-B350-18FC312F39EF}"/>
              </a:ext>
            </a:extLst>
          </p:cNvPr>
          <p:cNvSpPr/>
          <p:nvPr/>
        </p:nvSpPr>
        <p:spPr>
          <a:xfrm>
            <a:off x="868680" y="5375208"/>
            <a:ext cx="38100" cy="868680"/>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76" name="TextBox 75">
            <a:extLst>
              <a:ext uri="{FF2B5EF4-FFF2-40B4-BE49-F238E27FC236}">
                <a16:creationId xmlns:a16="http://schemas.microsoft.com/office/drawing/2014/main" id="{3F40CDC9-EDAF-D282-6F8E-2425B40189E4}"/>
              </a:ext>
            </a:extLst>
          </p:cNvPr>
          <p:cNvSpPr txBox="1"/>
          <p:nvPr/>
        </p:nvSpPr>
        <p:spPr>
          <a:xfrm>
            <a:off x="1069848" y="5428673"/>
            <a:ext cx="10222992" cy="761747"/>
          </a:xfrm>
          <a:prstGeom prst="rect">
            <a:avLst/>
          </a:prstGeom>
          <a:noFill/>
        </p:spPr>
        <p:txBody>
          <a:bodyPr wrap="square" lIns="0" tIns="0" rIns="0" bIns="0" anchor="ctr">
            <a:spAutoFit/>
          </a:bodyPr>
          <a:lstStyle/>
          <a:p>
            <a:pPr>
              <a:lnSpc>
                <a:spcPct val="112000"/>
              </a:lnSpc>
            </a:pPr>
            <a:r>
              <a:rPr lang="en-US" sz="1500" b="1" noProof="1">
                <a:solidFill>
                  <a:srgbClr val="1D3557"/>
                </a:solidFill>
                <a:latin typeface="Georgia"/>
              </a:rPr>
              <a:t>Main advantage.  </a:t>
            </a:r>
            <a:r>
              <a:rPr lang="en-GB" sz="1500" dirty="0">
                <a:solidFill>
                  <a:srgbClr val="495A66"/>
                </a:solidFill>
              </a:rPr>
              <a:t>The policy learns what the PI cannot model (feedforward and gravity compensation) without ever seeing the motor equations</a:t>
            </a:r>
            <a:r>
              <a:rPr lang="en-GB" sz="1500" i="1" dirty="0"/>
              <a:t>.</a:t>
            </a:r>
            <a:endParaRPr lang="en-US" sz="1500" noProof="1">
              <a:solidFill>
                <a:srgbClr val="1D3557"/>
              </a:solidFill>
            </a:endParaRPr>
          </a:p>
          <a:p>
            <a:pPr>
              <a:lnSpc>
                <a:spcPct val="112000"/>
              </a:lnSpc>
            </a:pPr>
            <a:endParaRPr lang="en-US" sz="1500" b="0" noProof="1">
              <a:solidFill>
                <a:srgbClr val="4A5A66"/>
              </a:solidFill>
              <a:latin typeface="Calibri"/>
            </a:endParaRPr>
          </a:p>
        </p:txBody>
      </p:sp>
      <mc:AlternateContent xmlns:mc="http://schemas.openxmlformats.org/markup-compatibility/2006" xmlns:a14="http://schemas.microsoft.com/office/drawing/2010/main">
        <mc:Choice Requires="a14">
          <p:sp>
            <p:nvSpPr>
              <p:cNvPr id="5" name="Rounded Rectangle 6">
                <a:extLst>
                  <a:ext uri="{FF2B5EF4-FFF2-40B4-BE49-F238E27FC236}">
                    <a16:creationId xmlns:a16="http://schemas.microsoft.com/office/drawing/2014/main" id="{56A6EA35-8E9C-3A9C-FF22-6AB945ADF459}"/>
                  </a:ext>
                </a:extLst>
              </p:cNvPr>
              <p:cNvSpPr/>
              <p:nvPr/>
            </p:nvSpPr>
            <p:spPr>
              <a:xfrm>
                <a:off x="5708914" y="2716779"/>
                <a:ext cx="562361" cy="479453"/>
              </a:xfrm>
              <a:prstGeom prst="roundRect">
                <a:avLst/>
              </a:prstGeom>
              <a:ln w="15875">
                <a:solidFill>
                  <a:srgbClr val="E07A5F"/>
                </a:solidFill>
              </a:ln>
            </p:spPr>
            <p:style>
              <a:lnRef idx="2">
                <a:schemeClr val="accent6"/>
              </a:lnRef>
              <a:fillRef idx="1">
                <a:schemeClr val="lt1"/>
              </a:fillRef>
              <a:effectRef idx="0">
                <a:schemeClr val="accent6"/>
              </a:effectRef>
              <a:fontRef idx="minor">
                <a:schemeClr val="dk1"/>
              </a:fontRef>
            </p:style>
            <p:txBody>
              <a:bodyPr rtlCol="0" anchor="ctr"/>
              <a:lstStyle/>
              <a:p>
                <a:pPr algn="ctr"/>
                <a14:m>
                  <m:oMathPara xmlns:m="http://schemas.openxmlformats.org/officeDocument/2006/math">
                    <m:oMathParaPr>
                      <m:jc m:val="centerGroup"/>
                    </m:oMathParaPr>
                    <m:oMath xmlns:m="http://schemas.openxmlformats.org/officeDocument/2006/math">
                      <m:nary>
                        <m:naryPr>
                          <m:limLoc m:val="undOvr"/>
                          <m:subHide m:val="on"/>
                          <m:supHide m:val="on"/>
                          <m:ctrlPr>
                            <a:rPr lang="en-US" sz="1200" i="1" noProof="1" smtClean="0">
                              <a:solidFill>
                                <a:srgbClr val="E07A5F"/>
                              </a:solidFill>
                              <a:latin typeface="Cambria Math" panose="02040503050406030204" pitchFamily="18" charset="0"/>
                            </a:rPr>
                          </m:ctrlPr>
                        </m:naryPr>
                        <m:sub/>
                        <m:sup/>
                        <m:e>
                          <m:r>
                            <a:rPr lang="en-US" sz="1200" b="0" i="1" noProof="1" smtClean="0">
                              <a:solidFill>
                                <a:srgbClr val="E07A5F"/>
                              </a:solidFill>
                              <a:latin typeface="Cambria Math" panose="02040503050406030204" pitchFamily="18" charset="0"/>
                            </a:rPr>
                            <m:t>𝑑𝑡</m:t>
                          </m:r>
                        </m:e>
                      </m:nary>
                    </m:oMath>
                  </m:oMathPara>
                </a14:m>
                <a:endParaRPr lang="en-US" sz="1200" noProof="1">
                  <a:solidFill>
                    <a:srgbClr val="1D3456"/>
                  </a:solidFill>
                </a:endParaRPr>
              </a:p>
            </p:txBody>
          </p:sp>
        </mc:Choice>
        <mc:Fallback xmlns="">
          <p:sp>
            <p:nvSpPr>
              <p:cNvPr id="5" name="Rounded Rectangle 6">
                <a:extLst>
                  <a:ext uri="{FF2B5EF4-FFF2-40B4-BE49-F238E27FC236}">
                    <a16:creationId xmlns:a16="http://schemas.microsoft.com/office/drawing/2014/main" id="{56A6EA35-8E9C-3A9C-FF22-6AB945ADF459}"/>
                  </a:ext>
                </a:extLst>
              </p:cNvPr>
              <p:cNvSpPr>
                <a:spLocks noRot="1" noChangeAspect="1" noMove="1" noResize="1" noEditPoints="1" noAdjustHandles="1" noChangeArrowheads="1" noChangeShapeType="1" noTextEdit="1"/>
              </p:cNvSpPr>
              <p:nvPr/>
            </p:nvSpPr>
            <p:spPr>
              <a:xfrm>
                <a:off x="5708914" y="2716779"/>
                <a:ext cx="562361" cy="479453"/>
              </a:xfrm>
              <a:prstGeom prst="roundRect">
                <a:avLst/>
              </a:prstGeom>
              <a:blipFill>
                <a:blip r:embed="rId11"/>
                <a:stretch>
                  <a:fillRect l="-93684" t="-154321" r="-91579" b="-213580"/>
                </a:stretch>
              </a:blipFill>
              <a:ln w="15875">
                <a:solidFill>
                  <a:srgbClr val="E07A5F"/>
                </a:solidFill>
              </a:ln>
            </p:spPr>
            <p:txBody>
              <a:bodyPr/>
              <a:lstStyle/>
              <a:p>
                <a:r>
                  <a:rPr lang="th-TH">
                    <a:noFill/>
                  </a:rPr>
                  <a:t> </a:t>
                </a:r>
              </a:p>
            </p:txBody>
          </p:sp>
        </mc:Fallback>
      </mc:AlternateContent>
      <p:cxnSp>
        <p:nvCxnSpPr>
          <p:cNvPr id="28" name="Straight Arrow Connector 27">
            <a:extLst>
              <a:ext uri="{FF2B5EF4-FFF2-40B4-BE49-F238E27FC236}">
                <a16:creationId xmlns:a16="http://schemas.microsoft.com/office/drawing/2014/main" id="{BE5C42D2-8DD4-08C4-96E5-829D8C08BB56}"/>
              </a:ext>
            </a:extLst>
          </p:cNvPr>
          <p:cNvCxnSpPr>
            <a:cxnSpLocks/>
          </p:cNvCxnSpPr>
          <p:nvPr/>
        </p:nvCxnSpPr>
        <p:spPr>
          <a:xfrm>
            <a:off x="6271275" y="2964555"/>
            <a:ext cx="704920" cy="0"/>
          </a:xfrm>
          <a:prstGeom prst="straightConnector1">
            <a:avLst/>
          </a:prstGeom>
          <a:ln w="15875">
            <a:solidFill>
              <a:srgbClr val="2BB5A5"/>
            </a:solidFill>
            <a:tailEnd type="none"/>
          </a:ln>
          <a:effectLst/>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56803495-5A6E-3619-38AD-60C631B2BF28}"/>
              </a:ext>
            </a:extLst>
          </p:cNvPr>
          <p:cNvCxnSpPr>
            <a:cxnSpLocks/>
          </p:cNvCxnSpPr>
          <p:nvPr/>
        </p:nvCxnSpPr>
        <p:spPr>
          <a:xfrm>
            <a:off x="6973112" y="2960233"/>
            <a:ext cx="0" cy="792796"/>
          </a:xfrm>
          <a:prstGeom prst="straightConnector1">
            <a:avLst/>
          </a:prstGeom>
          <a:ln w="15875">
            <a:solidFill>
              <a:srgbClr val="2BB5A5"/>
            </a:solidFill>
            <a:tailEnd type="none"/>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67990120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BFAF6"/>
        </a:solidFill>
        <a:effectLst/>
      </p:bgPr>
    </p:bg>
    <p:spTree>
      <p:nvGrpSpPr>
        <p:cNvPr id="1" name=""/>
        <p:cNvGrpSpPr/>
        <p:nvPr/>
      </p:nvGrpSpPr>
      <p:grpSpPr>
        <a:xfrm>
          <a:off x="0" y="0"/>
          <a:ext cx="0" cy="0"/>
          <a:chOff x="0" y="0"/>
          <a:chExt cx="0" cy="0"/>
        </a:xfrm>
      </p:grpSpPr>
      <p:sp>
        <p:nvSpPr>
          <p:cNvPr id="2" name="Rectangle 1"/>
          <p:cNvSpPr/>
          <p:nvPr/>
        </p:nvSpPr>
        <p:spPr>
          <a:xfrm>
            <a:off x="566928" y="502920"/>
            <a:ext cx="17780" cy="5852160"/>
          </a:xfrm>
          <a:prstGeom prst="rect">
            <a:avLst/>
          </a:prstGeom>
          <a:solidFill>
            <a:srgbClr val="D9D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3" name="Rectangle 2"/>
          <p:cNvSpPr/>
          <p:nvPr/>
        </p:nvSpPr>
        <p:spPr>
          <a:xfrm>
            <a:off x="566928" y="502920"/>
            <a:ext cx="30480" cy="56692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4" name="TextBox 3"/>
          <p:cNvSpPr txBox="1"/>
          <p:nvPr/>
        </p:nvSpPr>
        <p:spPr>
          <a:xfrm>
            <a:off x="868680" y="548640"/>
            <a:ext cx="10607040" cy="169277"/>
          </a:xfrm>
          <a:prstGeom prst="rect">
            <a:avLst/>
          </a:prstGeom>
          <a:noFill/>
        </p:spPr>
        <p:txBody>
          <a:bodyPr wrap="square" lIns="0" tIns="0" rIns="0" bIns="0" anchor="t">
            <a:spAutoFit/>
          </a:bodyPr>
          <a:lstStyle/>
          <a:p>
            <a:pPr>
              <a:lnSpc>
                <a:spcPct val="100000"/>
              </a:lnSpc>
            </a:pPr>
            <a:r>
              <a:rPr lang="en-US" sz="1100" b="1" noProof="1">
                <a:solidFill>
                  <a:srgbClr val="E07A5F"/>
                </a:solidFill>
                <a:latin typeface="Consolas"/>
              </a:rPr>
              <a:t>B2  </a:t>
            </a:r>
            <a:r>
              <a:rPr lang="en-US" sz="1100" noProof="1">
                <a:solidFill>
                  <a:srgbClr val="2A9D8F"/>
                </a:solidFill>
                <a:latin typeface="Consolas"/>
              </a:rPr>
              <a:t>RESIDUAL REINFORCEMENT LEARNING - Framework</a:t>
            </a:r>
          </a:p>
        </p:txBody>
      </p:sp>
      <p:sp>
        <p:nvSpPr>
          <p:cNvPr id="6" name="TextBox 5">
            <a:extLst>
              <a:ext uri="{FF2B5EF4-FFF2-40B4-BE49-F238E27FC236}">
                <a16:creationId xmlns:a16="http://schemas.microsoft.com/office/drawing/2014/main" id="{3FC039A7-0058-B4A3-8EF2-BFF8841FF4CD}"/>
              </a:ext>
            </a:extLst>
          </p:cNvPr>
          <p:cNvSpPr txBox="1"/>
          <p:nvPr/>
        </p:nvSpPr>
        <p:spPr>
          <a:xfrm>
            <a:off x="868680" y="960120"/>
            <a:ext cx="10607040" cy="412805"/>
          </a:xfrm>
          <a:prstGeom prst="rect">
            <a:avLst/>
          </a:prstGeom>
          <a:noFill/>
        </p:spPr>
        <p:txBody>
          <a:bodyPr wrap="square" lIns="0" tIns="0" rIns="0" bIns="0" anchor="t">
            <a:spAutoFit/>
          </a:bodyPr>
          <a:lstStyle/>
          <a:p>
            <a:pPr algn="l">
              <a:lnSpc>
                <a:spcPct val="102000"/>
              </a:lnSpc>
              <a:spcBef>
                <a:spcPts val="0"/>
              </a:spcBef>
              <a:spcAft>
                <a:spcPts val="600"/>
              </a:spcAft>
            </a:pPr>
            <a:r>
              <a:rPr lang="en-US" sz="2800" b="1" noProof="1">
                <a:solidFill>
                  <a:srgbClr val="1D3557"/>
                </a:solidFill>
                <a:latin typeface="Georgia"/>
              </a:rPr>
              <a:t>State Observer </a:t>
            </a:r>
          </a:p>
        </p:txBody>
      </p:sp>
      <p:sp>
        <p:nvSpPr>
          <p:cNvPr id="7" name="Rounded Rectangle 6">
            <a:extLst>
              <a:ext uri="{FF2B5EF4-FFF2-40B4-BE49-F238E27FC236}">
                <a16:creationId xmlns:a16="http://schemas.microsoft.com/office/drawing/2014/main" id="{990FC962-C8BA-420B-D1BF-93E54627EA39}"/>
              </a:ext>
            </a:extLst>
          </p:cNvPr>
          <p:cNvSpPr/>
          <p:nvPr/>
        </p:nvSpPr>
        <p:spPr>
          <a:xfrm>
            <a:off x="7869864" y="1666661"/>
            <a:ext cx="3755208" cy="845268"/>
          </a:xfrm>
          <a:prstGeom prst="roundRect">
            <a:avLst>
              <a:gd name="adj" fmla="val 6000"/>
            </a:avLst>
          </a:prstGeom>
          <a:solidFill>
            <a:srgbClr val="F4F1E9"/>
          </a:solidFill>
          <a:ln w="12700">
            <a:solidFill>
              <a:srgbClr val="D9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8" name="Rectangle 7">
            <a:extLst>
              <a:ext uri="{FF2B5EF4-FFF2-40B4-BE49-F238E27FC236}">
                <a16:creationId xmlns:a16="http://schemas.microsoft.com/office/drawing/2014/main" id="{9CA473A6-14CB-400A-6199-4EBC5AD2FD31}"/>
              </a:ext>
            </a:extLst>
          </p:cNvPr>
          <p:cNvSpPr/>
          <p:nvPr/>
        </p:nvSpPr>
        <p:spPr>
          <a:xfrm>
            <a:off x="7869863" y="1666661"/>
            <a:ext cx="45719" cy="845268"/>
          </a:xfrm>
          <a:prstGeom prst="rect">
            <a:avLst/>
          </a:prstGeom>
          <a:solidFill>
            <a:srgbClr val="E07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ADF311AD-11DF-D1FC-18D7-AE83D74FFD2F}"/>
                  </a:ext>
                </a:extLst>
              </p:cNvPr>
              <p:cNvSpPr txBox="1"/>
              <p:nvPr/>
            </p:nvSpPr>
            <p:spPr>
              <a:xfrm>
                <a:off x="7907964" y="1807322"/>
                <a:ext cx="3717108" cy="56534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it-IT" b="0" i="1" smtClean="0">
                          <a:latin typeface="Cambria Math" panose="02040503050406030204" pitchFamily="18" charset="0"/>
                        </a:rPr>
                        <m:t>𝑠</m:t>
                      </m:r>
                      <m:r>
                        <a:rPr lang="it-IT" b="0" i="1" smtClean="0">
                          <a:latin typeface="Cambria Math" panose="02040503050406030204" pitchFamily="18" charset="0"/>
                        </a:rPr>
                        <m:t>=</m:t>
                      </m:r>
                      <m:d>
                        <m:dPr>
                          <m:begChr m:val="["/>
                          <m:endChr m:val="]"/>
                          <m:ctrlPr>
                            <a:rPr lang="it-IT" b="0" i="1" smtClean="0">
                              <a:latin typeface="Cambria Math" panose="02040503050406030204" pitchFamily="18" charset="0"/>
                            </a:rPr>
                          </m:ctrlPr>
                        </m:dPr>
                        <m:e>
                          <m:f>
                            <m:fPr>
                              <m:ctrlPr>
                                <a:rPr lang="it-IT" b="0" i="1" smtClean="0">
                                  <a:latin typeface="Cambria Math" panose="02040503050406030204" pitchFamily="18" charset="0"/>
                                </a:rPr>
                              </m:ctrlPr>
                            </m:fPr>
                            <m:num>
                              <m:r>
                                <a:rPr lang="it-IT" b="0" i="1" smtClean="0">
                                  <a:latin typeface="Cambria Math" panose="02040503050406030204" pitchFamily="18" charset="0"/>
                                </a:rPr>
                                <m:t>𝑒</m:t>
                              </m:r>
                            </m:num>
                            <m:den>
                              <m:sSub>
                                <m:sSubPr>
                                  <m:ctrlPr>
                                    <a:rPr lang="it-IT" b="0" i="1" smtClean="0">
                                      <a:latin typeface="Cambria Math" panose="02040503050406030204" pitchFamily="18" charset="0"/>
                                    </a:rPr>
                                  </m:ctrlPr>
                                </m:sSubPr>
                                <m:e>
                                  <m:r>
                                    <a:rPr lang="it-IT" b="0" i="1" smtClean="0">
                                      <a:latin typeface="Cambria Math" panose="02040503050406030204" pitchFamily="18" charset="0"/>
                                    </a:rPr>
                                    <m:t>𝑒</m:t>
                                  </m:r>
                                </m:e>
                                <m:sub>
                                  <m:r>
                                    <a:rPr lang="it-IT" b="0" i="1" smtClean="0">
                                      <a:latin typeface="Cambria Math" panose="02040503050406030204" pitchFamily="18" charset="0"/>
                                    </a:rPr>
                                    <m:t>𝑠</m:t>
                                  </m:r>
                                </m:sub>
                              </m:sSub>
                            </m:den>
                          </m:f>
                          <m:r>
                            <a:rPr lang="it-IT" b="0" i="1" smtClean="0">
                              <a:latin typeface="Cambria Math" panose="02040503050406030204" pitchFamily="18" charset="0"/>
                            </a:rPr>
                            <m:t>, </m:t>
                          </m:r>
                          <m:f>
                            <m:fPr>
                              <m:ctrlPr>
                                <a:rPr lang="it-IT" b="0" i="1" smtClean="0">
                                  <a:latin typeface="Cambria Math" panose="02040503050406030204" pitchFamily="18" charset="0"/>
                                </a:rPr>
                              </m:ctrlPr>
                            </m:fPr>
                            <m:num>
                              <m:r>
                                <a:rPr lang="it-IT" b="0" i="1" smtClean="0">
                                  <a:latin typeface="Cambria Math" panose="02040503050406030204" pitchFamily="18" charset="0"/>
                                  <a:ea typeface="Cambria Math" panose="02040503050406030204" pitchFamily="18" charset="0"/>
                                </a:rPr>
                                <m:t>𝜔</m:t>
                              </m:r>
                            </m:num>
                            <m:den>
                              <m:sSub>
                                <m:sSubPr>
                                  <m:ctrlPr>
                                    <a:rPr lang="it-IT" b="0" i="1" smtClean="0">
                                      <a:latin typeface="Cambria Math" panose="02040503050406030204" pitchFamily="18" charset="0"/>
                                    </a:rPr>
                                  </m:ctrlPr>
                                </m:sSubPr>
                                <m:e>
                                  <m:r>
                                    <a:rPr lang="it-IT" b="0" i="1" smtClean="0">
                                      <a:latin typeface="Cambria Math" panose="02040503050406030204" pitchFamily="18" charset="0"/>
                                      <a:ea typeface="Cambria Math" panose="02040503050406030204" pitchFamily="18" charset="0"/>
                                    </a:rPr>
                                    <m:t>𝜔</m:t>
                                  </m:r>
                                </m:e>
                                <m:sub>
                                  <m:r>
                                    <a:rPr lang="it-IT" b="0" i="1" smtClean="0">
                                      <a:latin typeface="Cambria Math" panose="02040503050406030204" pitchFamily="18" charset="0"/>
                                    </a:rPr>
                                    <m:t>𝑠</m:t>
                                  </m:r>
                                </m:sub>
                              </m:sSub>
                            </m:den>
                          </m:f>
                          <m:r>
                            <a:rPr lang="it-IT" b="0" i="1" smtClean="0">
                              <a:latin typeface="Cambria Math" panose="02040503050406030204" pitchFamily="18" charset="0"/>
                            </a:rPr>
                            <m:t>,</m:t>
                          </m:r>
                          <m:func>
                            <m:funcPr>
                              <m:ctrlPr>
                                <a:rPr lang="it-IT" b="0" i="1" smtClean="0">
                                  <a:latin typeface="Cambria Math" panose="02040503050406030204" pitchFamily="18" charset="0"/>
                                </a:rPr>
                              </m:ctrlPr>
                            </m:funcPr>
                            <m:fName>
                              <m:r>
                                <m:rPr>
                                  <m:sty m:val="p"/>
                                </m:rPr>
                                <a:rPr lang="it-IT" b="0" i="0" smtClean="0">
                                  <a:latin typeface="Cambria Math" panose="02040503050406030204" pitchFamily="18" charset="0"/>
                                </a:rPr>
                                <m:t>sin</m:t>
                              </m:r>
                            </m:fName>
                            <m:e>
                              <m:r>
                                <a:rPr lang="it-IT" b="0" i="1" smtClean="0">
                                  <a:latin typeface="Cambria Math" panose="02040503050406030204" pitchFamily="18" charset="0"/>
                                  <a:ea typeface="Cambria Math" panose="02040503050406030204" pitchFamily="18" charset="0"/>
                                </a:rPr>
                                <m:t>𝜃</m:t>
                              </m:r>
                            </m:e>
                          </m:func>
                          <m:r>
                            <a:rPr lang="it-IT" b="0" i="1" smtClean="0">
                              <a:latin typeface="Cambria Math" panose="02040503050406030204" pitchFamily="18" charset="0"/>
                            </a:rPr>
                            <m:t>, </m:t>
                          </m:r>
                          <m:func>
                            <m:funcPr>
                              <m:ctrlPr>
                                <a:rPr lang="it-IT" b="0" i="1" smtClean="0">
                                  <a:latin typeface="Cambria Math" panose="02040503050406030204" pitchFamily="18" charset="0"/>
                                </a:rPr>
                              </m:ctrlPr>
                            </m:funcPr>
                            <m:fName>
                              <m:r>
                                <m:rPr>
                                  <m:sty m:val="p"/>
                                </m:rPr>
                                <a:rPr lang="it-IT" b="0" i="0" smtClean="0">
                                  <a:latin typeface="Cambria Math" panose="02040503050406030204" pitchFamily="18" charset="0"/>
                                </a:rPr>
                                <m:t>cos</m:t>
                              </m:r>
                            </m:fName>
                            <m:e>
                              <m:r>
                                <a:rPr lang="it-IT" b="0" i="1" smtClean="0">
                                  <a:latin typeface="Cambria Math" panose="02040503050406030204" pitchFamily="18" charset="0"/>
                                  <a:ea typeface="Cambria Math" panose="02040503050406030204" pitchFamily="18" charset="0"/>
                                </a:rPr>
                                <m:t>𝜃</m:t>
                              </m:r>
                            </m:e>
                          </m:func>
                          <m:r>
                            <a:rPr lang="it-IT" b="0" i="1" smtClean="0">
                              <a:latin typeface="Cambria Math" panose="02040503050406030204" pitchFamily="18" charset="0"/>
                            </a:rPr>
                            <m:t>, </m:t>
                          </m:r>
                          <m:f>
                            <m:fPr>
                              <m:ctrlPr>
                                <a:rPr lang="it-IT" b="0" i="1" smtClean="0">
                                  <a:latin typeface="Cambria Math" panose="02040503050406030204" pitchFamily="18" charset="0"/>
                                </a:rPr>
                              </m:ctrlPr>
                            </m:fPr>
                            <m:num>
                              <m:sSub>
                                <m:sSubPr>
                                  <m:ctrlPr>
                                    <a:rPr lang="it-IT" b="0" i="1" smtClean="0">
                                      <a:latin typeface="Cambria Math" panose="02040503050406030204" pitchFamily="18" charset="0"/>
                                    </a:rPr>
                                  </m:ctrlPr>
                                </m:sSubPr>
                                <m:e>
                                  <m:r>
                                    <a:rPr lang="it-IT" b="0" i="1" smtClean="0">
                                      <a:latin typeface="Cambria Math" panose="02040503050406030204" pitchFamily="18" charset="0"/>
                                    </a:rPr>
                                    <m:t>𝑉</m:t>
                                  </m:r>
                                </m:e>
                                <m:sub>
                                  <m:r>
                                    <a:rPr lang="it-IT" b="0" i="1" smtClean="0">
                                      <a:latin typeface="Cambria Math" panose="02040503050406030204" pitchFamily="18" charset="0"/>
                                    </a:rPr>
                                    <m:t>𝑏𝑎𝑠𝑒</m:t>
                                  </m:r>
                                </m:sub>
                              </m:sSub>
                            </m:num>
                            <m:den>
                              <m:sSub>
                                <m:sSubPr>
                                  <m:ctrlPr>
                                    <a:rPr lang="it-IT" b="0" i="1" smtClean="0">
                                      <a:latin typeface="Cambria Math" panose="02040503050406030204" pitchFamily="18" charset="0"/>
                                    </a:rPr>
                                  </m:ctrlPr>
                                </m:sSubPr>
                                <m:e>
                                  <m:r>
                                    <a:rPr lang="it-IT" b="0" i="1" smtClean="0">
                                      <a:latin typeface="Cambria Math" panose="02040503050406030204" pitchFamily="18" charset="0"/>
                                    </a:rPr>
                                    <m:t>𝑉</m:t>
                                  </m:r>
                                </m:e>
                                <m:sub>
                                  <m:r>
                                    <a:rPr lang="it-IT" b="0" i="1" smtClean="0">
                                      <a:latin typeface="Cambria Math" panose="02040503050406030204" pitchFamily="18" charset="0"/>
                                    </a:rPr>
                                    <m:t>𝑚𝑎𝑥</m:t>
                                  </m:r>
                                </m:sub>
                              </m:sSub>
                            </m:den>
                          </m:f>
                        </m:e>
                      </m:d>
                      <m:r>
                        <a:rPr lang="it-IT" b="0" i="1" smtClean="0">
                          <a:latin typeface="Cambria Math" panose="02040503050406030204" pitchFamily="18" charset="0"/>
                          <a:ea typeface="Cambria Math" panose="02040503050406030204" pitchFamily="18" charset="0"/>
                        </a:rPr>
                        <m:t>∈</m:t>
                      </m:r>
                      <m:sSup>
                        <m:sSupPr>
                          <m:ctrlPr>
                            <a:rPr lang="it-IT" b="0" i="1" smtClean="0">
                              <a:latin typeface="Cambria Math" panose="02040503050406030204" pitchFamily="18" charset="0"/>
                              <a:ea typeface="Cambria Math" panose="02040503050406030204" pitchFamily="18" charset="0"/>
                            </a:rPr>
                          </m:ctrlPr>
                        </m:sSupPr>
                        <m:e>
                          <m:r>
                            <a:rPr lang="it-IT" b="0" i="1" smtClean="0">
                              <a:latin typeface="Cambria Math" panose="02040503050406030204" pitchFamily="18" charset="0"/>
                              <a:ea typeface="Cambria Math" panose="02040503050406030204" pitchFamily="18" charset="0"/>
                            </a:rPr>
                            <m:t>ℝ</m:t>
                          </m:r>
                        </m:e>
                        <m:sup>
                          <m:r>
                            <a:rPr lang="it-IT" b="0" i="1" smtClean="0">
                              <a:latin typeface="Cambria Math" panose="02040503050406030204" pitchFamily="18" charset="0"/>
                              <a:ea typeface="Cambria Math" panose="02040503050406030204" pitchFamily="18" charset="0"/>
                            </a:rPr>
                            <m:t>6</m:t>
                          </m:r>
                        </m:sup>
                      </m:sSup>
                    </m:oMath>
                  </m:oMathPara>
                </a14:m>
                <a:endParaRPr lang="en-US" dirty="0"/>
              </a:p>
            </p:txBody>
          </p:sp>
        </mc:Choice>
        <mc:Fallback xmlns="">
          <p:sp>
            <p:nvSpPr>
              <p:cNvPr id="10" name="TextBox 9">
                <a:extLst>
                  <a:ext uri="{FF2B5EF4-FFF2-40B4-BE49-F238E27FC236}">
                    <a16:creationId xmlns:a16="http://schemas.microsoft.com/office/drawing/2014/main" id="{ADF311AD-11DF-D1FC-18D7-AE83D74FFD2F}"/>
                  </a:ext>
                </a:extLst>
              </p:cNvPr>
              <p:cNvSpPr txBox="1">
                <a:spLocks noRot="1" noChangeAspect="1" noMove="1" noResize="1" noEditPoints="1" noAdjustHandles="1" noChangeArrowheads="1" noChangeShapeType="1" noTextEdit="1"/>
              </p:cNvSpPr>
              <p:nvPr/>
            </p:nvSpPr>
            <p:spPr>
              <a:xfrm>
                <a:off x="7907964" y="1807322"/>
                <a:ext cx="3717108" cy="565348"/>
              </a:xfrm>
              <a:prstGeom prst="rect">
                <a:avLst/>
              </a:prstGeom>
              <a:blipFill>
                <a:blip r:embed="rId3"/>
                <a:stretch>
                  <a:fillRect t="-2222"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14" name="Table 13">
                <a:extLst>
                  <a:ext uri="{FF2B5EF4-FFF2-40B4-BE49-F238E27FC236}">
                    <a16:creationId xmlns:a16="http://schemas.microsoft.com/office/drawing/2014/main" id="{96D21311-9BCF-8EB5-BF85-BFDDD5FFEC26}"/>
                  </a:ext>
                </a:extLst>
              </p:cNvPr>
              <p:cNvGraphicFramePr>
                <a:graphicFrameLocks noGrp="1"/>
              </p:cNvGraphicFramePr>
              <p:nvPr>
                <p:extLst>
                  <p:ext uri="{D42A27DB-BD31-4B8C-83A1-F6EECF244321}">
                    <p14:modId xmlns:p14="http://schemas.microsoft.com/office/powerpoint/2010/main" val="1081257394"/>
                  </p:ext>
                </p:extLst>
              </p:nvPr>
            </p:nvGraphicFramePr>
            <p:xfrm>
              <a:off x="783471" y="3166937"/>
              <a:ext cx="10372225" cy="2057400"/>
            </p:xfrm>
            <a:graphic>
              <a:graphicData uri="http://schemas.openxmlformats.org/drawingml/2006/table">
                <a:tbl>
                  <a:tblPr>
                    <a:tableStyleId>{5C22544A-7EE6-4342-B048-85BDC9FD1C3A}</a:tableStyleId>
                  </a:tblPr>
                  <a:tblGrid>
                    <a:gridCol w="1449910">
                      <a:extLst>
                        <a:ext uri="{9D8B030D-6E8A-4147-A177-3AD203B41FA5}">
                          <a16:colId xmlns:a16="http://schemas.microsoft.com/office/drawing/2014/main" val="20000"/>
                        </a:ext>
                      </a:extLst>
                    </a:gridCol>
                    <a:gridCol w="2661699">
                      <a:extLst>
                        <a:ext uri="{9D8B030D-6E8A-4147-A177-3AD203B41FA5}">
                          <a16:colId xmlns:a16="http://schemas.microsoft.com/office/drawing/2014/main" val="20001"/>
                        </a:ext>
                      </a:extLst>
                    </a:gridCol>
                    <a:gridCol w="6260616">
                      <a:extLst>
                        <a:ext uri="{9D8B030D-6E8A-4147-A177-3AD203B41FA5}">
                          <a16:colId xmlns:a16="http://schemas.microsoft.com/office/drawing/2014/main" val="2435101031"/>
                        </a:ext>
                      </a:extLst>
                    </a:gridCol>
                  </a:tblGrid>
                  <a:tr h="411480">
                    <a:tc>
                      <a:txBody>
                        <a:bodyPr/>
                        <a:lstStyle/>
                        <a:p>
                          <a:pPr/>
                          <a14:m>
                            <m:oMathPara xmlns:m="http://schemas.openxmlformats.org/officeDocument/2006/math">
                              <m:oMathParaPr>
                                <m:jc m:val="centerGroup"/>
                              </m:oMathParaPr>
                              <m:oMath xmlns:m="http://schemas.openxmlformats.org/officeDocument/2006/math">
                                <m:f>
                                  <m:fPr>
                                    <m:type m:val="lin"/>
                                    <m:ctrlPr>
                                      <a:rPr lang="en-US" sz="1200" b="0" i="1" noProof="1" smtClean="0">
                                        <a:solidFill>
                                          <a:srgbClr val="1D3557"/>
                                        </a:solidFill>
                                        <a:latin typeface="Cambria Math" panose="02040503050406030204" pitchFamily="18" charset="0"/>
                                      </a:rPr>
                                    </m:ctrlPr>
                                  </m:fPr>
                                  <m:num>
                                    <m:r>
                                      <a:rPr lang="it-IT" sz="1200" b="0" i="1" noProof="1" smtClean="0">
                                        <a:solidFill>
                                          <a:srgbClr val="1D3557"/>
                                        </a:solidFill>
                                        <a:latin typeface="Cambria Math" panose="02040503050406030204" pitchFamily="18" charset="0"/>
                                      </a:rPr>
                                      <m:t>𝑒</m:t>
                                    </m:r>
                                  </m:num>
                                  <m:den>
                                    <m:sSub>
                                      <m:sSubPr>
                                        <m:ctrlPr>
                                          <a:rPr lang="en-US" sz="1200" b="0" i="1" noProof="1" smtClean="0">
                                            <a:solidFill>
                                              <a:srgbClr val="1D3557"/>
                                            </a:solidFill>
                                            <a:latin typeface="Cambria Math" panose="02040503050406030204" pitchFamily="18" charset="0"/>
                                          </a:rPr>
                                        </m:ctrlPr>
                                      </m:sSubPr>
                                      <m:e>
                                        <m:r>
                                          <a:rPr lang="it-IT" sz="1200" b="0" i="1" noProof="1" smtClean="0">
                                            <a:solidFill>
                                              <a:srgbClr val="1D3557"/>
                                            </a:solidFill>
                                            <a:latin typeface="Cambria Math" panose="02040503050406030204" pitchFamily="18" charset="0"/>
                                          </a:rPr>
                                          <m:t>𝑒</m:t>
                                        </m:r>
                                      </m:e>
                                      <m:sub>
                                        <m:r>
                                          <a:rPr lang="it-IT" sz="1200" b="0" i="1" noProof="1" smtClean="0">
                                            <a:solidFill>
                                              <a:srgbClr val="1D3557"/>
                                            </a:solidFill>
                                            <a:latin typeface="Cambria Math" panose="02040503050406030204" pitchFamily="18" charset="0"/>
                                          </a:rPr>
                                          <m:t>𝑠</m:t>
                                        </m:r>
                                      </m:sub>
                                    </m:sSub>
                                  </m:den>
                                </m:f>
                              </m:oMath>
                            </m:oMathPara>
                          </a14:m>
                          <a:endParaRPr lang="en-US" sz="1200" b="0" noProof="1">
                            <a:solidFill>
                              <a:srgbClr val="1D3557"/>
                            </a:solidFill>
                            <a:latin typeface="+mn-lt"/>
                          </a:endParaRPr>
                        </a:p>
                      </a:txBody>
                      <a:tcPr marL="73152" marT="27432" marB="27432" anchor="ctr">
                        <a:solidFill>
                          <a:srgbClr val="FBFAF6"/>
                        </a:solidFill>
                      </a:tcPr>
                    </a:tc>
                    <a:tc>
                      <a:txBody>
                        <a:bodyPr/>
                        <a:lstStyle/>
                        <a:p>
                          <a:r>
                            <a:rPr lang="en-US" sz="1200" b="0" noProof="1">
                              <a:solidFill>
                                <a:srgbClr val="4A5A66"/>
                              </a:solidFill>
                              <a:latin typeface="+mn-lt"/>
                            </a:rPr>
                            <a:t>Speed error, normalised</a:t>
                          </a:r>
                        </a:p>
                      </a:txBody>
                      <a:tcPr marL="73152" marT="27432" marB="27432" anchor="ctr">
                        <a:solidFill>
                          <a:srgbClr val="FBFAF6"/>
                        </a:solidFill>
                      </a:tcPr>
                    </a:tc>
                    <a:tc>
                      <a:txBody>
                        <a:bodyPr/>
                        <a:lstStyle/>
                        <a:p>
                          <a:r>
                            <a:rPr lang="en-US" sz="1200" b="0" noProof="1">
                              <a:solidFill>
                                <a:srgbClr val="4A5A66"/>
                              </a:solidFill>
                              <a:latin typeface="+mn-lt"/>
                            </a:rPr>
                            <a:t>Primary tracking signal, tells the policy how far off we are</a:t>
                          </a:r>
                        </a:p>
                      </a:txBody>
                      <a:tcPr marL="73152" marT="27432" marB="27432" anchor="ctr">
                        <a:solidFill>
                          <a:srgbClr val="FBFAF6"/>
                        </a:solidFill>
                      </a:tcPr>
                    </a:tc>
                    <a:extLst>
                      <a:ext uri="{0D108BD9-81ED-4DB2-BD59-A6C34878D82A}">
                        <a16:rowId xmlns:a16="http://schemas.microsoft.com/office/drawing/2014/main" val="10000"/>
                      </a:ext>
                    </a:extLst>
                  </a:tr>
                  <a:tr h="411480">
                    <a:tc>
                      <a:txBody>
                        <a:bodyPr/>
                        <a:lstStyle/>
                        <a:p>
                          <a:pPr/>
                          <a14:m>
                            <m:oMathPara xmlns:m="http://schemas.openxmlformats.org/officeDocument/2006/math">
                              <m:oMathParaPr>
                                <m:jc m:val="centerGroup"/>
                              </m:oMathParaPr>
                              <m:oMath xmlns:m="http://schemas.openxmlformats.org/officeDocument/2006/math">
                                <m:f>
                                  <m:fPr>
                                    <m:type m:val="lin"/>
                                    <m:ctrlPr>
                                      <a:rPr lang="en-US" sz="1200" b="0" i="1" noProof="1" smtClean="0">
                                        <a:solidFill>
                                          <a:srgbClr val="1D3557"/>
                                        </a:solidFill>
                                        <a:latin typeface="Cambria Math" panose="02040503050406030204" pitchFamily="18" charset="0"/>
                                      </a:rPr>
                                    </m:ctrlPr>
                                  </m:fPr>
                                  <m:num>
                                    <m:r>
                                      <a:rPr lang="en-US" sz="1200" b="0" i="1" noProof="1" smtClean="0">
                                        <a:solidFill>
                                          <a:srgbClr val="1D3557"/>
                                        </a:solidFill>
                                        <a:latin typeface="Cambria Math" panose="02040503050406030204" pitchFamily="18" charset="0"/>
                                        <a:ea typeface="Cambria Math" panose="02040503050406030204" pitchFamily="18" charset="0"/>
                                      </a:rPr>
                                      <m:t>𝜔</m:t>
                                    </m:r>
                                  </m:num>
                                  <m:den>
                                    <m:sSub>
                                      <m:sSubPr>
                                        <m:ctrlPr>
                                          <a:rPr lang="en-US" sz="1200" b="0" i="1" noProof="1" smtClean="0">
                                            <a:solidFill>
                                              <a:srgbClr val="1D3557"/>
                                            </a:solidFill>
                                            <a:latin typeface="Cambria Math" panose="02040503050406030204" pitchFamily="18" charset="0"/>
                                          </a:rPr>
                                        </m:ctrlPr>
                                      </m:sSubPr>
                                      <m:e>
                                        <m:r>
                                          <a:rPr lang="en-US" sz="1200" b="0" i="1" noProof="1" smtClean="0">
                                            <a:solidFill>
                                              <a:srgbClr val="1D3557"/>
                                            </a:solidFill>
                                            <a:latin typeface="Cambria Math" panose="02040503050406030204" pitchFamily="18" charset="0"/>
                                            <a:ea typeface="Cambria Math" panose="02040503050406030204" pitchFamily="18" charset="0"/>
                                          </a:rPr>
                                          <m:t>𝜔</m:t>
                                        </m:r>
                                      </m:e>
                                      <m:sub>
                                        <m:r>
                                          <a:rPr lang="it-IT" sz="1200" b="0" i="1" noProof="1" smtClean="0">
                                            <a:solidFill>
                                              <a:srgbClr val="1D3557"/>
                                            </a:solidFill>
                                            <a:latin typeface="Cambria Math" panose="02040503050406030204" pitchFamily="18" charset="0"/>
                                          </a:rPr>
                                          <m:t>𝑠</m:t>
                                        </m:r>
                                      </m:sub>
                                    </m:sSub>
                                  </m:den>
                                </m:f>
                              </m:oMath>
                            </m:oMathPara>
                          </a14:m>
                          <a:endParaRPr lang="en-US" sz="1200" b="0" noProof="1">
                            <a:solidFill>
                              <a:srgbClr val="1D3557"/>
                            </a:solidFill>
                            <a:latin typeface="+mn-lt"/>
                          </a:endParaRPr>
                        </a:p>
                      </a:txBody>
                      <a:tcPr marL="73152" marT="27432" marB="27432" anchor="ctr">
                        <a:solidFill>
                          <a:srgbClr val="FBFAF6"/>
                        </a:solidFill>
                      </a:tcPr>
                    </a:tc>
                    <a:tc>
                      <a:txBody>
                        <a:bodyPr/>
                        <a:lstStyle/>
                        <a:p>
                          <a:r>
                            <a:rPr lang="en-US" sz="1200" b="0" noProof="1">
                              <a:solidFill>
                                <a:srgbClr val="495A66"/>
                              </a:solidFill>
                              <a:latin typeface="+mn-lt"/>
                            </a:rPr>
                            <a:t>Current speed, normalised</a:t>
                          </a:r>
                        </a:p>
                      </a:txBody>
                      <a:tcPr marL="73152" marT="27432" marB="27432" anchor="ctr">
                        <a:solidFill>
                          <a:srgbClr val="FBFAF6"/>
                        </a:solidFill>
                      </a:tcPr>
                    </a:tc>
                    <a:tc>
                      <a:txBody>
                        <a:bodyPr/>
                        <a:lstStyle/>
                        <a:p>
                          <a:r>
                            <a:rPr lang="en-GB" sz="1200" b="0" i="0" kern="1200" dirty="0">
                              <a:solidFill>
                                <a:srgbClr val="495A66"/>
                              </a:solidFill>
                              <a:effectLst/>
                              <a:latin typeface="+mn-lt"/>
                              <a:ea typeface="+mn-ea"/>
                              <a:cs typeface="+mn-cs"/>
                            </a:rPr>
                            <a:t>Captures the current operating point and back-EMF regime</a:t>
                          </a:r>
                          <a:endParaRPr lang="en-US" sz="1200" b="0" noProof="1">
                            <a:solidFill>
                              <a:srgbClr val="495A66"/>
                            </a:solidFill>
                            <a:latin typeface="+mn-lt"/>
                          </a:endParaRPr>
                        </a:p>
                      </a:txBody>
                      <a:tcPr marL="73152" marT="27432" marB="27432" anchor="ctr">
                        <a:solidFill>
                          <a:srgbClr val="FBFAF6"/>
                        </a:solidFill>
                      </a:tcPr>
                    </a:tc>
                    <a:extLst>
                      <a:ext uri="{0D108BD9-81ED-4DB2-BD59-A6C34878D82A}">
                        <a16:rowId xmlns:a16="http://schemas.microsoft.com/office/drawing/2014/main" val="10001"/>
                      </a:ext>
                    </a:extLst>
                  </a:tr>
                  <a:tr h="411480">
                    <a:tc>
                      <a:txBody>
                        <a:bodyPr/>
                        <a:lstStyle/>
                        <a:p>
                          <a:pPr/>
                          <a14:m>
                            <m:oMathPara xmlns:m="http://schemas.openxmlformats.org/officeDocument/2006/math">
                              <m:oMathParaPr>
                                <m:jc m:val="centerGroup"/>
                              </m:oMathParaPr>
                              <m:oMath xmlns:m="http://schemas.openxmlformats.org/officeDocument/2006/math">
                                <m:func>
                                  <m:funcPr>
                                    <m:ctrlPr>
                                      <a:rPr lang="it-IT" sz="1200" b="0" i="1" noProof="1" smtClean="0">
                                        <a:solidFill>
                                          <a:srgbClr val="4A5A66"/>
                                        </a:solidFill>
                                        <a:latin typeface="Cambria Math" panose="02040503050406030204" pitchFamily="18" charset="0"/>
                                      </a:rPr>
                                    </m:ctrlPr>
                                  </m:funcPr>
                                  <m:fName>
                                    <m:r>
                                      <m:rPr>
                                        <m:sty m:val="p"/>
                                      </m:rPr>
                                      <a:rPr lang="it-IT" sz="1200" b="0" i="0" noProof="1" smtClean="0">
                                        <a:solidFill>
                                          <a:srgbClr val="4A5A66"/>
                                        </a:solidFill>
                                        <a:latin typeface="Cambria Math" panose="02040503050406030204" pitchFamily="18" charset="0"/>
                                      </a:rPr>
                                      <m:t>sin</m:t>
                                    </m:r>
                                  </m:fName>
                                  <m:e>
                                    <m:r>
                                      <a:rPr lang="it-IT" sz="1200" b="0" i="1" noProof="1" smtClean="0">
                                        <a:solidFill>
                                          <a:srgbClr val="4A5A66"/>
                                        </a:solidFill>
                                        <a:latin typeface="Cambria Math" panose="02040503050406030204" pitchFamily="18" charset="0"/>
                                        <a:ea typeface="Cambria Math" panose="02040503050406030204" pitchFamily="18" charset="0"/>
                                      </a:rPr>
                                      <m:t>𝜃</m:t>
                                    </m:r>
                                  </m:e>
                                </m:func>
                                <m:r>
                                  <a:rPr lang="it-IT" sz="1200" b="0" i="1" noProof="1" smtClean="0">
                                    <a:solidFill>
                                      <a:srgbClr val="4A5A66"/>
                                    </a:solidFill>
                                    <a:latin typeface="Cambria Math" panose="02040503050406030204" pitchFamily="18" charset="0"/>
                                  </a:rPr>
                                  <m:t>,</m:t>
                                </m:r>
                                <m:func>
                                  <m:funcPr>
                                    <m:ctrlPr>
                                      <a:rPr lang="it-IT" sz="1200" b="0" i="1" noProof="1" smtClean="0">
                                        <a:solidFill>
                                          <a:srgbClr val="4A5A66"/>
                                        </a:solidFill>
                                        <a:latin typeface="Cambria Math" panose="02040503050406030204" pitchFamily="18" charset="0"/>
                                      </a:rPr>
                                    </m:ctrlPr>
                                  </m:funcPr>
                                  <m:fName>
                                    <m:r>
                                      <m:rPr>
                                        <m:sty m:val="p"/>
                                      </m:rPr>
                                      <a:rPr lang="it-IT" sz="1200" b="0" i="0" noProof="1" smtClean="0">
                                        <a:solidFill>
                                          <a:srgbClr val="4A5A66"/>
                                        </a:solidFill>
                                        <a:latin typeface="Cambria Math" panose="02040503050406030204" pitchFamily="18" charset="0"/>
                                      </a:rPr>
                                      <m:t>cos</m:t>
                                    </m:r>
                                  </m:fName>
                                  <m:e>
                                    <m:r>
                                      <a:rPr lang="it-IT" sz="1200" b="0" i="1" noProof="1" smtClean="0">
                                        <a:solidFill>
                                          <a:srgbClr val="4A5A66"/>
                                        </a:solidFill>
                                        <a:latin typeface="Cambria Math" panose="02040503050406030204" pitchFamily="18" charset="0"/>
                                        <a:ea typeface="Cambria Math" panose="02040503050406030204" pitchFamily="18" charset="0"/>
                                      </a:rPr>
                                      <m:t>𝜃</m:t>
                                    </m:r>
                                  </m:e>
                                </m:func>
                              </m:oMath>
                            </m:oMathPara>
                          </a14:m>
                          <a:endParaRPr lang="en-US" sz="1200" b="0" i="1" noProof="1">
                            <a:solidFill>
                              <a:srgbClr val="1D3557"/>
                            </a:solidFill>
                            <a:latin typeface="+mn-lt"/>
                          </a:endParaRPr>
                        </a:p>
                      </a:txBody>
                      <a:tcPr marL="73152" marT="27432" marB="27432" anchor="ctr">
                        <a:solidFill>
                          <a:srgbClr val="FBFAF6"/>
                        </a:solidFill>
                      </a:tcPr>
                    </a:tc>
                    <a:tc>
                      <a:txBody>
                        <a:bodyPr/>
                        <a:lstStyle/>
                        <a:p>
                          <a:r>
                            <a:rPr lang="en-US" sz="1200" b="0" noProof="1">
                              <a:solidFill>
                                <a:srgbClr val="4A5A66"/>
                              </a:solidFill>
                              <a:latin typeface="+mn-lt"/>
                            </a:rPr>
                            <a:t>Rod angles (2 variables)</a:t>
                          </a:r>
                        </a:p>
                      </a:txBody>
                      <a:tcPr marL="73152" marT="27432" marB="27432" anchor="ctr">
                        <a:solidFill>
                          <a:srgbClr val="FBFAF6"/>
                        </a:solidFill>
                      </a:tcPr>
                    </a:tc>
                    <a:tc>
                      <a:txBody>
                        <a:bodyPr/>
                        <a:lstStyle/>
                        <a:p>
                          <a:r>
                            <a:rPr lang="en-GB" sz="1200" b="0" i="0" kern="1200" dirty="0">
                              <a:solidFill>
                                <a:srgbClr val="495A66"/>
                              </a:solidFill>
                              <a:effectLst/>
                              <a:latin typeface="+mn-lt"/>
                              <a:ea typeface="+mn-ea"/>
                              <a:cs typeface="+mn-cs"/>
                            </a:rPr>
                            <a:t>Encodes the gravity load</a:t>
                          </a:r>
                          <a:endParaRPr lang="en-US" sz="1200" b="0" noProof="1">
                            <a:solidFill>
                              <a:srgbClr val="495A66"/>
                            </a:solidFill>
                            <a:latin typeface="+mn-lt"/>
                          </a:endParaRPr>
                        </a:p>
                      </a:txBody>
                      <a:tcPr marL="73152" marT="27432" marB="27432" anchor="ctr">
                        <a:solidFill>
                          <a:srgbClr val="FBFAF6"/>
                        </a:solidFill>
                      </a:tcPr>
                    </a:tc>
                    <a:extLst>
                      <a:ext uri="{0D108BD9-81ED-4DB2-BD59-A6C34878D82A}">
                        <a16:rowId xmlns:a16="http://schemas.microsoft.com/office/drawing/2014/main" val="10002"/>
                      </a:ext>
                    </a:extLst>
                  </a:tr>
                  <a:tr h="411480">
                    <a:tc>
                      <a:txBody>
                        <a:bodyPr/>
                        <a:lstStyle/>
                        <a:p>
                          <a:pPr/>
                          <a14:m>
                            <m:oMathPara xmlns:m="http://schemas.openxmlformats.org/officeDocument/2006/math">
                              <m:oMathParaPr>
                                <m:jc m:val="centerGroup"/>
                              </m:oMathParaPr>
                              <m:oMath xmlns:m="http://schemas.openxmlformats.org/officeDocument/2006/math">
                                <m:f>
                                  <m:fPr>
                                    <m:type m:val="lin"/>
                                    <m:ctrlPr>
                                      <a:rPr lang="en-US" sz="1200" b="0" i="1" noProof="1" smtClean="0">
                                        <a:solidFill>
                                          <a:srgbClr val="1D3557"/>
                                        </a:solidFill>
                                        <a:latin typeface="Cambria Math" panose="02040503050406030204" pitchFamily="18" charset="0"/>
                                      </a:rPr>
                                    </m:ctrlPr>
                                  </m:fPr>
                                  <m:num>
                                    <m:sSup>
                                      <m:sSupPr>
                                        <m:ctrlPr>
                                          <a:rPr lang="en-US" sz="1200" b="0" i="1" noProof="1" smtClean="0">
                                            <a:solidFill>
                                              <a:srgbClr val="1D3557"/>
                                            </a:solidFill>
                                            <a:latin typeface="Cambria Math" panose="02040503050406030204" pitchFamily="18" charset="0"/>
                                          </a:rPr>
                                        </m:ctrlPr>
                                      </m:sSupPr>
                                      <m:e>
                                        <m:r>
                                          <a:rPr lang="en-US" sz="1200" b="0" i="1" noProof="1" smtClean="0">
                                            <a:solidFill>
                                              <a:srgbClr val="1D3557"/>
                                            </a:solidFill>
                                            <a:latin typeface="Cambria Math" panose="02040503050406030204" pitchFamily="18" charset="0"/>
                                            <a:ea typeface="Cambria Math" panose="02040503050406030204" pitchFamily="18" charset="0"/>
                                          </a:rPr>
                                          <m:t>𝜔</m:t>
                                        </m:r>
                                      </m:e>
                                      <m:sup>
                                        <m:r>
                                          <a:rPr lang="it-IT" sz="1200" b="0" i="1" noProof="1" smtClean="0">
                                            <a:solidFill>
                                              <a:srgbClr val="1D3557"/>
                                            </a:solidFill>
                                            <a:latin typeface="Cambria Math" panose="02040503050406030204" pitchFamily="18" charset="0"/>
                                          </a:rPr>
                                          <m:t>∗</m:t>
                                        </m:r>
                                      </m:sup>
                                    </m:sSup>
                                  </m:num>
                                  <m:den>
                                    <m:sSub>
                                      <m:sSubPr>
                                        <m:ctrlPr>
                                          <a:rPr lang="en-US" sz="1200" b="0" i="1" noProof="1" smtClean="0">
                                            <a:solidFill>
                                              <a:srgbClr val="1D3557"/>
                                            </a:solidFill>
                                            <a:latin typeface="Cambria Math" panose="02040503050406030204" pitchFamily="18" charset="0"/>
                                          </a:rPr>
                                        </m:ctrlPr>
                                      </m:sSubPr>
                                      <m:e>
                                        <m:r>
                                          <a:rPr lang="en-US" sz="1200" b="0" i="1" noProof="1" smtClean="0">
                                            <a:solidFill>
                                              <a:srgbClr val="1D3557"/>
                                            </a:solidFill>
                                            <a:latin typeface="Cambria Math" panose="02040503050406030204" pitchFamily="18" charset="0"/>
                                            <a:ea typeface="Cambria Math" panose="02040503050406030204" pitchFamily="18" charset="0"/>
                                          </a:rPr>
                                          <m:t>𝜔</m:t>
                                        </m:r>
                                      </m:e>
                                      <m:sub>
                                        <m:r>
                                          <a:rPr lang="it-IT" sz="1200" b="0" i="1" noProof="1" smtClean="0">
                                            <a:solidFill>
                                              <a:srgbClr val="1D3557"/>
                                            </a:solidFill>
                                            <a:latin typeface="Cambria Math" panose="02040503050406030204" pitchFamily="18" charset="0"/>
                                          </a:rPr>
                                          <m:t>𝑠</m:t>
                                        </m:r>
                                      </m:sub>
                                    </m:sSub>
                                  </m:den>
                                </m:f>
                              </m:oMath>
                            </m:oMathPara>
                          </a14:m>
                          <a:endParaRPr lang="en-US" sz="1200" b="0" noProof="1">
                            <a:solidFill>
                              <a:srgbClr val="1D3557"/>
                            </a:solidFill>
                            <a:latin typeface="+mn-lt"/>
                          </a:endParaRPr>
                        </a:p>
                      </a:txBody>
                      <a:tcPr marL="73152" marT="27432" marB="27432" anchor="ctr">
                        <a:solidFill>
                          <a:srgbClr val="FBFAF6"/>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GB" sz="1200" b="0" i="0" kern="1200" dirty="0">
                              <a:solidFill>
                                <a:srgbClr val="495A66"/>
                              </a:solidFill>
                              <a:effectLst/>
                              <a:latin typeface="+mn-lt"/>
                              <a:ea typeface="+mn-ea"/>
                              <a:cs typeface="+mn-cs"/>
                            </a:rPr>
                            <a:t>Reference speed, normalised</a:t>
                          </a:r>
                          <a:endParaRPr lang="en-US" sz="1200" b="1" noProof="1">
                            <a:solidFill>
                              <a:srgbClr val="495A66"/>
                            </a:solidFill>
                            <a:latin typeface="+mn-lt"/>
                          </a:endParaRPr>
                        </a:p>
                      </a:txBody>
                      <a:tcPr marL="73152" marT="27432" marB="27432" anchor="ctr">
                        <a:solidFill>
                          <a:srgbClr val="FBFAF6"/>
                        </a:solidFill>
                      </a:tcPr>
                    </a:tc>
                    <a:tc>
                      <a:txBody>
                        <a:bodyPr/>
                        <a:lstStyle/>
                        <a:p>
                          <a:r>
                            <a:rPr lang="en-GB" sz="1200" b="0" i="0" kern="1200" dirty="0">
                              <a:solidFill>
                                <a:srgbClr val="495A66"/>
                              </a:solidFill>
                              <a:effectLst/>
                              <a:latin typeface="+mn-lt"/>
                              <a:ea typeface="+mn-ea"/>
                              <a:cs typeface="+mn-cs"/>
                            </a:rPr>
                            <a:t>Lets the policy distinguish a ramp from a step, anticipate the next operating point</a:t>
                          </a:r>
                          <a:endParaRPr lang="en-US" sz="1200" b="1" noProof="1">
                            <a:solidFill>
                              <a:srgbClr val="495A66"/>
                            </a:solidFill>
                            <a:latin typeface="+mn-lt"/>
                          </a:endParaRPr>
                        </a:p>
                      </a:txBody>
                      <a:tcPr marL="73152" marT="27432" marB="27432" anchor="ctr">
                        <a:solidFill>
                          <a:srgbClr val="FBFAF6"/>
                        </a:solidFill>
                      </a:tcPr>
                    </a:tc>
                    <a:extLst>
                      <a:ext uri="{0D108BD9-81ED-4DB2-BD59-A6C34878D82A}">
                        <a16:rowId xmlns:a16="http://schemas.microsoft.com/office/drawing/2014/main" val="10003"/>
                      </a:ext>
                    </a:extLst>
                  </a:tr>
                  <a:tr h="411480">
                    <a:tc>
                      <a:txBody>
                        <a:bodyPr/>
                        <a:lstStyle/>
                        <a:p>
                          <a:pPr/>
                          <a14:m>
                            <m:oMathPara xmlns:m="http://schemas.openxmlformats.org/officeDocument/2006/math">
                              <m:oMathParaPr>
                                <m:jc m:val="centerGroup"/>
                              </m:oMathParaPr>
                              <m:oMath xmlns:m="http://schemas.openxmlformats.org/officeDocument/2006/math">
                                <m:f>
                                  <m:fPr>
                                    <m:type m:val="lin"/>
                                    <m:ctrlPr>
                                      <a:rPr lang="en-US" sz="1200" b="0" i="1" noProof="1" smtClean="0">
                                        <a:solidFill>
                                          <a:srgbClr val="1D3557"/>
                                        </a:solidFill>
                                        <a:latin typeface="Cambria Math" panose="02040503050406030204" pitchFamily="18" charset="0"/>
                                      </a:rPr>
                                    </m:ctrlPr>
                                  </m:fPr>
                                  <m:num>
                                    <m:sSub>
                                      <m:sSubPr>
                                        <m:ctrlPr>
                                          <a:rPr lang="en-US" sz="1200" b="0" i="1" noProof="1" smtClean="0">
                                            <a:solidFill>
                                              <a:srgbClr val="1D3557"/>
                                            </a:solidFill>
                                            <a:latin typeface="Cambria Math" panose="02040503050406030204" pitchFamily="18" charset="0"/>
                                          </a:rPr>
                                        </m:ctrlPr>
                                      </m:sSubPr>
                                      <m:e>
                                        <m:r>
                                          <a:rPr lang="it-IT" sz="1200" b="0" i="1" noProof="1" smtClean="0">
                                            <a:solidFill>
                                              <a:srgbClr val="1D3557"/>
                                            </a:solidFill>
                                            <a:latin typeface="Cambria Math" panose="02040503050406030204" pitchFamily="18" charset="0"/>
                                          </a:rPr>
                                          <m:t>𝑉</m:t>
                                        </m:r>
                                      </m:e>
                                      <m:sub>
                                        <m:r>
                                          <a:rPr lang="it-IT" sz="1200" b="0" i="1" noProof="1" smtClean="0">
                                            <a:solidFill>
                                              <a:srgbClr val="1D3557"/>
                                            </a:solidFill>
                                            <a:latin typeface="Cambria Math" panose="02040503050406030204" pitchFamily="18" charset="0"/>
                                          </a:rPr>
                                          <m:t>𝑏𝑎𝑠𝑒</m:t>
                                        </m:r>
                                      </m:sub>
                                    </m:sSub>
                                  </m:num>
                                  <m:den>
                                    <m:sSub>
                                      <m:sSubPr>
                                        <m:ctrlPr>
                                          <a:rPr lang="en-US" sz="1200" b="0" i="1" noProof="1" smtClean="0">
                                            <a:solidFill>
                                              <a:srgbClr val="1D3557"/>
                                            </a:solidFill>
                                            <a:latin typeface="Cambria Math" panose="02040503050406030204" pitchFamily="18" charset="0"/>
                                          </a:rPr>
                                        </m:ctrlPr>
                                      </m:sSubPr>
                                      <m:e>
                                        <m:r>
                                          <a:rPr lang="it-IT" sz="1200" b="0" i="1" noProof="1" smtClean="0">
                                            <a:solidFill>
                                              <a:srgbClr val="1D3557"/>
                                            </a:solidFill>
                                            <a:latin typeface="Cambria Math" panose="02040503050406030204" pitchFamily="18" charset="0"/>
                                          </a:rPr>
                                          <m:t>𝑉</m:t>
                                        </m:r>
                                      </m:e>
                                      <m:sub>
                                        <m:r>
                                          <a:rPr lang="it-IT" sz="1200" b="0" i="1" noProof="1" smtClean="0">
                                            <a:solidFill>
                                              <a:srgbClr val="1D3557"/>
                                            </a:solidFill>
                                            <a:latin typeface="Cambria Math" panose="02040503050406030204" pitchFamily="18" charset="0"/>
                                            <a:ea typeface="Cambria Math" panose="02040503050406030204" pitchFamily="18" charset="0"/>
                                          </a:rPr>
                                          <m:t>𝑚𝑎𝑥</m:t>
                                        </m:r>
                                      </m:sub>
                                    </m:sSub>
                                  </m:den>
                                </m:f>
                              </m:oMath>
                            </m:oMathPara>
                          </a14:m>
                          <a:endParaRPr lang="en-US" sz="1200" b="0" i="1" noProof="1">
                            <a:solidFill>
                              <a:srgbClr val="495A66"/>
                            </a:solidFill>
                            <a:latin typeface="+mn-lt"/>
                          </a:endParaRPr>
                        </a:p>
                      </a:txBody>
                      <a:tcPr marL="73152" marT="27432" marB="27432" anchor="ctr">
                        <a:solidFill>
                          <a:srgbClr val="FBFAF6"/>
                        </a:solidFill>
                      </a:tcPr>
                    </a:tc>
                    <a:tc>
                      <a:txBody>
                        <a:bodyPr/>
                        <a:lstStyle/>
                        <a:p>
                          <a:r>
                            <a:rPr lang="en-GB" sz="1200" b="0" i="0" kern="1200" noProof="1">
                              <a:solidFill>
                                <a:srgbClr val="495A66"/>
                              </a:solidFill>
                              <a:effectLst/>
                              <a:latin typeface="+mn-lt"/>
                              <a:ea typeface="+mn-ea"/>
                              <a:cs typeface="+mn-cs"/>
                            </a:rPr>
                            <a:t>PI output, normalised</a:t>
                          </a:r>
                          <a:endParaRPr lang="en-US" sz="1200" b="1" noProof="1">
                            <a:solidFill>
                              <a:srgbClr val="495A66"/>
                            </a:solidFill>
                            <a:latin typeface="+mn-lt"/>
                          </a:endParaRPr>
                        </a:p>
                      </a:txBody>
                      <a:tcPr marL="73152" marT="27432" marB="27432" anchor="ctr">
                        <a:solidFill>
                          <a:srgbClr val="FBFAF6"/>
                        </a:solidFill>
                      </a:tcPr>
                    </a:tc>
                    <a:tc>
                      <a:txBody>
                        <a:bodyPr/>
                        <a:lstStyle/>
                        <a:p>
                          <a:r>
                            <a:rPr lang="en-GB" sz="1200" b="0" i="0" kern="1200" dirty="0">
                              <a:solidFill>
                                <a:srgbClr val="495A66"/>
                              </a:solidFill>
                              <a:effectLst/>
                              <a:latin typeface="+mn-lt"/>
                              <a:ea typeface="+mn-ea"/>
                              <a:cs typeface="+mn-cs"/>
                            </a:rPr>
                            <a:t>Tells the policy what the baseline already commands, this is what makes the control </a:t>
                          </a:r>
                          <a:r>
                            <a:rPr lang="en-GB" sz="1200" b="0" i="1" kern="1200" dirty="0">
                              <a:solidFill>
                                <a:srgbClr val="495A66"/>
                              </a:solidFill>
                              <a:effectLst/>
                              <a:latin typeface="+mn-lt"/>
                              <a:ea typeface="+mn-ea"/>
                              <a:cs typeface="+mn-cs"/>
                            </a:rPr>
                            <a:t>residual</a:t>
                          </a:r>
                          <a:endParaRPr lang="en-US" sz="1200" b="1" noProof="1">
                            <a:solidFill>
                              <a:srgbClr val="495A66"/>
                            </a:solidFill>
                            <a:latin typeface="+mn-lt"/>
                          </a:endParaRPr>
                        </a:p>
                      </a:txBody>
                      <a:tcPr marL="73152" marT="27432" marB="27432" anchor="ctr">
                        <a:solidFill>
                          <a:srgbClr val="FBFAF6"/>
                        </a:solidFill>
                      </a:tcPr>
                    </a:tc>
                    <a:extLst>
                      <a:ext uri="{0D108BD9-81ED-4DB2-BD59-A6C34878D82A}">
                        <a16:rowId xmlns:a16="http://schemas.microsoft.com/office/drawing/2014/main" val="10004"/>
                      </a:ext>
                    </a:extLst>
                  </a:tr>
                </a:tbl>
              </a:graphicData>
            </a:graphic>
          </p:graphicFrame>
        </mc:Choice>
        <mc:Fallback xmlns="">
          <p:graphicFrame>
            <p:nvGraphicFramePr>
              <p:cNvPr id="14" name="Table 13">
                <a:extLst>
                  <a:ext uri="{FF2B5EF4-FFF2-40B4-BE49-F238E27FC236}">
                    <a16:creationId xmlns:a16="http://schemas.microsoft.com/office/drawing/2014/main" id="{96D21311-9BCF-8EB5-BF85-BFDDD5FFEC26}"/>
                  </a:ext>
                </a:extLst>
              </p:cNvPr>
              <p:cNvGraphicFramePr>
                <a:graphicFrameLocks noGrp="1"/>
              </p:cNvGraphicFramePr>
              <p:nvPr>
                <p:extLst>
                  <p:ext uri="{D42A27DB-BD31-4B8C-83A1-F6EECF244321}">
                    <p14:modId xmlns:p14="http://schemas.microsoft.com/office/powerpoint/2010/main" val="1081257394"/>
                  </p:ext>
                </p:extLst>
              </p:nvPr>
            </p:nvGraphicFramePr>
            <p:xfrm>
              <a:off x="783471" y="3166937"/>
              <a:ext cx="10372225" cy="2057400"/>
            </p:xfrm>
            <a:graphic>
              <a:graphicData uri="http://schemas.openxmlformats.org/drawingml/2006/table">
                <a:tbl>
                  <a:tblPr>
                    <a:tableStyleId>{5C22544A-7EE6-4342-B048-85BDC9FD1C3A}</a:tableStyleId>
                  </a:tblPr>
                  <a:tblGrid>
                    <a:gridCol w="1449910">
                      <a:extLst>
                        <a:ext uri="{9D8B030D-6E8A-4147-A177-3AD203B41FA5}">
                          <a16:colId xmlns:a16="http://schemas.microsoft.com/office/drawing/2014/main" val="20000"/>
                        </a:ext>
                      </a:extLst>
                    </a:gridCol>
                    <a:gridCol w="2661699">
                      <a:extLst>
                        <a:ext uri="{9D8B030D-6E8A-4147-A177-3AD203B41FA5}">
                          <a16:colId xmlns:a16="http://schemas.microsoft.com/office/drawing/2014/main" val="20001"/>
                        </a:ext>
                      </a:extLst>
                    </a:gridCol>
                    <a:gridCol w="6260616">
                      <a:extLst>
                        <a:ext uri="{9D8B030D-6E8A-4147-A177-3AD203B41FA5}">
                          <a16:colId xmlns:a16="http://schemas.microsoft.com/office/drawing/2014/main" val="2435101031"/>
                        </a:ext>
                      </a:extLst>
                    </a:gridCol>
                  </a:tblGrid>
                  <a:tr h="411480">
                    <a:tc>
                      <a:txBody>
                        <a:bodyPr/>
                        <a:lstStyle/>
                        <a:p>
                          <a:endParaRPr lang="en-IT"/>
                        </a:p>
                      </a:txBody>
                      <a:tcPr marL="73152" marT="27432" marB="27432" anchor="ctr">
                        <a:blipFill>
                          <a:blip r:embed="rId4"/>
                          <a:stretch>
                            <a:fillRect l="-877" t="-48485" r="-618421" b="-481818"/>
                          </a:stretch>
                        </a:blipFill>
                      </a:tcPr>
                    </a:tc>
                    <a:tc>
                      <a:txBody>
                        <a:bodyPr/>
                        <a:lstStyle/>
                        <a:p>
                          <a:r>
                            <a:rPr lang="en-US" sz="1200" b="0" noProof="1">
                              <a:solidFill>
                                <a:srgbClr val="4A5A66"/>
                              </a:solidFill>
                              <a:latin typeface="+mn-lt"/>
                            </a:rPr>
                            <a:t>Speed error, normalised</a:t>
                          </a:r>
                        </a:p>
                      </a:txBody>
                      <a:tcPr marL="73152" marT="27432" marB="27432" anchor="ctr">
                        <a:solidFill>
                          <a:srgbClr val="FBFAF6"/>
                        </a:solidFill>
                      </a:tcPr>
                    </a:tc>
                    <a:tc>
                      <a:txBody>
                        <a:bodyPr/>
                        <a:lstStyle/>
                        <a:p>
                          <a:r>
                            <a:rPr lang="en-US" sz="1200" b="0" noProof="1">
                              <a:solidFill>
                                <a:srgbClr val="4A5A66"/>
                              </a:solidFill>
                              <a:latin typeface="+mn-lt"/>
                            </a:rPr>
                            <a:t>Primary tracking signal, tells the policy how far off we are</a:t>
                          </a:r>
                        </a:p>
                      </a:txBody>
                      <a:tcPr marL="73152" marT="27432" marB="27432" anchor="ctr">
                        <a:solidFill>
                          <a:srgbClr val="FBFAF6"/>
                        </a:solidFill>
                      </a:tcPr>
                    </a:tc>
                    <a:extLst>
                      <a:ext uri="{0D108BD9-81ED-4DB2-BD59-A6C34878D82A}">
                        <a16:rowId xmlns:a16="http://schemas.microsoft.com/office/drawing/2014/main" val="10000"/>
                      </a:ext>
                    </a:extLst>
                  </a:tr>
                  <a:tr h="411480">
                    <a:tc>
                      <a:txBody>
                        <a:bodyPr/>
                        <a:lstStyle/>
                        <a:p>
                          <a:endParaRPr lang="en-IT"/>
                        </a:p>
                      </a:txBody>
                      <a:tcPr marL="73152" marT="27432" marB="27432" anchor="ctr">
                        <a:blipFill>
                          <a:blip r:embed="rId4"/>
                          <a:stretch>
                            <a:fillRect l="-877" t="-153125" r="-618421" b="-396875"/>
                          </a:stretch>
                        </a:blipFill>
                      </a:tcPr>
                    </a:tc>
                    <a:tc>
                      <a:txBody>
                        <a:bodyPr/>
                        <a:lstStyle/>
                        <a:p>
                          <a:r>
                            <a:rPr lang="en-US" sz="1200" b="0" noProof="1">
                              <a:solidFill>
                                <a:srgbClr val="495A66"/>
                              </a:solidFill>
                              <a:latin typeface="+mn-lt"/>
                            </a:rPr>
                            <a:t>Current speed, normalised</a:t>
                          </a:r>
                        </a:p>
                      </a:txBody>
                      <a:tcPr marL="73152" marT="27432" marB="27432" anchor="ctr">
                        <a:solidFill>
                          <a:srgbClr val="FBFAF6"/>
                        </a:solidFill>
                      </a:tcPr>
                    </a:tc>
                    <a:tc>
                      <a:txBody>
                        <a:bodyPr/>
                        <a:lstStyle/>
                        <a:p>
                          <a:r>
                            <a:rPr lang="en-GB" sz="1200" b="0" i="0" kern="1200" dirty="0">
                              <a:solidFill>
                                <a:srgbClr val="495A66"/>
                              </a:solidFill>
                              <a:effectLst/>
                              <a:latin typeface="+mn-lt"/>
                              <a:ea typeface="+mn-ea"/>
                              <a:cs typeface="+mn-cs"/>
                            </a:rPr>
                            <a:t>Captures the current operating point and back-EMF regime</a:t>
                          </a:r>
                          <a:endParaRPr lang="en-US" sz="1200" b="0" noProof="1">
                            <a:solidFill>
                              <a:srgbClr val="495A66"/>
                            </a:solidFill>
                            <a:latin typeface="+mn-lt"/>
                          </a:endParaRPr>
                        </a:p>
                      </a:txBody>
                      <a:tcPr marL="73152" marT="27432" marB="27432" anchor="ctr">
                        <a:solidFill>
                          <a:srgbClr val="FBFAF6"/>
                        </a:solidFill>
                      </a:tcPr>
                    </a:tc>
                    <a:extLst>
                      <a:ext uri="{0D108BD9-81ED-4DB2-BD59-A6C34878D82A}">
                        <a16:rowId xmlns:a16="http://schemas.microsoft.com/office/drawing/2014/main" val="10001"/>
                      </a:ext>
                    </a:extLst>
                  </a:tr>
                  <a:tr h="411480">
                    <a:tc>
                      <a:txBody>
                        <a:bodyPr/>
                        <a:lstStyle/>
                        <a:p>
                          <a:endParaRPr lang="en-IT"/>
                        </a:p>
                      </a:txBody>
                      <a:tcPr marL="73152" marT="27432" marB="27432" anchor="ctr">
                        <a:blipFill>
                          <a:blip r:embed="rId4"/>
                          <a:stretch>
                            <a:fillRect l="-877" t="-245455" r="-618421" b="-284848"/>
                          </a:stretch>
                        </a:blipFill>
                      </a:tcPr>
                    </a:tc>
                    <a:tc>
                      <a:txBody>
                        <a:bodyPr/>
                        <a:lstStyle/>
                        <a:p>
                          <a:r>
                            <a:rPr lang="en-US" sz="1200" b="0" noProof="1">
                              <a:solidFill>
                                <a:srgbClr val="4A5A66"/>
                              </a:solidFill>
                              <a:latin typeface="+mn-lt"/>
                            </a:rPr>
                            <a:t>Rod angles (2 variables)</a:t>
                          </a:r>
                        </a:p>
                      </a:txBody>
                      <a:tcPr marL="73152" marT="27432" marB="27432" anchor="ctr">
                        <a:solidFill>
                          <a:srgbClr val="FBFAF6"/>
                        </a:solidFill>
                      </a:tcPr>
                    </a:tc>
                    <a:tc>
                      <a:txBody>
                        <a:bodyPr/>
                        <a:lstStyle/>
                        <a:p>
                          <a:r>
                            <a:rPr lang="en-GB" sz="1200" b="0" i="0" kern="1200" dirty="0">
                              <a:solidFill>
                                <a:srgbClr val="495A66"/>
                              </a:solidFill>
                              <a:effectLst/>
                              <a:latin typeface="+mn-lt"/>
                              <a:ea typeface="+mn-ea"/>
                              <a:cs typeface="+mn-cs"/>
                            </a:rPr>
                            <a:t>Encodes the gravity load</a:t>
                          </a:r>
                          <a:endParaRPr lang="en-US" sz="1200" b="0" noProof="1">
                            <a:solidFill>
                              <a:srgbClr val="495A66"/>
                            </a:solidFill>
                            <a:latin typeface="+mn-lt"/>
                          </a:endParaRPr>
                        </a:p>
                      </a:txBody>
                      <a:tcPr marL="73152" marT="27432" marB="27432" anchor="ctr">
                        <a:solidFill>
                          <a:srgbClr val="FBFAF6"/>
                        </a:solidFill>
                      </a:tcPr>
                    </a:tc>
                    <a:extLst>
                      <a:ext uri="{0D108BD9-81ED-4DB2-BD59-A6C34878D82A}">
                        <a16:rowId xmlns:a16="http://schemas.microsoft.com/office/drawing/2014/main" val="10002"/>
                      </a:ext>
                    </a:extLst>
                  </a:tr>
                  <a:tr h="411480">
                    <a:tc>
                      <a:txBody>
                        <a:bodyPr/>
                        <a:lstStyle/>
                        <a:p>
                          <a:endParaRPr lang="en-IT"/>
                        </a:p>
                      </a:txBody>
                      <a:tcPr marL="73152" marT="27432" marB="27432" anchor="ctr">
                        <a:blipFill>
                          <a:blip r:embed="rId4"/>
                          <a:stretch>
                            <a:fillRect l="-877" t="-356250" r="-618421" b="-193750"/>
                          </a:stretch>
                        </a:blip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GB" sz="1200" b="0" i="0" kern="1200" dirty="0">
                              <a:solidFill>
                                <a:srgbClr val="495A66"/>
                              </a:solidFill>
                              <a:effectLst/>
                              <a:latin typeface="+mn-lt"/>
                              <a:ea typeface="+mn-ea"/>
                              <a:cs typeface="+mn-cs"/>
                            </a:rPr>
                            <a:t>Reference speed, normalised</a:t>
                          </a:r>
                          <a:endParaRPr lang="en-US" sz="1200" b="1" noProof="1">
                            <a:solidFill>
                              <a:srgbClr val="495A66"/>
                            </a:solidFill>
                            <a:latin typeface="+mn-lt"/>
                          </a:endParaRPr>
                        </a:p>
                      </a:txBody>
                      <a:tcPr marL="73152" marT="27432" marB="27432" anchor="ctr">
                        <a:solidFill>
                          <a:srgbClr val="FBFAF6"/>
                        </a:solidFill>
                      </a:tcPr>
                    </a:tc>
                    <a:tc>
                      <a:txBody>
                        <a:bodyPr/>
                        <a:lstStyle/>
                        <a:p>
                          <a:r>
                            <a:rPr lang="en-GB" sz="1200" b="0" i="0" kern="1200" dirty="0">
                              <a:solidFill>
                                <a:srgbClr val="495A66"/>
                              </a:solidFill>
                              <a:effectLst/>
                              <a:latin typeface="+mn-lt"/>
                              <a:ea typeface="+mn-ea"/>
                              <a:cs typeface="+mn-cs"/>
                            </a:rPr>
                            <a:t>Lets the policy distinguish a ramp from a step, anticipate the next operating point</a:t>
                          </a:r>
                          <a:endParaRPr lang="en-US" sz="1200" b="1" noProof="1">
                            <a:solidFill>
                              <a:srgbClr val="495A66"/>
                            </a:solidFill>
                            <a:latin typeface="+mn-lt"/>
                          </a:endParaRPr>
                        </a:p>
                      </a:txBody>
                      <a:tcPr marL="73152" marT="27432" marB="27432" anchor="ctr">
                        <a:solidFill>
                          <a:srgbClr val="FBFAF6"/>
                        </a:solidFill>
                      </a:tcPr>
                    </a:tc>
                    <a:extLst>
                      <a:ext uri="{0D108BD9-81ED-4DB2-BD59-A6C34878D82A}">
                        <a16:rowId xmlns:a16="http://schemas.microsoft.com/office/drawing/2014/main" val="10003"/>
                      </a:ext>
                    </a:extLst>
                  </a:tr>
                  <a:tr h="411480">
                    <a:tc>
                      <a:txBody>
                        <a:bodyPr/>
                        <a:lstStyle/>
                        <a:p>
                          <a:endParaRPr lang="en-IT"/>
                        </a:p>
                      </a:txBody>
                      <a:tcPr marL="73152" marT="27432" marB="27432" anchor="ctr">
                        <a:blipFill>
                          <a:blip r:embed="rId4"/>
                          <a:stretch>
                            <a:fillRect l="-877" t="-442424" r="-618421" b="-87879"/>
                          </a:stretch>
                        </a:blipFill>
                      </a:tcPr>
                    </a:tc>
                    <a:tc>
                      <a:txBody>
                        <a:bodyPr/>
                        <a:lstStyle/>
                        <a:p>
                          <a:r>
                            <a:rPr lang="en-GB" sz="1200" b="0" i="0" kern="1200" noProof="1">
                              <a:solidFill>
                                <a:srgbClr val="495A66"/>
                              </a:solidFill>
                              <a:effectLst/>
                              <a:latin typeface="+mn-lt"/>
                              <a:ea typeface="+mn-ea"/>
                              <a:cs typeface="+mn-cs"/>
                            </a:rPr>
                            <a:t>PI output, normalised</a:t>
                          </a:r>
                          <a:endParaRPr lang="en-US" sz="1200" b="1" noProof="1">
                            <a:solidFill>
                              <a:srgbClr val="495A66"/>
                            </a:solidFill>
                            <a:latin typeface="+mn-lt"/>
                          </a:endParaRPr>
                        </a:p>
                      </a:txBody>
                      <a:tcPr marL="73152" marT="27432" marB="27432" anchor="ctr">
                        <a:solidFill>
                          <a:srgbClr val="FBFAF6"/>
                        </a:solidFill>
                      </a:tcPr>
                    </a:tc>
                    <a:tc>
                      <a:txBody>
                        <a:bodyPr/>
                        <a:lstStyle/>
                        <a:p>
                          <a:r>
                            <a:rPr lang="en-GB" sz="1200" b="0" i="0" kern="1200" dirty="0">
                              <a:solidFill>
                                <a:srgbClr val="495A66"/>
                              </a:solidFill>
                              <a:effectLst/>
                              <a:latin typeface="+mn-lt"/>
                              <a:ea typeface="+mn-ea"/>
                              <a:cs typeface="+mn-cs"/>
                            </a:rPr>
                            <a:t>Tells the policy what the baseline already commands, this is what makes the control </a:t>
                          </a:r>
                          <a:r>
                            <a:rPr lang="en-GB" sz="1200" b="0" i="1" kern="1200" dirty="0">
                              <a:solidFill>
                                <a:srgbClr val="495A66"/>
                              </a:solidFill>
                              <a:effectLst/>
                              <a:latin typeface="+mn-lt"/>
                              <a:ea typeface="+mn-ea"/>
                              <a:cs typeface="+mn-cs"/>
                            </a:rPr>
                            <a:t>residual</a:t>
                          </a:r>
                          <a:endParaRPr lang="en-US" sz="1200" b="1" noProof="1">
                            <a:solidFill>
                              <a:srgbClr val="495A66"/>
                            </a:solidFill>
                            <a:latin typeface="+mn-lt"/>
                          </a:endParaRPr>
                        </a:p>
                      </a:txBody>
                      <a:tcPr marL="73152" marT="27432" marB="27432" anchor="ctr">
                        <a:solidFill>
                          <a:srgbClr val="FBFAF6"/>
                        </a:solidFill>
                      </a:tcPr>
                    </a:tc>
                    <a:extLst>
                      <a:ext uri="{0D108BD9-81ED-4DB2-BD59-A6C34878D82A}">
                        <a16:rowId xmlns:a16="http://schemas.microsoft.com/office/drawing/2014/main" val="10004"/>
                      </a:ext>
                    </a:extLst>
                  </a:tr>
                </a:tbl>
              </a:graphicData>
            </a:graphic>
          </p:graphicFrame>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807D110A-3990-A1EE-493C-99E2EA2A40CA}"/>
                  </a:ext>
                </a:extLst>
              </p:cNvPr>
              <p:cNvSpPr txBox="1"/>
              <p:nvPr/>
            </p:nvSpPr>
            <p:spPr>
              <a:xfrm>
                <a:off x="955103" y="5323652"/>
                <a:ext cx="10735946" cy="646331"/>
              </a:xfrm>
              <a:prstGeom prst="rect">
                <a:avLst/>
              </a:prstGeom>
              <a:noFill/>
            </p:spPr>
            <p:txBody>
              <a:bodyPr wrap="square">
                <a:spAutoFit/>
              </a:bodyPr>
              <a:lstStyle/>
              <a:p>
                <a14:m>
                  <m:oMath xmlns:m="http://schemas.openxmlformats.org/officeDocument/2006/math">
                    <m:sSub>
                      <m:sSubPr>
                        <m:ctrlPr>
                          <a:rPr lang="en-GB" sz="1200" b="0" i="1" smtClean="0">
                            <a:solidFill>
                              <a:srgbClr val="495A66"/>
                            </a:solidFill>
                            <a:effectLst/>
                            <a:latin typeface="Cambria Math" panose="02040503050406030204" pitchFamily="18" charset="0"/>
                            <a:cs typeface="Consolas" panose="020B0609020204030204" pitchFamily="49" charset="0"/>
                          </a:rPr>
                        </m:ctrlPr>
                      </m:sSubPr>
                      <m:e>
                        <m:r>
                          <a:rPr lang="it-IT" sz="1200" b="0" i="1" smtClean="0">
                            <a:solidFill>
                              <a:srgbClr val="495A66"/>
                            </a:solidFill>
                            <a:effectLst/>
                            <a:latin typeface="Cambria Math" panose="02040503050406030204" pitchFamily="18" charset="0"/>
                            <a:cs typeface="Consolas" panose="020B0609020204030204" pitchFamily="49" charset="0"/>
                          </a:rPr>
                          <m:t>𝑒</m:t>
                        </m:r>
                      </m:e>
                      <m:sub>
                        <m:r>
                          <a:rPr lang="it-IT" sz="1200" b="0" i="1" smtClean="0">
                            <a:solidFill>
                              <a:srgbClr val="495A66"/>
                            </a:solidFill>
                            <a:effectLst/>
                            <a:latin typeface="Cambria Math" panose="02040503050406030204" pitchFamily="18" charset="0"/>
                            <a:cs typeface="Consolas" panose="020B0609020204030204" pitchFamily="49" charset="0"/>
                          </a:rPr>
                          <m:t>𝑠</m:t>
                        </m:r>
                      </m:sub>
                    </m:sSub>
                    <m:r>
                      <a:rPr lang="it-IT" sz="1200" b="0" i="1" smtClean="0">
                        <a:solidFill>
                          <a:srgbClr val="495A66"/>
                        </a:solidFill>
                        <a:effectLst/>
                        <a:latin typeface="Cambria Math" panose="02040503050406030204" pitchFamily="18" charset="0"/>
                        <a:cs typeface="Consolas" panose="020B0609020204030204" pitchFamily="49" charset="0"/>
                      </a:rPr>
                      <m:t>=5 </m:t>
                    </m:r>
                    <m:r>
                      <a:rPr lang="it-IT" sz="1200" b="0" i="1" smtClean="0">
                        <a:solidFill>
                          <a:srgbClr val="495A66"/>
                        </a:solidFill>
                        <a:effectLst/>
                        <a:latin typeface="Cambria Math" panose="02040503050406030204" pitchFamily="18" charset="0"/>
                        <a:cs typeface="Consolas" panose="020B0609020204030204" pitchFamily="49" charset="0"/>
                      </a:rPr>
                      <m:t>𝑟𝑎𝑑</m:t>
                    </m:r>
                    <m:r>
                      <a:rPr lang="it-IT" sz="1200" b="0" i="1" smtClean="0">
                        <a:solidFill>
                          <a:srgbClr val="495A66"/>
                        </a:solidFill>
                        <a:effectLst/>
                        <a:latin typeface="Cambria Math" panose="02040503050406030204" pitchFamily="18" charset="0"/>
                        <a:cs typeface="Consolas" panose="020B0609020204030204" pitchFamily="49" charset="0"/>
                      </a:rPr>
                      <m:t>/</m:t>
                    </m:r>
                    <m:r>
                      <a:rPr lang="it-IT" sz="1200" b="0" i="1" smtClean="0">
                        <a:solidFill>
                          <a:srgbClr val="495A66"/>
                        </a:solidFill>
                        <a:effectLst/>
                        <a:latin typeface="Cambria Math" panose="02040503050406030204" pitchFamily="18" charset="0"/>
                        <a:cs typeface="Consolas" panose="020B0609020204030204" pitchFamily="49" charset="0"/>
                      </a:rPr>
                      <m:t>𝑠</m:t>
                    </m:r>
                  </m:oMath>
                </a14:m>
                <a:r>
                  <a:rPr lang="en-GB" sz="1200" b="0" i="0" dirty="0">
                    <a:solidFill>
                      <a:srgbClr val="495A66"/>
                    </a:solidFill>
                    <a:effectLst/>
                    <a:latin typeface="Consolas" panose="020B0609020204030204" pitchFamily="49" charset="0"/>
                    <a:cs typeface="Consolas" panose="020B0609020204030204" pitchFamily="49" charset="0"/>
                  </a:rPr>
                  <a:t>, a moderately large tracking error; maps typical errors to </a:t>
                </a:r>
                <a14:m>
                  <m:oMath xmlns:m="http://schemas.openxmlformats.org/officeDocument/2006/math">
                    <m:r>
                      <a:rPr lang="en-GB" sz="1200" b="0" i="1" smtClean="0">
                        <a:solidFill>
                          <a:srgbClr val="495A66"/>
                        </a:solidFill>
                        <a:effectLst/>
                        <a:latin typeface="Cambria Math" panose="02040503050406030204" pitchFamily="18" charset="0"/>
                        <a:ea typeface="Cambria Math" panose="02040503050406030204" pitchFamily="18" charset="0"/>
                        <a:cs typeface="Consolas" panose="020B0609020204030204" pitchFamily="49" charset="0"/>
                      </a:rPr>
                      <m:t>~</m:t>
                    </m:r>
                    <m:r>
                      <a:rPr lang="it-IT" sz="1200" b="0" i="1" smtClean="0">
                        <a:solidFill>
                          <a:srgbClr val="495A66"/>
                        </a:solidFill>
                        <a:effectLst/>
                        <a:latin typeface="Cambria Math" panose="02040503050406030204" pitchFamily="18" charset="0"/>
                        <a:ea typeface="Cambria Math" panose="02040503050406030204" pitchFamily="18" charset="0"/>
                        <a:cs typeface="Consolas" panose="020B0609020204030204" pitchFamily="49" charset="0"/>
                      </a:rPr>
                      <m:t>1</m:t>
                    </m:r>
                  </m:oMath>
                </a14:m>
                <a:r>
                  <a:rPr lang="en-GB" sz="1200" b="0" i="0" dirty="0">
                    <a:solidFill>
                      <a:srgbClr val="495A66"/>
                    </a:solidFill>
                    <a:effectLst/>
                    <a:latin typeface="Consolas" panose="020B0609020204030204" pitchFamily="49" charset="0"/>
                    <a:cs typeface="Consolas" panose="020B0609020204030204" pitchFamily="49" charset="0"/>
                  </a:rPr>
                  <a:t>, saturation errors to </a:t>
                </a:r>
                <a14:m>
                  <m:oMath xmlns:m="http://schemas.openxmlformats.org/officeDocument/2006/math">
                    <m:r>
                      <a:rPr lang="en-GB" sz="1200" i="1">
                        <a:solidFill>
                          <a:srgbClr val="495A66"/>
                        </a:solidFill>
                        <a:latin typeface="Cambria Math" panose="02040503050406030204" pitchFamily="18" charset="0"/>
                        <a:ea typeface="Cambria Math" panose="02040503050406030204" pitchFamily="18" charset="0"/>
                        <a:cs typeface="Consolas" panose="020B0609020204030204" pitchFamily="49" charset="0"/>
                      </a:rPr>
                      <m:t>~</m:t>
                    </m:r>
                    <m:r>
                      <a:rPr lang="it-IT" sz="1200" b="0" i="1" smtClean="0">
                        <a:solidFill>
                          <a:srgbClr val="495A66"/>
                        </a:solidFill>
                        <a:latin typeface="Cambria Math" panose="02040503050406030204" pitchFamily="18" charset="0"/>
                        <a:ea typeface="Cambria Math" panose="02040503050406030204" pitchFamily="18" charset="0"/>
                        <a:cs typeface="Consolas" panose="020B0609020204030204" pitchFamily="49" charset="0"/>
                      </a:rPr>
                      <m:t>2</m:t>
                    </m:r>
                  </m:oMath>
                </a14:m>
                <a:endParaRPr lang="en-GB" sz="1200" b="0" i="0" dirty="0">
                  <a:solidFill>
                    <a:srgbClr val="495A66"/>
                  </a:solidFill>
                  <a:effectLst/>
                  <a:latin typeface="Consolas" panose="020B0609020204030204" pitchFamily="49" charset="0"/>
                  <a:cs typeface="Consolas" panose="020B0609020204030204" pitchFamily="49" charset="0"/>
                </a:endParaRPr>
              </a:p>
              <a:p>
                <a14:m>
                  <m:oMath xmlns:m="http://schemas.openxmlformats.org/officeDocument/2006/math">
                    <m:sSub>
                      <m:sSubPr>
                        <m:ctrlPr>
                          <a:rPr lang="en-GB" sz="1200" i="1">
                            <a:solidFill>
                              <a:srgbClr val="495A66"/>
                            </a:solidFill>
                            <a:latin typeface="Cambria Math" panose="02040503050406030204" pitchFamily="18" charset="0"/>
                            <a:cs typeface="Consolas" panose="020B0609020204030204" pitchFamily="49" charset="0"/>
                          </a:rPr>
                        </m:ctrlPr>
                      </m:sSubPr>
                      <m:e>
                        <m:r>
                          <a:rPr lang="en-GB" sz="1200" i="1" smtClean="0">
                            <a:solidFill>
                              <a:srgbClr val="495A66"/>
                            </a:solidFill>
                            <a:latin typeface="Cambria Math" panose="02040503050406030204" pitchFamily="18" charset="0"/>
                            <a:ea typeface="Cambria Math" panose="02040503050406030204" pitchFamily="18" charset="0"/>
                            <a:cs typeface="Consolas" panose="020B0609020204030204" pitchFamily="49" charset="0"/>
                          </a:rPr>
                          <m:t>𝜔</m:t>
                        </m:r>
                      </m:e>
                      <m:sub>
                        <m:r>
                          <a:rPr lang="it-IT" sz="1200" i="1">
                            <a:solidFill>
                              <a:srgbClr val="495A66"/>
                            </a:solidFill>
                            <a:latin typeface="Cambria Math" panose="02040503050406030204" pitchFamily="18" charset="0"/>
                            <a:cs typeface="Consolas" panose="020B0609020204030204" pitchFamily="49" charset="0"/>
                          </a:rPr>
                          <m:t>𝑠</m:t>
                        </m:r>
                      </m:sub>
                    </m:sSub>
                    <m:r>
                      <a:rPr lang="it-IT" sz="1200" i="1">
                        <a:solidFill>
                          <a:srgbClr val="495A66"/>
                        </a:solidFill>
                        <a:latin typeface="Cambria Math" panose="02040503050406030204" pitchFamily="18" charset="0"/>
                        <a:cs typeface="Consolas" panose="020B0609020204030204" pitchFamily="49" charset="0"/>
                      </a:rPr>
                      <m:t>=</m:t>
                    </m:r>
                    <m:r>
                      <a:rPr lang="it-IT" sz="1200" b="0" i="1" smtClean="0">
                        <a:solidFill>
                          <a:srgbClr val="495A66"/>
                        </a:solidFill>
                        <a:latin typeface="Cambria Math" panose="02040503050406030204" pitchFamily="18" charset="0"/>
                        <a:cs typeface="Consolas" panose="020B0609020204030204" pitchFamily="49" charset="0"/>
                      </a:rPr>
                      <m:t>12 </m:t>
                    </m:r>
                    <m:r>
                      <a:rPr lang="it-IT" sz="1200" i="1">
                        <a:solidFill>
                          <a:srgbClr val="495A66"/>
                        </a:solidFill>
                        <a:latin typeface="Cambria Math" panose="02040503050406030204" pitchFamily="18" charset="0"/>
                        <a:cs typeface="Consolas" panose="020B0609020204030204" pitchFamily="49" charset="0"/>
                      </a:rPr>
                      <m:t>𝑟𝑎𝑑</m:t>
                    </m:r>
                    <m:r>
                      <a:rPr lang="it-IT" sz="1200" i="1">
                        <a:solidFill>
                          <a:srgbClr val="495A66"/>
                        </a:solidFill>
                        <a:latin typeface="Cambria Math" panose="02040503050406030204" pitchFamily="18" charset="0"/>
                        <a:cs typeface="Consolas" panose="020B0609020204030204" pitchFamily="49" charset="0"/>
                      </a:rPr>
                      <m:t>/</m:t>
                    </m:r>
                    <m:r>
                      <a:rPr lang="it-IT" sz="1200" i="1">
                        <a:solidFill>
                          <a:srgbClr val="495A66"/>
                        </a:solidFill>
                        <a:latin typeface="Cambria Math" panose="02040503050406030204" pitchFamily="18" charset="0"/>
                        <a:cs typeface="Consolas" panose="020B0609020204030204" pitchFamily="49" charset="0"/>
                      </a:rPr>
                      <m:t>𝑠</m:t>
                    </m:r>
                    <m:r>
                      <a:rPr lang="it-IT" sz="1200" i="1">
                        <a:solidFill>
                          <a:srgbClr val="495A66"/>
                        </a:solidFill>
                        <a:latin typeface="Cambria Math" panose="02040503050406030204" pitchFamily="18" charset="0"/>
                        <a:cs typeface="Consolas" panose="020B0609020204030204" pitchFamily="49" charset="0"/>
                      </a:rPr>
                      <m:t> </m:t>
                    </m:r>
                  </m:oMath>
                </a14:m>
                <a:r>
                  <a:rPr lang="en-GB" sz="1200" b="0" i="0" dirty="0">
                    <a:solidFill>
                      <a:srgbClr val="495A66"/>
                    </a:solidFill>
                    <a:effectLst/>
                    <a:latin typeface="Consolas" panose="020B0609020204030204" pitchFamily="49" charset="0"/>
                    <a:cs typeface="Consolas" panose="020B0609020204030204" pitchFamily="49" charset="0"/>
                  </a:rPr>
                  <a:t>, just above the maximum reference (</a:t>
                </a:r>
                <a14:m>
                  <m:oMath xmlns:m="http://schemas.openxmlformats.org/officeDocument/2006/math">
                    <m:r>
                      <a:rPr lang="it-IT" sz="1200" b="0" i="1" smtClean="0">
                        <a:solidFill>
                          <a:srgbClr val="495A66"/>
                        </a:solidFill>
                        <a:latin typeface="Cambria Math" panose="02040503050406030204" pitchFamily="18" charset="0"/>
                        <a:cs typeface="Consolas" panose="020B0609020204030204" pitchFamily="49" charset="0"/>
                      </a:rPr>
                      <m:t>12</m:t>
                    </m:r>
                    <m:r>
                      <a:rPr lang="it-IT" sz="1200" i="1">
                        <a:solidFill>
                          <a:srgbClr val="495A66"/>
                        </a:solidFill>
                        <a:latin typeface="Cambria Math" panose="02040503050406030204" pitchFamily="18" charset="0"/>
                        <a:cs typeface="Consolas" panose="020B0609020204030204" pitchFamily="49" charset="0"/>
                      </a:rPr>
                      <m:t> </m:t>
                    </m:r>
                    <m:r>
                      <a:rPr lang="it-IT" sz="1200" i="1">
                        <a:solidFill>
                          <a:srgbClr val="495A66"/>
                        </a:solidFill>
                        <a:latin typeface="Cambria Math" panose="02040503050406030204" pitchFamily="18" charset="0"/>
                        <a:cs typeface="Consolas" panose="020B0609020204030204" pitchFamily="49" charset="0"/>
                      </a:rPr>
                      <m:t>𝑟𝑎𝑑</m:t>
                    </m:r>
                    <m:r>
                      <a:rPr lang="it-IT" sz="1200" i="1">
                        <a:solidFill>
                          <a:srgbClr val="495A66"/>
                        </a:solidFill>
                        <a:latin typeface="Cambria Math" panose="02040503050406030204" pitchFamily="18" charset="0"/>
                        <a:cs typeface="Consolas" panose="020B0609020204030204" pitchFamily="49" charset="0"/>
                      </a:rPr>
                      <m:t>/</m:t>
                    </m:r>
                    <m:r>
                      <a:rPr lang="it-IT" sz="1200" i="1">
                        <a:solidFill>
                          <a:srgbClr val="495A66"/>
                        </a:solidFill>
                        <a:latin typeface="Cambria Math" panose="02040503050406030204" pitchFamily="18" charset="0"/>
                        <a:cs typeface="Consolas" panose="020B0609020204030204" pitchFamily="49" charset="0"/>
                      </a:rPr>
                      <m:t>𝑠</m:t>
                    </m:r>
                  </m:oMath>
                </a14:m>
                <a:r>
                  <a:rPr lang="en-GB" sz="1200" b="0" i="0" dirty="0">
                    <a:solidFill>
                      <a:srgbClr val="495A66"/>
                    </a:solidFill>
                    <a:effectLst/>
                    <a:latin typeface="Consolas" panose="020B0609020204030204" pitchFamily="49" charset="0"/>
                    <a:cs typeface="Consolas" panose="020B0609020204030204" pitchFamily="49" charset="0"/>
                  </a:rPr>
                  <a:t>); keeps all speed features in [-1, 1]</a:t>
                </a:r>
              </a:p>
              <a:p>
                <a:pPr algn="l">
                  <a:buNone/>
                </a:pPr>
                <a:r>
                  <a:rPr lang="en-GB" sz="1200" b="0" i="0" dirty="0">
                    <a:solidFill>
                      <a:srgbClr val="495A66"/>
                    </a:solidFill>
                    <a:effectLst/>
                    <a:latin typeface="Consolas" panose="020B0609020204030204" pitchFamily="49" charset="0"/>
                    <a:cs typeface="Consolas" panose="020B0609020204030204" pitchFamily="49" charset="0"/>
                  </a:rPr>
                  <a:t>All six features are clipped to [-10, 10] before entering the network, no unbounded inputs</a:t>
                </a:r>
              </a:p>
            </p:txBody>
          </p:sp>
        </mc:Choice>
        <mc:Fallback xmlns="">
          <p:sp>
            <p:nvSpPr>
              <p:cNvPr id="16" name="TextBox 15">
                <a:extLst>
                  <a:ext uri="{FF2B5EF4-FFF2-40B4-BE49-F238E27FC236}">
                    <a16:creationId xmlns:a16="http://schemas.microsoft.com/office/drawing/2014/main" id="{807D110A-3990-A1EE-493C-99E2EA2A40CA}"/>
                  </a:ext>
                </a:extLst>
              </p:cNvPr>
              <p:cNvSpPr txBox="1">
                <a:spLocks noRot="1" noChangeAspect="1" noMove="1" noResize="1" noEditPoints="1" noAdjustHandles="1" noChangeArrowheads="1" noChangeShapeType="1" noTextEdit="1"/>
              </p:cNvSpPr>
              <p:nvPr/>
            </p:nvSpPr>
            <p:spPr>
              <a:xfrm>
                <a:off x="955103" y="5323652"/>
                <a:ext cx="10735946" cy="646331"/>
              </a:xfrm>
              <a:prstGeom prst="rect">
                <a:avLst/>
              </a:prstGeom>
              <a:blipFill>
                <a:blip r:embed="rId5"/>
                <a:stretch>
                  <a:fillRect b="-5882"/>
                </a:stretch>
              </a:blipFill>
            </p:spPr>
            <p:txBody>
              <a:bodyPr/>
              <a:lstStyle/>
              <a:p>
                <a:r>
                  <a:rPr lang="en-US">
                    <a:noFill/>
                  </a:rPr>
                  <a:t> </a:t>
                </a:r>
              </a:p>
            </p:txBody>
          </p:sp>
        </mc:Fallback>
      </mc:AlternateContent>
      <p:sp>
        <p:nvSpPr>
          <p:cNvPr id="17" name="TextBox 16">
            <a:extLst>
              <a:ext uri="{FF2B5EF4-FFF2-40B4-BE49-F238E27FC236}">
                <a16:creationId xmlns:a16="http://schemas.microsoft.com/office/drawing/2014/main" id="{78F02F9F-2710-A0DA-F6E0-4C736C8D5BA7}"/>
              </a:ext>
            </a:extLst>
          </p:cNvPr>
          <p:cNvSpPr txBox="1"/>
          <p:nvPr/>
        </p:nvSpPr>
        <p:spPr>
          <a:xfrm>
            <a:off x="783471" y="1472240"/>
            <a:ext cx="6853622" cy="1569660"/>
          </a:xfrm>
          <a:prstGeom prst="rect">
            <a:avLst/>
          </a:prstGeom>
          <a:noFill/>
        </p:spPr>
        <p:txBody>
          <a:bodyPr wrap="square" rtlCol="0">
            <a:spAutoFit/>
          </a:bodyPr>
          <a:lstStyle/>
          <a:p>
            <a:r>
              <a:rPr lang="en-GB" sz="1600" dirty="0">
                <a:solidFill>
                  <a:srgbClr val="495A66"/>
                </a:solidFill>
              </a:rPr>
              <a:t>It is the interface between the system and the neural network. </a:t>
            </a:r>
          </a:p>
          <a:p>
            <a:r>
              <a:rPr lang="en-GB" sz="1600" dirty="0">
                <a:solidFill>
                  <a:srgbClr val="495A66"/>
                </a:solidFill>
              </a:rPr>
              <a:t>At every step it collects raw measurements and converts them into the</a:t>
            </a:r>
            <a:r>
              <a:rPr lang="en-GB" sz="1600" b="1" dirty="0">
                <a:solidFill>
                  <a:srgbClr val="495A66"/>
                </a:solidFill>
              </a:rPr>
              <a:t> input vector</a:t>
            </a:r>
            <a:r>
              <a:rPr lang="en-GB" sz="1600" dirty="0">
                <a:solidFill>
                  <a:srgbClr val="495A66"/>
                </a:solidFill>
              </a:rPr>
              <a:t>. It does three things:</a:t>
            </a:r>
          </a:p>
          <a:p>
            <a:r>
              <a:rPr lang="en-US" sz="1600" b="1" noProof="1">
                <a:solidFill>
                  <a:srgbClr val="E07A5F"/>
                </a:solidFill>
              </a:rPr>
              <a:t>— </a:t>
            </a:r>
            <a:r>
              <a:rPr lang="en-GB" sz="1600" dirty="0">
                <a:solidFill>
                  <a:srgbClr val="495A66"/>
                </a:solidFill>
              </a:rPr>
              <a:t>selects only the variables needed to compute </a:t>
            </a:r>
            <a:r>
              <a:rPr lang="el-GR" sz="1600" dirty="0">
                <a:solidFill>
                  <a:srgbClr val="495A66"/>
                </a:solidFill>
              </a:rPr>
              <a:t>Δ</a:t>
            </a:r>
            <a:r>
              <a:rPr lang="en-GB" sz="1600" dirty="0">
                <a:solidFill>
                  <a:srgbClr val="495A66"/>
                </a:solidFill>
              </a:rPr>
              <a:t>V, discarding everything else; </a:t>
            </a:r>
          </a:p>
          <a:p>
            <a:r>
              <a:rPr lang="en-US" sz="1600" b="1" noProof="1">
                <a:solidFill>
                  <a:srgbClr val="1D3557"/>
                </a:solidFill>
              </a:rPr>
              <a:t>— </a:t>
            </a:r>
            <a:r>
              <a:rPr lang="en-GB" sz="1600" dirty="0">
                <a:solidFill>
                  <a:srgbClr val="495A66"/>
                </a:solidFill>
              </a:rPr>
              <a:t>normalises each quantity so that training is numerically stable; </a:t>
            </a:r>
          </a:p>
          <a:p>
            <a:r>
              <a:rPr lang="en-US" sz="1600" b="1" noProof="1">
                <a:solidFill>
                  <a:srgbClr val="2A9D8F"/>
                </a:solidFill>
              </a:rPr>
              <a:t>—</a:t>
            </a:r>
            <a:r>
              <a:rPr lang="en-US" sz="1600" b="1" noProof="1">
                <a:solidFill>
                  <a:srgbClr val="E07A5F"/>
                </a:solidFill>
              </a:rPr>
              <a:t> </a:t>
            </a:r>
            <a:r>
              <a:rPr lang="en-GB" sz="1600" dirty="0">
                <a:solidFill>
                  <a:srgbClr val="495A66"/>
                </a:solidFill>
              </a:rPr>
              <a:t>re-encodes the rod angle as (sin </a:t>
            </a:r>
            <a:r>
              <a:rPr lang="el-GR" sz="1600" dirty="0">
                <a:solidFill>
                  <a:srgbClr val="495A66"/>
                </a:solidFill>
              </a:rPr>
              <a:t>θ, </a:t>
            </a:r>
            <a:r>
              <a:rPr lang="en-GB" sz="1600" dirty="0">
                <a:solidFill>
                  <a:srgbClr val="495A66"/>
                </a:solidFill>
              </a:rPr>
              <a:t>cos </a:t>
            </a:r>
            <a:r>
              <a:rPr lang="el-GR" sz="1600" dirty="0">
                <a:solidFill>
                  <a:srgbClr val="495A66"/>
                </a:solidFill>
              </a:rPr>
              <a:t>θ) </a:t>
            </a:r>
            <a:r>
              <a:rPr lang="en-GB" sz="1600" dirty="0">
                <a:solidFill>
                  <a:srgbClr val="495A66"/>
                </a:solidFill>
              </a:rPr>
              <a:t>to avoid the discontinuity at ±</a:t>
            </a:r>
            <a:r>
              <a:rPr lang="el-GR" sz="1600" dirty="0">
                <a:solidFill>
                  <a:srgbClr val="495A66"/>
                </a:solidFill>
              </a:rPr>
              <a:t>π. </a:t>
            </a:r>
            <a:endParaRPr lang="it-IT" sz="1600" dirty="0">
              <a:solidFill>
                <a:srgbClr val="495A66"/>
              </a:solidFill>
            </a:endParaRPr>
          </a:p>
        </p:txBody>
      </p:sp>
      <p:sp>
        <p:nvSpPr>
          <p:cNvPr id="21" name="TextBox 20">
            <a:extLst>
              <a:ext uri="{FF2B5EF4-FFF2-40B4-BE49-F238E27FC236}">
                <a16:creationId xmlns:a16="http://schemas.microsoft.com/office/drawing/2014/main" id="{F22B5431-1B01-AC7A-D8E5-F5AD5A21B8C7}"/>
              </a:ext>
            </a:extLst>
          </p:cNvPr>
          <p:cNvSpPr txBox="1"/>
          <p:nvPr/>
        </p:nvSpPr>
        <p:spPr>
          <a:xfrm>
            <a:off x="955103" y="6069298"/>
            <a:ext cx="10735946" cy="584775"/>
          </a:xfrm>
          <a:prstGeom prst="rect">
            <a:avLst/>
          </a:prstGeom>
          <a:noFill/>
        </p:spPr>
        <p:txBody>
          <a:bodyPr wrap="square" rtlCol="0">
            <a:spAutoFit/>
          </a:bodyPr>
          <a:lstStyle/>
          <a:p>
            <a:r>
              <a:rPr lang="en-GB" sz="1600" dirty="0">
                <a:solidFill>
                  <a:srgbClr val="495A66"/>
                </a:solidFill>
              </a:rPr>
              <a:t>The observer is minimal by design: </a:t>
            </a:r>
            <a:r>
              <a:rPr lang="en-GB" sz="1600" b="1" dirty="0">
                <a:solidFill>
                  <a:srgbClr val="495A66"/>
                </a:solidFill>
              </a:rPr>
              <a:t>6 scalars</a:t>
            </a:r>
            <a:r>
              <a:rPr lang="en-GB" sz="1600" dirty="0">
                <a:solidFill>
                  <a:srgbClr val="495A66"/>
                </a:solidFill>
              </a:rPr>
              <a:t>, no history, no raw sensor data. The policy has exactly what it needs to compute the missing feedforward and nothing more.</a:t>
            </a:r>
            <a:endParaRPr lang="en-US" sz="1600" dirty="0">
              <a:solidFill>
                <a:srgbClr val="495A66"/>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BFAF6"/>
        </a:solidFill>
        <a:effectLst/>
      </p:bgPr>
    </p:bg>
    <p:spTree>
      <p:nvGrpSpPr>
        <p:cNvPr id="1" name=""/>
        <p:cNvGrpSpPr/>
        <p:nvPr/>
      </p:nvGrpSpPr>
      <p:grpSpPr>
        <a:xfrm>
          <a:off x="0" y="0"/>
          <a:ext cx="0" cy="0"/>
          <a:chOff x="0" y="0"/>
          <a:chExt cx="0" cy="0"/>
        </a:xfrm>
      </p:grpSpPr>
      <p:sp>
        <p:nvSpPr>
          <p:cNvPr id="2" name="Rectangle 1"/>
          <p:cNvSpPr/>
          <p:nvPr/>
        </p:nvSpPr>
        <p:spPr>
          <a:xfrm>
            <a:off x="566928" y="502920"/>
            <a:ext cx="17780" cy="5852160"/>
          </a:xfrm>
          <a:prstGeom prst="rect">
            <a:avLst/>
          </a:prstGeom>
          <a:solidFill>
            <a:srgbClr val="D9D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3" name="Rectangle 2"/>
          <p:cNvSpPr/>
          <p:nvPr/>
        </p:nvSpPr>
        <p:spPr>
          <a:xfrm>
            <a:off x="566928" y="502920"/>
            <a:ext cx="30480" cy="56692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4" name="TextBox 3"/>
          <p:cNvSpPr txBox="1"/>
          <p:nvPr/>
        </p:nvSpPr>
        <p:spPr>
          <a:xfrm>
            <a:off x="868680" y="548640"/>
            <a:ext cx="10607040" cy="169277"/>
          </a:xfrm>
          <a:prstGeom prst="rect">
            <a:avLst/>
          </a:prstGeom>
          <a:noFill/>
        </p:spPr>
        <p:txBody>
          <a:bodyPr wrap="square" lIns="0" tIns="0" rIns="0" bIns="0" anchor="t">
            <a:spAutoFit/>
          </a:bodyPr>
          <a:lstStyle/>
          <a:p>
            <a:pPr>
              <a:lnSpc>
                <a:spcPct val="100000"/>
              </a:lnSpc>
            </a:pPr>
            <a:r>
              <a:rPr lang="en-US" sz="1100" b="1" noProof="1">
                <a:solidFill>
                  <a:srgbClr val="E07A5F"/>
                </a:solidFill>
                <a:latin typeface="Consolas"/>
              </a:rPr>
              <a:t>B3  </a:t>
            </a:r>
            <a:r>
              <a:rPr lang="en-US" sz="1100" noProof="1">
                <a:solidFill>
                  <a:srgbClr val="2A9D8F"/>
                </a:solidFill>
                <a:latin typeface="Consolas"/>
              </a:rPr>
              <a:t>RESIDUAL REINFORCEMENT LEARNING - Framework</a:t>
            </a:r>
          </a:p>
        </p:txBody>
      </p:sp>
      <p:sp>
        <p:nvSpPr>
          <p:cNvPr id="6" name="TextBox 5">
            <a:extLst>
              <a:ext uri="{FF2B5EF4-FFF2-40B4-BE49-F238E27FC236}">
                <a16:creationId xmlns:a16="http://schemas.microsoft.com/office/drawing/2014/main" id="{AC258EC4-9F80-46FB-4846-7C75C56CF050}"/>
              </a:ext>
            </a:extLst>
          </p:cNvPr>
          <p:cNvSpPr txBox="1"/>
          <p:nvPr/>
        </p:nvSpPr>
        <p:spPr>
          <a:xfrm>
            <a:off x="868680" y="960120"/>
            <a:ext cx="10607040" cy="412805"/>
          </a:xfrm>
          <a:prstGeom prst="rect">
            <a:avLst/>
          </a:prstGeom>
          <a:noFill/>
        </p:spPr>
        <p:txBody>
          <a:bodyPr wrap="square" lIns="0" tIns="0" rIns="0" bIns="0" anchor="t">
            <a:spAutoFit/>
          </a:bodyPr>
          <a:lstStyle/>
          <a:p>
            <a:pPr algn="l">
              <a:lnSpc>
                <a:spcPct val="102000"/>
              </a:lnSpc>
              <a:spcBef>
                <a:spcPts val="0"/>
              </a:spcBef>
              <a:spcAft>
                <a:spcPts val="600"/>
              </a:spcAft>
            </a:pPr>
            <a:r>
              <a:rPr lang="en-US" sz="2800" b="1" noProof="1">
                <a:solidFill>
                  <a:srgbClr val="1D3557"/>
                </a:solidFill>
                <a:latin typeface="Georgia"/>
              </a:rPr>
              <a:t>Reward Function</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63BAFD13-364B-524D-317F-58F9B918BECE}"/>
                  </a:ext>
                </a:extLst>
              </p:cNvPr>
              <p:cNvSpPr txBox="1"/>
              <p:nvPr/>
            </p:nvSpPr>
            <p:spPr>
              <a:xfrm>
                <a:off x="777236" y="1473803"/>
                <a:ext cx="10698483" cy="2077941"/>
              </a:xfrm>
              <a:prstGeom prst="rect">
                <a:avLst/>
              </a:prstGeom>
              <a:noFill/>
            </p:spPr>
            <p:txBody>
              <a:bodyPr wrap="square" rtlCol="0">
                <a:spAutoFit/>
              </a:bodyPr>
              <a:lstStyle/>
              <a:p>
                <a:r>
                  <a:rPr lang="en-GB" sz="1600" dirty="0">
                    <a:solidFill>
                      <a:srgbClr val="495A66"/>
                    </a:solidFill>
                  </a:rPr>
                  <a:t>The reward function is the only channel through which the policy learns what "good control" means:</a:t>
                </a:r>
              </a:p>
              <a:p>
                <a:endParaRPr lang="en-GB" sz="1600" dirty="0">
                  <a:solidFill>
                    <a:srgbClr val="495A66"/>
                  </a:solidFill>
                </a:endParaRPr>
              </a:p>
              <a:p>
                <a:pPr algn="ctr"/>
                <a:r>
                  <a:rPr lang="en-GB" sz="2000" dirty="0">
                    <a:solidFill>
                      <a:srgbClr val="495A66"/>
                    </a:solidFill>
                  </a:rPr>
                  <a:t> </a:t>
                </a:r>
                <a14:m>
                  <m:oMath xmlns:m="http://schemas.openxmlformats.org/officeDocument/2006/math">
                    <m:r>
                      <a:rPr lang="it-IT" sz="2000" i="1">
                        <a:solidFill>
                          <a:srgbClr val="495A66"/>
                        </a:solidFill>
                        <a:latin typeface="Cambria Math" panose="02040503050406030204" pitchFamily="18" charset="0"/>
                      </a:rPr>
                      <m:t>𝑟</m:t>
                    </m:r>
                    <m:r>
                      <a:rPr lang="it-IT" sz="2000" i="1">
                        <a:solidFill>
                          <a:srgbClr val="495A66"/>
                        </a:solidFill>
                        <a:latin typeface="Cambria Math" panose="02040503050406030204" pitchFamily="18" charset="0"/>
                      </a:rPr>
                      <m:t>=−</m:t>
                    </m:r>
                    <m:r>
                      <m:rPr>
                        <m:sty m:val="p"/>
                      </m:rPr>
                      <a:rPr lang="el-GR" sz="2000" i="1">
                        <a:solidFill>
                          <a:srgbClr val="495A66"/>
                        </a:solidFill>
                        <a:latin typeface="Cambria Math" panose="02040503050406030204" pitchFamily="18" charset="0"/>
                        <a:ea typeface="Cambria Math" panose="02040503050406030204" pitchFamily="18" charset="0"/>
                      </a:rPr>
                      <m:t>α</m:t>
                    </m:r>
                    <m:f>
                      <m:fPr>
                        <m:ctrlPr>
                          <a:rPr lang="el-GR" sz="2000" i="1">
                            <a:solidFill>
                              <a:srgbClr val="495A66"/>
                            </a:solidFill>
                            <a:latin typeface="Cambria Math" panose="02040503050406030204" pitchFamily="18" charset="0"/>
                            <a:ea typeface="Cambria Math" panose="02040503050406030204" pitchFamily="18" charset="0"/>
                          </a:rPr>
                        </m:ctrlPr>
                      </m:fPr>
                      <m:num>
                        <m:d>
                          <m:dPr>
                            <m:begChr m:val="|"/>
                            <m:endChr m:val="|"/>
                            <m:ctrlPr>
                              <a:rPr lang="el-GR" sz="2000" i="1">
                                <a:solidFill>
                                  <a:srgbClr val="495A66"/>
                                </a:solidFill>
                                <a:latin typeface="Cambria Math" panose="02040503050406030204" pitchFamily="18" charset="0"/>
                                <a:ea typeface="Cambria Math" panose="02040503050406030204" pitchFamily="18" charset="0"/>
                              </a:rPr>
                            </m:ctrlPr>
                          </m:dPr>
                          <m:e>
                            <m:r>
                              <a:rPr lang="it-IT" sz="2000" i="1">
                                <a:solidFill>
                                  <a:srgbClr val="495A66"/>
                                </a:solidFill>
                                <a:latin typeface="Cambria Math" panose="02040503050406030204" pitchFamily="18" charset="0"/>
                                <a:ea typeface="Cambria Math" panose="02040503050406030204" pitchFamily="18" charset="0"/>
                              </a:rPr>
                              <m:t>𝑒</m:t>
                            </m:r>
                          </m:e>
                        </m:d>
                      </m:num>
                      <m:den>
                        <m:sSub>
                          <m:sSubPr>
                            <m:ctrlPr>
                              <a:rPr lang="el-GR" sz="2000" i="1">
                                <a:solidFill>
                                  <a:srgbClr val="495A66"/>
                                </a:solidFill>
                                <a:latin typeface="Cambria Math" panose="02040503050406030204" pitchFamily="18" charset="0"/>
                                <a:ea typeface="Cambria Math" panose="02040503050406030204" pitchFamily="18" charset="0"/>
                              </a:rPr>
                            </m:ctrlPr>
                          </m:sSubPr>
                          <m:e>
                            <m:r>
                              <a:rPr lang="it-IT" sz="2000" i="1">
                                <a:solidFill>
                                  <a:srgbClr val="495A66"/>
                                </a:solidFill>
                                <a:latin typeface="Cambria Math" panose="02040503050406030204" pitchFamily="18" charset="0"/>
                                <a:ea typeface="Cambria Math" panose="02040503050406030204" pitchFamily="18" charset="0"/>
                              </a:rPr>
                              <m:t>𝑒</m:t>
                            </m:r>
                          </m:e>
                          <m:sub>
                            <m:r>
                              <a:rPr lang="it-IT" sz="2000" i="1">
                                <a:solidFill>
                                  <a:srgbClr val="495A66"/>
                                </a:solidFill>
                                <a:latin typeface="Cambria Math" panose="02040503050406030204" pitchFamily="18" charset="0"/>
                                <a:ea typeface="Cambria Math" panose="02040503050406030204" pitchFamily="18" charset="0"/>
                              </a:rPr>
                              <m:t>𝑠</m:t>
                            </m:r>
                          </m:sub>
                        </m:sSub>
                      </m:den>
                    </m:f>
                    <m:r>
                      <a:rPr lang="it-IT" sz="2000" i="1">
                        <a:solidFill>
                          <a:srgbClr val="495A66"/>
                        </a:solidFill>
                        <a:latin typeface="Cambria Math" panose="02040503050406030204" pitchFamily="18" charset="0"/>
                        <a:ea typeface="Cambria Math" panose="02040503050406030204" pitchFamily="18" charset="0"/>
                      </a:rPr>
                      <m:t>−</m:t>
                    </m:r>
                    <m:r>
                      <a:rPr lang="it-IT" sz="2000" i="1">
                        <a:solidFill>
                          <a:srgbClr val="495A66"/>
                        </a:solidFill>
                        <a:latin typeface="Cambria Math" panose="02040503050406030204" pitchFamily="18" charset="0"/>
                        <a:ea typeface="Cambria Math" panose="02040503050406030204" pitchFamily="18" charset="0"/>
                      </a:rPr>
                      <m:t>𝜆</m:t>
                    </m:r>
                    <m:sSup>
                      <m:sSupPr>
                        <m:ctrlPr>
                          <a:rPr lang="it-IT" sz="2000" i="1">
                            <a:solidFill>
                              <a:srgbClr val="495A66"/>
                            </a:solidFill>
                            <a:latin typeface="Cambria Math" panose="02040503050406030204" pitchFamily="18" charset="0"/>
                            <a:ea typeface="Cambria Math" panose="02040503050406030204" pitchFamily="18" charset="0"/>
                          </a:rPr>
                        </m:ctrlPr>
                      </m:sSupPr>
                      <m:e>
                        <m:d>
                          <m:dPr>
                            <m:ctrlPr>
                              <a:rPr lang="it-IT" sz="2000" i="1">
                                <a:solidFill>
                                  <a:srgbClr val="495A66"/>
                                </a:solidFill>
                                <a:latin typeface="Cambria Math" panose="02040503050406030204" pitchFamily="18" charset="0"/>
                                <a:ea typeface="Cambria Math" panose="02040503050406030204" pitchFamily="18" charset="0"/>
                              </a:rPr>
                            </m:ctrlPr>
                          </m:dPr>
                          <m:e>
                            <m:f>
                              <m:fPr>
                                <m:ctrlPr>
                                  <a:rPr lang="it-IT" sz="2000" i="1">
                                    <a:solidFill>
                                      <a:srgbClr val="495A66"/>
                                    </a:solidFill>
                                    <a:latin typeface="Cambria Math" panose="02040503050406030204" pitchFamily="18" charset="0"/>
                                    <a:ea typeface="Cambria Math" panose="02040503050406030204" pitchFamily="18" charset="0"/>
                                  </a:rPr>
                                </m:ctrlPr>
                              </m:fPr>
                              <m:num>
                                <m:r>
                                  <a:rPr lang="it-IT" sz="2000" i="1">
                                    <a:solidFill>
                                      <a:srgbClr val="495A66"/>
                                    </a:solidFill>
                                    <a:latin typeface="Cambria Math" panose="02040503050406030204" pitchFamily="18" charset="0"/>
                                    <a:ea typeface="Cambria Math" panose="02040503050406030204" pitchFamily="18" charset="0"/>
                                  </a:rPr>
                                  <m:t>∆</m:t>
                                </m:r>
                                <m:r>
                                  <a:rPr lang="it-IT" sz="2000" i="1">
                                    <a:solidFill>
                                      <a:srgbClr val="495A66"/>
                                    </a:solidFill>
                                    <a:latin typeface="Cambria Math" panose="02040503050406030204" pitchFamily="18" charset="0"/>
                                    <a:ea typeface="Cambria Math" panose="02040503050406030204" pitchFamily="18" charset="0"/>
                                  </a:rPr>
                                  <m:t>𝑉</m:t>
                                </m:r>
                              </m:num>
                              <m:den>
                                <m:sSub>
                                  <m:sSubPr>
                                    <m:ctrlPr>
                                      <a:rPr lang="it-IT" sz="2000" i="1">
                                        <a:solidFill>
                                          <a:srgbClr val="495A66"/>
                                        </a:solidFill>
                                        <a:latin typeface="Cambria Math" panose="02040503050406030204" pitchFamily="18" charset="0"/>
                                        <a:ea typeface="Cambria Math" panose="02040503050406030204" pitchFamily="18" charset="0"/>
                                      </a:rPr>
                                    </m:ctrlPr>
                                  </m:sSubPr>
                                  <m:e>
                                    <m:r>
                                      <a:rPr lang="it-IT" sz="2000" i="1">
                                        <a:solidFill>
                                          <a:srgbClr val="495A66"/>
                                        </a:solidFill>
                                        <a:latin typeface="Cambria Math" panose="02040503050406030204" pitchFamily="18" charset="0"/>
                                        <a:ea typeface="Cambria Math" panose="02040503050406030204" pitchFamily="18" charset="0"/>
                                      </a:rPr>
                                      <m:t>𝑉</m:t>
                                    </m:r>
                                  </m:e>
                                  <m:sub>
                                    <m:r>
                                      <a:rPr lang="it-IT" sz="2000" i="1">
                                        <a:solidFill>
                                          <a:srgbClr val="495A66"/>
                                        </a:solidFill>
                                        <a:latin typeface="Cambria Math" panose="02040503050406030204" pitchFamily="18" charset="0"/>
                                        <a:ea typeface="Cambria Math" panose="02040503050406030204" pitchFamily="18" charset="0"/>
                                      </a:rPr>
                                      <m:t>𝑚𝑎𝑥</m:t>
                                    </m:r>
                                  </m:sub>
                                </m:sSub>
                              </m:den>
                            </m:f>
                          </m:e>
                        </m:d>
                      </m:e>
                      <m:sup>
                        <m:r>
                          <a:rPr lang="it-IT" sz="2000" i="1">
                            <a:solidFill>
                              <a:srgbClr val="495A66"/>
                            </a:solidFill>
                            <a:latin typeface="Cambria Math" panose="02040503050406030204" pitchFamily="18" charset="0"/>
                            <a:ea typeface="Cambria Math" panose="02040503050406030204" pitchFamily="18" charset="0"/>
                          </a:rPr>
                          <m:t>2</m:t>
                        </m:r>
                      </m:sup>
                    </m:sSup>
                    <m:r>
                      <a:rPr lang="it-IT" sz="2000" i="1">
                        <a:solidFill>
                          <a:srgbClr val="495A66"/>
                        </a:solidFill>
                        <a:latin typeface="Cambria Math" panose="02040503050406030204" pitchFamily="18" charset="0"/>
                        <a:ea typeface="Cambria Math" panose="02040503050406030204" pitchFamily="18" charset="0"/>
                      </a:rPr>
                      <m:t>−</m:t>
                    </m:r>
                    <m:r>
                      <a:rPr lang="it-IT" sz="2000" i="1">
                        <a:solidFill>
                          <a:srgbClr val="495A66"/>
                        </a:solidFill>
                        <a:latin typeface="Cambria Math" panose="02040503050406030204" pitchFamily="18" charset="0"/>
                        <a:ea typeface="Cambria Math" panose="02040503050406030204" pitchFamily="18" charset="0"/>
                      </a:rPr>
                      <m:t>𝜇</m:t>
                    </m:r>
                    <m:sSup>
                      <m:sSupPr>
                        <m:ctrlPr>
                          <a:rPr lang="it-IT" sz="2000" i="1">
                            <a:solidFill>
                              <a:srgbClr val="495A66"/>
                            </a:solidFill>
                            <a:latin typeface="Cambria Math" panose="02040503050406030204" pitchFamily="18" charset="0"/>
                            <a:ea typeface="Cambria Math" panose="02040503050406030204" pitchFamily="18" charset="0"/>
                          </a:rPr>
                        </m:ctrlPr>
                      </m:sSupPr>
                      <m:e>
                        <m:d>
                          <m:dPr>
                            <m:ctrlPr>
                              <a:rPr lang="it-IT" sz="2000" i="1">
                                <a:solidFill>
                                  <a:srgbClr val="495A66"/>
                                </a:solidFill>
                                <a:latin typeface="Cambria Math" panose="02040503050406030204" pitchFamily="18" charset="0"/>
                                <a:ea typeface="Cambria Math" panose="02040503050406030204" pitchFamily="18" charset="0"/>
                              </a:rPr>
                            </m:ctrlPr>
                          </m:dPr>
                          <m:e>
                            <m:f>
                              <m:fPr>
                                <m:ctrlPr>
                                  <a:rPr lang="it-IT" sz="2000" i="1">
                                    <a:solidFill>
                                      <a:srgbClr val="495A66"/>
                                    </a:solidFill>
                                    <a:latin typeface="Cambria Math" panose="02040503050406030204" pitchFamily="18" charset="0"/>
                                    <a:ea typeface="Cambria Math" panose="02040503050406030204" pitchFamily="18" charset="0"/>
                                  </a:rPr>
                                </m:ctrlPr>
                              </m:fPr>
                              <m:num>
                                <m:r>
                                  <a:rPr lang="it-IT" sz="2000" i="1">
                                    <a:solidFill>
                                      <a:srgbClr val="495A66"/>
                                    </a:solidFill>
                                    <a:latin typeface="Cambria Math" panose="02040503050406030204" pitchFamily="18" charset="0"/>
                                    <a:ea typeface="Cambria Math" panose="02040503050406030204" pitchFamily="18" charset="0"/>
                                  </a:rPr>
                                  <m:t>∆</m:t>
                                </m:r>
                                <m:r>
                                  <a:rPr lang="it-IT" sz="2000" i="1">
                                    <a:solidFill>
                                      <a:srgbClr val="495A66"/>
                                    </a:solidFill>
                                    <a:latin typeface="Cambria Math" panose="02040503050406030204" pitchFamily="18" charset="0"/>
                                    <a:ea typeface="Cambria Math" panose="02040503050406030204" pitchFamily="18" charset="0"/>
                                  </a:rPr>
                                  <m:t>𝑉</m:t>
                                </m:r>
                                <m:r>
                                  <a:rPr lang="it-IT" sz="2000" i="1">
                                    <a:solidFill>
                                      <a:srgbClr val="495A66"/>
                                    </a:solidFill>
                                    <a:latin typeface="Cambria Math" panose="02040503050406030204" pitchFamily="18" charset="0"/>
                                    <a:ea typeface="Cambria Math" panose="02040503050406030204" pitchFamily="18" charset="0"/>
                                  </a:rPr>
                                  <m:t>−</m:t>
                                </m:r>
                                <m:sSub>
                                  <m:sSubPr>
                                    <m:ctrlPr>
                                      <a:rPr lang="it-IT" sz="2000" i="1">
                                        <a:solidFill>
                                          <a:srgbClr val="495A66"/>
                                        </a:solidFill>
                                        <a:latin typeface="Cambria Math" panose="02040503050406030204" pitchFamily="18" charset="0"/>
                                        <a:ea typeface="Cambria Math" panose="02040503050406030204" pitchFamily="18" charset="0"/>
                                      </a:rPr>
                                    </m:ctrlPr>
                                  </m:sSubPr>
                                  <m:e>
                                    <m:r>
                                      <a:rPr lang="it-IT" sz="2000" i="1">
                                        <a:solidFill>
                                          <a:srgbClr val="495A66"/>
                                        </a:solidFill>
                                        <a:latin typeface="Cambria Math" panose="02040503050406030204" pitchFamily="18" charset="0"/>
                                        <a:ea typeface="Cambria Math" panose="02040503050406030204" pitchFamily="18" charset="0"/>
                                      </a:rPr>
                                      <m:t>∆</m:t>
                                    </m:r>
                                    <m:r>
                                      <a:rPr lang="it-IT" sz="2000" i="1">
                                        <a:solidFill>
                                          <a:srgbClr val="495A66"/>
                                        </a:solidFill>
                                        <a:latin typeface="Cambria Math" panose="02040503050406030204" pitchFamily="18" charset="0"/>
                                        <a:ea typeface="Cambria Math" panose="02040503050406030204" pitchFamily="18" charset="0"/>
                                      </a:rPr>
                                      <m:t>𝑉</m:t>
                                    </m:r>
                                  </m:e>
                                  <m:sub>
                                    <m:r>
                                      <a:rPr lang="it-IT" sz="2000" i="1">
                                        <a:solidFill>
                                          <a:srgbClr val="495A66"/>
                                        </a:solidFill>
                                        <a:latin typeface="Cambria Math" panose="02040503050406030204" pitchFamily="18" charset="0"/>
                                        <a:ea typeface="Cambria Math" panose="02040503050406030204" pitchFamily="18" charset="0"/>
                                      </a:rPr>
                                      <m:t>𝑝𝑟𝑒𝑣</m:t>
                                    </m:r>
                                  </m:sub>
                                </m:sSub>
                              </m:num>
                              <m:den>
                                <m:sSub>
                                  <m:sSubPr>
                                    <m:ctrlPr>
                                      <a:rPr lang="it-IT" sz="2000" i="1">
                                        <a:solidFill>
                                          <a:srgbClr val="495A66"/>
                                        </a:solidFill>
                                        <a:latin typeface="Cambria Math" panose="02040503050406030204" pitchFamily="18" charset="0"/>
                                        <a:ea typeface="Cambria Math" panose="02040503050406030204" pitchFamily="18" charset="0"/>
                                      </a:rPr>
                                    </m:ctrlPr>
                                  </m:sSubPr>
                                  <m:e>
                                    <m:r>
                                      <a:rPr lang="it-IT" sz="2000" i="1">
                                        <a:solidFill>
                                          <a:srgbClr val="495A66"/>
                                        </a:solidFill>
                                        <a:latin typeface="Cambria Math" panose="02040503050406030204" pitchFamily="18" charset="0"/>
                                        <a:ea typeface="Cambria Math" panose="02040503050406030204" pitchFamily="18" charset="0"/>
                                      </a:rPr>
                                      <m:t>𝑉</m:t>
                                    </m:r>
                                  </m:e>
                                  <m:sub>
                                    <m:r>
                                      <a:rPr lang="it-IT" sz="2000" i="1">
                                        <a:solidFill>
                                          <a:srgbClr val="495A66"/>
                                        </a:solidFill>
                                        <a:latin typeface="Cambria Math" panose="02040503050406030204" pitchFamily="18" charset="0"/>
                                        <a:ea typeface="Cambria Math" panose="02040503050406030204" pitchFamily="18" charset="0"/>
                                      </a:rPr>
                                      <m:t>𝑚𝑎𝑥</m:t>
                                    </m:r>
                                  </m:sub>
                                </m:sSub>
                              </m:den>
                            </m:f>
                          </m:e>
                        </m:d>
                      </m:e>
                      <m:sup>
                        <m:r>
                          <a:rPr lang="it-IT" sz="2000" i="1">
                            <a:solidFill>
                              <a:srgbClr val="495A66"/>
                            </a:solidFill>
                            <a:latin typeface="Cambria Math" panose="02040503050406030204" pitchFamily="18" charset="0"/>
                            <a:ea typeface="Cambria Math" panose="02040503050406030204" pitchFamily="18" charset="0"/>
                          </a:rPr>
                          <m:t>2</m:t>
                        </m:r>
                      </m:sup>
                    </m:sSup>
                  </m:oMath>
                </a14:m>
                <a:endParaRPr lang="en-US" sz="2000" dirty="0">
                  <a:solidFill>
                    <a:srgbClr val="495A66"/>
                  </a:solidFill>
                </a:endParaRPr>
              </a:p>
              <a:p>
                <a:endParaRPr lang="en-US" sz="2000" dirty="0">
                  <a:solidFill>
                    <a:srgbClr val="495A66"/>
                  </a:solidFill>
                </a:endParaRPr>
              </a:p>
              <a:p>
                <a:r>
                  <a:rPr lang="en-GB" sz="1600" dirty="0">
                    <a:solidFill>
                      <a:srgbClr val="495A66"/>
                    </a:solidFill>
                  </a:rPr>
                  <a:t>It is computed at every policy step (every 10 ms) and has three terms: </a:t>
                </a:r>
                <a:endParaRPr lang="it-IT" sz="1600" i="1" dirty="0"/>
              </a:p>
              <a:p>
                <a:pPr algn="ctr"/>
                <a:endParaRPr lang="en-US" sz="2000" dirty="0">
                  <a:solidFill>
                    <a:srgbClr val="495A66"/>
                  </a:solidFill>
                </a:endParaRPr>
              </a:p>
            </p:txBody>
          </p:sp>
        </mc:Choice>
        <mc:Fallback xmlns="">
          <p:sp>
            <p:nvSpPr>
              <p:cNvPr id="7" name="TextBox 6">
                <a:extLst>
                  <a:ext uri="{FF2B5EF4-FFF2-40B4-BE49-F238E27FC236}">
                    <a16:creationId xmlns:a16="http://schemas.microsoft.com/office/drawing/2014/main" id="{63BAFD13-364B-524D-317F-58F9B918BECE}"/>
                  </a:ext>
                </a:extLst>
              </p:cNvPr>
              <p:cNvSpPr txBox="1">
                <a:spLocks noRot="1" noChangeAspect="1" noMove="1" noResize="1" noEditPoints="1" noAdjustHandles="1" noChangeArrowheads="1" noChangeShapeType="1" noTextEdit="1"/>
              </p:cNvSpPr>
              <p:nvPr/>
            </p:nvSpPr>
            <p:spPr>
              <a:xfrm>
                <a:off x="777236" y="1473803"/>
                <a:ext cx="10698483" cy="2077941"/>
              </a:xfrm>
              <a:prstGeom prst="rect">
                <a:avLst/>
              </a:prstGeom>
              <a:blipFill>
                <a:blip r:embed="rId2"/>
                <a:stretch>
                  <a:fillRect l="-237" t="-1220"/>
                </a:stretch>
              </a:blipFill>
            </p:spPr>
            <p:txBody>
              <a:bodyPr/>
              <a:lstStyle/>
              <a:p>
                <a:r>
                  <a:rPr lang="en-US">
                    <a:noFill/>
                  </a:rPr>
                  <a:t> </a:t>
                </a:r>
              </a:p>
            </p:txBody>
          </p:sp>
        </mc:Fallback>
      </mc:AlternateContent>
      <p:sp>
        <p:nvSpPr>
          <p:cNvPr id="11" name="Rounded Rectangle 10">
            <a:extLst>
              <a:ext uri="{FF2B5EF4-FFF2-40B4-BE49-F238E27FC236}">
                <a16:creationId xmlns:a16="http://schemas.microsoft.com/office/drawing/2014/main" id="{F501319B-C89E-D82A-2CA6-E7A07DAE0265}"/>
              </a:ext>
            </a:extLst>
          </p:cNvPr>
          <p:cNvSpPr/>
          <p:nvPr/>
        </p:nvSpPr>
        <p:spPr>
          <a:xfrm>
            <a:off x="868679" y="3370371"/>
            <a:ext cx="3375661" cy="1579086"/>
          </a:xfrm>
          <a:prstGeom prst="roundRect">
            <a:avLst>
              <a:gd name="adj" fmla="val 6000"/>
            </a:avLst>
          </a:prstGeom>
          <a:solidFill>
            <a:srgbClr val="FFFFFF"/>
          </a:solidFill>
          <a:ln w="12700">
            <a:solidFill>
              <a:srgbClr val="D9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12" name="Rectangle 11">
            <a:extLst>
              <a:ext uri="{FF2B5EF4-FFF2-40B4-BE49-F238E27FC236}">
                <a16:creationId xmlns:a16="http://schemas.microsoft.com/office/drawing/2014/main" id="{BC2C0842-4FAC-D44B-77E8-2D09FA8FBE91}"/>
              </a:ext>
            </a:extLst>
          </p:cNvPr>
          <p:cNvSpPr/>
          <p:nvPr/>
        </p:nvSpPr>
        <p:spPr>
          <a:xfrm>
            <a:off x="861060" y="3370371"/>
            <a:ext cx="45719" cy="1579086"/>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93B15E7E-4898-2E80-008E-6F469C91D3B1}"/>
                  </a:ext>
                </a:extLst>
              </p:cNvPr>
              <p:cNvSpPr txBox="1"/>
              <p:nvPr/>
            </p:nvSpPr>
            <p:spPr>
              <a:xfrm>
                <a:off x="1069847" y="3534962"/>
                <a:ext cx="3017520" cy="1146019"/>
              </a:xfrm>
              <a:prstGeom prst="rect">
                <a:avLst/>
              </a:prstGeom>
              <a:noFill/>
            </p:spPr>
            <p:txBody>
              <a:bodyPr wrap="square" lIns="0" tIns="0" rIns="0" bIns="0" anchor="t">
                <a:spAutoFit/>
              </a:bodyPr>
              <a:lstStyle/>
              <a:p>
                <a:pPr algn="l">
                  <a:lnSpc>
                    <a:spcPct val="112000"/>
                  </a:lnSpc>
                  <a:spcBef>
                    <a:spcPts val="0"/>
                  </a:spcBef>
                  <a:spcAft>
                    <a:spcPts val="400"/>
                  </a:spcAft>
                </a:pPr>
                <a:r>
                  <a:rPr lang="en-US" sz="1000" noProof="1">
                    <a:solidFill>
                      <a:srgbClr val="2A9D8F"/>
                    </a:solidFill>
                    <a:latin typeface="Consolas"/>
                  </a:rPr>
                  <a:t>First </a:t>
                </a:r>
                <a:endParaRPr lang="en-US" sz="1000" b="0" noProof="1">
                  <a:solidFill>
                    <a:srgbClr val="2A9D8F"/>
                  </a:solidFill>
                  <a:latin typeface="Consolas"/>
                </a:endParaRPr>
              </a:p>
              <a:p>
                <a:pPr algn="l">
                  <a:lnSpc>
                    <a:spcPct val="100000"/>
                  </a:lnSpc>
                  <a:spcBef>
                    <a:spcPts val="0"/>
                  </a:spcBef>
                  <a:spcAft>
                    <a:spcPts val="600"/>
                  </a:spcAft>
                </a:pPr>
                <a:r>
                  <a:rPr lang="en-US" sz="1600" b="1" noProof="1">
                    <a:solidFill>
                      <a:srgbClr val="1D3557"/>
                    </a:solidFill>
                    <a:latin typeface="Georgia"/>
                  </a:rPr>
                  <a:t>Tracking Term</a:t>
                </a:r>
              </a:p>
              <a:p>
                <a:pPr>
                  <a:lnSpc>
                    <a:spcPct val="110000"/>
                  </a:lnSpc>
                  <a:spcAft>
                    <a:spcPts val="600"/>
                  </a:spcAft>
                </a:pPr>
                <a:r>
                  <a:rPr lang="en-GB" sz="1200" dirty="0">
                    <a:solidFill>
                      <a:srgbClr val="495A66"/>
                    </a:solidFill>
                  </a:rPr>
                  <a:t>It penalises the </a:t>
                </a:r>
                <a:r>
                  <a:rPr lang="en-GB" sz="1200" b="1" dirty="0">
                    <a:solidFill>
                      <a:srgbClr val="495A66"/>
                    </a:solidFill>
                  </a:rPr>
                  <a:t>mean absolute speed error </a:t>
                </a:r>
                <a:r>
                  <a:rPr lang="en-GB" sz="1200" dirty="0">
                    <a:solidFill>
                      <a:srgbClr val="495A66"/>
                    </a:solidFill>
                  </a:rPr>
                  <a:t>averaged over the ten </a:t>
                </a:r>
                <a14:m>
                  <m:oMath xmlns:m="http://schemas.openxmlformats.org/officeDocument/2006/math">
                    <m:r>
                      <a:rPr lang="it-IT" sz="1200" b="0" i="1" smtClean="0">
                        <a:solidFill>
                          <a:srgbClr val="495A66"/>
                        </a:solidFill>
                        <a:latin typeface="Cambria Math" panose="02040503050406030204" pitchFamily="18" charset="0"/>
                      </a:rPr>
                      <m:t>1 </m:t>
                    </m:r>
                    <m:r>
                      <a:rPr lang="it-IT" sz="1200" b="0" i="1" smtClean="0">
                        <a:solidFill>
                          <a:srgbClr val="495A66"/>
                        </a:solidFill>
                        <a:latin typeface="Cambria Math" panose="02040503050406030204" pitchFamily="18" charset="0"/>
                      </a:rPr>
                      <m:t>𝑚𝑠</m:t>
                    </m:r>
                  </m:oMath>
                </a14:m>
                <a:r>
                  <a:rPr lang="en-GB" sz="1200" dirty="0">
                    <a:solidFill>
                      <a:srgbClr val="495A66"/>
                    </a:solidFill>
                  </a:rPr>
                  <a:t> sub-steps between policy updates.</a:t>
                </a:r>
                <a:endParaRPr lang="en-US" sz="1200" b="0" noProof="1">
                  <a:solidFill>
                    <a:srgbClr val="495A66"/>
                  </a:solidFill>
                  <a:latin typeface="Calibri"/>
                </a:endParaRPr>
              </a:p>
            </p:txBody>
          </p:sp>
        </mc:Choice>
        <mc:Fallback xmlns="">
          <p:sp>
            <p:nvSpPr>
              <p:cNvPr id="13" name="TextBox 12">
                <a:extLst>
                  <a:ext uri="{FF2B5EF4-FFF2-40B4-BE49-F238E27FC236}">
                    <a16:creationId xmlns:a16="http://schemas.microsoft.com/office/drawing/2014/main" id="{93B15E7E-4898-2E80-008E-6F469C91D3B1}"/>
                  </a:ext>
                </a:extLst>
              </p:cNvPr>
              <p:cNvSpPr txBox="1">
                <a:spLocks noRot="1" noChangeAspect="1" noMove="1" noResize="1" noEditPoints="1" noAdjustHandles="1" noChangeArrowheads="1" noChangeShapeType="1" noTextEdit="1"/>
              </p:cNvSpPr>
              <p:nvPr/>
            </p:nvSpPr>
            <p:spPr>
              <a:xfrm>
                <a:off x="1069847" y="3534962"/>
                <a:ext cx="3017520" cy="1146019"/>
              </a:xfrm>
              <a:prstGeom prst="rect">
                <a:avLst/>
              </a:prstGeom>
              <a:blipFill>
                <a:blip r:embed="rId3"/>
                <a:stretch>
                  <a:fillRect l="-4202" t="-2198" r="-840" b="-6593"/>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C3E994A2-99BD-FBCF-BF51-1A329B55EE7F}"/>
              </a:ext>
            </a:extLst>
          </p:cNvPr>
          <p:cNvSpPr/>
          <p:nvPr/>
        </p:nvSpPr>
        <p:spPr>
          <a:xfrm>
            <a:off x="4480559" y="3370371"/>
            <a:ext cx="3383280" cy="1579086"/>
          </a:xfrm>
          <a:prstGeom prst="roundRect">
            <a:avLst>
              <a:gd name="adj" fmla="val 6000"/>
            </a:avLst>
          </a:prstGeom>
          <a:solidFill>
            <a:srgbClr val="FFFFFF"/>
          </a:solidFill>
          <a:ln w="12700">
            <a:solidFill>
              <a:srgbClr val="D9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15" name="Rectangle 14">
            <a:extLst>
              <a:ext uri="{FF2B5EF4-FFF2-40B4-BE49-F238E27FC236}">
                <a16:creationId xmlns:a16="http://schemas.microsoft.com/office/drawing/2014/main" id="{E0826F04-4F29-1AE2-6E53-B607CE108606}"/>
              </a:ext>
            </a:extLst>
          </p:cNvPr>
          <p:cNvSpPr/>
          <p:nvPr/>
        </p:nvSpPr>
        <p:spPr>
          <a:xfrm>
            <a:off x="4472940" y="3370371"/>
            <a:ext cx="45719" cy="1579086"/>
          </a:xfrm>
          <a:prstGeom prst="rect">
            <a:avLst/>
          </a:prstGeom>
          <a:solidFill>
            <a:srgbClr val="1D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16" name="TextBox 15">
            <a:extLst>
              <a:ext uri="{FF2B5EF4-FFF2-40B4-BE49-F238E27FC236}">
                <a16:creationId xmlns:a16="http://schemas.microsoft.com/office/drawing/2014/main" id="{9EFD8BA7-D40A-6D07-FC81-80BCEE517578}"/>
              </a:ext>
            </a:extLst>
          </p:cNvPr>
          <p:cNvSpPr txBox="1"/>
          <p:nvPr/>
        </p:nvSpPr>
        <p:spPr>
          <a:xfrm>
            <a:off x="4681727" y="3534962"/>
            <a:ext cx="3017520" cy="1146019"/>
          </a:xfrm>
          <a:prstGeom prst="rect">
            <a:avLst/>
          </a:prstGeom>
          <a:noFill/>
        </p:spPr>
        <p:txBody>
          <a:bodyPr wrap="square" lIns="0" tIns="0" rIns="0" bIns="0" anchor="t">
            <a:spAutoFit/>
          </a:bodyPr>
          <a:lstStyle/>
          <a:p>
            <a:pPr algn="l">
              <a:lnSpc>
                <a:spcPct val="112000"/>
              </a:lnSpc>
              <a:spcBef>
                <a:spcPts val="0"/>
              </a:spcBef>
              <a:spcAft>
                <a:spcPts val="400"/>
              </a:spcAft>
            </a:pPr>
            <a:r>
              <a:rPr lang="en-US" sz="1000" noProof="1">
                <a:solidFill>
                  <a:srgbClr val="1D3557"/>
                </a:solidFill>
                <a:latin typeface="Consolas"/>
              </a:rPr>
              <a:t>Second</a:t>
            </a:r>
            <a:endParaRPr lang="en-US" sz="1000" b="0" noProof="1">
              <a:solidFill>
                <a:srgbClr val="1D3557"/>
              </a:solidFill>
              <a:latin typeface="Consolas"/>
            </a:endParaRPr>
          </a:p>
          <a:p>
            <a:pPr algn="l">
              <a:lnSpc>
                <a:spcPct val="100000"/>
              </a:lnSpc>
              <a:spcBef>
                <a:spcPts val="0"/>
              </a:spcBef>
              <a:spcAft>
                <a:spcPts val="600"/>
              </a:spcAft>
            </a:pPr>
            <a:r>
              <a:rPr lang="en-US" sz="1600" b="1" noProof="1">
                <a:solidFill>
                  <a:srgbClr val="1D3557"/>
                </a:solidFill>
                <a:latin typeface="Georgia"/>
              </a:rPr>
              <a:t>Effort term</a:t>
            </a:r>
          </a:p>
          <a:p>
            <a:pPr>
              <a:lnSpc>
                <a:spcPct val="110000"/>
              </a:lnSpc>
              <a:spcAft>
                <a:spcPts val="600"/>
              </a:spcAft>
            </a:pPr>
            <a:r>
              <a:rPr lang="en-US" sz="1200" noProof="1">
                <a:solidFill>
                  <a:srgbClr val="495A66"/>
                </a:solidFill>
              </a:rPr>
              <a:t>It </a:t>
            </a:r>
            <a:r>
              <a:rPr lang="en-GB" sz="1200" dirty="0">
                <a:solidFill>
                  <a:srgbClr val="495A66"/>
                </a:solidFill>
              </a:rPr>
              <a:t>penalises </a:t>
            </a:r>
            <a:r>
              <a:rPr lang="en-GB" sz="1200" b="1" dirty="0">
                <a:solidFill>
                  <a:srgbClr val="495A66"/>
                </a:solidFill>
              </a:rPr>
              <a:t>large residuals</a:t>
            </a:r>
            <a:r>
              <a:rPr lang="en-GB" sz="1200" dirty="0">
                <a:solidFill>
                  <a:srgbClr val="495A66"/>
                </a:solidFill>
              </a:rPr>
              <a:t>, keeping the PI in charge and preventing the policy from issuing unnecessary corrections. </a:t>
            </a:r>
            <a:endParaRPr lang="en-US" sz="1200" b="0" noProof="1">
              <a:solidFill>
                <a:srgbClr val="495A66"/>
              </a:solidFill>
            </a:endParaRPr>
          </a:p>
        </p:txBody>
      </p:sp>
      <p:sp>
        <p:nvSpPr>
          <p:cNvPr id="17" name="Rounded Rectangle 16">
            <a:extLst>
              <a:ext uri="{FF2B5EF4-FFF2-40B4-BE49-F238E27FC236}">
                <a16:creationId xmlns:a16="http://schemas.microsoft.com/office/drawing/2014/main" id="{824041C3-B84D-FC54-841D-55D1F79FEE9D}"/>
              </a:ext>
            </a:extLst>
          </p:cNvPr>
          <p:cNvSpPr/>
          <p:nvPr/>
        </p:nvSpPr>
        <p:spPr>
          <a:xfrm>
            <a:off x="8092439" y="3370371"/>
            <a:ext cx="3383280" cy="1579086"/>
          </a:xfrm>
          <a:prstGeom prst="roundRect">
            <a:avLst>
              <a:gd name="adj" fmla="val 6000"/>
            </a:avLst>
          </a:prstGeom>
          <a:solidFill>
            <a:srgbClr val="FFFFFF"/>
          </a:solidFill>
          <a:ln w="12700">
            <a:solidFill>
              <a:srgbClr val="D9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18" name="Rectangle 17">
            <a:extLst>
              <a:ext uri="{FF2B5EF4-FFF2-40B4-BE49-F238E27FC236}">
                <a16:creationId xmlns:a16="http://schemas.microsoft.com/office/drawing/2014/main" id="{BCB77D00-905A-0015-7403-7901C2C06D1A}"/>
              </a:ext>
            </a:extLst>
          </p:cNvPr>
          <p:cNvSpPr/>
          <p:nvPr/>
        </p:nvSpPr>
        <p:spPr>
          <a:xfrm>
            <a:off x="8084820" y="3370370"/>
            <a:ext cx="45719" cy="1579087"/>
          </a:xfrm>
          <a:prstGeom prst="rect">
            <a:avLst/>
          </a:prstGeom>
          <a:solidFill>
            <a:srgbClr val="E07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19" name="TextBox 18">
            <a:extLst>
              <a:ext uri="{FF2B5EF4-FFF2-40B4-BE49-F238E27FC236}">
                <a16:creationId xmlns:a16="http://schemas.microsoft.com/office/drawing/2014/main" id="{165866C3-7DDB-431A-5F93-12C25120292A}"/>
              </a:ext>
            </a:extLst>
          </p:cNvPr>
          <p:cNvSpPr txBox="1"/>
          <p:nvPr/>
        </p:nvSpPr>
        <p:spPr>
          <a:xfrm>
            <a:off x="8293607" y="3534962"/>
            <a:ext cx="3017520" cy="1285480"/>
          </a:xfrm>
          <a:prstGeom prst="rect">
            <a:avLst/>
          </a:prstGeom>
          <a:noFill/>
        </p:spPr>
        <p:txBody>
          <a:bodyPr wrap="square" lIns="0" tIns="0" rIns="0" bIns="0" anchor="t">
            <a:spAutoFit/>
          </a:bodyPr>
          <a:lstStyle/>
          <a:p>
            <a:pPr algn="l">
              <a:lnSpc>
                <a:spcPct val="112000"/>
              </a:lnSpc>
              <a:spcBef>
                <a:spcPts val="0"/>
              </a:spcBef>
              <a:spcAft>
                <a:spcPts val="400"/>
              </a:spcAft>
            </a:pPr>
            <a:r>
              <a:rPr lang="en-US" sz="1000" b="0" noProof="1">
                <a:solidFill>
                  <a:srgbClr val="E07A5F"/>
                </a:solidFill>
                <a:latin typeface="Consolas"/>
              </a:rPr>
              <a:t>Third</a:t>
            </a:r>
          </a:p>
          <a:p>
            <a:pPr algn="l">
              <a:lnSpc>
                <a:spcPct val="100000"/>
              </a:lnSpc>
              <a:spcBef>
                <a:spcPts val="0"/>
              </a:spcBef>
              <a:spcAft>
                <a:spcPts val="600"/>
              </a:spcAft>
            </a:pPr>
            <a:r>
              <a:rPr lang="en-US" sz="1600" b="1" noProof="1">
                <a:solidFill>
                  <a:srgbClr val="1D3557"/>
                </a:solidFill>
                <a:latin typeface="Georgia"/>
              </a:rPr>
              <a:t>Rate Term </a:t>
            </a:r>
          </a:p>
          <a:p>
            <a:pPr algn="l">
              <a:lnSpc>
                <a:spcPct val="100000"/>
              </a:lnSpc>
              <a:spcBef>
                <a:spcPts val="0"/>
              </a:spcBef>
              <a:spcAft>
                <a:spcPts val="600"/>
              </a:spcAft>
            </a:pPr>
            <a:r>
              <a:rPr lang="en-US" sz="1200" noProof="1">
                <a:solidFill>
                  <a:srgbClr val="495A66"/>
                </a:solidFill>
              </a:rPr>
              <a:t>It </a:t>
            </a:r>
            <a:r>
              <a:rPr lang="en-GB" sz="1200" dirty="0">
                <a:solidFill>
                  <a:srgbClr val="495A66"/>
                </a:solidFill>
              </a:rPr>
              <a:t>penalises how much the </a:t>
            </a:r>
            <a:r>
              <a:rPr lang="en-GB" sz="1200" b="1" dirty="0">
                <a:solidFill>
                  <a:srgbClr val="495A66"/>
                </a:solidFill>
              </a:rPr>
              <a:t>correction changes </a:t>
            </a:r>
            <a:r>
              <a:rPr lang="en-GB" sz="1200" dirty="0">
                <a:solidFill>
                  <a:srgbClr val="495A66"/>
                </a:solidFill>
              </a:rPr>
              <a:t>between consecutive updates, suppressing chattering and producing a smoother voltage profile.</a:t>
            </a:r>
            <a:endParaRPr lang="en-US" sz="1200" noProof="1">
              <a:solidFill>
                <a:srgbClr val="495A66"/>
              </a:solidFill>
            </a:endParaRPr>
          </a:p>
        </p:txBody>
      </p: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B0552368-C3C9-90AE-BE59-C47E494A8508}"/>
                  </a:ext>
                </a:extLst>
              </p:cNvPr>
              <p:cNvSpPr txBox="1"/>
              <p:nvPr/>
            </p:nvSpPr>
            <p:spPr>
              <a:xfrm>
                <a:off x="855980" y="4852953"/>
                <a:ext cx="10619739" cy="1815882"/>
              </a:xfrm>
              <a:prstGeom prst="rect">
                <a:avLst/>
              </a:prstGeom>
              <a:noFill/>
            </p:spPr>
            <p:txBody>
              <a:bodyPr wrap="square">
                <a:spAutoFit/>
              </a:bodyPr>
              <a:lstStyle/>
              <a:p>
                <a:pPr>
                  <a:buNone/>
                </a:pPr>
                <a:br>
                  <a:rPr lang="en-GB" sz="1600" dirty="0">
                    <a:solidFill>
                      <a:srgbClr val="495A66"/>
                    </a:solidFill>
                  </a:rPr>
                </a:br>
                <a:r>
                  <a:rPr lang="en-GB" sz="1600" dirty="0">
                    <a:solidFill>
                      <a:srgbClr val="495A66"/>
                    </a:solidFill>
                  </a:rPr>
                  <a:t>We use the absolute value (L1) rather than the squared error (L2) because L1 weights small persistent errors more uniformly and is less sensitive to large transient spikes, on this problem it reduced the trajectory RMSE from 0.172 to 0.081 rad/s compared to L2. </a:t>
                </a:r>
              </a:p>
              <a:p>
                <a:pPr>
                  <a:buNone/>
                </a:pPr>
                <a:endParaRPr lang="en-GB" sz="1600" dirty="0">
                  <a:solidFill>
                    <a:srgbClr val="495A66"/>
                  </a:solidFill>
                </a:endParaRPr>
              </a:p>
              <a:p>
                <a:pPr>
                  <a:buNone/>
                </a:pPr>
                <a:r>
                  <a:rPr lang="en-GB" sz="1600" dirty="0">
                    <a:solidFill>
                      <a:srgbClr val="495A66"/>
                    </a:solidFill>
                  </a:rPr>
                  <a:t>The weights </a:t>
                </a:r>
                <a14:m>
                  <m:oMath xmlns:m="http://schemas.openxmlformats.org/officeDocument/2006/math">
                    <m:r>
                      <a:rPr lang="en-GB" sz="1600" i="1" smtClean="0">
                        <a:solidFill>
                          <a:srgbClr val="495A66"/>
                        </a:solidFill>
                        <a:latin typeface="Cambria Math" panose="02040503050406030204" pitchFamily="18" charset="0"/>
                        <a:ea typeface="Cambria Math" panose="02040503050406030204" pitchFamily="18" charset="0"/>
                      </a:rPr>
                      <m:t>𝜆</m:t>
                    </m:r>
                    <m:r>
                      <a:rPr lang="it-IT" sz="1600" b="0" i="1" smtClean="0">
                        <a:solidFill>
                          <a:srgbClr val="495A66"/>
                        </a:solidFill>
                        <a:latin typeface="Cambria Math" panose="02040503050406030204" pitchFamily="18" charset="0"/>
                        <a:ea typeface="Cambria Math" panose="02040503050406030204" pitchFamily="18" charset="0"/>
                      </a:rPr>
                      <m:t>=0.01</m:t>
                    </m:r>
                  </m:oMath>
                </a14:m>
                <a:r>
                  <a:rPr lang="en-GB" sz="1600" dirty="0">
                    <a:solidFill>
                      <a:srgbClr val="495A66"/>
                    </a:solidFill>
                  </a:rPr>
                  <a:t> and </a:t>
                </a:r>
                <a14:m>
                  <m:oMath xmlns:m="http://schemas.openxmlformats.org/officeDocument/2006/math">
                    <m:r>
                      <a:rPr lang="en-GB" sz="1600" i="1" smtClean="0">
                        <a:solidFill>
                          <a:srgbClr val="495A66"/>
                        </a:solidFill>
                        <a:latin typeface="Cambria Math" panose="02040503050406030204" pitchFamily="18" charset="0"/>
                        <a:ea typeface="Cambria Math" panose="02040503050406030204" pitchFamily="18" charset="0"/>
                      </a:rPr>
                      <m:t>𝜇</m:t>
                    </m:r>
                    <m:r>
                      <a:rPr lang="it-IT" sz="1600" b="0" i="1" smtClean="0">
                        <a:solidFill>
                          <a:srgbClr val="495A66"/>
                        </a:solidFill>
                        <a:latin typeface="Cambria Math" panose="02040503050406030204" pitchFamily="18" charset="0"/>
                        <a:ea typeface="Cambria Math" panose="02040503050406030204" pitchFamily="18" charset="0"/>
                      </a:rPr>
                      <m:t>=0.05</m:t>
                    </m:r>
                  </m:oMath>
                </a14:m>
                <a:r>
                  <a:rPr lang="en-GB" sz="1600" dirty="0">
                    <a:solidFill>
                      <a:srgbClr val="495A66"/>
                    </a:solidFill>
                  </a:rPr>
                  <a:t> are roughly 100 times  smaller than the tracking term (</a:t>
                </a:r>
                <a14:m>
                  <m:oMath xmlns:m="http://schemas.openxmlformats.org/officeDocument/2006/math">
                    <m:r>
                      <a:rPr lang="en-GB" sz="1600" i="1" smtClean="0">
                        <a:solidFill>
                          <a:srgbClr val="495A66"/>
                        </a:solidFill>
                        <a:latin typeface="Cambria Math" panose="02040503050406030204" pitchFamily="18" charset="0"/>
                        <a:ea typeface="Cambria Math" panose="02040503050406030204" pitchFamily="18" charset="0"/>
                      </a:rPr>
                      <m:t>𝛼</m:t>
                    </m:r>
                    <m:r>
                      <a:rPr lang="it-IT" sz="1600" b="0" i="1" smtClean="0">
                        <a:solidFill>
                          <a:srgbClr val="495A66"/>
                        </a:solidFill>
                        <a:latin typeface="Cambria Math" panose="02040503050406030204" pitchFamily="18" charset="0"/>
                        <a:ea typeface="Cambria Math" panose="02040503050406030204" pitchFamily="18" charset="0"/>
                      </a:rPr>
                      <m:t>=1</m:t>
                    </m:r>
                  </m:oMath>
                </a14:m>
                <a:r>
                  <a:rPr lang="en-GB" sz="1600" dirty="0">
                    <a:solidFill>
                      <a:srgbClr val="495A66"/>
                    </a:solidFill>
                  </a:rPr>
                  <a:t>), they shape the action without ever competing with the primary objective.</a:t>
                </a:r>
              </a:p>
            </p:txBody>
          </p:sp>
        </mc:Choice>
        <mc:Fallback xmlns="">
          <p:sp>
            <p:nvSpPr>
              <p:cNvPr id="21" name="TextBox 20">
                <a:extLst>
                  <a:ext uri="{FF2B5EF4-FFF2-40B4-BE49-F238E27FC236}">
                    <a16:creationId xmlns:a16="http://schemas.microsoft.com/office/drawing/2014/main" id="{B0552368-C3C9-90AE-BE59-C47E494A8508}"/>
                  </a:ext>
                </a:extLst>
              </p:cNvPr>
              <p:cNvSpPr txBox="1">
                <a:spLocks noRot="1" noChangeAspect="1" noMove="1" noResize="1" noEditPoints="1" noAdjustHandles="1" noChangeArrowheads="1" noChangeShapeType="1" noTextEdit="1"/>
              </p:cNvSpPr>
              <p:nvPr/>
            </p:nvSpPr>
            <p:spPr>
              <a:xfrm>
                <a:off x="855980" y="4852953"/>
                <a:ext cx="10619739" cy="1815882"/>
              </a:xfrm>
              <a:prstGeom prst="rect">
                <a:avLst/>
              </a:prstGeom>
              <a:blipFill>
                <a:blip r:embed="rId4"/>
                <a:stretch>
                  <a:fillRect l="-358" b="-2778"/>
                </a:stretch>
              </a:blipFill>
            </p:spPr>
            <p:txBody>
              <a:bodyPr/>
              <a:lstStyle/>
              <a:p>
                <a:r>
                  <a:rPr lang="en-US">
                    <a:noFill/>
                  </a:rPr>
                  <a:t> </a:t>
                </a:r>
              </a:p>
            </p:txBody>
          </p:sp>
        </mc:Fallback>
      </mc:AlternateContent>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BFAF6"/>
        </a:solidFill>
        <a:effectLst/>
      </p:bgPr>
    </p:bg>
    <p:spTree>
      <p:nvGrpSpPr>
        <p:cNvPr id="1" name="">
          <a:extLst>
            <a:ext uri="{FF2B5EF4-FFF2-40B4-BE49-F238E27FC236}">
              <a16:creationId xmlns:a16="http://schemas.microsoft.com/office/drawing/2014/main" id="{F4FFA389-A60B-A39E-1A07-5948978E2679}"/>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5ACC4318-C7D5-4F61-4085-0DE5B2E61941}"/>
              </a:ext>
            </a:extLst>
          </p:cNvPr>
          <p:cNvSpPr/>
          <p:nvPr/>
        </p:nvSpPr>
        <p:spPr>
          <a:xfrm>
            <a:off x="566928" y="502920"/>
            <a:ext cx="17780" cy="5852160"/>
          </a:xfrm>
          <a:prstGeom prst="rect">
            <a:avLst/>
          </a:prstGeom>
          <a:solidFill>
            <a:srgbClr val="D9D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3" name="Rectangle 2">
            <a:extLst>
              <a:ext uri="{FF2B5EF4-FFF2-40B4-BE49-F238E27FC236}">
                <a16:creationId xmlns:a16="http://schemas.microsoft.com/office/drawing/2014/main" id="{B9FA3952-CE1E-DE83-169E-AF83326454DF}"/>
              </a:ext>
            </a:extLst>
          </p:cNvPr>
          <p:cNvSpPr/>
          <p:nvPr/>
        </p:nvSpPr>
        <p:spPr>
          <a:xfrm>
            <a:off x="566928" y="502920"/>
            <a:ext cx="30480" cy="56692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4" name="TextBox 3">
            <a:extLst>
              <a:ext uri="{FF2B5EF4-FFF2-40B4-BE49-F238E27FC236}">
                <a16:creationId xmlns:a16="http://schemas.microsoft.com/office/drawing/2014/main" id="{4573BF4F-204C-105F-23A3-A2262D0BEFE4}"/>
              </a:ext>
            </a:extLst>
          </p:cNvPr>
          <p:cNvSpPr txBox="1"/>
          <p:nvPr/>
        </p:nvSpPr>
        <p:spPr>
          <a:xfrm>
            <a:off x="868680" y="548640"/>
            <a:ext cx="10607040" cy="169277"/>
          </a:xfrm>
          <a:prstGeom prst="rect">
            <a:avLst/>
          </a:prstGeom>
          <a:noFill/>
        </p:spPr>
        <p:txBody>
          <a:bodyPr wrap="square" lIns="0" tIns="0" rIns="0" bIns="0" anchor="t">
            <a:spAutoFit/>
          </a:bodyPr>
          <a:lstStyle/>
          <a:p>
            <a:pPr>
              <a:lnSpc>
                <a:spcPct val="100000"/>
              </a:lnSpc>
            </a:pPr>
            <a:r>
              <a:rPr lang="en-US" sz="1100" b="1" noProof="1">
                <a:solidFill>
                  <a:srgbClr val="E07A5F"/>
                </a:solidFill>
                <a:latin typeface="Consolas"/>
              </a:rPr>
              <a:t>B4  </a:t>
            </a:r>
            <a:r>
              <a:rPr lang="en-US" sz="1100" noProof="1">
                <a:solidFill>
                  <a:srgbClr val="2A9D8F"/>
                </a:solidFill>
                <a:latin typeface="Consolas"/>
              </a:rPr>
              <a:t>RESIDUAL REINFORCEMENT LEARNING - Training</a:t>
            </a:r>
          </a:p>
        </p:txBody>
      </p:sp>
      <p:sp>
        <p:nvSpPr>
          <p:cNvPr id="6" name="TextBox 5">
            <a:extLst>
              <a:ext uri="{FF2B5EF4-FFF2-40B4-BE49-F238E27FC236}">
                <a16:creationId xmlns:a16="http://schemas.microsoft.com/office/drawing/2014/main" id="{6CFA2317-52BE-3D6D-BCBF-AD26B050CB61}"/>
              </a:ext>
            </a:extLst>
          </p:cNvPr>
          <p:cNvSpPr txBox="1"/>
          <p:nvPr/>
        </p:nvSpPr>
        <p:spPr>
          <a:xfrm>
            <a:off x="868680" y="960120"/>
            <a:ext cx="10607040" cy="412805"/>
          </a:xfrm>
          <a:prstGeom prst="rect">
            <a:avLst/>
          </a:prstGeom>
          <a:noFill/>
        </p:spPr>
        <p:txBody>
          <a:bodyPr wrap="square" lIns="0" tIns="0" rIns="0" bIns="0" anchor="t">
            <a:spAutoFit/>
          </a:bodyPr>
          <a:lstStyle/>
          <a:p>
            <a:pPr algn="l">
              <a:lnSpc>
                <a:spcPct val="102000"/>
              </a:lnSpc>
              <a:spcBef>
                <a:spcPts val="0"/>
              </a:spcBef>
              <a:spcAft>
                <a:spcPts val="600"/>
              </a:spcAft>
            </a:pPr>
            <a:r>
              <a:rPr lang="en-US" sz="2800" b="1" noProof="1">
                <a:solidFill>
                  <a:srgbClr val="1D3557"/>
                </a:solidFill>
                <a:latin typeface="Georgia"/>
              </a:rPr>
              <a:t>Training &amp; Test set</a:t>
            </a:r>
          </a:p>
        </p:txBody>
      </p:sp>
      <p:sp>
        <p:nvSpPr>
          <p:cNvPr id="5" name="TextBox 4">
            <a:extLst>
              <a:ext uri="{FF2B5EF4-FFF2-40B4-BE49-F238E27FC236}">
                <a16:creationId xmlns:a16="http://schemas.microsoft.com/office/drawing/2014/main" id="{DAA8DDED-40E3-183F-5CAB-B81DD289380A}"/>
              </a:ext>
            </a:extLst>
          </p:cNvPr>
          <p:cNvSpPr txBox="1"/>
          <p:nvPr/>
        </p:nvSpPr>
        <p:spPr>
          <a:xfrm>
            <a:off x="792675" y="1372925"/>
            <a:ext cx="10832397" cy="861774"/>
          </a:xfrm>
          <a:prstGeom prst="rect">
            <a:avLst/>
          </a:prstGeom>
          <a:noFill/>
        </p:spPr>
        <p:txBody>
          <a:bodyPr wrap="square" rtlCol="0">
            <a:spAutoFit/>
          </a:bodyPr>
          <a:lstStyle/>
          <a:p>
            <a:r>
              <a:rPr lang="en-GB" sz="1600" dirty="0">
                <a:solidFill>
                  <a:srgbClr val="495A66"/>
                </a:solidFill>
              </a:rPr>
              <a:t>Unlike supervised learning, there is no fixed dataset collected in advance. The policy trains </a:t>
            </a:r>
            <a:r>
              <a:rPr lang="en-GB" sz="1600" i="1" dirty="0">
                <a:solidFill>
                  <a:srgbClr val="495A66"/>
                </a:solidFill>
              </a:rPr>
              <a:t>online</a:t>
            </a:r>
            <a:r>
              <a:rPr lang="en-GB" sz="1600" dirty="0">
                <a:solidFill>
                  <a:srgbClr val="495A66"/>
                </a:solidFill>
              </a:rPr>
              <a:t>: at every step it interacts with the simulated motor, receives a </a:t>
            </a:r>
            <a:r>
              <a:rPr lang="en-GB" sz="1600" b="1" dirty="0">
                <a:solidFill>
                  <a:srgbClr val="495A66"/>
                </a:solidFill>
              </a:rPr>
              <a:t>reward</a:t>
            </a:r>
            <a:r>
              <a:rPr lang="en-GB" sz="1600" dirty="0">
                <a:solidFill>
                  <a:srgbClr val="495A66"/>
                </a:solidFill>
              </a:rPr>
              <a:t>, and updates its weights. The "dataset" is the distribution of speed references the environment samples during training</a:t>
            </a:r>
            <a:r>
              <a:rPr lang="en-GB" dirty="0"/>
              <a:t>.</a:t>
            </a:r>
            <a:endParaRPr lang="en-US" dirty="0"/>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B7C6CF20-6D49-AC6E-EC45-097B582FCF4B}"/>
                  </a:ext>
                </a:extLst>
              </p:cNvPr>
              <p:cNvSpPr txBox="1"/>
              <p:nvPr/>
            </p:nvSpPr>
            <p:spPr>
              <a:xfrm>
                <a:off x="792675" y="2413337"/>
                <a:ext cx="10683045" cy="3816429"/>
              </a:xfrm>
              <a:prstGeom prst="rect">
                <a:avLst/>
              </a:prstGeom>
              <a:noFill/>
            </p:spPr>
            <p:txBody>
              <a:bodyPr wrap="square" rtlCol="0">
                <a:spAutoFit/>
              </a:bodyPr>
              <a:lstStyle/>
              <a:p>
                <a:r>
                  <a:rPr lang="en-GB" sz="1600" b="1" dirty="0">
                    <a:solidFill>
                      <a:srgbClr val="495A66"/>
                    </a:solidFill>
                  </a:rPr>
                  <a:t>Training set</a:t>
                </a:r>
                <a:r>
                  <a:rPr lang="en-GB" sz="1600" dirty="0">
                    <a:solidFill>
                      <a:srgbClr val="495A66"/>
                    </a:solidFill>
                  </a:rPr>
                  <a:t> (12 references, fixed seed)</a:t>
                </a:r>
              </a:p>
              <a:p>
                <a:r>
                  <a:rPr lang="en-GB" sz="1600" dirty="0">
                    <a:solidFill>
                      <a:srgbClr val="495A66"/>
                    </a:solidFill>
                  </a:rPr>
                  <a:t>To evaluate the trained policy on in-distribution references we freeze a set of 12 profiles sampled from the same distribution used during training. Each profile is one of three types drawn at random:</a:t>
                </a:r>
              </a:p>
              <a:p>
                <a:r>
                  <a:rPr lang="en-US" sz="1600" b="1" noProof="1">
                    <a:solidFill>
                      <a:srgbClr val="1D3557"/>
                    </a:solidFill>
                  </a:rPr>
                  <a:t>— </a:t>
                </a:r>
                <a:r>
                  <a:rPr lang="en-GB" sz="1600" dirty="0">
                    <a:solidFill>
                      <a:srgbClr val="495A66"/>
                    </a:solidFill>
                  </a:rPr>
                  <a:t>Constant, a fixed target speed held for the full 5 s episode;</a:t>
                </a:r>
              </a:p>
              <a:p>
                <a:r>
                  <a:rPr lang="en-US" sz="1600" b="1" noProof="1">
                    <a:solidFill>
                      <a:srgbClr val="E07A5F"/>
                    </a:solidFill>
                  </a:rPr>
                  <a:t>— </a:t>
                </a:r>
                <a:r>
                  <a:rPr lang="en-GB" sz="1600" dirty="0">
                    <a:solidFill>
                      <a:srgbClr val="495A66"/>
                    </a:solidFill>
                  </a:rPr>
                  <a:t>Quintic ramp, a smooth minimum-jerk transition from one speed to another, with random start time and duration;</a:t>
                </a:r>
              </a:p>
              <a:p>
                <a:r>
                  <a:rPr lang="en-US" sz="1600" b="1" noProof="1">
                    <a:solidFill>
                      <a:srgbClr val="2A9D8F"/>
                    </a:solidFill>
                  </a:rPr>
                  <a:t>— </a:t>
                </a:r>
                <a:r>
                  <a:rPr lang="en-GB" sz="1600" dirty="0">
                    <a:solidFill>
                      <a:srgbClr val="495A66"/>
                    </a:solidFill>
                  </a:rPr>
                  <a:t>Multi-step, 2 to 4 piecewise-constant levels with random edges and amplitudes.</a:t>
                </a:r>
              </a:p>
              <a:p>
                <a:r>
                  <a:rPr lang="en-GB" sz="1600" dirty="0">
                    <a:solidFill>
                      <a:srgbClr val="495A66"/>
                    </a:solidFill>
                  </a:rPr>
                  <a:t>All references are drawn from </a:t>
                </a:r>
                <a14:m>
                  <m:oMath xmlns:m="http://schemas.openxmlformats.org/officeDocument/2006/math">
                    <m:r>
                      <a:rPr lang="en-GB" sz="1600" i="1" smtClean="0">
                        <a:solidFill>
                          <a:srgbClr val="495A66"/>
                        </a:solidFill>
                        <a:latin typeface="Cambria Math" panose="02040503050406030204" pitchFamily="18" charset="0"/>
                        <a:ea typeface="Cambria Math" panose="02040503050406030204" pitchFamily="18" charset="0"/>
                      </a:rPr>
                      <m:t>𝜔</m:t>
                    </m:r>
                    <m:r>
                      <a:rPr lang="en-GB" sz="1600" i="1" smtClean="0">
                        <a:solidFill>
                          <a:srgbClr val="495A66"/>
                        </a:solidFill>
                        <a:latin typeface="Cambria Math" panose="02040503050406030204" pitchFamily="18" charset="0"/>
                        <a:ea typeface="Cambria Math" panose="02040503050406030204" pitchFamily="18" charset="0"/>
                      </a:rPr>
                      <m:t>∈</m:t>
                    </m:r>
                    <m:d>
                      <m:dPr>
                        <m:begChr m:val="["/>
                        <m:endChr m:val="]"/>
                        <m:ctrlPr>
                          <a:rPr lang="en-GB" sz="1600" i="1" smtClean="0">
                            <a:solidFill>
                              <a:srgbClr val="495A66"/>
                            </a:solidFill>
                            <a:latin typeface="Cambria Math" panose="02040503050406030204" pitchFamily="18" charset="0"/>
                            <a:ea typeface="Cambria Math" panose="02040503050406030204" pitchFamily="18" charset="0"/>
                          </a:rPr>
                        </m:ctrlPr>
                      </m:dPr>
                      <m:e>
                        <m:r>
                          <a:rPr lang="it-IT" sz="1600" b="0" i="1" smtClean="0">
                            <a:solidFill>
                              <a:srgbClr val="495A66"/>
                            </a:solidFill>
                            <a:latin typeface="Cambria Math" panose="02040503050406030204" pitchFamily="18" charset="0"/>
                            <a:ea typeface="Cambria Math" panose="02040503050406030204" pitchFamily="18" charset="0"/>
                          </a:rPr>
                          <m:t>−12, 12</m:t>
                        </m:r>
                      </m:e>
                    </m:d>
                    <m:r>
                      <a:rPr lang="it-IT" sz="1600" b="0" i="1" smtClean="0">
                        <a:solidFill>
                          <a:srgbClr val="495A66"/>
                        </a:solidFill>
                        <a:latin typeface="Cambria Math" panose="02040503050406030204" pitchFamily="18" charset="0"/>
                        <a:ea typeface="Cambria Math" panose="02040503050406030204" pitchFamily="18" charset="0"/>
                      </a:rPr>
                      <m:t> </m:t>
                    </m:r>
                    <m:r>
                      <a:rPr lang="it-IT" sz="1600" b="0" i="1" smtClean="0">
                        <a:solidFill>
                          <a:srgbClr val="495A66"/>
                        </a:solidFill>
                        <a:latin typeface="Cambria Math" panose="02040503050406030204" pitchFamily="18" charset="0"/>
                        <a:ea typeface="Cambria Math" panose="02040503050406030204" pitchFamily="18" charset="0"/>
                      </a:rPr>
                      <m:t>𝑟𝑎𝑑</m:t>
                    </m:r>
                    <m:r>
                      <a:rPr lang="it-IT" sz="1600" b="0" i="1" smtClean="0">
                        <a:solidFill>
                          <a:srgbClr val="495A66"/>
                        </a:solidFill>
                        <a:latin typeface="Cambria Math" panose="02040503050406030204" pitchFamily="18" charset="0"/>
                        <a:ea typeface="Cambria Math" panose="02040503050406030204" pitchFamily="18" charset="0"/>
                      </a:rPr>
                      <m:t>/</m:t>
                    </m:r>
                    <m:r>
                      <a:rPr lang="it-IT" sz="1600" b="0" i="1" smtClean="0">
                        <a:solidFill>
                          <a:srgbClr val="495A66"/>
                        </a:solidFill>
                        <a:latin typeface="Cambria Math" panose="02040503050406030204" pitchFamily="18" charset="0"/>
                        <a:ea typeface="Cambria Math" panose="02040503050406030204" pitchFamily="18" charset="0"/>
                      </a:rPr>
                      <m:t>𝑠</m:t>
                    </m:r>
                  </m:oMath>
                </a14:m>
                <a:r>
                  <a:rPr lang="en-GB" sz="1600" dirty="0">
                    <a:solidFill>
                      <a:srgbClr val="495A66"/>
                    </a:solidFill>
                  </a:rPr>
                  <a:t>, matching the training range.</a:t>
                </a:r>
              </a:p>
              <a:p>
                <a:endParaRPr lang="en-GB" sz="1600" dirty="0">
                  <a:solidFill>
                    <a:srgbClr val="495A66"/>
                  </a:solidFill>
                </a:endParaRPr>
              </a:p>
              <a:p>
                <a:r>
                  <a:rPr lang="en-GB" sz="1600" b="1" dirty="0">
                    <a:solidFill>
                      <a:srgbClr val="495A66"/>
                    </a:solidFill>
                  </a:rPr>
                  <a:t>Test set </a:t>
                </a:r>
                <a:r>
                  <a:rPr lang="en-GB" sz="1600" dirty="0">
                    <a:solidFill>
                      <a:srgbClr val="495A66"/>
                    </a:solidFill>
                  </a:rPr>
                  <a:t>(7 held-out references, never seen during training)</a:t>
                </a:r>
              </a:p>
              <a:p>
                <a:r>
                  <a:rPr lang="en-GB" sz="1600" dirty="0">
                    <a:solidFill>
                      <a:srgbClr val="495A66"/>
                    </a:solidFill>
                  </a:rPr>
                  <a:t>The test set is designed to probe three failure modes:  constant references at </a:t>
                </a:r>
                <a:r>
                  <a:rPr lang="en-GB" sz="1600" i="1" dirty="0">
                    <a:solidFill>
                      <a:srgbClr val="495A66"/>
                    </a:solidFill>
                  </a:rPr>
                  <a:t>6</a:t>
                </a:r>
                <a:r>
                  <a:rPr lang="en-GB" sz="1600" dirty="0">
                    <a:solidFill>
                      <a:srgbClr val="495A66"/>
                    </a:solidFill>
                  </a:rPr>
                  <a:t>, </a:t>
                </a:r>
                <a:r>
                  <a:rPr lang="en-GB" sz="1600" i="1" dirty="0">
                    <a:solidFill>
                      <a:srgbClr val="495A66"/>
                    </a:solidFill>
                  </a:rPr>
                  <a:t>−5 </a:t>
                </a:r>
                <a:r>
                  <a:rPr lang="en-GB" sz="1600" dirty="0">
                    <a:solidFill>
                      <a:srgbClr val="495A66"/>
                    </a:solidFill>
                  </a:rPr>
                  <a:t>and 12 </a:t>
                </a:r>
                <a14:m>
                  <m:oMath xmlns:m="http://schemas.openxmlformats.org/officeDocument/2006/math">
                    <m:r>
                      <a:rPr lang="it-IT" sz="1600" i="1">
                        <a:solidFill>
                          <a:srgbClr val="495A66"/>
                        </a:solidFill>
                        <a:latin typeface="Cambria Math" panose="02040503050406030204" pitchFamily="18" charset="0"/>
                        <a:ea typeface="Cambria Math" panose="02040503050406030204" pitchFamily="18" charset="0"/>
                      </a:rPr>
                      <m:t>𝑟𝑎𝑑</m:t>
                    </m:r>
                    <m:r>
                      <a:rPr lang="it-IT" sz="1600" i="1">
                        <a:solidFill>
                          <a:srgbClr val="495A66"/>
                        </a:solidFill>
                        <a:latin typeface="Cambria Math" panose="02040503050406030204" pitchFamily="18" charset="0"/>
                        <a:ea typeface="Cambria Math" panose="02040503050406030204" pitchFamily="18" charset="0"/>
                      </a:rPr>
                      <m:t>/</m:t>
                    </m:r>
                    <m:r>
                      <a:rPr lang="it-IT" sz="1600" i="1">
                        <a:solidFill>
                          <a:srgbClr val="495A66"/>
                        </a:solidFill>
                        <a:latin typeface="Cambria Math" panose="02040503050406030204" pitchFamily="18" charset="0"/>
                        <a:ea typeface="Cambria Math" panose="02040503050406030204" pitchFamily="18" charset="0"/>
                      </a:rPr>
                      <m:t>𝑠</m:t>
                    </m:r>
                  </m:oMath>
                </a14:m>
                <a:r>
                  <a:rPr lang="en-GB" sz="1600" i="1" dirty="0">
                    <a:solidFill>
                      <a:srgbClr val="495A66"/>
                    </a:solidFill>
                  </a:rPr>
                  <a:t> </a:t>
                </a:r>
                <a:r>
                  <a:rPr lang="en-GB" sz="1600" dirty="0">
                    <a:solidFill>
                      <a:srgbClr val="495A66"/>
                    </a:solidFill>
                  </a:rPr>
                  <a:t>cover different operating points including negative speeds;  two quintic ramps (2→9 and 0→ -8 </a:t>
                </a:r>
                <a14:m>
                  <m:oMath xmlns:m="http://schemas.openxmlformats.org/officeDocument/2006/math">
                    <m:r>
                      <a:rPr lang="it-IT" sz="1600" i="1">
                        <a:solidFill>
                          <a:srgbClr val="495A66"/>
                        </a:solidFill>
                        <a:latin typeface="Cambria Math" panose="02040503050406030204" pitchFamily="18" charset="0"/>
                        <a:ea typeface="Cambria Math" panose="02040503050406030204" pitchFamily="18" charset="0"/>
                      </a:rPr>
                      <m:t>𝑟𝑎𝑑</m:t>
                    </m:r>
                    <m:r>
                      <a:rPr lang="it-IT" sz="1600" i="1">
                        <a:solidFill>
                          <a:srgbClr val="495A66"/>
                        </a:solidFill>
                        <a:latin typeface="Cambria Math" panose="02040503050406030204" pitchFamily="18" charset="0"/>
                        <a:ea typeface="Cambria Math" panose="02040503050406030204" pitchFamily="18" charset="0"/>
                      </a:rPr>
                      <m:t>/</m:t>
                    </m:r>
                    <m:r>
                      <a:rPr lang="it-IT" sz="1600" i="1">
                        <a:solidFill>
                          <a:srgbClr val="495A66"/>
                        </a:solidFill>
                        <a:latin typeface="Cambria Math" panose="02040503050406030204" pitchFamily="18" charset="0"/>
                        <a:ea typeface="Cambria Math" panose="02040503050406030204" pitchFamily="18" charset="0"/>
                      </a:rPr>
                      <m:t>𝑠</m:t>
                    </m:r>
                  </m:oMath>
                </a14:m>
                <a:r>
                  <a:rPr lang="en-GB" sz="1600" i="1" dirty="0">
                    <a:solidFill>
                      <a:srgbClr val="495A66"/>
                    </a:solidFill>
                  </a:rPr>
                  <a:t> </a:t>
                </a:r>
                <a:r>
                  <a:rPr lang="en-GB" sz="1600" dirty="0">
                    <a:solidFill>
                      <a:srgbClr val="495A66"/>
                    </a:solidFill>
                  </a:rPr>
                  <a:t>) and one step drop (8→3 rad/s) verify that generalisation holds across profile shapes and directions. The hardest probe is a constant at  14 </a:t>
                </a:r>
                <a14:m>
                  <m:oMath xmlns:m="http://schemas.openxmlformats.org/officeDocument/2006/math">
                    <m:r>
                      <a:rPr lang="it-IT" sz="1600" i="1">
                        <a:solidFill>
                          <a:srgbClr val="495A66"/>
                        </a:solidFill>
                        <a:latin typeface="Cambria Math" panose="02040503050406030204" pitchFamily="18" charset="0"/>
                        <a:ea typeface="Cambria Math" panose="02040503050406030204" pitchFamily="18" charset="0"/>
                      </a:rPr>
                      <m:t>𝑟𝑎𝑑</m:t>
                    </m:r>
                    <m:r>
                      <a:rPr lang="it-IT" sz="1600" i="1">
                        <a:solidFill>
                          <a:srgbClr val="495A66"/>
                        </a:solidFill>
                        <a:latin typeface="Cambria Math" panose="02040503050406030204" pitchFamily="18" charset="0"/>
                        <a:ea typeface="Cambria Math" panose="02040503050406030204" pitchFamily="18" charset="0"/>
                      </a:rPr>
                      <m:t>/</m:t>
                    </m:r>
                    <m:r>
                      <a:rPr lang="it-IT" sz="1600" i="1">
                        <a:solidFill>
                          <a:srgbClr val="495A66"/>
                        </a:solidFill>
                        <a:latin typeface="Cambria Math" panose="02040503050406030204" pitchFamily="18" charset="0"/>
                        <a:ea typeface="Cambria Math" panose="02040503050406030204" pitchFamily="18" charset="0"/>
                      </a:rPr>
                      <m:t>𝑠</m:t>
                    </m:r>
                  </m:oMath>
                </a14:m>
                <a:r>
                  <a:rPr lang="en-GB" sz="1600" dirty="0">
                    <a:solidFill>
                      <a:srgbClr val="495A66"/>
                    </a:solidFill>
                  </a:rPr>
                  <a:t>, beyond the training range, where any performance is pure extrapolation and the strongest evidence against overfitting.</a:t>
                </a:r>
              </a:p>
              <a:p>
                <a:endParaRPr lang="en-GB" sz="1600" dirty="0">
                  <a:solidFill>
                    <a:srgbClr val="495A66"/>
                  </a:solidFill>
                </a:endParaRPr>
              </a:p>
              <a:p>
                <a:endParaRPr lang="en-US" dirty="0"/>
              </a:p>
            </p:txBody>
          </p:sp>
        </mc:Choice>
        <mc:Fallback xmlns="">
          <p:sp>
            <p:nvSpPr>
              <p:cNvPr id="7" name="TextBox 6">
                <a:extLst>
                  <a:ext uri="{FF2B5EF4-FFF2-40B4-BE49-F238E27FC236}">
                    <a16:creationId xmlns:a16="http://schemas.microsoft.com/office/drawing/2014/main" id="{B7C6CF20-6D49-AC6E-EC45-097B582FCF4B}"/>
                  </a:ext>
                </a:extLst>
              </p:cNvPr>
              <p:cNvSpPr txBox="1">
                <a:spLocks noRot="1" noChangeAspect="1" noMove="1" noResize="1" noEditPoints="1" noAdjustHandles="1" noChangeArrowheads="1" noChangeShapeType="1" noTextEdit="1"/>
              </p:cNvSpPr>
              <p:nvPr/>
            </p:nvSpPr>
            <p:spPr>
              <a:xfrm>
                <a:off x="792675" y="2413337"/>
                <a:ext cx="10683045" cy="3816429"/>
              </a:xfrm>
              <a:prstGeom prst="rect">
                <a:avLst/>
              </a:prstGeom>
              <a:blipFill>
                <a:blip r:embed="rId2"/>
                <a:stretch>
                  <a:fillRect l="-238" t="-664"/>
                </a:stretch>
              </a:blipFill>
            </p:spPr>
            <p:txBody>
              <a:bodyPr/>
              <a:lstStyle/>
              <a:p>
                <a:r>
                  <a:rPr lang="en-US">
                    <a:noFill/>
                  </a:rPr>
                  <a:t> </a:t>
                </a:r>
              </a:p>
            </p:txBody>
          </p:sp>
        </mc:Fallback>
      </mc:AlternateContent>
    </p:spTree>
    <p:extLst>
      <p:ext uri="{BB962C8B-B14F-4D97-AF65-F5344CB8AC3E}">
        <p14:creationId xmlns:p14="http://schemas.microsoft.com/office/powerpoint/2010/main" val="360447761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BFAF6"/>
        </a:solidFill>
        <a:effectLst/>
      </p:bgPr>
    </p:bg>
    <p:spTree>
      <p:nvGrpSpPr>
        <p:cNvPr id="1" name="">
          <a:extLst>
            <a:ext uri="{FF2B5EF4-FFF2-40B4-BE49-F238E27FC236}">
              <a16:creationId xmlns:a16="http://schemas.microsoft.com/office/drawing/2014/main" id="{AAE9EAD5-8EB3-C10F-218B-DC7317A64488}"/>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F4F7BCCE-CD10-0ED0-D98B-7B7041C445FE}"/>
              </a:ext>
            </a:extLst>
          </p:cNvPr>
          <p:cNvSpPr/>
          <p:nvPr/>
        </p:nvSpPr>
        <p:spPr>
          <a:xfrm>
            <a:off x="566928" y="502920"/>
            <a:ext cx="17780" cy="5852160"/>
          </a:xfrm>
          <a:prstGeom prst="rect">
            <a:avLst/>
          </a:prstGeom>
          <a:solidFill>
            <a:srgbClr val="D9D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3" name="Rectangle 2">
            <a:extLst>
              <a:ext uri="{FF2B5EF4-FFF2-40B4-BE49-F238E27FC236}">
                <a16:creationId xmlns:a16="http://schemas.microsoft.com/office/drawing/2014/main" id="{87929D57-D08D-EED8-FCB0-541C8A1230BB}"/>
              </a:ext>
            </a:extLst>
          </p:cNvPr>
          <p:cNvSpPr/>
          <p:nvPr/>
        </p:nvSpPr>
        <p:spPr>
          <a:xfrm>
            <a:off x="566928" y="502920"/>
            <a:ext cx="30480" cy="56692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4" name="TextBox 3">
            <a:extLst>
              <a:ext uri="{FF2B5EF4-FFF2-40B4-BE49-F238E27FC236}">
                <a16:creationId xmlns:a16="http://schemas.microsoft.com/office/drawing/2014/main" id="{70AC13AC-A084-B208-CDAA-5D5C8A1D47BE}"/>
              </a:ext>
            </a:extLst>
          </p:cNvPr>
          <p:cNvSpPr txBox="1"/>
          <p:nvPr/>
        </p:nvSpPr>
        <p:spPr>
          <a:xfrm>
            <a:off x="868680" y="548640"/>
            <a:ext cx="10607040" cy="169277"/>
          </a:xfrm>
          <a:prstGeom prst="rect">
            <a:avLst/>
          </a:prstGeom>
          <a:noFill/>
        </p:spPr>
        <p:txBody>
          <a:bodyPr wrap="square" lIns="0" tIns="0" rIns="0" bIns="0" anchor="t">
            <a:spAutoFit/>
          </a:bodyPr>
          <a:lstStyle/>
          <a:p>
            <a:pPr>
              <a:lnSpc>
                <a:spcPct val="100000"/>
              </a:lnSpc>
            </a:pPr>
            <a:r>
              <a:rPr lang="en-US" sz="1100" b="1" noProof="1">
                <a:solidFill>
                  <a:srgbClr val="E07A5F"/>
                </a:solidFill>
                <a:latin typeface="Consolas"/>
              </a:rPr>
              <a:t>B5  </a:t>
            </a:r>
            <a:r>
              <a:rPr lang="en-US" sz="1100" noProof="1">
                <a:solidFill>
                  <a:srgbClr val="2A9D8F"/>
                </a:solidFill>
                <a:latin typeface="Consolas"/>
              </a:rPr>
              <a:t>RESIDUAL REINFORCEMENT LEARNING - Training</a:t>
            </a:r>
          </a:p>
        </p:txBody>
      </p:sp>
      <p:sp>
        <p:nvSpPr>
          <p:cNvPr id="6" name="TextBox 5">
            <a:extLst>
              <a:ext uri="{FF2B5EF4-FFF2-40B4-BE49-F238E27FC236}">
                <a16:creationId xmlns:a16="http://schemas.microsoft.com/office/drawing/2014/main" id="{2D5D9480-CEC7-AE55-8D12-A8CB8085B7D7}"/>
              </a:ext>
            </a:extLst>
          </p:cNvPr>
          <p:cNvSpPr txBox="1"/>
          <p:nvPr/>
        </p:nvSpPr>
        <p:spPr>
          <a:xfrm>
            <a:off x="868680" y="960120"/>
            <a:ext cx="10607040" cy="412805"/>
          </a:xfrm>
          <a:prstGeom prst="rect">
            <a:avLst/>
          </a:prstGeom>
          <a:noFill/>
        </p:spPr>
        <p:txBody>
          <a:bodyPr wrap="square" lIns="0" tIns="0" rIns="0" bIns="0" anchor="t">
            <a:spAutoFit/>
          </a:bodyPr>
          <a:lstStyle/>
          <a:p>
            <a:pPr algn="l">
              <a:lnSpc>
                <a:spcPct val="102000"/>
              </a:lnSpc>
              <a:spcBef>
                <a:spcPts val="0"/>
              </a:spcBef>
              <a:spcAft>
                <a:spcPts val="600"/>
              </a:spcAft>
            </a:pPr>
            <a:r>
              <a:rPr lang="en-US" sz="2800" b="1" noProof="1">
                <a:solidFill>
                  <a:srgbClr val="1D3557"/>
                </a:solidFill>
                <a:latin typeface="Georgia"/>
              </a:rPr>
              <a:t>Neural Network Architecture</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A0E0C80-F213-5FF5-678C-95D8C0A22B50}"/>
                  </a:ext>
                </a:extLst>
              </p:cNvPr>
              <p:cNvSpPr txBox="1"/>
              <p:nvPr/>
            </p:nvSpPr>
            <p:spPr>
              <a:xfrm>
                <a:off x="792675" y="1372925"/>
                <a:ext cx="10832397" cy="830997"/>
              </a:xfrm>
              <a:prstGeom prst="rect">
                <a:avLst/>
              </a:prstGeom>
              <a:noFill/>
            </p:spPr>
            <p:txBody>
              <a:bodyPr wrap="square" rtlCol="0">
                <a:spAutoFit/>
              </a:bodyPr>
              <a:lstStyle/>
              <a:p>
                <a:r>
                  <a:rPr lang="en-GB" sz="1600" dirty="0">
                    <a:solidFill>
                      <a:srgbClr val="495A66"/>
                    </a:solidFill>
                  </a:rPr>
                  <a:t>The correction </a:t>
                </a:r>
                <a14:m>
                  <m:oMath xmlns:m="http://schemas.openxmlformats.org/officeDocument/2006/math">
                    <m:r>
                      <a:rPr lang="en-GB" sz="1600" i="1" smtClean="0">
                        <a:solidFill>
                          <a:srgbClr val="495A66"/>
                        </a:solidFill>
                        <a:latin typeface="Cambria Math" panose="02040503050406030204" pitchFamily="18" charset="0"/>
                        <a:ea typeface="Cambria Math" panose="02040503050406030204" pitchFamily="18" charset="0"/>
                      </a:rPr>
                      <m:t>∆</m:t>
                    </m:r>
                    <m:r>
                      <a:rPr lang="it-IT" sz="1600" b="0" i="1" smtClean="0">
                        <a:solidFill>
                          <a:srgbClr val="495A66"/>
                        </a:solidFill>
                        <a:latin typeface="Cambria Math" panose="02040503050406030204" pitchFamily="18" charset="0"/>
                        <a:ea typeface="Cambria Math" panose="02040503050406030204" pitchFamily="18" charset="0"/>
                      </a:rPr>
                      <m:t>𝑉</m:t>
                    </m:r>
                  </m:oMath>
                </a14:m>
                <a:r>
                  <a:rPr lang="en-GB" sz="1600" dirty="0">
                    <a:solidFill>
                      <a:srgbClr val="495A66"/>
                    </a:solidFill>
                  </a:rPr>
                  <a:t> the PI is missing depends on rod angle, operating speed, and reference profile in a </a:t>
                </a:r>
                <a:r>
                  <a:rPr lang="en-GB" sz="1600" b="1" dirty="0">
                    <a:solidFill>
                      <a:srgbClr val="495A66"/>
                    </a:solidFill>
                  </a:rPr>
                  <a:t>nonlinear</a:t>
                </a:r>
                <a:r>
                  <a:rPr lang="en-GB" sz="1600" dirty="0">
                    <a:solidFill>
                      <a:srgbClr val="495A66"/>
                    </a:solidFill>
                  </a:rPr>
                  <a:t> way and the input is a vector of six physical </a:t>
                </a:r>
                <a:r>
                  <a:rPr lang="en-GB" sz="1600" b="1" dirty="0">
                    <a:solidFill>
                      <a:srgbClr val="495A66"/>
                    </a:solidFill>
                  </a:rPr>
                  <a:t>scalars</a:t>
                </a:r>
                <a:r>
                  <a:rPr lang="en-GB" sz="1600" dirty="0">
                    <a:solidFill>
                      <a:srgbClr val="495A66"/>
                    </a:solidFill>
                  </a:rPr>
                  <a:t> with </a:t>
                </a:r>
                <a:r>
                  <a:rPr lang="en-GB" sz="1600" b="1" dirty="0">
                    <a:solidFill>
                      <a:srgbClr val="495A66"/>
                    </a:solidFill>
                  </a:rPr>
                  <a:t>no spatial structure </a:t>
                </a:r>
                <a:r>
                  <a:rPr lang="en-GB" sz="1600" dirty="0">
                    <a:solidFill>
                      <a:srgbClr val="495A66"/>
                    </a:solidFill>
                  </a:rPr>
                  <a:t>and </a:t>
                </a:r>
                <a:r>
                  <a:rPr lang="en-GB" sz="1600" b="1" dirty="0">
                    <a:solidFill>
                      <a:srgbClr val="495A66"/>
                    </a:solidFill>
                  </a:rPr>
                  <a:t>no temporal ordering</a:t>
                </a:r>
                <a:r>
                  <a:rPr lang="en-GB" sz="1600" dirty="0">
                    <a:solidFill>
                      <a:srgbClr val="495A66"/>
                    </a:solidFill>
                  </a:rPr>
                  <a:t>. An </a:t>
                </a:r>
                <a:r>
                  <a:rPr lang="en-GB" sz="1600" b="1" dirty="0">
                    <a:solidFill>
                      <a:srgbClr val="495A66"/>
                    </a:solidFill>
                  </a:rPr>
                  <a:t>MLP</a:t>
                </a:r>
                <a:r>
                  <a:rPr lang="en-GB" sz="1600" dirty="0">
                    <a:solidFill>
                      <a:srgbClr val="495A66"/>
                    </a:solidFill>
                  </a:rPr>
                  <a:t> is the natural choice: it learns an arbitrary smooth mapping from </a:t>
                </a:r>
                <a14:m>
                  <m:oMath xmlns:m="http://schemas.openxmlformats.org/officeDocument/2006/math">
                    <m:sSup>
                      <m:sSupPr>
                        <m:ctrlPr>
                          <a:rPr lang="en-GB" sz="1600" i="1" smtClean="0">
                            <a:solidFill>
                              <a:srgbClr val="495A66"/>
                            </a:solidFill>
                            <a:latin typeface="Cambria Math" panose="02040503050406030204" pitchFamily="18" charset="0"/>
                          </a:rPr>
                        </m:ctrlPr>
                      </m:sSupPr>
                      <m:e>
                        <m:r>
                          <a:rPr lang="en-GB" sz="1600" i="1" smtClean="0">
                            <a:solidFill>
                              <a:srgbClr val="495A66"/>
                            </a:solidFill>
                            <a:latin typeface="Cambria Math" panose="02040503050406030204" pitchFamily="18" charset="0"/>
                            <a:ea typeface="Cambria Math" panose="02040503050406030204" pitchFamily="18" charset="0"/>
                          </a:rPr>
                          <m:t>ℝ</m:t>
                        </m:r>
                      </m:e>
                      <m:sup>
                        <m:r>
                          <a:rPr lang="it-IT" sz="1600" b="0" i="1" smtClean="0">
                            <a:solidFill>
                              <a:srgbClr val="495A66"/>
                            </a:solidFill>
                            <a:latin typeface="Cambria Math" panose="02040503050406030204" pitchFamily="18" charset="0"/>
                          </a:rPr>
                          <m:t>6 </m:t>
                        </m:r>
                      </m:sup>
                    </m:sSup>
                  </m:oMath>
                </a14:m>
                <a:r>
                  <a:rPr lang="en-GB" sz="1600" dirty="0">
                    <a:solidFill>
                      <a:srgbClr val="495A66"/>
                    </a:solidFill>
                  </a:rPr>
                  <a:t>to </a:t>
                </a:r>
                <a14:m>
                  <m:oMath xmlns:m="http://schemas.openxmlformats.org/officeDocument/2006/math">
                    <m:sSup>
                      <m:sSupPr>
                        <m:ctrlPr>
                          <a:rPr lang="en-GB" sz="1600" i="1">
                            <a:solidFill>
                              <a:srgbClr val="495A66"/>
                            </a:solidFill>
                            <a:latin typeface="Cambria Math" panose="02040503050406030204" pitchFamily="18" charset="0"/>
                          </a:rPr>
                        </m:ctrlPr>
                      </m:sSupPr>
                      <m:e>
                        <m:r>
                          <a:rPr lang="en-GB" sz="1600" i="1">
                            <a:solidFill>
                              <a:srgbClr val="495A66"/>
                            </a:solidFill>
                            <a:latin typeface="Cambria Math" panose="02040503050406030204" pitchFamily="18" charset="0"/>
                            <a:ea typeface="Cambria Math" panose="02040503050406030204" pitchFamily="18" charset="0"/>
                          </a:rPr>
                          <m:t>ℝ</m:t>
                        </m:r>
                      </m:e>
                      <m:sup>
                        <m:r>
                          <a:rPr lang="it-IT" sz="1600" b="0" i="1" smtClean="0">
                            <a:solidFill>
                              <a:srgbClr val="495A66"/>
                            </a:solidFill>
                            <a:latin typeface="Cambria Math" panose="02040503050406030204" pitchFamily="18" charset="0"/>
                            <a:ea typeface="Cambria Math" panose="02040503050406030204" pitchFamily="18" charset="0"/>
                          </a:rPr>
                          <m:t>1</m:t>
                        </m:r>
                        <m:r>
                          <a:rPr lang="it-IT" sz="1600" i="1">
                            <a:solidFill>
                              <a:srgbClr val="495A66"/>
                            </a:solidFill>
                            <a:latin typeface="Cambria Math" panose="02040503050406030204" pitchFamily="18" charset="0"/>
                          </a:rPr>
                          <m:t> </m:t>
                        </m:r>
                      </m:sup>
                    </m:sSup>
                  </m:oMath>
                </a14:m>
                <a:r>
                  <a:rPr lang="en-GB" sz="1600" dirty="0">
                    <a:solidFill>
                      <a:srgbClr val="495A66"/>
                    </a:solidFill>
                  </a:rPr>
                  <a:t>with no inductive bias that would conflict with the problem structure.</a:t>
                </a:r>
                <a:endParaRPr lang="en-US" sz="1600" dirty="0">
                  <a:solidFill>
                    <a:srgbClr val="495A66"/>
                  </a:solidFill>
                </a:endParaRPr>
              </a:p>
            </p:txBody>
          </p:sp>
        </mc:Choice>
        <mc:Fallback xmlns="">
          <p:sp>
            <p:nvSpPr>
              <p:cNvPr id="5" name="TextBox 4">
                <a:extLst>
                  <a:ext uri="{FF2B5EF4-FFF2-40B4-BE49-F238E27FC236}">
                    <a16:creationId xmlns:a16="http://schemas.microsoft.com/office/drawing/2014/main" id="{EA0E0C80-F213-5FF5-678C-95D8C0A22B50}"/>
                  </a:ext>
                </a:extLst>
              </p:cNvPr>
              <p:cNvSpPr txBox="1">
                <a:spLocks noRot="1" noChangeAspect="1" noMove="1" noResize="1" noEditPoints="1" noAdjustHandles="1" noChangeArrowheads="1" noChangeShapeType="1" noTextEdit="1"/>
              </p:cNvSpPr>
              <p:nvPr/>
            </p:nvSpPr>
            <p:spPr>
              <a:xfrm>
                <a:off x="792675" y="1372925"/>
                <a:ext cx="10832397" cy="830997"/>
              </a:xfrm>
              <a:prstGeom prst="rect">
                <a:avLst/>
              </a:prstGeom>
              <a:blipFill>
                <a:blip r:embed="rId2"/>
                <a:stretch>
                  <a:fillRect l="-234" t="-3030" r="-351" b="-9091"/>
                </a:stretch>
              </a:blipFill>
            </p:spPr>
            <p:txBody>
              <a:bodyPr/>
              <a:lstStyle/>
              <a:p>
                <a:r>
                  <a:rPr lang="en-US">
                    <a:noFill/>
                  </a:rPr>
                  <a:t> </a:t>
                </a:r>
              </a:p>
            </p:txBody>
          </p:sp>
        </mc:Fallback>
      </mc:AlternateContent>
      <p:sp>
        <p:nvSpPr>
          <p:cNvPr id="114" name="TextBox 113">
            <a:extLst>
              <a:ext uri="{FF2B5EF4-FFF2-40B4-BE49-F238E27FC236}">
                <a16:creationId xmlns:a16="http://schemas.microsoft.com/office/drawing/2014/main" id="{63D6258A-F66E-73EA-ABEF-2D5CC150B34C}"/>
              </a:ext>
            </a:extLst>
          </p:cNvPr>
          <p:cNvSpPr txBox="1"/>
          <p:nvPr/>
        </p:nvSpPr>
        <p:spPr>
          <a:xfrm>
            <a:off x="4772570" y="2258410"/>
            <a:ext cx="2965513" cy="265457"/>
          </a:xfrm>
          <a:prstGeom prst="rect">
            <a:avLst/>
          </a:prstGeom>
          <a:noFill/>
        </p:spPr>
        <p:txBody>
          <a:bodyPr wrap="square" rtlCol="0">
            <a:spAutoFit/>
          </a:bodyPr>
          <a:lstStyle/>
          <a:p>
            <a:pPr algn="l"/>
            <a:r>
              <a:rPr lang="en-US" sz="1125" b="1" spc="0" baseline="0" dirty="0">
                <a:ln/>
                <a:solidFill>
                  <a:srgbClr val="003366"/>
                </a:solidFill>
                <a:latin typeface="Helvetica Neue"/>
                <a:ea typeface="Helvetica Neue"/>
                <a:cs typeface="Helvetica Neue"/>
                <a:sym typeface="Helvetica Neue"/>
                <a:rtl val="0"/>
              </a:rPr>
              <a:t>MLP Policy Network — π_θ : </a:t>
            </a:r>
            <a:r>
              <a:rPr lang="en-US" sz="1125" b="1" spc="0" baseline="0" dirty="0">
                <a:ln/>
                <a:solidFill>
                  <a:srgbClr val="003366"/>
                </a:solidFill>
                <a:latin typeface="Cambria Math"/>
                <a:ea typeface="Cambria Math"/>
                <a:cs typeface="Helvetica Neue"/>
                <a:sym typeface="Cambria Math"/>
                <a:rtl val="0"/>
              </a:rPr>
              <a:t>ℝ</a:t>
            </a:r>
            <a:r>
              <a:rPr lang="en-US" sz="1125" b="1" spc="0" baseline="0" dirty="0">
                <a:ln/>
                <a:solidFill>
                  <a:srgbClr val="003366"/>
                </a:solidFill>
                <a:latin typeface="Helvetica Neue"/>
                <a:ea typeface="Helvetica Neue"/>
                <a:cs typeface="Helvetica Neue"/>
                <a:sym typeface="Helvetica Neue"/>
                <a:rtl val="0"/>
              </a:rPr>
              <a:t>⁶ </a:t>
            </a:r>
            <a:r>
              <a:rPr lang="en-US" sz="1125" b="1" spc="0" baseline="0" dirty="0">
                <a:ln/>
                <a:solidFill>
                  <a:srgbClr val="003366"/>
                </a:solidFill>
                <a:latin typeface="Times New Roman"/>
                <a:ea typeface="Helvetica Neue"/>
                <a:cs typeface="Times New Roman"/>
                <a:sym typeface="Times New Roman"/>
                <a:rtl val="0"/>
              </a:rPr>
              <a:t>→</a:t>
            </a:r>
            <a:r>
              <a:rPr lang="en-US" sz="1125" b="1" spc="0" baseline="0" dirty="0">
                <a:ln/>
                <a:solidFill>
                  <a:srgbClr val="003366"/>
                </a:solidFill>
                <a:latin typeface="Helvetica Neue"/>
                <a:ea typeface="Helvetica Neue"/>
                <a:cs typeface="Helvetica Neue"/>
                <a:sym typeface="Helvetica Neue"/>
                <a:rtl val="0"/>
              </a:rPr>
              <a:t> [−1, 1]</a:t>
            </a:r>
          </a:p>
        </p:txBody>
      </p:sp>
      <p:sp>
        <p:nvSpPr>
          <p:cNvPr id="115" name="TextBox 114">
            <a:extLst>
              <a:ext uri="{FF2B5EF4-FFF2-40B4-BE49-F238E27FC236}">
                <a16:creationId xmlns:a16="http://schemas.microsoft.com/office/drawing/2014/main" id="{1F6A0849-627F-CB88-E91E-8B3493F7A69B}"/>
              </a:ext>
            </a:extLst>
          </p:cNvPr>
          <p:cNvSpPr txBox="1"/>
          <p:nvPr/>
        </p:nvSpPr>
        <p:spPr>
          <a:xfrm>
            <a:off x="3100989" y="2523908"/>
            <a:ext cx="1061656" cy="219291"/>
          </a:xfrm>
          <a:prstGeom prst="rect">
            <a:avLst/>
          </a:prstGeom>
          <a:noFill/>
        </p:spPr>
        <p:txBody>
          <a:bodyPr wrap="square" rtlCol="0">
            <a:spAutoFit/>
          </a:bodyPr>
          <a:lstStyle/>
          <a:p>
            <a:pPr algn="l"/>
            <a:r>
              <a:rPr lang="en-US" sz="825" b="1" spc="0" baseline="0" dirty="0">
                <a:ln/>
                <a:solidFill>
                  <a:srgbClr val="003366"/>
                </a:solidFill>
                <a:latin typeface="Helvetica Neue"/>
                <a:ea typeface="Helvetica Neue"/>
                <a:cs typeface="Helvetica Neue"/>
                <a:sym typeface="Helvetica Neue"/>
                <a:rtl val="0"/>
              </a:rPr>
              <a:t>INPUT LAYER</a:t>
            </a:r>
          </a:p>
        </p:txBody>
      </p:sp>
      <p:sp>
        <p:nvSpPr>
          <p:cNvPr id="116" name="TextBox 115">
            <a:extLst>
              <a:ext uri="{FF2B5EF4-FFF2-40B4-BE49-F238E27FC236}">
                <a16:creationId xmlns:a16="http://schemas.microsoft.com/office/drawing/2014/main" id="{32639A39-5F2D-51BA-521D-C816BA00C9C5}"/>
              </a:ext>
            </a:extLst>
          </p:cNvPr>
          <p:cNvSpPr txBox="1"/>
          <p:nvPr/>
        </p:nvSpPr>
        <p:spPr>
          <a:xfrm>
            <a:off x="3237568" y="2649567"/>
            <a:ext cx="606266" cy="207749"/>
          </a:xfrm>
          <a:prstGeom prst="rect">
            <a:avLst/>
          </a:prstGeom>
          <a:noFill/>
        </p:spPr>
        <p:txBody>
          <a:bodyPr wrap="square" rtlCol="0">
            <a:spAutoFit/>
          </a:bodyPr>
          <a:lstStyle/>
          <a:p>
            <a:pPr algn="l"/>
            <a:r>
              <a:rPr lang="en-US" sz="750" spc="0" baseline="0" dirty="0">
                <a:ln/>
                <a:solidFill>
                  <a:srgbClr val="003366"/>
                </a:solidFill>
                <a:latin typeface="Helvetica Neue"/>
                <a:ea typeface="Helvetica Neue"/>
                <a:cs typeface="Helvetica Neue"/>
                <a:sym typeface="Helvetica Neue"/>
                <a:rtl val="0"/>
              </a:rPr>
              <a:t>6 features</a:t>
            </a:r>
          </a:p>
        </p:txBody>
      </p:sp>
      <p:sp>
        <p:nvSpPr>
          <p:cNvPr id="117" name="TextBox 116">
            <a:extLst>
              <a:ext uri="{FF2B5EF4-FFF2-40B4-BE49-F238E27FC236}">
                <a16:creationId xmlns:a16="http://schemas.microsoft.com/office/drawing/2014/main" id="{225D10DA-CCBF-5F6D-3FF7-056FB0757596}"/>
              </a:ext>
            </a:extLst>
          </p:cNvPr>
          <p:cNvSpPr txBox="1"/>
          <p:nvPr/>
        </p:nvSpPr>
        <p:spPr>
          <a:xfrm>
            <a:off x="5770980" y="2523908"/>
            <a:ext cx="1284270" cy="219291"/>
          </a:xfrm>
          <a:prstGeom prst="rect">
            <a:avLst/>
          </a:prstGeom>
          <a:noFill/>
        </p:spPr>
        <p:txBody>
          <a:bodyPr wrap="square" rtlCol="0">
            <a:spAutoFit/>
          </a:bodyPr>
          <a:lstStyle/>
          <a:p>
            <a:pPr algn="l"/>
            <a:r>
              <a:rPr lang="en-US" sz="825" b="1" spc="0" baseline="0" dirty="0">
                <a:ln/>
                <a:solidFill>
                  <a:srgbClr val="009999"/>
                </a:solidFill>
                <a:latin typeface="Helvetica Neue"/>
                <a:ea typeface="Helvetica Neue"/>
                <a:cs typeface="Helvetica Neue"/>
                <a:sym typeface="Helvetica Neue"/>
                <a:rtl val="0"/>
              </a:rPr>
              <a:t>HIDDEN LAYER</a:t>
            </a:r>
          </a:p>
        </p:txBody>
      </p:sp>
      <p:sp>
        <p:nvSpPr>
          <p:cNvPr id="118" name="TextBox 117">
            <a:extLst>
              <a:ext uri="{FF2B5EF4-FFF2-40B4-BE49-F238E27FC236}">
                <a16:creationId xmlns:a16="http://schemas.microsoft.com/office/drawing/2014/main" id="{D0693036-9E93-6ED2-F437-90F36E01FD45}"/>
              </a:ext>
            </a:extLst>
          </p:cNvPr>
          <p:cNvSpPr txBox="1"/>
          <p:nvPr/>
        </p:nvSpPr>
        <p:spPr>
          <a:xfrm>
            <a:off x="5836560" y="2649567"/>
            <a:ext cx="978945" cy="207749"/>
          </a:xfrm>
          <a:prstGeom prst="rect">
            <a:avLst/>
          </a:prstGeom>
          <a:noFill/>
        </p:spPr>
        <p:txBody>
          <a:bodyPr wrap="square" rtlCol="0">
            <a:spAutoFit/>
          </a:bodyPr>
          <a:lstStyle/>
          <a:p>
            <a:pPr algn="l"/>
            <a:r>
              <a:rPr lang="en-US" sz="750" spc="0" baseline="0" dirty="0">
                <a:ln/>
                <a:solidFill>
                  <a:srgbClr val="009999"/>
                </a:solidFill>
                <a:latin typeface="Helvetica Neue"/>
                <a:ea typeface="Helvetica Neue"/>
                <a:cs typeface="Helvetica Neue"/>
                <a:sym typeface="Helvetica Neue"/>
                <a:rtl val="0"/>
              </a:rPr>
              <a:t>64 units · ReLU</a:t>
            </a:r>
          </a:p>
        </p:txBody>
      </p:sp>
      <p:sp>
        <p:nvSpPr>
          <p:cNvPr id="119" name="TextBox 118">
            <a:extLst>
              <a:ext uri="{FF2B5EF4-FFF2-40B4-BE49-F238E27FC236}">
                <a16:creationId xmlns:a16="http://schemas.microsoft.com/office/drawing/2014/main" id="{F8B6079B-588B-8D0A-4507-E340204D79A6}"/>
              </a:ext>
            </a:extLst>
          </p:cNvPr>
          <p:cNvSpPr txBox="1"/>
          <p:nvPr/>
        </p:nvSpPr>
        <p:spPr>
          <a:xfrm>
            <a:off x="8648188" y="2523908"/>
            <a:ext cx="1185192" cy="219291"/>
          </a:xfrm>
          <a:prstGeom prst="rect">
            <a:avLst/>
          </a:prstGeom>
          <a:noFill/>
        </p:spPr>
        <p:txBody>
          <a:bodyPr wrap="square" rtlCol="0">
            <a:spAutoFit/>
          </a:bodyPr>
          <a:lstStyle/>
          <a:p>
            <a:pPr algn="l"/>
            <a:r>
              <a:rPr lang="en-US" sz="825" b="1" spc="0" baseline="0" dirty="0">
                <a:ln/>
                <a:solidFill>
                  <a:srgbClr val="CC6633"/>
                </a:solidFill>
                <a:latin typeface="Helvetica Neue"/>
                <a:ea typeface="Helvetica Neue"/>
                <a:cs typeface="Helvetica Neue"/>
                <a:sym typeface="Helvetica Neue"/>
                <a:rtl val="0"/>
              </a:rPr>
              <a:t>OUTPUT LAYER</a:t>
            </a:r>
          </a:p>
        </p:txBody>
      </p:sp>
      <p:sp>
        <p:nvSpPr>
          <p:cNvPr id="120" name="TextBox 119">
            <a:extLst>
              <a:ext uri="{FF2B5EF4-FFF2-40B4-BE49-F238E27FC236}">
                <a16:creationId xmlns:a16="http://schemas.microsoft.com/office/drawing/2014/main" id="{1440336F-CAB2-4456-07FE-0466F9066088}"/>
              </a:ext>
            </a:extLst>
          </p:cNvPr>
          <p:cNvSpPr txBox="1"/>
          <p:nvPr/>
        </p:nvSpPr>
        <p:spPr>
          <a:xfrm>
            <a:off x="8802264" y="2649567"/>
            <a:ext cx="685895" cy="207749"/>
          </a:xfrm>
          <a:prstGeom prst="rect">
            <a:avLst/>
          </a:prstGeom>
          <a:noFill/>
        </p:spPr>
        <p:txBody>
          <a:bodyPr wrap="square" rtlCol="0">
            <a:spAutoFit/>
          </a:bodyPr>
          <a:lstStyle/>
          <a:p>
            <a:pPr algn="l"/>
            <a:r>
              <a:rPr lang="en-US" sz="750" spc="0" baseline="0" dirty="0">
                <a:ln/>
                <a:solidFill>
                  <a:srgbClr val="CC6633"/>
                </a:solidFill>
                <a:latin typeface="Helvetica Neue"/>
                <a:ea typeface="Helvetica Neue"/>
                <a:cs typeface="Helvetica Neue"/>
                <a:sym typeface="Helvetica Neue"/>
                <a:rtl val="0"/>
              </a:rPr>
              <a:t>1 unit · tanh</a:t>
            </a:r>
          </a:p>
        </p:txBody>
      </p:sp>
      <p:grpSp>
        <p:nvGrpSpPr>
          <p:cNvPr id="121" name="Graphic 10">
            <a:extLst>
              <a:ext uri="{FF2B5EF4-FFF2-40B4-BE49-F238E27FC236}">
                <a16:creationId xmlns:a16="http://schemas.microsoft.com/office/drawing/2014/main" id="{88035595-CC50-BC26-36BD-DDAAD7329D1F}"/>
              </a:ext>
            </a:extLst>
          </p:cNvPr>
          <p:cNvGrpSpPr/>
          <p:nvPr/>
        </p:nvGrpSpPr>
        <p:grpSpPr>
          <a:xfrm>
            <a:off x="3921702" y="3014265"/>
            <a:ext cx="1857375" cy="1998371"/>
            <a:chOff x="3838575" y="2925255"/>
            <a:chExt cx="1857375" cy="1998371"/>
          </a:xfrm>
        </p:grpSpPr>
        <p:sp>
          <p:nvSpPr>
            <p:cNvPr id="122" name="Freeform 121">
              <a:extLst>
                <a:ext uri="{FF2B5EF4-FFF2-40B4-BE49-F238E27FC236}">
                  <a16:creationId xmlns:a16="http://schemas.microsoft.com/office/drawing/2014/main" id="{3BAF0509-DFCB-3877-7A47-6BA08534BA93}"/>
                </a:ext>
              </a:extLst>
            </p:cNvPr>
            <p:cNvSpPr/>
            <p:nvPr/>
          </p:nvSpPr>
          <p:spPr>
            <a:xfrm>
              <a:off x="3838575" y="2925255"/>
              <a:ext cx="1857375" cy="66612"/>
            </a:xfrm>
            <a:custGeom>
              <a:avLst/>
              <a:gdLst>
                <a:gd name="csX0" fmla="*/ 0 w 1857375"/>
                <a:gd name="csY0" fmla="*/ 66612 h 66612"/>
                <a:gd name="csX1" fmla="*/ 1857375 w 1857375"/>
                <a:gd name="csY1" fmla="*/ 0 h 66612"/>
              </a:gdLst>
              <a:ahLst/>
              <a:cxnLst>
                <a:cxn ang="0">
                  <a:pos x="csX0" y="csY0"/>
                </a:cxn>
                <a:cxn ang="0">
                  <a:pos x="csX1" y="csY1"/>
                </a:cxn>
              </a:cxnLst>
              <a:rect l="l" t="t" r="r" b="b"/>
              <a:pathLst>
                <a:path w="1857375" h="66612">
                  <a:moveTo>
                    <a:pt x="0" y="66612"/>
                  </a:moveTo>
                  <a:lnTo>
                    <a:pt x="1857375" y="0"/>
                  </a:lnTo>
                </a:path>
              </a:pathLst>
            </a:custGeom>
            <a:ln w="4763" cap="flat">
              <a:solidFill>
                <a:srgbClr val="003366">
                  <a:alpha val="19496"/>
                </a:srgbClr>
              </a:solidFill>
              <a:prstDash val="solid"/>
              <a:miter/>
            </a:ln>
          </p:spPr>
          <p:txBody>
            <a:bodyPr/>
            <a:lstStyle/>
            <a:p>
              <a:endParaRPr lang="en-US" dirty="0"/>
            </a:p>
          </p:txBody>
        </p:sp>
        <p:sp>
          <p:nvSpPr>
            <p:cNvPr id="123" name="Freeform 122">
              <a:extLst>
                <a:ext uri="{FF2B5EF4-FFF2-40B4-BE49-F238E27FC236}">
                  <a16:creationId xmlns:a16="http://schemas.microsoft.com/office/drawing/2014/main" id="{AF816755-A067-07FB-7667-433AA7A6BEF0}"/>
                </a:ext>
              </a:extLst>
            </p:cNvPr>
            <p:cNvSpPr/>
            <p:nvPr/>
          </p:nvSpPr>
          <p:spPr>
            <a:xfrm>
              <a:off x="3838575" y="2991868"/>
              <a:ext cx="1857375" cy="266449"/>
            </a:xfrm>
            <a:custGeom>
              <a:avLst/>
              <a:gdLst>
                <a:gd name="csX0" fmla="*/ 0 w 1857375"/>
                <a:gd name="csY0" fmla="*/ 0 h 266449"/>
                <a:gd name="csX1" fmla="*/ 1857375 w 1857375"/>
                <a:gd name="csY1" fmla="*/ 266450 h 266449"/>
              </a:gdLst>
              <a:ahLst/>
              <a:cxnLst>
                <a:cxn ang="0">
                  <a:pos x="csX0" y="csY0"/>
                </a:cxn>
                <a:cxn ang="0">
                  <a:pos x="csX1" y="csY1"/>
                </a:cxn>
              </a:cxnLst>
              <a:rect l="l" t="t" r="r" b="b"/>
              <a:pathLst>
                <a:path w="1857375" h="266449">
                  <a:moveTo>
                    <a:pt x="0" y="0"/>
                  </a:moveTo>
                  <a:lnTo>
                    <a:pt x="1857375" y="266450"/>
                  </a:lnTo>
                </a:path>
              </a:pathLst>
            </a:custGeom>
            <a:ln w="4763" cap="flat">
              <a:solidFill>
                <a:srgbClr val="003366">
                  <a:alpha val="19496"/>
                </a:srgbClr>
              </a:solidFill>
              <a:prstDash val="solid"/>
              <a:miter/>
            </a:ln>
          </p:spPr>
          <p:txBody>
            <a:bodyPr/>
            <a:lstStyle/>
            <a:p>
              <a:endParaRPr lang="en-US" dirty="0"/>
            </a:p>
          </p:txBody>
        </p:sp>
        <p:sp>
          <p:nvSpPr>
            <p:cNvPr id="124" name="Freeform 123">
              <a:extLst>
                <a:ext uri="{FF2B5EF4-FFF2-40B4-BE49-F238E27FC236}">
                  <a16:creationId xmlns:a16="http://schemas.microsoft.com/office/drawing/2014/main" id="{0A9C5953-7E82-3B9C-4D63-23658DC02B54}"/>
                </a:ext>
              </a:extLst>
            </p:cNvPr>
            <p:cNvSpPr/>
            <p:nvPr/>
          </p:nvSpPr>
          <p:spPr>
            <a:xfrm>
              <a:off x="3838575" y="2991868"/>
              <a:ext cx="1857375" cy="599511"/>
            </a:xfrm>
            <a:custGeom>
              <a:avLst/>
              <a:gdLst>
                <a:gd name="csX0" fmla="*/ 0 w 1857375"/>
                <a:gd name="csY0" fmla="*/ 0 h 599511"/>
                <a:gd name="csX1" fmla="*/ 1857375 w 1857375"/>
                <a:gd name="csY1" fmla="*/ 599512 h 599511"/>
              </a:gdLst>
              <a:ahLst/>
              <a:cxnLst>
                <a:cxn ang="0">
                  <a:pos x="csX0" y="csY0"/>
                </a:cxn>
                <a:cxn ang="0">
                  <a:pos x="csX1" y="csY1"/>
                </a:cxn>
              </a:cxnLst>
              <a:rect l="l" t="t" r="r" b="b"/>
              <a:pathLst>
                <a:path w="1857375" h="599511">
                  <a:moveTo>
                    <a:pt x="0" y="0"/>
                  </a:moveTo>
                  <a:lnTo>
                    <a:pt x="1857375" y="599512"/>
                  </a:lnTo>
                </a:path>
              </a:pathLst>
            </a:custGeom>
            <a:ln w="4763" cap="flat">
              <a:solidFill>
                <a:srgbClr val="003366">
                  <a:alpha val="19496"/>
                </a:srgbClr>
              </a:solidFill>
              <a:prstDash val="solid"/>
              <a:miter/>
            </a:ln>
          </p:spPr>
          <p:txBody>
            <a:bodyPr/>
            <a:lstStyle/>
            <a:p>
              <a:endParaRPr lang="en-US" dirty="0"/>
            </a:p>
          </p:txBody>
        </p:sp>
        <p:sp>
          <p:nvSpPr>
            <p:cNvPr id="125" name="Freeform 124">
              <a:extLst>
                <a:ext uri="{FF2B5EF4-FFF2-40B4-BE49-F238E27FC236}">
                  <a16:creationId xmlns:a16="http://schemas.microsoft.com/office/drawing/2014/main" id="{98B3A84B-896A-8F78-A417-4E224F124106}"/>
                </a:ext>
              </a:extLst>
            </p:cNvPr>
            <p:cNvSpPr/>
            <p:nvPr/>
          </p:nvSpPr>
          <p:spPr>
            <a:xfrm>
              <a:off x="3838575" y="2991868"/>
              <a:ext cx="1857375" cy="1265635"/>
            </a:xfrm>
            <a:custGeom>
              <a:avLst/>
              <a:gdLst>
                <a:gd name="csX0" fmla="*/ 0 w 1857375"/>
                <a:gd name="csY0" fmla="*/ 0 h 1265635"/>
                <a:gd name="csX1" fmla="*/ 1857375 w 1857375"/>
                <a:gd name="csY1" fmla="*/ 1265636 h 1265635"/>
              </a:gdLst>
              <a:ahLst/>
              <a:cxnLst>
                <a:cxn ang="0">
                  <a:pos x="csX0" y="csY0"/>
                </a:cxn>
                <a:cxn ang="0">
                  <a:pos x="csX1" y="csY1"/>
                </a:cxn>
              </a:cxnLst>
              <a:rect l="l" t="t" r="r" b="b"/>
              <a:pathLst>
                <a:path w="1857375" h="1265635">
                  <a:moveTo>
                    <a:pt x="0" y="0"/>
                  </a:moveTo>
                  <a:lnTo>
                    <a:pt x="1857375" y="1265636"/>
                  </a:lnTo>
                </a:path>
              </a:pathLst>
            </a:custGeom>
            <a:ln w="4763" cap="flat">
              <a:solidFill>
                <a:srgbClr val="003366">
                  <a:alpha val="19496"/>
                </a:srgbClr>
              </a:solidFill>
              <a:prstDash val="solid"/>
              <a:miter/>
            </a:ln>
          </p:spPr>
          <p:txBody>
            <a:bodyPr/>
            <a:lstStyle/>
            <a:p>
              <a:endParaRPr lang="en-US" dirty="0"/>
            </a:p>
          </p:txBody>
        </p:sp>
        <p:sp>
          <p:nvSpPr>
            <p:cNvPr id="126" name="Freeform 125">
              <a:extLst>
                <a:ext uri="{FF2B5EF4-FFF2-40B4-BE49-F238E27FC236}">
                  <a16:creationId xmlns:a16="http://schemas.microsoft.com/office/drawing/2014/main" id="{945B4DA9-E43B-CAFF-228B-2AD3E39467C1}"/>
                </a:ext>
              </a:extLst>
            </p:cNvPr>
            <p:cNvSpPr/>
            <p:nvPr/>
          </p:nvSpPr>
          <p:spPr>
            <a:xfrm>
              <a:off x="3838575" y="2991868"/>
              <a:ext cx="1857375" cy="1598697"/>
            </a:xfrm>
            <a:custGeom>
              <a:avLst/>
              <a:gdLst>
                <a:gd name="csX0" fmla="*/ 0 w 1857375"/>
                <a:gd name="csY0" fmla="*/ 0 h 1598697"/>
                <a:gd name="csX1" fmla="*/ 1857375 w 1857375"/>
                <a:gd name="csY1" fmla="*/ 1598698 h 1598697"/>
              </a:gdLst>
              <a:ahLst/>
              <a:cxnLst>
                <a:cxn ang="0">
                  <a:pos x="csX0" y="csY0"/>
                </a:cxn>
                <a:cxn ang="0">
                  <a:pos x="csX1" y="csY1"/>
                </a:cxn>
              </a:cxnLst>
              <a:rect l="l" t="t" r="r" b="b"/>
              <a:pathLst>
                <a:path w="1857375" h="1598697">
                  <a:moveTo>
                    <a:pt x="0" y="0"/>
                  </a:moveTo>
                  <a:lnTo>
                    <a:pt x="1857375" y="1598698"/>
                  </a:lnTo>
                </a:path>
              </a:pathLst>
            </a:custGeom>
            <a:ln w="4763" cap="flat">
              <a:solidFill>
                <a:srgbClr val="003366">
                  <a:alpha val="19496"/>
                </a:srgbClr>
              </a:solidFill>
              <a:prstDash val="solid"/>
              <a:miter/>
            </a:ln>
          </p:spPr>
          <p:txBody>
            <a:bodyPr/>
            <a:lstStyle/>
            <a:p>
              <a:endParaRPr lang="en-US" dirty="0"/>
            </a:p>
          </p:txBody>
        </p:sp>
        <p:sp>
          <p:nvSpPr>
            <p:cNvPr id="127" name="Freeform 126">
              <a:extLst>
                <a:ext uri="{FF2B5EF4-FFF2-40B4-BE49-F238E27FC236}">
                  <a16:creationId xmlns:a16="http://schemas.microsoft.com/office/drawing/2014/main" id="{52F59D97-3990-C104-E58F-E6EDC9E501E0}"/>
                </a:ext>
              </a:extLst>
            </p:cNvPr>
            <p:cNvSpPr/>
            <p:nvPr/>
          </p:nvSpPr>
          <p:spPr>
            <a:xfrm>
              <a:off x="3838575" y="2991868"/>
              <a:ext cx="1857375" cy="1931759"/>
            </a:xfrm>
            <a:custGeom>
              <a:avLst/>
              <a:gdLst>
                <a:gd name="csX0" fmla="*/ 0 w 1857375"/>
                <a:gd name="csY0" fmla="*/ 0 h 1931759"/>
                <a:gd name="csX1" fmla="*/ 1857375 w 1857375"/>
                <a:gd name="csY1" fmla="*/ 1931759 h 1931759"/>
              </a:gdLst>
              <a:ahLst/>
              <a:cxnLst>
                <a:cxn ang="0">
                  <a:pos x="csX0" y="csY0"/>
                </a:cxn>
                <a:cxn ang="0">
                  <a:pos x="csX1" y="csY1"/>
                </a:cxn>
              </a:cxnLst>
              <a:rect l="l" t="t" r="r" b="b"/>
              <a:pathLst>
                <a:path w="1857375" h="1931759">
                  <a:moveTo>
                    <a:pt x="0" y="0"/>
                  </a:moveTo>
                  <a:lnTo>
                    <a:pt x="1857375" y="1931759"/>
                  </a:lnTo>
                </a:path>
              </a:pathLst>
            </a:custGeom>
            <a:ln w="4763" cap="flat">
              <a:solidFill>
                <a:srgbClr val="003366">
                  <a:alpha val="19496"/>
                </a:srgbClr>
              </a:solidFill>
              <a:prstDash val="solid"/>
              <a:miter/>
            </a:ln>
          </p:spPr>
          <p:txBody>
            <a:bodyPr/>
            <a:lstStyle/>
            <a:p>
              <a:endParaRPr lang="en-US" dirty="0"/>
            </a:p>
          </p:txBody>
        </p:sp>
        <p:sp>
          <p:nvSpPr>
            <p:cNvPr id="128" name="Freeform 127">
              <a:extLst>
                <a:ext uri="{FF2B5EF4-FFF2-40B4-BE49-F238E27FC236}">
                  <a16:creationId xmlns:a16="http://schemas.microsoft.com/office/drawing/2014/main" id="{4EDABFF3-A585-2AB7-1FAD-D08A7BA2AA04}"/>
                </a:ext>
              </a:extLst>
            </p:cNvPr>
            <p:cNvSpPr/>
            <p:nvPr/>
          </p:nvSpPr>
          <p:spPr>
            <a:xfrm>
              <a:off x="3838575" y="2925255"/>
              <a:ext cx="1857375" cy="428222"/>
            </a:xfrm>
            <a:custGeom>
              <a:avLst/>
              <a:gdLst>
                <a:gd name="csX0" fmla="*/ 0 w 1857375"/>
                <a:gd name="csY0" fmla="*/ 428223 h 428222"/>
                <a:gd name="csX1" fmla="*/ 1857375 w 1857375"/>
                <a:gd name="csY1" fmla="*/ 0 h 428222"/>
              </a:gdLst>
              <a:ahLst/>
              <a:cxnLst>
                <a:cxn ang="0">
                  <a:pos x="csX0" y="csY0"/>
                </a:cxn>
                <a:cxn ang="0">
                  <a:pos x="csX1" y="csY1"/>
                </a:cxn>
              </a:cxnLst>
              <a:rect l="l" t="t" r="r" b="b"/>
              <a:pathLst>
                <a:path w="1857375" h="428222">
                  <a:moveTo>
                    <a:pt x="0" y="428223"/>
                  </a:moveTo>
                  <a:lnTo>
                    <a:pt x="1857375" y="0"/>
                  </a:lnTo>
                </a:path>
              </a:pathLst>
            </a:custGeom>
            <a:ln w="4763" cap="flat">
              <a:solidFill>
                <a:srgbClr val="003366">
                  <a:alpha val="19496"/>
                </a:srgbClr>
              </a:solidFill>
              <a:prstDash val="solid"/>
              <a:miter/>
            </a:ln>
          </p:spPr>
          <p:txBody>
            <a:bodyPr/>
            <a:lstStyle/>
            <a:p>
              <a:endParaRPr lang="en-US" dirty="0"/>
            </a:p>
          </p:txBody>
        </p:sp>
        <p:sp>
          <p:nvSpPr>
            <p:cNvPr id="129" name="Freeform 128">
              <a:extLst>
                <a:ext uri="{FF2B5EF4-FFF2-40B4-BE49-F238E27FC236}">
                  <a16:creationId xmlns:a16="http://schemas.microsoft.com/office/drawing/2014/main" id="{247A3FE7-9025-21DA-6F70-15931D59BDB9}"/>
                </a:ext>
              </a:extLst>
            </p:cNvPr>
            <p:cNvSpPr/>
            <p:nvPr/>
          </p:nvSpPr>
          <p:spPr>
            <a:xfrm>
              <a:off x="3838575" y="3258317"/>
              <a:ext cx="1857375" cy="95160"/>
            </a:xfrm>
            <a:custGeom>
              <a:avLst/>
              <a:gdLst>
                <a:gd name="csX0" fmla="*/ 0 w 1857375"/>
                <a:gd name="csY0" fmla="*/ 95161 h 95160"/>
                <a:gd name="csX1" fmla="*/ 1857375 w 1857375"/>
                <a:gd name="csY1" fmla="*/ 0 h 95160"/>
              </a:gdLst>
              <a:ahLst/>
              <a:cxnLst>
                <a:cxn ang="0">
                  <a:pos x="csX0" y="csY0"/>
                </a:cxn>
                <a:cxn ang="0">
                  <a:pos x="csX1" y="csY1"/>
                </a:cxn>
              </a:cxnLst>
              <a:rect l="l" t="t" r="r" b="b"/>
              <a:pathLst>
                <a:path w="1857375" h="95160">
                  <a:moveTo>
                    <a:pt x="0" y="95161"/>
                  </a:moveTo>
                  <a:lnTo>
                    <a:pt x="1857375" y="0"/>
                  </a:lnTo>
                </a:path>
              </a:pathLst>
            </a:custGeom>
            <a:ln w="4763" cap="flat">
              <a:solidFill>
                <a:srgbClr val="003366">
                  <a:alpha val="19496"/>
                </a:srgbClr>
              </a:solidFill>
              <a:prstDash val="solid"/>
              <a:miter/>
            </a:ln>
          </p:spPr>
          <p:txBody>
            <a:bodyPr/>
            <a:lstStyle/>
            <a:p>
              <a:endParaRPr lang="en-US" dirty="0"/>
            </a:p>
          </p:txBody>
        </p:sp>
        <p:sp>
          <p:nvSpPr>
            <p:cNvPr id="130" name="Freeform 129">
              <a:extLst>
                <a:ext uri="{FF2B5EF4-FFF2-40B4-BE49-F238E27FC236}">
                  <a16:creationId xmlns:a16="http://schemas.microsoft.com/office/drawing/2014/main" id="{3F4B31C1-F4DF-60F3-CB92-85144508388D}"/>
                </a:ext>
              </a:extLst>
            </p:cNvPr>
            <p:cNvSpPr/>
            <p:nvPr/>
          </p:nvSpPr>
          <p:spPr>
            <a:xfrm>
              <a:off x="3838575" y="3353478"/>
              <a:ext cx="1857375" cy="237901"/>
            </a:xfrm>
            <a:custGeom>
              <a:avLst/>
              <a:gdLst>
                <a:gd name="csX0" fmla="*/ 0 w 1857375"/>
                <a:gd name="csY0" fmla="*/ 0 h 237901"/>
                <a:gd name="csX1" fmla="*/ 1857375 w 1857375"/>
                <a:gd name="csY1" fmla="*/ 237901 h 237901"/>
              </a:gdLst>
              <a:ahLst/>
              <a:cxnLst>
                <a:cxn ang="0">
                  <a:pos x="csX0" y="csY0"/>
                </a:cxn>
                <a:cxn ang="0">
                  <a:pos x="csX1" y="csY1"/>
                </a:cxn>
              </a:cxnLst>
              <a:rect l="l" t="t" r="r" b="b"/>
              <a:pathLst>
                <a:path w="1857375" h="237901">
                  <a:moveTo>
                    <a:pt x="0" y="0"/>
                  </a:moveTo>
                  <a:lnTo>
                    <a:pt x="1857375" y="237901"/>
                  </a:lnTo>
                </a:path>
              </a:pathLst>
            </a:custGeom>
            <a:ln w="4763" cap="flat">
              <a:solidFill>
                <a:srgbClr val="003366">
                  <a:alpha val="19496"/>
                </a:srgbClr>
              </a:solidFill>
              <a:prstDash val="solid"/>
              <a:miter/>
            </a:ln>
          </p:spPr>
          <p:txBody>
            <a:bodyPr/>
            <a:lstStyle/>
            <a:p>
              <a:endParaRPr lang="en-US" dirty="0"/>
            </a:p>
          </p:txBody>
        </p:sp>
        <p:sp>
          <p:nvSpPr>
            <p:cNvPr id="131" name="Freeform 130">
              <a:extLst>
                <a:ext uri="{FF2B5EF4-FFF2-40B4-BE49-F238E27FC236}">
                  <a16:creationId xmlns:a16="http://schemas.microsoft.com/office/drawing/2014/main" id="{91572E5B-7175-5832-3E61-B0FA37680ADA}"/>
                </a:ext>
              </a:extLst>
            </p:cNvPr>
            <p:cNvSpPr/>
            <p:nvPr/>
          </p:nvSpPr>
          <p:spPr>
            <a:xfrm>
              <a:off x="3838575" y="3353478"/>
              <a:ext cx="1857375" cy="904025"/>
            </a:xfrm>
            <a:custGeom>
              <a:avLst/>
              <a:gdLst>
                <a:gd name="csX0" fmla="*/ 0 w 1857375"/>
                <a:gd name="csY0" fmla="*/ 0 h 904025"/>
                <a:gd name="csX1" fmla="*/ 1857375 w 1857375"/>
                <a:gd name="csY1" fmla="*/ 904025 h 904025"/>
              </a:gdLst>
              <a:ahLst/>
              <a:cxnLst>
                <a:cxn ang="0">
                  <a:pos x="csX0" y="csY0"/>
                </a:cxn>
                <a:cxn ang="0">
                  <a:pos x="csX1" y="csY1"/>
                </a:cxn>
              </a:cxnLst>
              <a:rect l="l" t="t" r="r" b="b"/>
              <a:pathLst>
                <a:path w="1857375" h="904025">
                  <a:moveTo>
                    <a:pt x="0" y="0"/>
                  </a:moveTo>
                  <a:lnTo>
                    <a:pt x="1857375" y="904025"/>
                  </a:lnTo>
                </a:path>
              </a:pathLst>
            </a:custGeom>
            <a:ln w="4763" cap="flat">
              <a:solidFill>
                <a:srgbClr val="003366">
                  <a:alpha val="19496"/>
                </a:srgbClr>
              </a:solidFill>
              <a:prstDash val="solid"/>
              <a:miter/>
            </a:ln>
          </p:spPr>
          <p:txBody>
            <a:bodyPr/>
            <a:lstStyle/>
            <a:p>
              <a:endParaRPr lang="en-US" dirty="0"/>
            </a:p>
          </p:txBody>
        </p:sp>
        <p:sp>
          <p:nvSpPr>
            <p:cNvPr id="132" name="Freeform 131">
              <a:extLst>
                <a:ext uri="{FF2B5EF4-FFF2-40B4-BE49-F238E27FC236}">
                  <a16:creationId xmlns:a16="http://schemas.microsoft.com/office/drawing/2014/main" id="{98C7D65A-E0AE-B609-257B-FE7119CF6E79}"/>
                </a:ext>
              </a:extLst>
            </p:cNvPr>
            <p:cNvSpPr/>
            <p:nvPr/>
          </p:nvSpPr>
          <p:spPr>
            <a:xfrm>
              <a:off x="3838575" y="3353478"/>
              <a:ext cx="1857375" cy="1237087"/>
            </a:xfrm>
            <a:custGeom>
              <a:avLst/>
              <a:gdLst>
                <a:gd name="csX0" fmla="*/ 0 w 1857375"/>
                <a:gd name="csY0" fmla="*/ 0 h 1237087"/>
                <a:gd name="csX1" fmla="*/ 1857375 w 1857375"/>
                <a:gd name="csY1" fmla="*/ 1237087 h 1237087"/>
              </a:gdLst>
              <a:ahLst/>
              <a:cxnLst>
                <a:cxn ang="0">
                  <a:pos x="csX0" y="csY0"/>
                </a:cxn>
                <a:cxn ang="0">
                  <a:pos x="csX1" y="csY1"/>
                </a:cxn>
              </a:cxnLst>
              <a:rect l="l" t="t" r="r" b="b"/>
              <a:pathLst>
                <a:path w="1857375" h="1237087">
                  <a:moveTo>
                    <a:pt x="0" y="0"/>
                  </a:moveTo>
                  <a:lnTo>
                    <a:pt x="1857375" y="1237087"/>
                  </a:lnTo>
                </a:path>
              </a:pathLst>
            </a:custGeom>
            <a:ln w="4763" cap="flat">
              <a:solidFill>
                <a:srgbClr val="003366">
                  <a:alpha val="19496"/>
                </a:srgbClr>
              </a:solidFill>
              <a:prstDash val="solid"/>
              <a:miter/>
            </a:ln>
          </p:spPr>
          <p:txBody>
            <a:bodyPr/>
            <a:lstStyle/>
            <a:p>
              <a:endParaRPr lang="en-US" dirty="0"/>
            </a:p>
          </p:txBody>
        </p:sp>
        <p:sp>
          <p:nvSpPr>
            <p:cNvPr id="133" name="Freeform 132">
              <a:extLst>
                <a:ext uri="{FF2B5EF4-FFF2-40B4-BE49-F238E27FC236}">
                  <a16:creationId xmlns:a16="http://schemas.microsoft.com/office/drawing/2014/main" id="{D95359EA-DB50-B674-EBCD-D6E56285D9DB}"/>
                </a:ext>
              </a:extLst>
            </p:cNvPr>
            <p:cNvSpPr/>
            <p:nvPr/>
          </p:nvSpPr>
          <p:spPr>
            <a:xfrm>
              <a:off x="3838575" y="3353478"/>
              <a:ext cx="1857375" cy="1570149"/>
            </a:xfrm>
            <a:custGeom>
              <a:avLst/>
              <a:gdLst>
                <a:gd name="csX0" fmla="*/ 0 w 1857375"/>
                <a:gd name="csY0" fmla="*/ 0 h 1570149"/>
                <a:gd name="csX1" fmla="*/ 1857375 w 1857375"/>
                <a:gd name="csY1" fmla="*/ 1570149 h 1570149"/>
              </a:gdLst>
              <a:ahLst/>
              <a:cxnLst>
                <a:cxn ang="0">
                  <a:pos x="csX0" y="csY0"/>
                </a:cxn>
                <a:cxn ang="0">
                  <a:pos x="csX1" y="csY1"/>
                </a:cxn>
              </a:cxnLst>
              <a:rect l="l" t="t" r="r" b="b"/>
              <a:pathLst>
                <a:path w="1857375" h="1570149">
                  <a:moveTo>
                    <a:pt x="0" y="0"/>
                  </a:moveTo>
                  <a:lnTo>
                    <a:pt x="1857375" y="1570149"/>
                  </a:lnTo>
                </a:path>
              </a:pathLst>
            </a:custGeom>
            <a:ln w="4763" cap="flat">
              <a:solidFill>
                <a:srgbClr val="003366">
                  <a:alpha val="19496"/>
                </a:srgbClr>
              </a:solidFill>
              <a:prstDash val="solid"/>
              <a:miter/>
            </a:ln>
          </p:spPr>
          <p:txBody>
            <a:bodyPr/>
            <a:lstStyle/>
            <a:p>
              <a:endParaRPr lang="en-US" dirty="0"/>
            </a:p>
          </p:txBody>
        </p:sp>
        <p:sp>
          <p:nvSpPr>
            <p:cNvPr id="134" name="Freeform 133">
              <a:extLst>
                <a:ext uri="{FF2B5EF4-FFF2-40B4-BE49-F238E27FC236}">
                  <a16:creationId xmlns:a16="http://schemas.microsoft.com/office/drawing/2014/main" id="{7BEB1900-23DD-EF15-56C0-0DE516DBE39A}"/>
                </a:ext>
              </a:extLst>
            </p:cNvPr>
            <p:cNvSpPr/>
            <p:nvPr/>
          </p:nvSpPr>
          <p:spPr>
            <a:xfrm>
              <a:off x="3838575" y="2925255"/>
              <a:ext cx="1857375" cy="789832"/>
            </a:xfrm>
            <a:custGeom>
              <a:avLst/>
              <a:gdLst>
                <a:gd name="csX0" fmla="*/ 0 w 1857375"/>
                <a:gd name="csY0" fmla="*/ 789833 h 789832"/>
                <a:gd name="csX1" fmla="*/ 1857375 w 1857375"/>
                <a:gd name="csY1" fmla="*/ 0 h 789832"/>
              </a:gdLst>
              <a:ahLst/>
              <a:cxnLst>
                <a:cxn ang="0">
                  <a:pos x="csX0" y="csY0"/>
                </a:cxn>
                <a:cxn ang="0">
                  <a:pos x="csX1" y="csY1"/>
                </a:cxn>
              </a:cxnLst>
              <a:rect l="l" t="t" r="r" b="b"/>
              <a:pathLst>
                <a:path w="1857375" h="789832">
                  <a:moveTo>
                    <a:pt x="0" y="789833"/>
                  </a:moveTo>
                  <a:lnTo>
                    <a:pt x="1857375" y="0"/>
                  </a:lnTo>
                </a:path>
              </a:pathLst>
            </a:custGeom>
            <a:ln w="4763" cap="flat">
              <a:solidFill>
                <a:srgbClr val="003366">
                  <a:alpha val="19496"/>
                </a:srgbClr>
              </a:solidFill>
              <a:prstDash val="solid"/>
              <a:miter/>
            </a:ln>
          </p:spPr>
          <p:txBody>
            <a:bodyPr/>
            <a:lstStyle/>
            <a:p>
              <a:endParaRPr lang="en-US" dirty="0"/>
            </a:p>
          </p:txBody>
        </p:sp>
        <p:sp>
          <p:nvSpPr>
            <p:cNvPr id="135" name="Freeform 134">
              <a:extLst>
                <a:ext uri="{FF2B5EF4-FFF2-40B4-BE49-F238E27FC236}">
                  <a16:creationId xmlns:a16="http://schemas.microsoft.com/office/drawing/2014/main" id="{F029FF30-1621-A32D-DC59-B4FDCA80A33C}"/>
                </a:ext>
              </a:extLst>
            </p:cNvPr>
            <p:cNvSpPr/>
            <p:nvPr/>
          </p:nvSpPr>
          <p:spPr>
            <a:xfrm>
              <a:off x="3838575" y="3258317"/>
              <a:ext cx="1857375" cy="456770"/>
            </a:xfrm>
            <a:custGeom>
              <a:avLst/>
              <a:gdLst>
                <a:gd name="csX0" fmla="*/ 0 w 1857375"/>
                <a:gd name="csY0" fmla="*/ 456771 h 456770"/>
                <a:gd name="csX1" fmla="*/ 1857375 w 1857375"/>
                <a:gd name="csY1" fmla="*/ 0 h 456770"/>
              </a:gdLst>
              <a:ahLst/>
              <a:cxnLst>
                <a:cxn ang="0">
                  <a:pos x="csX0" y="csY0"/>
                </a:cxn>
                <a:cxn ang="0">
                  <a:pos x="csX1" y="csY1"/>
                </a:cxn>
              </a:cxnLst>
              <a:rect l="l" t="t" r="r" b="b"/>
              <a:pathLst>
                <a:path w="1857375" h="456770">
                  <a:moveTo>
                    <a:pt x="0" y="456771"/>
                  </a:moveTo>
                  <a:lnTo>
                    <a:pt x="1857375" y="0"/>
                  </a:lnTo>
                </a:path>
              </a:pathLst>
            </a:custGeom>
            <a:ln w="4763" cap="flat">
              <a:solidFill>
                <a:srgbClr val="003366">
                  <a:alpha val="19496"/>
                </a:srgbClr>
              </a:solidFill>
              <a:prstDash val="solid"/>
              <a:miter/>
            </a:ln>
          </p:spPr>
          <p:txBody>
            <a:bodyPr/>
            <a:lstStyle/>
            <a:p>
              <a:endParaRPr lang="en-US" dirty="0"/>
            </a:p>
          </p:txBody>
        </p:sp>
        <p:sp>
          <p:nvSpPr>
            <p:cNvPr id="136" name="Freeform 135">
              <a:extLst>
                <a:ext uri="{FF2B5EF4-FFF2-40B4-BE49-F238E27FC236}">
                  <a16:creationId xmlns:a16="http://schemas.microsoft.com/office/drawing/2014/main" id="{EED59500-02CC-70DA-6D1D-3E40BF880EC0}"/>
                </a:ext>
              </a:extLst>
            </p:cNvPr>
            <p:cNvSpPr/>
            <p:nvPr/>
          </p:nvSpPr>
          <p:spPr>
            <a:xfrm>
              <a:off x="3838575" y="3591379"/>
              <a:ext cx="1857375" cy="123708"/>
            </a:xfrm>
            <a:custGeom>
              <a:avLst/>
              <a:gdLst>
                <a:gd name="csX0" fmla="*/ 0 w 1857375"/>
                <a:gd name="csY0" fmla="*/ 123709 h 123708"/>
                <a:gd name="csX1" fmla="*/ 1857375 w 1857375"/>
                <a:gd name="csY1" fmla="*/ 0 h 123708"/>
              </a:gdLst>
              <a:ahLst/>
              <a:cxnLst>
                <a:cxn ang="0">
                  <a:pos x="csX0" y="csY0"/>
                </a:cxn>
                <a:cxn ang="0">
                  <a:pos x="csX1" y="csY1"/>
                </a:cxn>
              </a:cxnLst>
              <a:rect l="l" t="t" r="r" b="b"/>
              <a:pathLst>
                <a:path w="1857375" h="123708">
                  <a:moveTo>
                    <a:pt x="0" y="123709"/>
                  </a:moveTo>
                  <a:lnTo>
                    <a:pt x="1857375" y="0"/>
                  </a:lnTo>
                </a:path>
              </a:pathLst>
            </a:custGeom>
            <a:ln w="4763" cap="flat">
              <a:solidFill>
                <a:srgbClr val="003366">
                  <a:alpha val="19496"/>
                </a:srgbClr>
              </a:solidFill>
              <a:prstDash val="solid"/>
              <a:miter/>
            </a:ln>
          </p:spPr>
          <p:txBody>
            <a:bodyPr/>
            <a:lstStyle/>
            <a:p>
              <a:endParaRPr lang="en-US" dirty="0"/>
            </a:p>
          </p:txBody>
        </p:sp>
        <p:sp>
          <p:nvSpPr>
            <p:cNvPr id="137" name="Freeform 136">
              <a:extLst>
                <a:ext uri="{FF2B5EF4-FFF2-40B4-BE49-F238E27FC236}">
                  <a16:creationId xmlns:a16="http://schemas.microsoft.com/office/drawing/2014/main" id="{4EEF5CEC-12A6-B16B-9B8E-3CF72FCF2425}"/>
                </a:ext>
              </a:extLst>
            </p:cNvPr>
            <p:cNvSpPr/>
            <p:nvPr/>
          </p:nvSpPr>
          <p:spPr>
            <a:xfrm>
              <a:off x="3838575" y="3715088"/>
              <a:ext cx="1857375" cy="542415"/>
            </a:xfrm>
            <a:custGeom>
              <a:avLst/>
              <a:gdLst>
                <a:gd name="csX0" fmla="*/ 0 w 1857375"/>
                <a:gd name="csY0" fmla="*/ 0 h 542415"/>
                <a:gd name="csX1" fmla="*/ 1857375 w 1857375"/>
                <a:gd name="csY1" fmla="*/ 542415 h 542415"/>
              </a:gdLst>
              <a:ahLst/>
              <a:cxnLst>
                <a:cxn ang="0">
                  <a:pos x="csX0" y="csY0"/>
                </a:cxn>
                <a:cxn ang="0">
                  <a:pos x="csX1" y="csY1"/>
                </a:cxn>
              </a:cxnLst>
              <a:rect l="l" t="t" r="r" b="b"/>
              <a:pathLst>
                <a:path w="1857375" h="542415">
                  <a:moveTo>
                    <a:pt x="0" y="0"/>
                  </a:moveTo>
                  <a:lnTo>
                    <a:pt x="1857375" y="542415"/>
                  </a:lnTo>
                </a:path>
              </a:pathLst>
            </a:custGeom>
            <a:ln w="4763" cap="flat">
              <a:solidFill>
                <a:srgbClr val="003366">
                  <a:alpha val="19496"/>
                </a:srgbClr>
              </a:solidFill>
              <a:prstDash val="solid"/>
              <a:miter/>
            </a:ln>
          </p:spPr>
          <p:txBody>
            <a:bodyPr/>
            <a:lstStyle/>
            <a:p>
              <a:endParaRPr lang="en-US" dirty="0"/>
            </a:p>
          </p:txBody>
        </p:sp>
        <p:sp>
          <p:nvSpPr>
            <p:cNvPr id="138" name="Freeform 137">
              <a:extLst>
                <a:ext uri="{FF2B5EF4-FFF2-40B4-BE49-F238E27FC236}">
                  <a16:creationId xmlns:a16="http://schemas.microsoft.com/office/drawing/2014/main" id="{B2B0F42E-760B-D4DB-8978-B2391734301D}"/>
                </a:ext>
              </a:extLst>
            </p:cNvPr>
            <p:cNvSpPr/>
            <p:nvPr/>
          </p:nvSpPr>
          <p:spPr>
            <a:xfrm>
              <a:off x="3838575" y="3715088"/>
              <a:ext cx="1857375" cy="875477"/>
            </a:xfrm>
            <a:custGeom>
              <a:avLst/>
              <a:gdLst>
                <a:gd name="csX0" fmla="*/ 0 w 1857375"/>
                <a:gd name="csY0" fmla="*/ 0 h 875477"/>
                <a:gd name="csX1" fmla="*/ 1857375 w 1857375"/>
                <a:gd name="csY1" fmla="*/ 875477 h 875477"/>
              </a:gdLst>
              <a:ahLst/>
              <a:cxnLst>
                <a:cxn ang="0">
                  <a:pos x="csX0" y="csY0"/>
                </a:cxn>
                <a:cxn ang="0">
                  <a:pos x="csX1" y="csY1"/>
                </a:cxn>
              </a:cxnLst>
              <a:rect l="l" t="t" r="r" b="b"/>
              <a:pathLst>
                <a:path w="1857375" h="875477">
                  <a:moveTo>
                    <a:pt x="0" y="0"/>
                  </a:moveTo>
                  <a:lnTo>
                    <a:pt x="1857375" y="875477"/>
                  </a:lnTo>
                </a:path>
              </a:pathLst>
            </a:custGeom>
            <a:ln w="4763" cap="flat">
              <a:solidFill>
                <a:srgbClr val="003366">
                  <a:alpha val="19496"/>
                </a:srgbClr>
              </a:solidFill>
              <a:prstDash val="solid"/>
              <a:miter/>
            </a:ln>
          </p:spPr>
          <p:txBody>
            <a:bodyPr/>
            <a:lstStyle/>
            <a:p>
              <a:endParaRPr lang="en-US" dirty="0"/>
            </a:p>
          </p:txBody>
        </p:sp>
        <p:sp>
          <p:nvSpPr>
            <p:cNvPr id="139" name="Freeform 138">
              <a:extLst>
                <a:ext uri="{FF2B5EF4-FFF2-40B4-BE49-F238E27FC236}">
                  <a16:creationId xmlns:a16="http://schemas.microsoft.com/office/drawing/2014/main" id="{3D633F88-77F7-4F73-C154-AE8929BBD143}"/>
                </a:ext>
              </a:extLst>
            </p:cNvPr>
            <p:cNvSpPr/>
            <p:nvPr/>
          </p:nvSpPr>
          <p:spPr>
            <a:xfrm>
              <a:off x="3838575" y="3715088"/>
              <a:ext cx="1857375" cy="1208539"/>
            </a:xfrm>
            <a:custGeom>
              <a:avLst/>
              <a:gdLst>
                <a:gd name="csX0" fmla="*/ 0 w 1857375"/>
                <a:gd name="csY0" fmla="*/ 0 h 1208539"/>
                <a:gd name="csX1" fmla="*/ 1857375 w 1857375"/>
                <a:gd name="csY1" fmla="*/ 1208539 h 1208539"/>
              </a:gdLst>
              <a:ahLst/>
              <a:cxnLst>
                <a:cxn ang="0">
                  <a:pos x="csX0" y="csY0"/>
                </a:cxn>
                <a:cxn ang="0">
                  <a:pos x="csX1" y="csY1"/>
                </a:cxn>
              </a:cxnLst>
              <a:rect l="l" t="t" r="r" b="b"/>
              <a:pathLst>
                <a:path w="1857375" h="1208539">
                  <a:moveTo>
                    <a:pt x="0" y="0"/>
                  </a:moveTo>
                  <a:lnTo>
                    <a:pt x="1857375" y="1208539"/>
                  </a:lnTo>
                </a:path>
              </a:pathLst>
            </a:custGeom>
            <a:ln w="4763" cap="flat">
              <a:solidFill>
                <a:srgbClr val="003366">
                  <a:alpha val="19496"/>
                </a:srgbClr>
              </a:solidFill>
              <a:prstDash val="solid"/>
              <a:miter/>
            </a:ln>
          </p:spPr>
          <p:txBody>
            <a:bodyPr/>
            <a:lstStyle/>
            <a:p>
              <a:endParaRPr lang="en-US" dirty="0"/>
            </a:p>
          </p:txBody>
        </p:sp>
        <p:sp>
          <p:nvSpPr>
            <p:cNvPr id="140" name="Freeform 139">
              <a:extLst>
                <a:ext uri="{FF2B5EF4-FFF2-40B4-BE49-F238E27FC236}">
                  <a16:creationId xmlns:a16="http://schemas.microsoft.com/office/drawing/2014/main" id="{435FC7F7-A00D-7107-CA3C-B12A75225BBC}"/>
                </a:ext>
              </a:extLst>
            </p:cNvPr>
            <p:cNvSpPr/>
            <p:nvPr/>
          </p:nvSpPr>
          <p:spPr>
            <a:xfrm>
              <a:off x="3838575" y="2925255"/>
              <a:ext cx="1857375" cy="1151442"/>
            </a:xfrm>
            <a:custGeom>
              <a:avLst/>
              <a:gdLst>
                <a:gd name="csX0" fmla="*/ 0 w 1857375"/>
                <a:gd name="csY0" fmla="*/ 1151443 h 1151442"/>
                <a:gd name="csX1" fmla="*/ 1857375 w 1857375"/>
                <a:gd name="csY1" fmla="*/ 0 h 1151442"/>
              </a:gdLst>
              <a:ahLst/>
              <a:cxnLst>
                <a:cxn ang="0">
                  <a:pos x="csX0" y="csY0"/>
                </a:cxn>
                <a:cxn ang="0">
                  <a:pos x="csX1" y="csY1"/>
                </a:cxn>
              </a:cxnLst>
              <a:rect l="l" t="t" r="r" b="b"/>
              <a:pathLst>
                <a:path w="1857375" h="1151442">
                  <a:moveTo>
                    <a:pt x="0" y="1151443"/>
                  </a:moveTo>
                  <a:lnTo>
                    <a:pt x="1857375" y="0"/>
                  </a:lnTo>
                </a:path>
              </a:pathLst>
            </a:custGeom>
            <a:ln w="4763" cap="flat">
              <a:solidFill>
                <a:srgbClr val="003366">
                  <a:alpha val="19496"/>
                </a:srgbClr>
              </a:solidFill>
              <a:prstDash val="solid"/>
              <a:miter/>
            </a:ln>
          </p:spPr>
          <p:txBody>
            <a:bodyPr/>
            <a:lstStyle/>
            <a:p>
              <a:endParaRPr lang="en-US" dirty="0"/>
            </a:p>
          </p:txBody>
        </p:sp>
        <p:sp>
          <p:nvSpPr>
            <p:cNvPr id="141" name="Freeform 140">
              <a:extLst>
                <a:ext uri="{FF2B5EF4-FFF2-40B4-BE49-F238E27FC236}">
                  <a16:creationId xmlns:a16="http://schemas.microsoft.com/office/drawing/2014/main" id="{FC297CB9-8139-8D46-FB2E-F094CF57F7D6}"/>
                </a:ext>
              </a:extLst>
            </p:cNvPr>
            <p:cNvSpPr/>
            <p:nvPr/>
          </p:nvSpPr>
          <p:spPr>
            <a:xfrm>
              <a:off x="3838575" y="3258317"/>
              <a:ext cx="1857375" cy="818380"/>
            </a:xfrm>
            <a:custGeom>
              <a:avLst/>
              <a:gdLst>
                <a:gd name="csX0" fmla="*/ 0 w 1857375"/>
                <a:gd name="csY0" fmla="*/ 818381 h 818380"/>
                <a:gd name="csX1" fmla="*/ 1857375 w 1857375"/>
                <a:gd name="csY1" fmla="*/ 0 h 818380"/>
              </a:gdLst>
              <a:ahLst/>
              <a:cxnLst>
                <a:cxn ang="0">
                  <a:pos x="csX0" y="csY0"/>
                </a:cxn>
                <a:cxn ang="0">
                  <a:pos x="csX1" y="csY1"/>
                </a:cxn>
              </a:cxnLst>
              <a:rect l="l" t="t" r="r" b="b"/>
              <a:pathLst>
                <a:path w="1857375" h="818380">
                  <a:moveTo>
                    <a:pt x="0" y="818381"/>
                  </a:moveTo>
                  <a:lnTo>
                    <a:pt x="1857375" y="0"/>
                  </a:lnTo>
                </a:path>
              </a:pathLst>
            </a:custGeom>
            <a:ln w="4763" cap="flat">
              <a:solidFill>
                <a:srgbClr val="003366">
                  <a:alpha val="19496"/>
                </a:srgbClr>
              </a:solidFill>
              <a:prstDash val="solid"/>
              <a:miter/>
            </a:ln>
          </p:spPr>
          <p:txBody>
            <a:bodyPr/>
            <a:lstStyle/>
            <a:p>
              <a:endParaRPr lang="en-US" dirty="0"/>
            </a:p>
          </p:txBody>
        </p:sp>
        <p:sp>
          <p:nvSpPr>
            <p:cNvPr id="142" name="Freeform 141">
              <a:extLst>
                <a:ext uri="{FF2B5EF4-FFF2-40B4-BE49-F238E27FC236}">
                  <a16:creationId xmlns:a16="http://schemas.microsoft.com/office/drawing/2014/main" id="{13679659-E51F-61E4-4900-D07394D366E9}"/>
                </a:ext>
              </a:extLst>
            </p:cNvPr>
            <p:cNvSpPr/>
            <p:nvPr/>
          </p:nvSpPr>
          <p:spPr>
            <a:xfrm>
              <a:off x="3838575" y="3591379"/>
              <a:ext cx="1857375" cy="485318"/>
            </a:xfrm>
            <a:custGeom>
              <a:avLst/>
              <a:gdLst>
                <a:gd name="csX0" fmla="*/ 0 w 1857375"/>
                <a:gd name="csY0" fmla="*/ 485319 h 485318"/>
                <a:gd name="csX1" fmla="*/ 1857375 w 1857375"/>
                <a:gd name="csY1" fmla="*/ 0 h 485318"/>
              </a:gdLst>
              <a:ahLst/>
              <a:cxnLst>
                <a:cxn ang="0">
                  <a:pos x="csX0" y="csY0"/>
                </a:cxn>
                <a:cxn ang="0">
                  <a:pos x="csX1" y="csY1"/>
                </a:cxn>
              </a:cxnLst>
              <a:rect l="l" t="t" r="r" b="b"/>
              <a:pathLst>
                <a:path w="1857375" h="485318">
                  <a:moveTo>
                    <a:pt x="0" y="485319"/>
                  </a:moveTo>
                  <a:lnTo>
                    <a:pt x="1857375" y="0"/>
                  </a:lnTo>
                </a:path>
              </a:pathLst>
            </a:custGeom>
            <a:ln w="4763" cap="flat">
              <a:solidFill>
                <a:srgbClr val="003366">
                  <a:alpha val="19496"/>
                </a:srgbClr>
              </a:solidFill>
              <a:prstDash val="solid"/>
              <a:miter/>
            </a:ln>
          </p:spPr>
          <p:txBody>
            <a:bodyPr/>
            <a:lstStyle/>
            <a:p>
              <a:endParaRPr lang="en-US" dirty="0"/>
            </a:p>
          </p:txBody>
        </p:sp>
        <p:sp>
          <p:nvSpPr>
            <p:cNvPr id="143" name="Freeform 142">
              <a:extLst>
                <a:ext uri="{FF2B5EF4-FFF2-40B4-BE49-F238E27FC236}">
                  <a16:creationId xmlns:a16="http://schemas.microsoft.com/office/drawing/2014/main" id="{69E6F363-E113-5ACF-4928-46CB43800D35}"/>
                </a:ext>
              </a:extLst>
            </p:cNvPr>
            <p:cNvSpPr/>
            <p:nvPr/>
          </p:nvSpPr>
          <p:spPr>
            <a:xfrm>
              <a:off x="3838575" y="4076698"/>
              <a:ext cx="1857375" cy="180805"/>
            </a:xfrm>
            <a:custGeom>
              <a:avLst/>
              <a:gdLst>
                <a:gd name="csX0" fmla="*/ 0 w 1857375"/>
                <a:gd name="csY0" fmla="*/ 0 h 180805"/>
                <a:gd name="csX1" fmla="*/ 1857375 w 1857375"/>
                <a:gd name="csY1" fmla="*/ 180805 h 180805"/>
              </a:gdLst>
              <a:ahLst/>
              <a:cxnLst>
                <a:cxn ang="0">
                  <a:pos x="csX0" y="csY0"/>
                </a:cxn>
                <a:cxn ang="0">
                  <a:pos x="csX1" y="csY1"/>
                </a:cxn>
              </a:cxnLst>
              <a:rect l="l" t="t" r="r" b="b"/>
              <a:pathLst>
                <a:path w="1857375" h="180805">
                  <a:moveTo>
                    <a:pt x="0" y="0"/>
                  </a:moveTo>
                  <a:lnTo>
                    <a:pt x="1857375" y="180805"/>
                  </a:lnTo>
                </a:path>
              </a:pathLst>
            </a:custGeom>
            <a:ln w="4763" cap="flat">
              <a:solidFill>
                <a:srgbClr val="003366">
                  <a:alpha val="19496"/>
                </a:srgbClr>
              </a:solidFill>
              <a:prstDash val="solid"/>
              <a:miter/>
            </a:ln>
          </p:spPr>
          <p:txBody>
            <a:bodyPr/>
            <a:lstStyle/>
            <a:p>
              <a:endParaRPr lang="en-US" dirty="0"/>
            </a:p>
          </p:txBody>
        </p:sp>
        <p:sp>
          <p:nvSpPr>
            <p:cNvPr id="144" name="Freeform 143">
              <a:extLst>
                <a:ext uri="{FF2B5EF4-FFF2-40B4-BE49-F238E27FC236}">
                  <a16:creationId xmlns:a16="http://schemas.microsoft.com/office/drawing/2014/main" id="{39FA0571-2B5A-FCBC-7084-3FD0FD9AF4E1}"/>
                </a:ext>
              </a:extLst>
            </p:cNvPr>
            <p:cNvSpPr/>
            <p:nvPr/>
          </p:nvSpPr>
          <p:spPr>
            <a:xfrm>
              <a:off x="3838575" y="4076698"/>
              <a:ext cx="1857375" cy="513867"/>
            </a:xfrm>
            <a:custGeom>
              <a:avLst/>
              <a:gdLst>
                <a:gd name="csX0" fmla="*/ 0 w 1857375"/>
                <a:gd name="csY0" fmla="*/ 0 h 513867"/>
                <a:gd name="csX1" fmla="*/ 1857375 w 1857375"/>
                <a:gd name="csY1" fmla="*/ 513867 h 513867"/>
              </a:gdLst>
              <a:ahLst/>
              <a:cxnLst>
                <a:cxn ang="0">
                  <a:pos x="csX0" y="csY0"/>
                </a:cxn>
                <a:cxn ang="0">
                  <a:pos x="csX1" y="csY1"/>
                </a:cxn>
              </a:cxnLst>
              <a:rect l="l" t="t" r="r" b="b"/>
              <a:pathLst>
                <a:path w="1857375" h="513867">
                  <a:moveTo>
                    <a:pt x="0" y="0"/>
                  </a:moveTo>
                  <a:lnTo>
                    <a:pt x="1857375" y="513867"/>
                  </a:lnTo>
                </a:path>
              </a:pathLst>
            </a:custGeom>
            <a:ln w="4763" cap="flat">
              <a:solidFill>
                <a:srgbClr val="003366">
                  <a:alpha val="19496"/>
                </a:srgbClr>
              </a:solidFill>
              <a:prstDash val="solid"/>
              <a:miter/>
            </a:ln>
          </p:spPr>
          <p:txBody>
            <a:bodyPr/>
            <a:lstStyle/>
            <a:p>
              <a:endParaRPr lang="en-US" dirty="0"/>
            </a:p>
          </p:txBody>
        </p:sp>
        <p:sp>
          <p:nvSpPr>
            <p:cNvPr id="145" name="Freeform 144">
              <a:extLst>
                <a:ext uri="{FF2B5EF4-FFF2-40B4-BE49-F238E27FC236}">
                  <a16:creationId xmlns:a16="http://schemas.microsoft.com/office/drawing/2014/main" id="{4D565F69-535C-FCCC-0605-4FC1FA4B2968}"/>
                </a:ext>
              </a:extLst>
            </p:cNvPr>
            <p:cNvSpPr/>
            <p:nvPr/>
          </p:nvSpPr>
          <p:spPr>
            <a:xfrm>
              <a:off x="3838575" y="4076698"/>
              <a:ext cx="1857375" cy="846929"/>
            </a:xfrm>
            <a:custGeom>
              <a:avLst/>
              <a:gdLst>
                <a:gd name="csX0" fmla="*/ 0 w 1857375"/>
                <a:gd name="csY0" fmla="*/ 0 h 846929"/>
                <a:gd name="csX1" fmla="*/ 1857375 w 1857375"/>
                <a:gd name="csY1" fmla="*/ 846929 h 846929"/>
              </a:gdLst>
              <a:ahLst/>
              <a:cxnLst>
                <a:cxn ang="0">
                  <a:pos x="csX0" y="csY0"/>
                </a:cxn>
                <a:cxn ang="0">
                  <a:pos x="csX1" y="csY1"/>
                </a:cxn>
              </a:cxnLst>
              <a:rect l="l" t="t" r="r" b="b"/>
              <a:pathLst>
                <a:path w="1857375" h="846929">
                  <a:moveTo>
                    <a:pt x="0" y="0"/>
                  </a:moveTo>
                  <a:lnTo>
                    <a:pt x="1857375" y="846929"/>
                  </a:lnTo>
                </a:path>
              </a:pathLst>
            </a:custGeom>
            <a:ln w="4763" cap="flat">
              <a:solidFill>
                <a:srgbClr val="003366">
                  <a:alpha val="19496"/>
                </a:srgbClr>
              </a:solidFill>
              <a:prstDash val="solid"/>
              <a:miter/>
            </a:ln>
          </p:spPr>
          <p:txBody>
            <a:bodyPr/>
            <a:lstStyle/>
            <a:p>
              <a:endParaRPr lang="en-US" dirty="0"/>
            </a:p>
          </p:txBody>
        </p:sp>
        <p:sp>
          <p:nvSpPr>
            <p:cNvPr id="146" name="Freeform 145">
              <a:extLst>
                <a:ext uri="{FF2B5EF4-FFF2-40B4-BE49-F238E27FC236}">
                  <a16:creationId xmlns:a16="http://schemas.microsoft.com/office/drawing/2014/main" id="{D2F6D37B-2615-8CED-30E8-49FFE4F825D5}"/>
                </a:ext>
              </a:extLst>
            </p:cNvPr>
            <p:cNvSpPr/>
            <p:nvPr/>
          </p:nvSpPr>
          <p:spPr>
            <a:xfrm>
              <a:off x="3838575" y="2925255"/>
              <a:ext cx="1857375" cy="1513052"/>
            </a:xfrm>
            <a:custGeom>
              <a:avLst/>
              <a:gdLst>
                <a:gd name="csX0" fmla="*/ 0 w 1857375"/>
                <a:gd name="csY0" fmla="*/ 1513053 h 1513052"/>
                <a:gd name="csX1" fmla="*/ 1857375 w 1857375"/>
                <a:gd name="csY1" fmla="*/ 0 h 1513052"/>
              </a:gdLst>
              <a:ahLst/>
              <a:cxnLst>
                <a:cxn ang="0">
                  <a:pos x="csX0" y="csY0"/>
                </a:cxn>
                <a:cxn ang="0">
                  <a:pos x="csX1" y="csY1"/>
                </a:cxn>
              </a:cxnLst>
              <a:rect l="l" t="t" r="r" b="b"/>
              <a:pathLst>
                <a:path w="1857375" h="1513052">
                  <a:moveTo>
                    <a:pt x="0" y="1513053"/>
                  </a:moveTo>
                  <a:lnTo>
                    <a:pt x="1857375" y="0"/>
                  </a:lnTo>
                </a:path>
              </a:pathLst>
            </a:custGeom>
            <a:ln w="4763" cap="flat">
              <a:solidFill>
                <a:srgbClr val="003366">
                  <a:alpha val="19496"/>
                </a:srgbClr>
              </a:solidFill>
              <a:prstDash val="solid"/>
              <a:miter/>
            </a:ln>
          </p:spPr>
          <p:txBody>
            <a:bodyPr/>
            <a:lstStyle/>
            <a:p>
              <a:endParaRPr lang="en-US" dirty="0"/>
            </a:p>
          </p:txBody>
        </p:sp>
        <p:sp>
          <p:nvSpPr>
            <p:cNvPr id="147" name="Freeform 146">
              <a:extLst>
                <a:ext uri="{FF2B5EF4-FFF2-40B4-BE49-F238E27FC236}">
                  <a16:creationId xmlns:a16="http://schemas.microsoft.com/office/drawing/2014/main" id="{64E45F03-AB06-1817-DB35-75C20DF81EA6}"/>
                </a:ext>
              </a:extLst>
            </p:cNvPr>
            <p:cNvSpPr/>
            <p:nvPr/>
          </p:nvSpPr>
          <p:spPr>
            <a:xfrm>
              <a:off x="3838575" y="3258317"/>
              <a:ext cx="1857375" cy="1179990"/>
            </a:xfrm>
            <a:custGeom>
              <a:avLst/>
              <a:gdLst>
                <a:gd name="csX0" fmla="*/ 0 w 1857375"/>
                <a:gd name="csY0" fmla="*/ 1179991 h 1179990"/>
                <a:gd name="csX1" fmla="*/ 1857375 w 1857375"/>
                <a:gd name="csY1" fmla="*/ 0 h 1179990"/>
              </a:gdLst>
              <a:ahLst/>
              <a:cxnLst>
                <a:cxn ang="0">
                  <a:pos x="csX0" y="csY0"/>
                </a:cxn>
                <a:cxn ang="0">
                  <a:pos x="csX1" y="csY1"/>
                </a:cxn>
              </a:cxnLst>
              <a:rect l="l" t="t" r="r" b="b"/>
              <a:pathLst>
                <a:path w="1857375" h="1179990">
                  <a:moveTo>
                    <a:pt x="0" y="1179991"/>
                  </a:moveTo>
                  <a:lnTo>
                    <a:pt x="1857375" y="0"/>
                  </a:lnTo>
                </a:path>
              </a:pathLst>
            </a:custGeom>
            <a:ln w="4763" cap="flat">
              <a:solidFill>
                <a:srgbClr val="003366">
                  <a:alpha val="19496"/>
                </a:srgbClr>
              </a:solidFill>
              <a:prstDash val="solid"/>
              <a:miter/>
            </a:ln>
          </p:spPr>
          <p:txBody>
            <a:bodyPr/>
            <a:lstStyle/>
            <a:p>
              <a:endParaRPr lang="en-US" dirty="0"/>
            </a:p>
          </p:txBody>
        </p:sp>
        <p:sp>
          <p:nvSpPr>
            <p:cNvPr id="148" name="Freeform 147">
              <a:extLst>
                <a:ext uri="{FF2B5EF4-FFF2-40B4-BE49-F238E27FC236}">
                  <a16:creationId xmlns:a16="http://schemas.microsoft.com/office/drawing/2014/main" id="{36FF3154-42ED-BC2F-1E8B-30049F089400}"/>
                </a:ext>
              </a:extLst>
            </p:cNvPr>
            <p:cNvSpPr/>
            <p:nvPr/>
          </p:nvSpPr>
          <p:spPr>
            <a:xfrm>
              <a:off x="3838575" y="3591379"/>
              <a:ext cx="1857375" cy="846929"/>
            </a:xfrm>
            <a:custGeom>
              <a:avLst/>
              <a:gdLst>
                <a:gd name="csX0" fmla="*/ 0 w 1857375"/>
                <a:gd name="csY0" fmla="*/ 846929 h 846929"/>
                <a:gd name="csX1" fmla="*/ 1857375 w 1857375"/>
                <a:gd name="csY1" fmla="*/ 0 h 846929"/>
              </a:gdLst>
              <a:ahLst/>
              <a:cxnLst>
                <a:cxn ang="0">
                  <a:pos x="csX0" y="csY0"/>
                </a:cxn>
                <a:cxn ang="0">
                  <a:pos x="csX1" y="csY1"/>
                </a:cxn>
              </a:cxnLst>
              <a:rect l="l" t="t" r="r" b="b"/>
              <a:pathLst>
                <a:path w="1857375" h="846929">
                  <a:moveTo>
                    <a:pt x="0" y="846929"/>
                  </a:moveTo>
                  <a:lnTo>
                    <a:pt x="1857375" y="0"/>
                  </a:lnTo>
                </a:path>
              </a:pathLst>
            </a:custGeom>
            <a:ln w="4763" cap="flat">
              <a:solidFill>
                <a:srgbClr val="003366">
                  <a:alpha val="19496"/>
                </a:srgbClr>
              </a:solidFill>
              <a:prstDash val="solid"/>
              <a:miter/>
            </a:ln>
          </p:spPr>
          <p:txBody>
            <a:bodyPr/>
            <a:lstStyle/>
            <a:p>
              <a:endParaRPr lang="en-US" dirty="0"/>
            </a:p>
          </p:txBody>
        </p:sp>
        <p:sp>
          <p:nvSpPr>
            <p:cNvPr id="149" name="Freeform 148">
              <a:extLst>
                <a:ext uri="{FF2B5EF4-FFF2-40B4-BE49-F238E27FC236}">
                  <a16:creationId xmlns:a16="http://schemas.microsoft.com/office/drawing/2014/main" id="{949EE6F2-F5DB-AC33-C59B-D5C39F245E3D}"/>
                </a:ext>
              </a:extLst>
            </p:cNvPr>
            <p:cNvSpPr/>
            <p:nvPr/>
          </p:nvSpPr>
          <p:spPr>
            <a:xfrm>
              <a:off x="3838575" y="4257503"/>
              <a:ext cx="1857375" cy="180805"/>
            </a:xfrm>
            <a:custGeom>
              <a:avLst/>
              <a:gdLst>
                <a:gd name="csX0" fmla="*/ 0 w 1857375"/>
                <a:gd name="csY0" fmla="*/ 180805 h 180805"/>
                <a:gd name="csX1" fmla="*/ 1857375 w 1857375"/>
                <a:gd name="csY1" fmla="*/ 0 h 180805"/>
              </a:gdLst>
              <a:ahLst/>
              <a:cxnLst>
                <a:cxn ang="0">
                  <a:pos x="csX0" y="csY0"/>
                </a:cxn>
                <a:cxn ang="0">
                  <a:pos x="csX1" y="csY1"/>
                </a:cxn>
              </a:cxnLst>
              <a:rect l="l" t="t" r="r" b="b"/>
              <a:pathLst>
                <a:path w="1857375" h="180805">
                  <a:moveTo>
                    <a:pt x="0" y="180805"/>
                  </a:moveTo>
                  <a:lnTo>
                    <a:pt x="1857375" y="0"/>
                  </a:lnTo>
                </a:path>
              </a:pathLst>
            </a:custGeom>
            <a:ln w="4763" cap="flat">
              <a:solidFill>
                <a:srgbClr val="003366">
                  <a:alpha val="19496"/>
                </a:srgbClr>
              </a:solidFill>
              <a:prstDash val="solid"/>
              <a:miter/>
            </a:ln>
          </p:spPr>
          <p:txBody>
            <a:bodyPr/>
            <a:lstStyle/>
            <a:p>
              <a:endParaRPr lang="en-US" dirty="0"/>
            </a:p>
          </p:txBody>
        </p:sp>
        <p:sp>
          <p:nvSpPr>
            <p:cNvPr id="150" name="Freeform 149">
              <a:extLst>
                <a:ext uri="{FF2B5EF4-FFF2-40B4-BE49-F238E27FC236}">
                  <a16:creationId xmlns:a16="http://schemas.microsoft.com/office/drawing/2014/main" id="{433EE0DC-A34E-3584-26B8-5BC28225CA5A}"/>
                </a:ext>
              </a:extLst>
            </p:cNvPr>
            <p:cNvSpPr/>
            <p:nvPr/>
          </p:nvSpPr>
          <p:spPr>
            <a:xfrm>
              <a:off x="3838575" y="4438308"/>
              <a:ext cx="1857375" cy="152256"/>
            </a:xfrm>
            <a:custGeom>
              <a:avLst/>
              <a:gdLst>
                <a:gd name="csX0" fmla="*/ 0 w 1857375"/>
                <a:gd name="csY0" fmla="*/ 0 h 152256"/>
                <a:gd name="csX1" fmla="*/ 1857375 w 1857375"/>
                <a:gd name="csY1" fmla="*/ 152257 h 152256"/>
              </a:gdLst>
              <a:ahLst/>
              <a:cxnLst>
                <a:cxn ang="0">
                  <a:pos x="csX0" y="csY0"/>
                </a:cxn>
                <a:cxn ang="0">
                  <a:pos x="csX1" y="csY1"/>
                </a:cxn>
              </a:cxnLst>
              <a:rect l="l" t="t" r="r" b="b"/>
              <a:pathLst>
                <a:path w="1857375" h="152256">
                  <a:moveTo>
                    <a:pt x="0" y="0"/>
                  </a:moveTo>
                  <a:lnTo>
                    <a:pt x="1857375" y="152257"/>
                  </a:lnTo>
                </a:path>
              </a:pathLst>
            </a:custGeom>
            <a:ln w="4763" cap="flat">
              <a:solidFill>
                <a:srgbClr val="003366">
                  <a:alpha val="19496"/>
                </a:srgbClr>
              </a:solidFill>
              <a:prstDash val="solid"/>
              <a:miter/>
            </a:ln>
          </p:spPr>
          <p:txBody>
            <a:bodyPr/>
            <a:lstStyle/>
            <a:p>
              <a:endParaRPr lang="en-US" dirty="0"/>
            </a:p>
          </p:txBody>
        </p:sp>
        <p:sp>
          <p:nvSpPr>
            <p:cNvPr id="151" name="Freeform 150">
              <a:extLst>
                <a:ext uri="{FF2B5EF4-FFF2-40B4-BE49-F238E27FC236}">
                  <a16:creationId xmlns:a16="http://schemas.microsoft.com/office/drawing/2014/main" id="{515481A5-E99F-EB4C-E1D2-105BE0A7AE92}"/>
                </a:ext>
              </a:extLst>
            </p:cNvPr>
            <p:cNvSpPr/>
            <p:nvPr/>
          </p:nvSpPr>
          <p:spPr>
            <a:xfrm>
              <a:off x="3838575" y="4438308"/>
              <a:ext cx="1857375" cy="485318"/>
            </a:xfrm>
            <a:custGeom>
              <a:avLst/>
              <a:gdLst>
                <a:gd name="csX0" fmla="*/ 0 w 1857375"/>
                <a:gd name="csY0" fmla="*/ 0 h 485318"/>
                <a:gd name="csX1" fmla="*/ 1857375 w 1857375"/>
                <a:gd name="csY1" fmla="*/ 485319 h 485318"/>
              </a:gdLst>
              <a:ahLst/>
              <a:cxnLst>
                <a:cxn ang="0">
                  <a:pos x="csX0" y="csY0"/>
                </a:cxn>
                <a:cxn ang="0">
                  <a:pos x="csX1" y="csY1"/>
                </a:cxn>
              </a:cxnLst>
              <a:rect l="l" t="t" r="r" b="b"/>
              <a:pathLst>
                <a:path w="1857375" h="485318">
                  <a:moveTo>
                    <a:pt x="0" y="0"/>
                  </a:moveTo>
                  <a:lnTo>
                    <a:pt x="1857375" y="485319"/>
                  </a:lnTo>
                </a:path>
              </a:pathLst>
            </a:custGeom>
            <a:ln w="4763" cap="flat">
              <a:solidFill>
                <a:srgbClr val="003366">
                  <a:alpha val="19496"/>
                </a:srgbClr>
              </a:solidFill>
              <a:prstDash val="solid"/>
              <a:miter/>
            </a:ln>
          </p:spPr>
          <p:txBody>
            <a:bodyPr/>
            <a:lstStyle/>
            <a:p>
              <a:endParaRPr lang="en-US" dirty="0"/>
            </a:p>
          </p:txBody>
        </p:sp>
        <p:sp>
          <p:nvSpPr>
            <p:cNvPr id="152" name="Freeform 151">
              <a:extLst>
                <a:ext uri="{FF2B5EF4-FFF2-40B4-BE49-F238E27FC236}">
                  <a16:creationId xmlns:a16="http://schemas.microsoft.com/office/drawing/2014/main" id="{9356A2CF-8057-A195-B0A9-2E8BE0BBA2C3}"/>
                </a:ext>
              </a:extLst>
            </p:cNvPr>
            <p:cNvSpPr/>
            <p:nvPr/>
          </p:nvSpPr>
          <p:spPr>
            <a:xfrm>
              <a:off x="3838575" y="2925255"/>
              <a:ext cx="1857375" cy="1874663"/>
            </a:xfrm>
            <a:custGeom>
              <a:avLst/>
              <a:gdLst>
                <a:gd name="csX0" fmla="*/ 0 w 1857375"/>
                <a:gd name="csY0" fmla="*/ 1874663 h 1874663"/>
                <a:gd name="csX1" fmla="*/ 1857375 w 1857375"/>
                <a:gd name="csY1" fmla="*/ 0 h 1874663"/>
              </a:gdLst>
              <a:ahLst/>
              <a:cxnLst>
                <a:cxn ang="0">
                  <a:pos x="csX0" y="csY0"/>
                </a:cxn>
                <a:cxn ang="0">
                  <a:pos x="csX1" y="csY1"/>
                </a:cxn>
              </a:cxnLst>
              <a:rect l="l" t="t" r="r" b="b"/>
              <a:pathLst>
                <a:path w="1857375" h="1874663">
                  <a:moveTo>
                    <a:pt x="0" y="1874663"/>
                  </a:moveTo>
                  <a:lnTo>
                    <a:pt x="1857375" y="0"/>
                  </a:lnTo>
                </a:path>
              </a:pathLst>
            </a:custGeom>
            <a:ln w="4763" cap="flat">
              <a:solidFill>
                <a:srgbClr val="003366">
                  <a:alpha val="19496"/>
                </a:srgbClr>
              </a:solidFill>
              <a:prstDash val="solid"/>
              <a:miter/>
            </a:ln>
          </p:spPr>
          <p:txBody>
            <a:bodyPr/>
            <a:lstStyle/>
            <a:p>
              <a:endParaRPr lang="en-US" dirty="0"/>
            </a:p>
          </p:txBody>
        </p:sp>
        <p:sp>
          <p:nvSpPr>
            <p:cNvPr id="153" name="Freeform 152">
              <a:extLst>
                <a:ext uri="{FF2B5EF4-FFF2-40B4-BE49-F238E27FC236}">
                  <a16:creationId xmlns:a16="http://schemas.microsoft.com/office/drawing/2014/main" id="{6D34F448-4D4A-641B-C946-5E1C7FED6F0C}"/>
                </a:ext>
              </a:extLst>
            </p:cNvPr>
            <p:cNvSpPr/>
            <p:nvPr/>
          </p:nvSpPr>
          <p:spPr>
            <a:xfrm>
              <a:off x="3838575" y="3258317"/>
              <a:ext cx="1857375" cy="1541601"/>
            </a:xfrm>
            <a:custGeom>
              <a:avLst/>
              <a:gdLst>
                <a:gd name="csX0" fmla="*/ 0 w 1857375"/>
                <a:gd name="csY0" fmla="*/ 1541601 h 1541601"/>
                <a:gd name="csX1" fmla="*/ 1857375 w 1857375"/>
                <a:gd name="csY1" fmla="*/ 0 h 1541601"/>
              </a:gdLst>
              <a:ahLst/>
              <a:cxnLst>
                <a:cxn ang="0">
                  <a:pos x="csX0" y="csY0"/>
                </a:cxn>
                <a:cxn ang="0">
                  <a:pos x="csX1" y="csY1"/>
                </a:cxn>
              </a:cxnLst>
              <a:rect l="l" t="t" r="r" b="b"/>
              <a:pathLst>
                <a:path w="1857375" h="1541601">
                  <a:moveTo>
                    <a:pt x="0" y="1541601"/>
                  </a:moveTo>
                  <a:lnTo>
                    <a:pt x="1857375" y="0"/>
                  </a:lnTo>
                </a:path>
              </a:pathLst>
            </a:custGeom>
            <a:ln w="4763" cap="flat">
              <a:solidFill>
                <a:srgbClr val="003366">
                  <a:alpha val="19496"/>
                </a:srgbClr>
              </a:solidFill>
              <a:prstDash val="solid"/>
              <a:miter/>
            </a:ln>
          </p:spPr>
          <p:txBody>
            <a:bodyPr/>
            <a:lstStyle/>
            <a:p>
              <a:endParaRPr lang="en-US" dirty="0"/>
            </a:p>
          </p:txBody>
        </p:sp>
        <p:sp>
          <p:nvSpPr>
            <p:cNvPr id="154" name="Freeform 153">
              <a:extLst>
                <a:ext uri="{FF2B5EF4-FFF2-40B4-BE49-F238E27FC236}">
                  <a16:creationId xmlns:a16="http://schemas.microsoft.com/office/drawing/2014/main" id="{70C4CD2D-5D34-0D5C-04C3-9152F2F43885}"/>
                </a:ext>
              </a:extLst>
            </p:cNvPr>
            <p:cNvSpPr/>
            <p:nvPr/>
          </p:nvSpPr>
          <p:spPr>
            <a:xfrm>
              <a:off x="3838575" y="3591379"/>
              <a:ext cx="1857375" cy="1208539"/>
            </a:xfrm>
            <a:custGeom>
              <a:avLst/>
              <a:gdLst>
                <a:gd name="csX0" fmla="*/ 0 w 1857375"/>
                <a:gd name="csY0" fmla="*/ 1208539 h 1208539"/>
                <a:gd name="csX1" fmla="*/ 1857375 w 1857375"/>
                <a:gd name="csY1" fmla="*/ 0 h 1208539"/>
              </a:gdLst>
              <a:ahLst/>
              <a:cxnLst>
                <a:cxn ang="0">
                  <a:pos x="csX0" y="csY0"/>
                </a:cxn>
                <a:cxn ang="0">
                  <a:pos x="csX1" y="csY1"/>
                </a:cxn>
              </a:cxnLst>
              <a:rect l="l" t="t" r="r" b="b"/>
              <a:pathLst>
                <a:path w="1857375" h="1208539">
                  <a:moveTo>
                    <a:pt x="0" y="1208539"/>
                  </a:moveTo>
                  <a:lnTo>
                    <a:pt x="1857375" y="0"/>
                  </a:lnTo>
                </a:path>
              </a:pathLst>
            </a:custGeom>
            <a:ln w="4763" cap="flat">
              <a:solidFill>
                <a:srgbClr val="003366">
                  <a:alpha val="19496"/>
                </a:srgbClr>
              </a:solidFill>
              <a:prstDash val="solid"/>
              <a:miter/>
            </a:ln>
          </p:spPr>
          <p:txBody>
            <a:bodyPr/>
            <a:lstStyle/>
            <a:p>
              <a:endParaRPr lang="en-US" dirty="0"/>
            </a:p>
          </p:txBody>
        </p:sp>
        <p:sp>
          <p:nvSpPr>
            <p:cNvPr id="155" name="Freeform 154">
              <a:extLst>
                <a:ext uri="{FF2B5EF4-FFF2-40B4-BE49-F238E27FC236}">
                  <a16:creationId xmlns:a16="http://schemas.microsoft.com/office/drawing/2014/main" id="{470B50CA-99E7-CDA1-DD50-37C786510C79}"/>
                </a:ext>
              </a:extLst>
            </p:cNvPr>
            <p:cNvSpPr/>
            <p:nvPr/>
          </p:nvSpPr>
          <p:spPr>
            <a:xfrm>
              <a:off x="3838575" y="4257503"/>
              <a:ext cx="1857375" cy="542415"/>
            </a:xfrm>
            <a:custGeom>
              <a:avLst/>
              <a:gdLst>
                <a:gd name="csX0" fmla="*/ 0 w 1857375"/>
                <a:gd name="csY0" fmla="*/ 542415 h 542415"/>
                <a:gd name="csX1" fmla="*/ 1857375 w 1857375"/>
                <a:gd name="csY1" fmla="*/ 0 h 542415"/>
              </a:gdLst>
              <a:ahLst/>
              <a:cxnLst>
                <a:cxn ang="0">
                  <a:pos x="csX0" y="csY0"/>
                </a:cxn>
                <a:cxn ang="0">
                  <a:pos x="csX1" y="csY1"/>
                </a:cxn>
              </a:cxnLst>
              <a:rect l="l" t="t" r="r" b="b"/>
              <a:pathLst>
                <a:path w="1857375" h="542415">
                  <a:moveTo>
                    <a:pt x="0" y="542415"/>
                  </a:moveTo>
                  <a:lnTo>
                    <a:pt x="1857375" y="0"/>
                  </a:lnTo>
                </a:path>
              </a:pathLst>
            </a:custGeom>
            <a:ln w="4763" cap="flat">
              <a:solidFill>
                <a:srgbClr val="003366">
                  <a:alpha val="19496"/>
                </a:srgbClr>
              </a:solidFill>
              <a:prstDash val="solid"/>
              <a:miter/>
            </a:ln>
          </p:spPr>
          <p:txBody>
            <a:bodyPr/>
            <a:lstStyle/>
            <a:p>
              <a:endParaRPr lang="en-US" dirty="0"/>
            </a:p>
          </p:txBody>
        </p:sp>
        <p:sp>
          <p:nvSpPr>
            <p:cNvPr id="156" name="Freeform 155">
              <a:extLst>
                <a:ext uri="{FF2B5EF4-FFF2-40B4-BE49-F238E27FC236}">
                  <a16:creationId xmlns:a16="http://schemas.microsoft.com/office/drawing/2014/main" id="{D7830FBA-A541-32C8-2752-EC4741F26D14}"/>
                </a:ext>
              </a:extLst>
            </p:cNvPr>
            <p:cNvSpPr/>
            <p:nvPr/>
          </p:nvSpPr>
          <p:spPr>
            <a:xfrm>
              <a:off x="3838575" y="4590565"/>
              <a:ext cx="1857375" cy="209353"/>
            </a:xfrm>
            <a:custGeom>
              <a:avLst/>
              <a:gdLst>
                <a:gd name="csX0" fmla="*/ 0 w 1857375"/>
                <a:gd name="csY0" fmla="*/ 209353 h 209353"/>
                <a:gd name="csX1" fmla="*/ 1857375 w 1857375"/>
                <a:gd name="csY1" fmla="*/ 0 h 209353"/>
              </a:gdLst>
              <a:ahLst/>
              <a:cxnLst>
                <a:cxn ang="0">
                  <a:pos x="csX0" y="csY0"/>
                </a:cxn>
                <a:cxn ang="0">
                  <a:pos x="csX1" y="csY1"/>
                </a:cxn>
              </a:cxnLst>
              <a:rect l="l" t="t" r="r" b="b"/>
              <a:pathLst>
                <a:path w="1857375" h="209353">
                  <a:moveTo>
                    <a:pt x="0" y="209353"/>
                  </a:moveTo>
                  <a:lnTo>
                    <a:pt x="1857375" y="0"/>
                  </a:lnTo>
                </a:path>
              </a:pathLst>
            </a:custGeom>
            <a:ln w="4763" cap="flat">
              <a:solidFill>
                <a:srgbClr val="003366">
                  <a:alpha val="19496"/>
                </a:srgbClr>
              </a:solidFill>
              <a:prstDash val="solid"/>
              <a:miter/>
            </a:ln>
          </p:spPr>
          <p:txBody>
            <a:bodyPr/>
            <a:lstStyle/>
            <a:p>
              <a:endParaRPr lang="en-US" dirty="0"/>
            </a:p>
          </p:txBody>
        </p:sp>
        <p:sp>
          <p:nvSpPr>
            <p:cNvPr id="157" name="Freeform 156">
              <a:extLst>
                <a:ext uri="{FF2B5EF4-FFF2-40B4-BE49-F238E27FC236}">
                  <a16:creationId xmlns:a16="http://schemas.microsoft.com/office/drawing/2014/main" id="{B653DE0D-DC6F-C771-CEB5-7A0AD7C48F70}"/>
                </a:ext>
              </a:extLst>
            </p:cNvPr>
            <p:cNvSpPr/>
            <p:nvPr/>
          </p:nvSpPr>
          <p:spPr>
            <a:xfrm>
              <a:off x="3838575" y="4799918"/>
              <a:ext cx="1857375" cy="123708"/>
            </a:xfrm>
            <a:custGeom>
              <a:avLst/>
              <a:gdLst>
                <a:gd name="csX0" fmla="*/ 0 w 1857375"/>
                <a:gd name="csY0" fmla="*/ 0 h 123708"/>
                <a:gd name="csX1" fmla="*/ 1857375 w 1857375"/>
                <a:gd name="csY1" fmla="*/ 123709 h 123708"/>
              </a:gdLst>
              <a:ahLst/>
              <a:cxnLst>
                <a:cxn ang="0">
                  <a:pos x="csX0" y="csY0"/>
                </a:cxn>
                <a:cxn ang="0">
                  <a:pos x="csX1" y="csY1"/>
                </a:cxn>
              </a:cxnLst>
              <a:rect l="l" t="t" r="r" b="b"/>
              <a:pathLst>
                <a:path w="1857375" h="123708">
                  <a:moveTo>
                    <a:pt x="0" y="0"/>
                  </a:moveTo>
                  <a:lnTo>
                    <a:pt x="1857375" y="123709"/>
                  </a:lnTo>
                </a:path>
              </a:pathLst>
            </a:custGeom>
            <a:ln w="4763" cap="flat">
              <a:solidFill>
                <a:srgbClr val="003366">
                  <a:alpha val="19496"/>
                </a:srgbClr>
              </a:solidFill>
              <a:prstDash val="solid"/>
              <a:miter/>
            </a:ln>
          </p:spPr>
          <p:txBody>
            <a:bodyPr/>
            <a:lstStyle/>
            <a:p>
              <a:endParaRPr lang="en-US" dirty="0"/>
            </a:p>
          </p:txBody>
        </p:sp>
      </p:grpSp>
      <p:grpSp>
        <p:nvGrpSpPr>
          <p:cNvPr id="158" name="Graphic 10">
            <a:extLst>
              <a:ext uri="{FF2B5EF4-FFF2-40B4-BE49-F238E27FC236}">
                <a16:creationId xmlns:a16="http://schemas.microsoft.com/office/drawing/2014/main" id="{1D3D18ED-9F2A-4A1C-3AB8-364B930D3B72}"/>
              </a:ext>
            </a:extLst>
          </p:cNvPr>
          <p:cNvGrpSpPr/>
          <p:nvPr/>
        </p:nvGrpSpPr>
        <p:grpSpPr>
          <a:xfrm>
            <a:off x="6731577" y="3014265"/>
            <a:ext cx="1666875" cy="1998371"/>
            <a:chOff x="6648450" y="2925255"/>
            <a:chExt cx="1666875" cy="1998371"/>
          </a:xfrm>
        </p:grpSpPr>
        <p:sp>
          <p:nvSpPr>
            <p:cNvPr id="159" name="Freeform 158">
              <a:extLst>
                <a:ext uri="{FF2B5EF4-FFF2-40B4-BE49-F238E27FC236}">
                  <a16:creationId xmlns:a16="http://schemas.microsoft.com/office/drawing/2014/main" id="{C32525D3-7532-F4EC-8FD9-F6E1CE516031}"/>
                </a:ext>
              </a:extLst>
            </p:cNvPr>
            <p:cNvSpPr/>
            <p:nvPr/>
          </p:nvSpPr>
          <p:spPr>
            <a:xfrm>
              <a:off x="6648450" y="2925255"/>
              <a:ext cx="1666875" cy="999185"/>
            </a:xfrm>
            <a:custGeom>
              <a:avLst/>
              <a:gdLst>
                <a:gd name="csX0" fmla="*/ 0 w 1666875"/>
                <a:gd name="csY0" fmla="*/ 0 h 999185"/>
                <a:gd name="csX1" fmla="*/ 1666875 w 1666875"/>
                <a:gd name="csY1" fmla="*/ 999186 h 999185"/>
              </a:gdLst>
              <a:ahLst/>
              <a:cxnLst>
                <a:cxn ang="0">
                  <a:pos x="csX0" y="csY0"/>
                </a:cxn>
                <a:cxn ang="0">
                  <a:pos x="csX1" y="csY1"/>
                </a:cxn>
              </a:cxnLst>
              <a:rect l="l" t="t" r="r" b="b"/>
              <a:pathLst>
                <a:path w="1666875" h="999185">
                  <a:moveTo>
                    <a:pt x="0" y="0"/>
                  </a:moveTo>
                  <a:lnTo>
                    <a:pt x="1666875" y="999186"/>
                  </a:lnTo>
                </a:path>
              </a:pathLst>
            </a:custGeom>
            <a:ln w="4763" cap="flat">
              <a:solidFill>
                <a:srgbClr val="009999"/>
              </a:solidFill>
              <a:prstDash val="solid"/>
              <a:miter/>
            </a:ln>
          </p:spPr>
          <p:txBody>
            <a:bodyPr/>
            <a:lstStyle/>
            <a:p>
              <a:endParaRPr lang="en-US" dirty="0"/>
            </a:p>
          </p:txBody>
        </p:sp>
        <p:sp>
          <p:nvSpPr>
            <p:cNvPr id="160" name="Freeform 159">
              <a:extLst>
                <a:ext uri="{FF2B5EF4-FFF2-40B4-BE49-F238E27FC236}">
                  <a16:creationId xmlns:a16="http://schemas.microsoft.com/office/drawing/2014/main" id="{D29219F9-5D5C-4811-AC46-D12A08D7DE4B}"/>
                </a:ext>
              </a:extLst>
            </p:cNvPr>
            <p:cNvSpPr/>
            <p:nvPr/>
          </p:nvSpPr>
          <p:spPr>
            <a:xfrm>
              <a:off x="6648450" y="3258317"/>
              <a:ext cx="1666875" cy="666123"/>
            </a:xfrm>
            <a:custGeom>
              <a:avLst/>
              <a:gdLst>
                <a:gd name="csX0" fmla="*/ 0 w 1666875"/>
                <a:gd name="csY0" fmla="*/ 0 h 666123"/>
                <a:gd name="csX1" fmla="*/ 1666875 w 1666875"/>
                <a:gd name="csY1" fmla="*/ 666124 h 666123"/>
              </a:gdLst>
              <a:ahLst/>
              <a:cxnLst>
                <a:cxn ang="0">
                  <a:pos x="csX0" y="csY0"/>
                </a:cxn>
                <a:cxn ang="0">
                  <a:pos x="csX1" y="csY1"/>
                </a:cxn>
              </a:cxnLst>
              <a:rect l="l" t="t" r="r" b="b"/>
              <a:pathLst>
                <a:path w="1666875" h="666123">
                  <a:moveTo>
                    <a:pt x="0" y="0"/>
                  </a:moveTo>
                  <a:lnTo>
                    <a:pt x="1666875" y="666124"/>
                  </a:lnTo>
                </a:path>
              </a:pathLst>
            </a:custGeom>
            <a:ln w="4763" cap="flat">
              <a:solidFill>
                <a:srgbClr val="009999"/>
              </a:solidFill>
              <a:prstDash val="solid"/>
              <a:miter/>
            </a:ln>
          </p:spPr>
          <p:txBody>
            <a:bodyPr/>
            <a:lstStyle/>
            <a:p>
              <a:endParaRPr lang="en-US" dirty="0"/>
            </a:p>
          </p:txBody>
        </p:sp>
        <p:sp>
          <p:nvSpPr>
            <p:cNvPr id="161" name="Freeform 160">
              <a:extLst>
                <a:ext uri="{FF2B5EF4-FFF2-40B4-BE49-F238E27FC236}">
                  <a16:creationId xmlns:a16="http://schemas.microsoft.com/office/drawing/2014/main" id="{F755FE2A-C4C8-21E3-A829-2BEA5D0B45A3}"/>
                </a:ext>
              </a:extLst>
            </p:cNvPr>
            <p:cNvSpPr/>
            <p:nvPr/>
          </p:nvSpPr>
          <p:spPr>
            <a:xfrm>
              <a:off x="6648450" y="3591379"/>
              <a:ext cx="1666875" cy="333061"/>
            </a:xfrm>
            <a:custGeom>
              <a:avLst/>
              <a:gdLst>
                <a:gd name="csX0" fmla="*/ 0 w 1666875"/>
                <a:gd name="csY0" fmla="*/ 0 h 333061"/>
                <a:gd name="csX1" fmla="*/ 1666875 w 1666875"/>
                <a:gd name="csY1" fmla="*/ 333062 h 333061"/>
              </a:gdLst>
              <a:ahLst/>
              <a:cxnLst>
                <a:cxn ang="0">
                  <a:pos x="csX0" y="csY0"/>
                </a:cxn>
                <a:cxn ang="0">
                  <a:pos x="csX1" y="csY1"/>
                </a:cxn>
              </a:cxnLst>
              <a:rect l="l" t="t" r="r" b="b"/>
              <a:pathLst>
                <a:path w="1666875" h="333061">
                  <a:moveTo>
                    <a:pt x="0" y="0"/>
                  </a:moveTo>
                  <a:lnTo>
                    <a:pt x="1666875" y="333062"/>
                  </a:lnTo>
                </a:path>
              </a:pathLst>
            </a:custGeom>
            <a:ln w="4763" cap="flat">
              <a:solidFill>
                <a:srgbClr val="009999"/>
              </a:solidFill>
              <a:prstDash val="solid"/>
              <a:miter/>
            </a:ln>
          </p:spPr>
          <p:txBody>
            <a:bodyPr/>
            <a:lstStyle/>
            <a:p>
              <a:endParaRPr lang="en-US" dirty="0"/>
            </a:p>
          </p:txBody>
        </p:sp>
        <p:sp>
          <p:nvSpPr>
            <p:cNvPr id="162" name="Freeform 161">
              <a:extLst>
                <a:ext uri="{FF2B5EF4-FFF2-40B4-BE49-F238E27FC236}">
                  <a16:creationId xmlns:a16="http://schemas.microsoft.com/office/drawing/2014/main" id="{F30E90D7-3CDC-4827-BA7A-74D983368CAB}"/>
                </a:ext>
              </a:extLst>
            </p:cNvPr>
            <p:cNvSpPr/>
            <p:nvPr/>
          </p:nvSpPr>
          <p:spPr>
            <a:xfrm>
              <a:off x="6648450" y="3924441"/>
              <a:ext cx="1666875" cy="333061"/>
            </a:xfrm>
            <a:custGeom>
              <a:avLst/>
              <a:gdLst>
                <a:gd name="csX0" fmla="*/ 0 w 1666875"/>
                <a:gd name="csY0" fmla="*/ 333062 h 333061"/>
                <a:gd name="csX1" fmla="*/ 1666875 w 1666875"/>
                <a:gd name="csY1" fmla="*/ 0 h 333061"/>
              </a:gdLst>
              <a:ahLst/>
              <a:cxnLst>
                <a:cxn ang="0">
                  <a:pos x="csX0" y="csY0"/>
                </a:cxn>
                <a:cxn ang="0">
                  <a:pos x="csX1" y="csY1"/>
                </a:cxn>
              </a:cxnLst>
              <a:rect l="l" t="t" r="r" b="b"/>
              <a:pathLst>
                <a:path w="1666875" h="333061">
                  <a:moveTo>
                    <a:pt x="0" y="333062"/>
                  </a:moveTo>
                  <a:lnTo>
                    <a:pt x="1666875" y="0"/>
                  </a:lnTo>
                </a:path>
              </a:pathLst>
            </a:custGeom>
            <a:ln w="4763" cap="flat">
              <a:solidFill>
                <a:srgbClr val="009999"/>
              </a:solidFill>
              <a:prstDash val="solid"/>
              <a:miter/>
            </a:ln>
          </p:spPr>
          <p:txBody>
            <a:bodyPr/>
            <a:lstStyle/>
            <a:p>
              <a:endParaRPr lang="en-US" dirty="0"/>
            </a:p>
          </p:txBody>
        </p:sp>
        <p:sp>
          <p:nvSpPr>
            <p:cNvPr id="163" name="Freeform 162">
              <a:extLst>
                <a:ext uri="{FF2B5EF4-FFF2-40B4-BE49-F238E27FC236}">
                  <a16:creationId xmlns:a16="http://schemas.microsoft.com/office/drawing/2014/main" id="{6F8B61EC-B45D-0AB3-2D9D-B8980A9C181D}"/>
                </a:ext>
              </a:extLst>
            </p:cNvPr>
            <p:cNvSpPr/>
            <p:nvPr/>
          </p:nvSpPr>
          <p:spPr>
            <a:xfrm>
              <a:off x="6648450" y="3924441"/>
              <a:ext cx="1666875" cy="666123"/>
            </a:xfrm>
            <a:custGeom>
              <a:avLst/>
              <a:gdLst>
                <a:gd name="csX0" fmla="*/ 0 w 1666875"/>
                <a:gd name="csY0" fmla="*/ 666124 h 666123"/>
                <a:gd name="csX1" fmla="*/ 1666875 w 1666875"/>
                <a:gd name="csY1" fmla="*/ 0 h 666123"/>
              </a:gdLst>
              <a:ahLst/>
              <a:cxnLst>
                <a:cxn ang="0">
                  <a:pos x="csX0" y="csY0"/>
                </a:cxn>
                <a:cxn ang="0">
                  <a:pos x="csX1" y="csY1"/>
                </a:cxn>
              </a:cxnLst>
              <a:rect l="l" t="t" r="r" b="b"/>
              <a:pathLst>
                <a:path w="1666875" h="666123">
                  <a:moveTo>
                    <a:pt x="0" y="666124"/>
                  </a:moveTo>
                  <a:lnTo>
                    <a:pt x="1666875" y="0"/>
                  </a:lnTo>
                </a:path>
              </a:pathLst>
            </a:custGeom>
            <a:ln w="4763" cap="flat">
              <a:solidFill>
                <a:srgbClr val="009999"/>
              </a:solidFill>
              <a:prstDash val="solid"/>
              <a:miter/>
            </a:ln>
          </p:spPr>
          <p:txBody>
            <a:bodyPr/>
            <a:lstStyle/>
            <a:p>
              <a:endParaRPr lang="en-US" dirty="0"/>
            </a:p>
          </p:txBody>
        </p:sp>
        <p:sp>
          <p:nvSpPr>
            <p:cNvPr id="164" name="Freeform 163">
              <a:extLst>
                <a:ext uri="{FF2B5EF4-FFF2-40B4-BE49-F238E27FC236}">
                  <a16:creationId xmlns:a16="http://schemas.microsoft.com/office/drawing/2014/main" id="{3708A03D-EF84-3B1E-4C6A-34BA65BCB313}"/>
                </a:ext>
              </a:extLst>
            </p:cNvPr>
            <p:cNvSpPr/>
            <p:nvPr/>
          </p:nvSpPr>
          <p:spPr>
            <a:xfrm>
              <a:off x="6648450" y="3924441"/>
              <a:ext cx="1666875" cy="999185"/>
            </a:xfrm>
            <a:custGeom>
              <a:avLst/>
              <a:gdLst>
                <a:gd name="csX0" fmla="*/ 0 w 1666875"/>
                <a:gd name="csY0" fmla="*/ 999186 h 999185"/>
                <a:gd name="csX1" fmla="*/ 1666875 w 1666875"/>
                <a:gd name="csY1" fmla="*/ 0 h 999185"/>
              </a:gdLst>
              <a:ahLst/>
              <a:cxnLst>
                <a:cxn ang="0">
                  <a:pos x="csX0" y="csY0"/>
                </a:cxn>
                <a:cxn ang="0">
                  <a:pos x="csX1" y="csY1"/>
                </a:cxn>
              </a:cxnLst>
              <a:rect l="l" t="t" r="r" b="b"/>
              <a:pathLst>
                <a:path w="1666875" h="999185">
                  <a:moveTo>
                    <a:pt x="0" y="999186"/>
                  </a:moveTo>
                  <a:lnTo>
                    <a:pt x="1666875" y="0"/>
                  </a:lnTo>
                </a:path>
              </a:pathLst>
            </a:custGeom>
            <a:ln w="4763" cap="flat">
              <a:solidFill>
                <a:srgbClr val="009999"/>
              </a:solidFill>
              <a:prstDash val="solid"/>
              <a:miter/>
            </a:ln>
          </p:spPr>
          <p:txBody>
            <a:bodyPr/>
            <a:lstStyle/>
            <a:p>
              <a:endParaRPr lang="en-US" dirty="0"/>
            </a:p>
          </p:txBody>
        </p:sp>
      </p:grpSp>
      <p:grpSp>
        <p:nvGrpSpPr>
          <p:cNvPr id="165" name="Graphic 10">
            <a:extLst>
              <a:ext uri="{FF2B5EF4-FFF2-40B4-BE49-F238E27FC236}">
                <a16:creationId xmlns:a16="http://schemas.microsoft.com/office/drawing/2014/main" id="{CAB0F4A8-8EAE-DF3E-34D1-21B83E4C137A}"/>
              </a:ext>
            </a:extLst>
          </p:cNvPr>
          <p:cNvGrpSpPr/>
          <p:nvPr/>
        </p:nvGrpSpPr>
        <p:grpSpPr>
          <a:xfrm>
            <a:off x="2317187" y="3023819"/>
            <a:ext cx="718689" cy="1924455"/>
            <a:chOff x="2234060" y="2934809"/>
            <a:chExt cx="718689" cy="1924455"/>
          </a:xfrm>
          <a:solidFill>
            <a:srgbClr val="003366"/>
          </a:solidFill>
        </p:grpSpPr>
        <p:sp>
          <p:nvSpPr>
            <p:cNvPr id="166" name="TextBox 165">
              <a:extLst>
                <a:ext uri="{FF2B5EF4-FFF2-40B4-BE49-F238E27FC236}">
                  <a16:creationId xmlns:a16="http://schemas.microsoft.com/office/drawing/2014/main" id="{26D3AE00-E0AB-D0DF-D253-87DA27DC548E}"/>
                </a:ext>
              </a:extLst>
            </p:cNvPr>
            <p:cNvSpPr txBox="1"/>
            <p:nvPr/>
          </p:nvSpPr>
          <p:spPr>
            <a:xfrm>
              <a:off x="2564972" y="2889089"/>
              <a:ext cx="479217" cy="207845"/>
            </a:xfrm>
            <a:prstGeom prst="rect">
              <a:avLst/>
            </a:prstGeom>
            <a:noFill/>
          </p:spPr>
          <p:txBody>
            <a:bodyPr wrap="none" rtlCol="0">
              <a:spAutoFit/>
            </a:bodyPr>
            <a:lstStyle/>
            <a:p>
              <a:pPr algn="l"/>
              <a:r>
                <a:rPr lang="en-US" sz="788" spc="0" baseline="0" dirty="0">
                  <a:ln/>
                  <a:solidFill>
                    <a:srgbClr val="003366"/>
                  </a:solidFill>
                  <a:latin typeface="Helvetica Neue"/>
                  <a:ea typeface="Helvetica Neue"/>
                  <a:cs typeface="Helvetica Neue"/>
                  <a:sym typeface="Helvetica Neue"/>
                  <a:rtl val="0"/>
                </a:rPr>
                <a:t>e / e_s</a:t>
              </a:r>
            </a:p>
          </p:txBody>
        </p:sp>
        <p:sp>
          <p:nvSpPr>
            <p:cNvPr id="167" name="TextBox 166">
              <a:extLst>
                <a:ext uri="{FF2B5EF4-FFF2-40B4-BE49-F238E27FC236}">
                  <a16:creationId xmlns:a16="http://schemas.microsoft.com/office/drawing/2014/main" id="{340F8260-2C82-2CC8-AB7A-4BB6ED88F023}"/>
                </a:ext>
              </a:extLst>
            </p:cNvPr>
            <p:cNvSpPr txBox="1"/>
            <p:nvPr/>
          </p:nvSpPr>
          <p:spPr>
            <a:xfrm>
              <a:off x="2528568" y="3250700"/>
              <a:ext cx="515621" cy="207845"/>
            </a:xfrm>
            <a:prstGeom prst="rect">
              <a:avLst/>
            </a:prstGeom>
            <a:noFill/>
          </p:spPr>
          <p:txBody>
            <a:bodyPr wrap="none" rtlCol="0">
              <a:spAutoFit/>
            </a:bodyPr>
            <a:lstStyle/>
            <a:p>
              <a:pPr algn="l"/>
              <a:r>
                <a:rPr lang="en-US" sz="788" spc="0" baseline="0" dirty="0">
                  <a:ln/>
                  <a:solidFill>
                    <a:srgbClr val="003366"/>
                  </a:solidFill>
                  <a:latin typeface="Helvetica Neue"/>
                  <a:ea typeface="Helvetica Neue"/>
                  <a:cs typeface="Helvetica Neue"/>
                  <a:sym typeface="Helvetica Neue"/>
                  <a:rtl val="0"/>
                </a:rPr>
                <a:t>ω / ω_s</a:t>
              </a:r>
            </a:p>
          </p:txBody>
        </p:sp>
        <p:sp>
          <p:nvSpPr>
            <p:cNvPr id="168" name="TextBox 167">
              <a:extLst>
                <a:ext uri="{FF2B5EF4-FFF2-40B4-BE49-F238E27FC236}">
                  <a16:creationId xmlns:a16="http://schemas.microsoft.com/office/drawing/2014/main" id="{D9C77327-A828-2F30-7A24-297BB08BEA6C}"/>
                </a:ext>
              </a:extLst>
            </p:cNvPr>
            <p:cNvSpPr txBox="1"/>
            <p:nvPr/>
          </p:nvSpPr>
          <p:spPr>
            <a:xfrm>
              <a:off x="2652283" y="3612310"/>
              <a:ext cx="391906" cy="207845"/>
            </a:xfrm>
            <a:prstGeom prst="rect">
              <a:avLst/>
            </a:prstGeom>
            <a:noFill/>
          </p:spPr>
          <p:txBody>
            <a:bodyPr wrap="none" rtlCol="0">
              <a:spAutoFit/>
            </a:bodyPr>
            <a:lstStyle/>
            <a:p>
              <a:pPr algn="l"/>
              <a:r>
                <a:rPr lang="en-US" sz="788" spc="0" baseline="0" dirty="0">
                  <a:ln/>
                  <a:solidFill>
                    <a:srgbClr val="003366"/>
                  </a:solidFill>
                  <a:latin typeface="Helvetica Neue"/>
                  <a:ea typeface="Helvetica Neue"/>
                  <a:cs typeface="Helvetica Neue"/>
                  <a:sym typeface="Helvetica Neue"/>
                  <a:rtl val="0"/>
                </a:rPr>
                <a:t>sin θ</a:t>
              </a:r>
            </a:p>
          </p:txBody>
        </p:sp>
        <p:sp>
          <p:nvSpPr>
            <p:cNvPr id="169" name="TextBox 168">
              <a:extLst>
                <a:ext uri="{FF2B5EF4-FFF2-40B4-BE49-F238E27FC236}">
                  <a16:creationId xmlns:a16="http://schemas.microsoft.com/office/drawing/2014/main" id="{4C74C14C-71B6-F236-7D05-BF97CC0BBDF6}"/>
                </a:ext>
              </a:extLst>
            </p:cNvPr>
            <p:cNvSpPr txBox="1"/>
            <p:nvPr/>
          </p:nvSpPr>
          <p:spPr>
            <a:xfrm>
              <a:off x="2618979" y="3973920"/>
              <a:ext cx="425210" cy="207845"/>
            </a:xfrm>
            <a:prstGeom prst="rect">
              <a:avLst/>
            </a:prstGeom>
            <a:noFill/>
          </p:spPr>
          <p:txBody>
            <a:bodyPr wrap="none" rtlCol="0">
              <a:spAutoFit/>
            </a:bodyPr>
            <a:lstStyle/>
            <a:p>
              <a:pPr algn="l"/>
              <a:r>
                <a:rPr lang="en-US" sz="788" spc="0" baseline="0" dirty="0">
                  <a:ln/>
                  <a:solidFill>
                    <a:srgbClr val="003366"/>
                  </a:solidFill>
                  <a:latin typeface="Helvetica Neue"/>
                  <a:ea typeface="Helvetica Neue"/>
                  <a:cs typeface="Helvetica Neue"/>
                  <a:sym typeface="Helvetica Neue"/>
                  <a:rtl val="0"/>
                </a:rPr>
                <a:t>cos θ</a:t>
              </a:r>
            </a:p>
          </p:txBody>
        </p:sp>
        <p:sp>
          <p:nvSpPr>
            <p:cNvPr id="170" name="TextBox 169">
              <a:extLst>
                <a:ext uri="{FF2B5EF4-FFF2-40B4-BE49-F238E27FC236}">
                  <a16:creationId xmlns:a16="http://schemas.microsoft.com/office/drawing/2014/main" id="{5F569941-B210-8D9C-05CD-0BD91427D5F2}"/>
                </a:ext>
              </a:extLst>
            </p:cNvPr>
            <p:cNvSpPr txBox="1"/>
            <p:nvPr/>
          </p:nvSpPr>
          <p:spPr>
            <a:xfrm>
              <a:off x="2493364" y="4335530"/>
              <a:ext cx="550825" cy="207845"/>
            </a:xfrm>
            <a:prstGeom prst="rect">
              <a:avLst/>
            </a:prstGeom>
            <a:noFill/>
          </p:spPr>
          <p:txBody>
            <a:bodyPr wrap="none" rtlCol="0">
              <a:spAutoFit/>
            </a:bodyPr>
            <a:lstStyle/>
            <a:p>
              <a:pPr algn="l"/>
              <a:r>
                <a:rPr lang="en-US" sz="788" spc="0" baseline="0" dirty="0">
                  <a:ln/>
                  <a:solidFill>
                    <a:srgbClr val="003366"/>
                  </a:solidFill>
                  <a:latin typeface="Helvetica Neue"/>
                  <a:ea typeface="Helvetica Neue"/>
                  <a:cs typeface="Helvetica Neue"/>
                  <a:sym typeface="Helvetica Neue"/>
                  <a:rtl val="0"/>
                </a:rPr>
                <a:t>ω* / ω_s</a:t>
              </a:r>
            </a:p>
          </p:txBody>
        </p:sp>
        <p:sp>
          <p:nvSpPr>
            <p:cNvPr id="171" name="TextBox 170">
              <a:extLst>
                <a:ext uri="{FF2B5EF4-FFF2-40B4-BE49-F238E27FC236}">
                  <a16:creationId xmlns:a16="http://schemas.microsoft.com/office/drawing/2014/main" id="{9297B695-C9B0-6ED3-8D67-02547B13E818}"/>
                </a:ext>
              </a:extLst>
            </p:cNvPr>
            <p:cNvSpPr txBox="1"/>
            <p:nvPr/>
          </p:nvSpPr>
          <p:spPr>
            <a:xfrm>
              <a:off x="2142620" y="4697140"/>
              <a:ext cx="901569" cy="207845"/>
            </a:xfrm>
            <a:prstGeom prst="rect">
              <a:avLst/>
            </a:prstGeom>
            <a:noFill/>
          </p:spPr>
          <p:txBody>
            <a:bodyPr wrap="none" rtlCol="0">
              <a:spAutoFit/>
            </a:bodyPr>
            <a:lstStyle/>
            <a:p>
              <a:pPr algn="l"/>
              <a:r>
                <a:rPr lang="en-US" sz="788" spc="0" baseline="0" dirty="0">
                  <a:ln/>
                  <a:solidFill>
                    <a:srgbClr val="003366"/>
                  </a:solidFill>
                  <a:latin typeface="Helvetica Neue"/>
                  <a:ea typeface="Helvetica Neue"/>
                  <a:cs typeface="Helvetica Neue"/>
                  <a:sym typeface="Helvetica Neue"/>
                  <a:rtl val="0"/>
                </a:rPr>
                <a:t>V_base / V_max</a:t>
              </a:r>
            </a:p>
          </p:txBody>
        </p:sp>
      </p:grpSp>
      <p:grpSp>
        <p:nvGrpSpPr>
          <p:cNvPr id="172" name="Graphic 10">
            <a:extLst>
              <a:ext uri="{FF2B5EF4-FFF2-40B4-BE49-F238E27FC236}">
                <a16:creationId xmlns:a16="http://schemas.microsoft.com/office/drawing/2014/main" id="{A9E254D6-7B01-0CB6-292E-CB340222932A}"/>
              </a:ext>
            </a:extLst>
          </p:cNvPr>
          <p:cNvGrpSpPr/>
          <p:nvPr/>
        </p:nvGrpSpPr>
        <p:grpSpPr>
          <a:xfrm>
            <a:off x="3378777" y="2919105"/>
            <a:ext cx="323850" cy="2131596"/>
            <a:chOff x="3295650" y="2830095"/>
            <a:chExt cx="323850" cy="2131596"/>
          </a:xfrm>
          <a:solidFill>
            <a:srgbClr val="003366"/>
          </a:solidFill>
        </p:grpSpPr>
        <p:sp>
          <p:nvSpPr>
            <p:cNvPr id="173" name="Oval 172">
              <a:extLst>
                <a:ext uri="{FF2B5EF4-FFF2-40B4-BE49-F238E27FC236}">
                  <a16:creationId xmlns:a16="http://schemas.microsoft.com/office/drawing/2014/main" id="{E989D2EA-9460-7EE0-4C78-0E8760D64708}"/>
                </a:ext>
              </a:extLst>
            </p:cNvPr>
            <p:cNvSpPr/>
            <p:nvPr/>
          </p:nvSpPr>
          <p:spPr>
            <a:xfrm>
              <a:off x="3295650" y="2830095"/>
              <a:ext cx="323850" cy="323545"/>
            </a:xfrm>
            <a:prstGeom prst="ellipse">
              <a:avLst/>
            </a:prstGeom>
            <a:solidFill>
              <a:srgbClr val="003366"/>
            </a:solidFill>
            <a:ln w="19050" cap="flat">
              <a:solidFill>
                <a:srgbClr val="FFFFFF"/>
              </a:solidFill>
              <a:prstDash val="solid"/>
              <a:miter/>
            </a:ln>
          </p:spPr>
          <p:txBody>
            <a:bodyPr/>
            <a:lstStyle/>
            <a:p>
              <a:endParaRPr lang="en-US" dirty="0"/>
            </a:p>
          </p:txBody>
        </p:sp>
        <p:sp>
          <p:nvSpPr>
            <p:cNvPr id="174" name="Oval 173">
              <a:extLst>
                <a:ext uri="{FF2B5EF4-FFF2-40B4-BE49-F238E27FC236}">
                  <a16:creationId xmlns:a16="http://schemas.microsoft.com/office/drawing/2014/main" id="{39965335-EAE4-A6D8-E354-9CD1B5EF833F}"/>
                </a:ext>
              </a:extLst>
            </p:cNvPr>
            <p:cNvSpPr/>
            <p:nvPr/>
          </p:nvSpPr>
          <p:spPr>
            <a:xfrm>
              <a:off x="3295650" y="3191705"/>
              <a:ext cx="323850" cy="323545"/>
            </a:xfrm>
            <a:prstGeom prst="ellipse">
              <a:avLst/>
            </a:prstGeom>
            <a:solidFill>
              <a:srgbClr val="003366"/>
            </a:solidFill>
            <a:ln w="19050" cap="flat">
              <a:solidFill>
                <a:srgbClr val="FFFFFF"/>
              </a:solidFill>
              <a:prstDash val="solid"/>
              <a:miter/>
            </a:ln>
          </p:spPr>
          <p:txBody>
            <a:bodyPr/>
            <a:lstStyle/>
            <a:p>
              <a:endParaRPr lang="en-US" dirty="0"/>
            </a:p>
          </p:txBody>
        </p:sp>
        <p:sp>
          <p:nvSpPr>
            <p:cNvPr id="175" name="Oval 174">
              <a:extLst>
                <a:ext uri="{FF2B5EF4-FFF2-40B4-BE49-F238E27FC236}">
                  <a16:creationId xmlns:a16="http://schemas.microsoft.com/office/drawing/2014/main" id="{28EB7E48-0149-B42A-F6C7-69A50AED3361}"/>
                </a:ext>
              </a:extLst>
            </p:cNvPr>
            <p:cNvSpPr/>
            <p:nvPr/>
          </p:nvSpPr>
          <p:spPr>
            <a:xfrm>
              <a:off x="3295650" y="3553315"/>
              <a:ext cx="323850" cy="323545"/>
            </a:xfrm>
            <a:prstGeom prst="ellipse">
              <a:avLst/>
            </a:prstGeom>
            <a:solidFill>
              <a:srgbClr val="003366"/>
            </a:solidFill>
            <a:ln w="19050" cap="flat">
              <a:solidFill>
                <a:srgbClr val="FFFFFF"/>
              </a:solidFill>
              <a:prstDash val="solid"/>
              <a:miter/>
            </a:ln>
          </p:spPr>
          <p:txBody>
            <a:bodyPr/>
            <a:lstStyle/>
            <a:p>
              <a:endParaRPr lang="en-US" dirty="0"/>
            </a:p>
          </p:txBody>
        </p:sp>
        <p:sp>
          <p:nvSpPr>
            <p:cNvPr id="176" name="Oval 175">
              <a:extLst>
                <a:ext uri="{FF2B5EF4-FFF2-40B4-BE49-F238E27FC236}">
                  <a16:creationId xmlns:a16="http://schemas.microsoft.com/office/drawing/2014/main" id="{651FF216-AF5C-2282-11EA-1B8767ADFD9F}"/>
                </a:ext>
              </a:extLst>
            </p:cNvPr>
            <p:cNvSpPr/>
            <p:nvPr/>
          </p:nvSpPr>
          <p:spPr>
            <a:xfrm>
              <a:off x="3295650" y="3914925"/>
              <a:ext cx="323850" cy="323545"/>
            </a:xfrm>
            <a:prstGeom prst="ellipse">
              <a:avLst/>
            </a:prstGeom>
            <a:solidFill>
              <a:srgbClr val="003366"/>
            </a:solidFill>
            <a:ln w="19050" cap="flat">
              <a:solidFill>
                <a:srgbClr val="FFFFFF"/>
              </a:solidFill>
              <a:prstDash val="solid"/>
              <a:miter/>
            </a:ln>
          </p:spPr>
          <p:txBody>
            <a:bodyPr/>
            <a:lstStyle/>
            <a:p>
              <a:endParaRPr lang="en-US" dirty="0"/>
            </a:p>
          </p:txBody>
        </p:sp>
        <p:sp>
          <p:nvSpPr>
            <p:cNvPr id="177" name="Oval 176">
              <a:extLst>
                <a:ext uri="{FF2B5EF4-FFF2-40B4-BE49-F238E27FC236}">
                  <a16:creationId xmlns:a16="http://schemas.microsoft.com/office/drawing/2014/main" id="{6E2D3151-04B0-336E-6BB6-6937C8D93BFE}"/>
                </a:ext>
              </a:extLst>
            </p:cNvPr>
            <p:cNvSpPr/>
            <p:nvPr/>
          </p:nvSpPr>
          <p:spPr>
            <a:xfrm>
              <a:off x="3295650" y="4276535"/>
              <a:ext cx="323850" cy="323545"/>
            </a:xfrm>
            <a:prstGeom prst="ellipse">
              <a:avLst/>
            </a:prstGeom>
            <a:solidFill>
              <a:srgbClr val="003366"/>
            </a:solidFill>
            <a:ln w="19050" cap="flat">
              <a:solidFill>
                <a:srgbClr val="FFFFFF"/>
              </a:solidFill>
              <a:prstDash val="solid"/>
              <a:miter/>
            </a:ln>
          </p:spPr>
          <p:txBody>
            <a:bodyPr/>
            <a:lstStyle/>
            <a:p>
              <a:endParaRPr lang="en-US" dirty="0"/>
            </a:p>
          </p:txBody>
        </p:sp>
        <p:sp>
          <p:nvSpPr>
            <p:cNvPr id="178" name="Oval 177">
              <a:extLst>
                <a:ext uri="{FF2B5EF4-FFF2-40B4-BE49-F238E27FC236}">
                  <a16:creationId xmlns:a16="http://schemas.microsoft.com/office/drawing/2014/main" id="{03121788-2DEE-881F-8C8E-04EC285D1330}"/>
                </a:ext>
              </a:extLst>
            </p:cNvPr>
            <p:cNvSpPr/>
            <p:nvPr/>
          </p:nvSpPr>
          <p:spPr>
            <a:xfrm>
              <a:off x="3295650" y="4638145"/>
              <a:ext cx="323850" cy="323545"/>
            </a:xfrm>
            <a:prstGeom prst="ellipse">
              <a:avLst/>
            </a:prstGeom>
            <a:solidFill>
              <a:srgbClr val="003366"/>
            </a:solidFill>
            <a:ln w="19050" cap="flat">
              <a:solidFill>
                <a:srgbClr val="FFFFFF"/>
              </a:solidFill>
              <a:prstDash val="solid"/>
              <a:miter/>
            </a:ln>
          </p:spPr>
          <p:txBody>
            <a:bodyPr/>
            <a:lstStyle/>
            <a:p>
              <a:endParaRPr lang="en-US" dirty="0"/>
            </a:p>
          </p:txBody>
        </p:sp>
      </p:grpSp>
      <p:grpSp>
        <p:nvGrpSpPr>
          <p:cNvPr id="179" name="Graphic 10">
            <a:extLst>
              <a:ext uri="{FF2B5EF4-FFF2-40B4-BE49-F238E27FC236}">
                <a16:creationId xmlns:a16="http://schemas.microsoft.com/office/drawing/2014/main" id="{B8687483-72AF-0EC0-A6FB-D6F4AF1F9C3F}"/>
              </a:ext>
            </a:extLst>
          </p:cNvPr>
          <p:cNvGrpSpPr/>
          <p:nvPr/>
        </p:nvGrpSpPr>
        <p:grpSpPr>
          <a:xfrm>
            <a:off x="3500968" y="3035439"/>
            <a:ext cx="79467" cy="1910138"/>
            <a:chOff x="3417841" y="2946429"/>
            <a:chExt cx="79467" cy="1910138"/>
          </a:xfrm>
          <a:solidFill>
            <a:srgbClr val="FFFFFF"/>
          </a:solidFill>
        </p:grpSpPr>
        <p:sp>
          <p:nvSpPr>
            <p:cNvPr id="180" name="TextBox 179">
              <a:extLst>
                <a:ext uri="{FF2B5EF4-FFF2-40B4-BE49-F238E27FC236}">
                  <a16:creationId xmlns:a16="http://schemas.microsoft.com/office/drawing/2014/main" id="{F516542D-F4DD-7269-CB6E-95737D50A605}"/>
                </a:ext>
              </a:extLst>
            </p:cNvPr>
            <p:cNvSpPr txBox="1"/>
            <p:nvPr/>
          </p:nvSpPr>
          <p:spPr>
            <a:xfrm>
              <a:off x="3326401" y="2900709"/>
              <a:ext cx="262347" cy="193528"/>
            </a:xfrm>
            <a:prstGeom prst="rect">
              <a:avLst/>
            </a:prstGeom>
            <a:noFill/>
          </p:spPr>
          <p:txBody>
            <a:bodyPr wrap="none" rtlCol="0">
              <a:spAutoFit/>
            </a:bodyPr>
            <a:lstStyle/>
            <a:p>
              <a:pPr algn="l"/>
              <a:r>
                <a:rPr lang="en-US" sz="675" b="1" spc="0" baseline="0" dirty="0">
                  <a:ln/>
                  <a:solidFill>
                    <a:srgbClr val="FFFFFF"/>
                  </a:solidFill>
                  <a:latin typeface="Helvetica Neue"/>
                  <a:ea typeface="Helvetica Neue"/>
                  <a:cs typeface="Helvetica Neue"/>
                  <a:sym typeface="Helvetica Neue"/>
                  <a:rtl val="0"/>
                </a:rPr>
                <a:t>x₁</a:t>
              </a:r>
            </a:p>
          </p:txBody>
        </p:sp>
        <p:sp>
          <p:nvSpPr>
            <p:cNvPr id="181" name="TextBox 180">
              <a:extLst>
                <a:ext uri="{FF2B5EF4-FFF2-40B4-BE49-F238E27FC236}">
                  <a16:creationId xmlns:a16="http://schemas.microsoft.com/office/drawing/2014/main" id="{69066D4F-3C84-B423-4779-FB4546AEEA19}"/>
                </a:ext>
              </a:extLst>
            </p:cNvPr>
            <p:cNvSpPr txBox="1"/>
            <p:nvPr/>
          </p:nvSpPr>
          <p:spPr>
            <a:xfrm>
              <a:off x="3326401" y="3262319"/>
              <a:ext cx="262347" cy="193528"/>
            </a:xfrm>
            <a:prstGeom prst="rect">
              <a:avLst/>
            </a:prstGeom>
            <a:noFill/>
          </p:spPr>
          <p:txBody>
            <a:bodyPr wrap="none" rtlCol="0">
              <a:spAutoFit/>
            </a:bodyPr>
            <a:lstStyle/>
            <a:p>
              <a:pPr algn="l"/>
              <a:r>
                <a:rPr lang="en-US" sz="675" b="1" spc="0" baseline="0" dirty="0">
                  <a:ln/>
                  <a:solidFill>
                    <a:srgbClr val="FFFFFF"/>
                  </a:solidFill>
                  <a:latin typeface="Helvetica Neue"/>
                  <a:ea typeface="Helvetica Neue"/>
                  <a:cs typeface="Helvetica Neue"/>
                  <a:sym typeface="Helvetica Neue"/>
                  <a:rtl val="0"/>
                </a:rPr>
                <a:t>x₂</a:t>
              </a:r>
            </a:p>
          </p:txBody>
        </p:sp>
        <p:sp>
          <p:nvSpPr>
            <p:cNvPr id="182" name="TextBox 181">
              <a:extLst>
                <a:ext uri="{FF2B5EF4-FFF2-40B4-BE49-F238E27FC236}">
                  <a16:creationId xmlns:a16="http://schemas.microsoft.com/office/drawing/2014/main" id="{6B105770-1F77-20C7-69CE-1BE5C9A04BEC}"/>
                </a:ext>
              </a:extLst>
            </p:cNvPr>
            <p:cNvSpPr txBox="1"/>
            <p:nvPr/>
          </p:nvSpPr>
          <p:spPr>
            <a:xfrm>
              <a:off x="3326401" y="3623929"/>
              <a:ext cx="262347" cy="193528"/>
            </a:xfrm>
            <a:prstGeom prst="rect">
              <a:avLst/>
            </a:prstGeom>
            <a:noFill/>
          </p:spPr>
          <p:txBody>
            <a:bodyPr wrap="none" rtlCol="0">
              <a:spAutoFit/>
            </a:bodyPr>
            <a:lstStyle/>
            <a:p>
              <a:pPr algn="l"/>
              <a:r>
                <a:rPr lang="en-US" sz="675" b="1" spc="0" baseline="0" dirty="0">
                  <a:ln/>
                  <a:solidFill>
                    <a:srgbClr val="FFFFFF"/>
                  </a:solidFill>
                  <a:latin typeface="Helvetica Neue"/>
                  <a:ea typeface="Helvetica Neue"/>
                  <a:cs typeface="Helvetica Neue"/>
                  <a:sym typeface="Helvetica Neue"/>
                  <a:rtl val="0"/>
                </a:rPr>
                <a:t>x₃</a:t>
              </a:r>
            </a:p>
          </p:txBody>
        </p:sp>
        <p:sp>
          <p:nvSpPr>
            <p:cNvPr id="183" name="TextBox 182">
              <a:extLst>
                <a:ext uri="{FF2B5EF4-FFF2-40B4-BE49-F238E27FC236}">
                  <a16:creationId xmlns:a16="http://schemas.microsoft.com/office/drawing/2014/main" id="{8213C73E-61F5-E3E7-7F80-4C1E31EC40DE}"/>
                </a:ext>
              </a:extLst>
            </p:cNvPr>
            <p:cNvSpPr txBox="1"/>
            <p:nvPr/>
          </p:nvSpPr>
          <p:spPr>
            <a:xfrm>
              <a:off x="3326401" y="3985539"/>
              <a:ext cx="262347" cy="193528"/>
            </a:xfrm>
            <a:prstGeom prst="rect">
              <a:avLst/>
            </a:prstGeom>
            <a:noFill/>
          </p:spPr>
          <p:txBody>
            <a:bodyPr wrap="none" rtlCol="0">
              <a:spAutoFit/>
            </a:bodyPr>
            <a:lstStyle/>
            <a:p>
              <a:pPr algn="l"/>
              <a:r>
                <a:rPr lang="en-US" sz="675" b="1" spc="0" baseline="0" dirty="0">
                  <a:ln/>
                  <a:solidFill>
                    <a:srgbClr val="FFFFFF"/>
                  </a:solidFill>
                  <a:latin typeface="Helvetica Neue"/>
                  <a:ea typeface="Helvetica Neue"/>
                  <a:cs typeface="Helvetica Neue"/>
                  <a:sym typeface="Helvetica Neue"/>
                  <a:rtl val="0"/>
                </a:rPr>
                <a:t>x₄</a:t>
              </a:r>
            </a:p>
          </p:txBody>
        </p:sp>
        <p:sp>
          <p:nvSpPr>
            <p:cNvPr id="184" name="TextBox 183">
              <a:extLst>
                <a:ext uri="{FF2B5EF4-FFF2-40B4-BE49-F238E27FC236}">
                  <a16:creationId xmlns:a16="http://schemas.microsoft.com/office/drawing/2014/main" id="{EC746BD4-0514-FD66-6645-FB5B19771BF9}"/>
                </a:ext>
              </a:extLst>
            </p:cNvPr>
            <p:cNvSpPr txBox="1"/>
            <p:nvPr/>
          </p:nvSpPr>
          <p:spPr>
            <a:xfrm>
              <a:off x="3326401" y="4347149"/>
              <a:ext cx="262347" cy="193528"/>
            </a:xfrm>
            <a:prstGeom prst="rect">
              <a:avLst/>
            </a:prstGeom>
            <a:noFill/>
          </p:spPr>
          <p:txBody>
            <a:bodyPr wrap="none" rtlCol="0">
              <a:spAutoFit/>
            </a:bodyPr>
            <a:lstStyle/>
            <a:p>
              <a:pPr algn="l"/>
              <a:r>
                <a:rPr lang="en-US" sz="675" b="1" spc="0" baseline="0" dirty="0">
                  <a:ln/>
                  <a:solidFill>
                    <a:srgbClr val="FFFFFF"/>
                  </a:solidFill>
                  <a:latin typeface="Helvetica Neue"/>
                  <a:ea typeface="Helvetica Neue"/>
                  <a:cs typeface="Helvetica Neue"/>
                  <a:sym typeface="Helvetica Neue"/>
                  <a:rtl val="0"/>
                </a:rPr>
                <a:t>x₅</a:t>
              </a:r>
            </a:p>
          </p:txBody>
        </p:sp>
        <p:sp>
          <p:nvSpPr>
            <p:cNvPr id="185" name="TextBox 184">
              <a:extLst>
                <a:ext uri="{FF2B5EF4-FFF2-40B4-BE49-F238E27FC236}">
                  <a16:creationId xmlns:a16="http://schemas.microsoft.com/office/drawing/2014/main" id="{63D02C70-014E-F3CD-4AEF-74AEDD51028C}"/>
                </a:ext>
              </a:extLst>
            </p:cNvPr>
            <p:cNvSpPr txBox="1"/>
            <p:nvPr/>
          </p:nvSpPr>
          <p:spPr>
            <a:xfrm>
              <a:off x="3326401" y="4708759"/>
              <a:ext cx="262347" cy="193528"/>
            </a:xfrm>
            <a:prstGeom prst="rect">
              <a:avLst/>
            </a:prstGeom>
            <a:noFill/>
          </p:spPr>
          <p:txBody>
            <a:bodyPr wrap="none" rtlCol="0">
              <a:spAutoFit/>
            </a:bodyPr>
            <a:lstStyle/>
            <a:p>
              <a:pPr algn="l"/>
              <a:r>
                <a:rPr lang="en-US" sz="675" b="1" spc="0" baseline="0" dirty="0">
                  <a:ln/>
                  <a:solidFill>
                    <a:srgbClr val="FFFFFF"/>
                  </a:solidFill>
                  <a:latin typeface="Helvetica Neue"/>
                  <a:ea typeface="Helvetica Neue"/>
                  <a:cs typeface="Helvetica Neue"/>
                  <a:sym typeface="Helvetica Neue"/>
                  <a:rtl val="0"/>
                </a:rPr>
                <a:t>x₆</a:t>
              </a:r>
            </a:p>
          </p:txBody>
        </p:sp>
      </p:grpSp>
      <p:grpSp>
        <p:nvGrpSpPr>
          <p:cNvPr id="186" name="Graphic 10">
            <a:extLst>
              <a:ext uri="{FF2B5EF4-FFF2-40B4-BE49-F238E27FC236}">
                <a16:creationId xmlns:a16="http://schemas.microsoft.com/office/drawing/2014/main" id="{D2D1A887-7C76-8E19-0855-E320FF111D85}"/>
              </a:ext>
            </a:extLst>
          </p:cNvPr>
          <p:cNvGrpSpPr/>
          <p:nvPr/>
        </p:nvGrpSpPr>
        <p:grpSpPr>
          <a:xfrm>
            <a:off x="6093402" y="2852492"/>
            <a:ext cx="323850" cy="2321917"/>
            <a:chOff x="6010275" y="2763482"/>
            <a:chExt cx="323850" cy="2321917"/>
          </a:xfrm>
          <a:solidFill>
            <a:srgbClr val="009999"/>
          </a:solidFill>
        </p:grpSpPr>
        <p:sp>
          <p:nvSpPr>
            <p:cNvPr id="187" name="Oval 186">
              <a:extLst>
                <a:ext uri="{FF2B5EF4-FFF2-40B4-BE49-F238E27FC236}">
                  <a16:creationId xmlns:a16="http://schemas.microsoft.com/office/drawing/2014/main" id="{302C4E5C-2303-B21C-14CD-4A56E8584B5D}"/>
                </a:ext>
              </a:extLst>
            </p:cNvPr>
            <p:cNvSpPr/>
            <p:nvPr/>
          </p:nvSpPr>
          <p:spPr>
            <a:xfrm>
              <a:off x="6010275" y="2763482"/>
              <a:ext cx="323850" cy="323545"/>
            </a:xfrm>
            <a:prstGeom prst="ellipse">
              <a:avLst/>
            </a:prstGeom>
            <a:solidFill>
              <a:srgbClr val="009999"/>
            </a:solidFill>
            <a:ln w="19050" cap="flat">
              <a:solidFill>
                <a:srgbClr val="FFFFFF"/>
              </a:solidFill>
              <a:prstDash val="solid"/>
              <a:miter/>
            </a:ln>
          </p:spPr>
          <p:txBody>
            <a:bodyPr/>
            <a:lstStyle/>
            <a:p>
              <a:endParaRPr lang="en-US" dirty="0"/>
            </a:p>
          </p:txBody>
        </p:sp>
        <p:sp>
          <p:nvSpPr>
            <p:cNvPr id="188" name="Oval 187">
              <a:extLst>
                <a:ext uri="{FF2B5EF4-FFF2-40B4-BE49-F238E27FC236}">
                  <a16:creationId xmlns:a16="http://schemas.microsoft.com/office/drawing/2014/main" id="{457A576B-61B6-316B-F102-76FDABE67F99}"/>
                </a:ext>
              </a:extLst>
            </p:cNvPr>
            <p:cNvSpPr/>
            <p:nvPr/>
          </p:nvSpPr>
          <p:spPr>
            <a:xfrm>
              <a:off x="6010275" y="3096544"/>
              <a:ext cx="323850" cy="323545"/>
            </a:xfrm>
            <a:prstGeom prst="ellipse">
              <a:avLst/>
            </a:prstGeom>
            <a:solidFill>
              <a:srgbClr val="009999"/>
            </a:solidFill>
            <a:ln w="19050" cap="flat">
              <a:solidFill>
                <a:srgbClr val="FFFFFF"/>
              </a:solidFill>
              <a:prstDash val="solid"/>
              <a:miter/>
            </a:ln>
          </p:spPr>
          <p:txBody>
            <a:bodyPr/>
            <a:lstStyle/>
            <a:p>
              <a:endParaRPr lang="en-US" dirty="0"/>
            </a:p>
          </p:txBody>
        </p:sp>
        <p:sp>
          <p:nvSpPr>
            <p:cNvPr id="189" name="Oval 188">
              <a:extLst>
                <a:ext uri="{FF2B5EF4-FFF2-40B4-BE49-F238E27FC236}">
                  <a16:creationId xmlns:a16="http://schemas.microsoft.com/office/drawing/2014/main" id="{4B0E6349-1370-F5EF-0F63-0D244900E96E}"/>
                </a:ext>
              </a:extLst>
            </p:cNvPr>
            <p:cNvSpPr/>
            <p:nvPr/>
          </p:nvSpPr>
          <p:spPr>
            <a:xfrm>
              <a:off x="6010275" y="3429606"/>
              <a:ext cx="323850" cy="323545"/>
            </a:xfrm>
            <a:prstGeom prst="ellipse">
              <a:avLst/>
            </a:prstGeom>
            <a:solidFill>
              <a:srgbClr val="009999"/>
            </a:solidFill>
            <a:ln w="19050" cap="flat">
              <a:solidFill>
                <a:srgbClr val="FFFFFF"/>
              </a:solidFill>
              <a:prstDash val="solid"/>
              <a:miter/>
            </a:ln>
          </p:spPr>
          <p:txBody>
            <a:bodyPr/>
            <a:lstStyle/>
            <a:p>
              <a:endParaRPr lang="en-US" dirty="0"/>
            </a:p>
          </p:txBody>
        </p:sp>
        <p:sp>
          <p:nvSpPr>
            <p:cNvPr id="190" name="Oval 189">
              <a:extLst>
                <a:ext uri="{FF2B5EF4-FFF2-40B4-BE49-F238E27FC236}">
                  <a16:creationId xmlns:a16="http://schemas.microsoft.com/office/drawing/2014/main" id="{30E4F9D0-DE1E-A1FB-0A45-30B0125C29CA}"/>
                </a:ext>
              </a:extLst>
            </p:cNvPr>
            <p:cNvSpPr/>
            <p:nvPr/>
          </p:nvSpPr>
          <p:spPr>
            <a:xfrm>
              <a:off x="6010275" y="4095730"/>
              <a:ext cx="323850" cy="323545"/>
            </a:xfrm>
            <a:prstGeom prst="ellipse">
              <a:avLst/>
            </a:prstGeom>
            <a:solidFill>
              <a:srgbClr val="009999"/>
            </a:solidFill>
            <a:ln w="19050" cap="flat">
              <a:solidFill>
                <a:srgbClr val="FFFFFF"/>
              </a:solidFill>
              <a:prstDash val="solid"/>
              <a:miter/>
            </a:ln>
          </p:spPr>
          <p:txBody>
            <a:bodyPr/>
            <a:lstStyle/>
            <a:p>
              <a:endParaRPr lang="en-US" dirty="0"/>
            </a:p>
          </p:txBody>
        </p:sp>
        <p:sp>
          <p:nvSpPr>
            <p:cNvPr id="191" name="Oval 190">
              <a:extLst>
                <a:ext uri="{FF2B5EF4-FFF2-40B4-BE49-F238E27FC236}">
                  <a16:creationId xmlns:a16="http://schemas.microsoft.com/office/drawing/2014/main" id="{FB60842D-AD5D-D063-70AF-BA33E9C6F4B6}"/>
                </a:ext>
              </a:extLst>
            </p:cNvPr>
            <p:cNvSpPr/>
            <p:nvPr/>
          </p:nvSpPr>
          <p:spPr>
            <a:xfrm>
              <a:off x="6010275" y="4428792"/>
              <a:ext cx="323850" cy="323545"/>
            </a:xfrm>
            <a:prstGeom prst="ellipse">
              <a:avLst/>
            </a:prstGeom>
            <a:solidFill>
              <a:srgbClr val="009999"/>
            </a:solidFill>
            <a:ln w="19050" cap="flat">
              <a:solidFill>
                <a:srgbClr val="FFFFFF"/>
              </a:solidFill>
              <a:prstDash val="solid"/>
              <a:miter/>
            </a:ln>
          </p:spPr>
          <p:txBody>
            <a:bodyPr/>
            <a:lstStyle/>
            <a:p>
              <a:endParaRPr lang="en-US" dirty="0"/>
            </a:p>
          </p:txBody>
        </p:sp>
        <p:sp>
          <p:nvSpPr>
            <p:cNvPr id="192" name="Oval 191">
              <a:extLst>
                <a:ext uri="{FF2B5EF4-FFF2-40B4-BE49-F238E27FC236}">
                  <a16:creationId xmlns:a16="http://schemas.microsoft.com/office/drawing/2014/main" id="{402531B8-1CBC-2D86-46E6-D3CB66456B17}"/>
                </a:ext>
              </a:extLst>
            </p:cNvPr>
            <p:cNvSpPr/>
            <p:nvPr/>
          </p:nvSpPr>
          <p:spPr>
            <a:xfrm>
              <a:off x="6010275" y="4761854"/>
              <a:ext cx="323850" cy="323545"/>
            </a:xfrm>
            <a:prstGeom prst="ellipse">
              <a:avLst/>
            </a:prstGeom>
            <a:solidFill>
              <a:srgbClr val="009999"/>
            </a:solidFill>
            <a:ln w="19050" cap="flat">
              <a:solidFill>
                <a:srgbClr val="FFFFFF"/>
              </a:solidFill>
              <a:prstDash val="solid"/>
              <a:miter/>
            </a:ln>
          </p:spPr>
          <p:txBody>
            <a:bodyPr/>
            <a:lstStyle/>
            <a:p>
              <a:endParaRPr lang="en-US" dirty="0"/>
            </a:p>
          </p:txBody>
        </p:sp>
      </p:grpSp>
      <p:grpSp>
        <p:nvGrpSpPr>
          <p:cNvPr id="193" name="Graphic 10">
            <a:extLst>
              <a:ext uri="{FF2B5EF4-FFF2-40B4-BE49-F238E27FC236}">
                <a16:creationId xmlns:a16="http://schemas.microsoft.com/office/drawing/2014/main" id="{2F7EE3E9-3A7C-86A7-C077-E46E5A6D0955}"/>
              </a:ext>
            </a:extLst>
          </p:cNvPr>
          <p:cNvGrpSpPr/>
          <p:nvPr/>
        </p:nvGrpSpPr>
        <p:grpSpPr>
          <a:xfrm>
            <a:off x="6226199" y="3761752"/>
            <a:ext cx="55915" cy="477001"/>
            <a:chOff x="6143072" y="3672742"/>
            <a:chExt cx="58255" cy="496966"/>
          </a:xfrm>
          <a:solidFill>
            <a:srgbClr val="009999"/>
          </a:solidFill>
        </p:grpSpPr>
        <p:sp>
          <p:nvSpPr>
            <p:cNvPr id="194" name="TextBox 193">
              <a:extLst>
                <a:ext uri="{FF2B5EF4-FFF2-40B4-BE49-F238E27FC236}">
                  <a16:creationId xmlns:a16="http://schemas.microsoft.com/office/drawing/2014/main" id="{4C96AE1F-1C8A-EAD5-5BAB-EDAF25326DA2}"/>
                </a:ext>
              </a:extLst>
            </p:cNvPr>
            <p:cNvSpPr txBox="1"/>
            <p:nvPr/>
          </p:nvSpPr>
          <p:spPr>
            <a:xfrm>
              <a:off x="6051632" y="3627022"/>
              <a:ext cx="241135" cy="340989"/>
            </a:xfrm>
            <a:prstGeom prst="rect">
              <a:avLst/>
            </a:prstGeom>
            <a:noFill/>
          </p:spPr>
          <p:txBody>
            <a:bodyPr wrap="none" rtlCol="0">
              <a:spAutoFit/>
            </a:bodyPr>
            <a:lstStyle/>
            <a:p>
              <a:pPr algn="l"/>
              <a:r>
                <a:rPr lang="en-US" sz="1650" b="1" spc="0" baseline="0" dirty="0">
                  <a:ln/>
                  <a:solidFill>
                    <a:srgbClr val="009999"/>
                  </a:solidFill>
                  <a:latin typeface="Helvetica Neue"/>
                  <a:ea typeface="Helvetica Neue"/>
                  <a:cs typeface="Helvetica Neue"/>
                  <a:sym typeface="Helvetica Neue"/>
                  <a:rtl val="0"/>
                </a:rPr>
                <a:t>·</a:t>
              </a:r>
            </a:p>
          </p:txBody>
        </p:sp>
        <p:sp>
          <p:nvSpPr>
            <p:cNvPr id="195" name="TextBox 194">
              <a:extLst>
                <a:ext uri="{FF2B5EF4-FFF2-40B4-BE49-F238E27FC236}">
                  <a16:creationId xmlns:a16="http://schemas.microsoft.com/office/drawing/2014/main" id="{29D9C06B-BAF8-E64D-59C7-4CF5113A7322}"/>
                </a:ext>
              </a:extLst>
            </p:cNvPr>
            <p:cNvSpPr txBox="1"/>
            <p:nvPr/>
          </p:nvSpPr>
          <p:spPr>
            <a:xfrm>
              <a:off x="6051632" y="3750730"/>
              <a:ext cx="241135" cy="340989"/>
            </a:xfrm>
            <a:prstGeom prst="rect">
              <a:avLst/>
            </a:prstGeom>
            <a:noFill/>
          </p:spPr>
          <p:txBody>
            <a:bodyPr wrap="none" rtlCol="0">
              <a:spAutoFit/>
            </a:bodyPr>
            <a:lstStyle/>
            <a:p>
              <a:pPr algn="l"/>
              <a:r>
                <a:rPr lang="en-US" sz="1650" b="1" spc="0" baseline="0" dirty="0">
                  <a:ln/>
                  <a:solidFill>
                    <a:srgbClr val="009999"/>
                  </a:solidFill>
                  <a:latin typeface="Helvetica Neue"/>
                  <a:ea typeface="Helvetica Neue"/>
                  <a:cs typeface="Helvetica Neue"/>
                  <a:sym typeface="Helvetica Neue"/>
                  <a:rtl val="0"/>
                </a:rPr>
                <a:t>·</a:t>
              </a:r>
            </a:p>
          </p:txBody>
        </p:sp>
        <p:sp>
          <p:nvSpPr>
            <p:cNvPr id="196" name="TextBox 195">
              <a:extLst>
                <a:ext uri="{FF2B5EF4-FFF2-40B4-BE49-F238E27FC236}">
                  <a16:creationId xmlns:a16="http://schemas.microsoft.com/office/drawing/2014/main" id="{FAEC9779-A444-88F8-8E6A-CDA93214CB4B}"/>
                </a:ext>
              </a:extLst>
            </p:cNvPr>
            <p:cNvSpPr txBox="1"/>
            <p:nvPr/>
          </p:nvSpPr>
          <p:spPr>
            <a:xfrm>
              <a:off x="6051632" y="3874439"/>
              <a:ext cx="241135" cy="340989"/>
            </a:xfrm>
            <a:prstGeom prst="rect">
              <a:avLst/>
            </a:prstGeom>
            <a:noFill/>
          </p:spPr>
          <p:txBody>
            <a:bodyPr wrap="none" rtlCol="0">
              <a:spAutoFit/>
            </a:bodyPr>
            <a:lstStyle/>
            <a:p>
              <a:pPr algn="l"/>
              <a:r>
                <a:rPr lang="en-US" sz="1650" b="1" spc="0" baseline="0" dirty="0">
                  <a:ln/>
                  <a:solidFill>
                    <a:srgbClr val="009999"/>
                  </a:solidFill>
                  <a:latin typeface="Helvetica Neue"/>
                  <a:ea typeface="Helvetica Neue"/>
                  <a:cs typeface="Helvetica Neue"/>
                  <a:sym typeface="Helvetica Neue"/>
                  <a:rtl val="0"/>
                </a:rPr>
                <a:t>·</a:t>
              </a:r>
            </a:p>
          </p:txBody>
        </p:sp>
      </p:grpSp>
      <p:sp>
        <p:nvSpPr>
          <p:cNvPr id="197" name="TextBox 196">
            <a:extLst>
              <a:ext uri="{FF2B5EF4-FFF2-40B4-BE49-F238E27FC236}">
                <a16:creationId xmlns:a16="http://schemas.microsoft.com/office/drawing/2014/main" id="{0DB87619-281A-A14A-A764-67A56F48A7CB}"/>
              </a:ext>
            </a:extLst>
          </p:cNvPr>
          <p:cNvSpPr txBox="1"/>
          <p:nvPr/>
        </p:nvSpPr>
        <p:spPr>
          <a:xfrm>
            <a:off x="5848561" y="5146781"/>
            <a:ext cx="813530" cy="207749"/>
          </a:xfrm>
          <a:prstGeom prst="rect">
            <a:avLst/>
          </a:prstGeom>
          <a:noFill/>
        </p:spPr>
        <p:txBody>
          <a:bodyPr wrap="square" rtlCol="0">
            <a:spAutoFit/>
          </a:bodyPr>
          <a:lstStyle/>
          <a:p>
            <a:pPr algn="l"/>
            <a:r>
              <a:rPr lang="en-US" sz="750" i="1" spc="0" baseline="0" dirty="0">
                <a:ln/>
                <a:solidFill>
                  <a:srgbClr val="009999"/>
                </a:solidFill>
                <a:latin typeface="Helvetica Neue"/>
                <a:ea typeface="Helvetica Neue"/>
                <a:cs typeface="Helvetica Neue"/>
                <a:sym typeface="Helvetica Neue"/>
                <a:rtl val="0"/>
              </a:rPr>
              <a:t>× 64 units total</a:t>
            </a:r>
          </a:p>
        </p:txBody>
      </p:sp>
      <p:sp>
        <p:nvSpPr>
          <p:cNvPr id="198" name="Oval 197">
            <a:extLst>
              <a:ext uri="{FF2B5EF4-FFF2-40B4-BE49-F238E27FC236}">
                <a16:creationId xmlns:a16="http://schemas.microsoft.com/office/drawing/2014/main" id="{56173B9C-7E4B-8C76-468A-EEA783ED933A}"/>
              </a:ext>
            </a:extLst>
          </p:cNvPr>
          <p:cNvSpPr/>
          <p:nvPr/>
        </p:nvSpPr>
        <p:spPr>
          <a:xfrm>
            <a:off x="8569902" y="3804098"/>
            <a:ext cx="419100" cy="418706"/>
          </a:xfrm>
          <a:prstGeom prst="ellipse">
            <a:avLst/>
          </a:prstGeom>
          <a:solidFill>
            <a:srgbClr val="CC6633"/>
          </a:solidFill>
          <a:ln w="23813" cap="flat">
            <a:solidFill>
              <a:srgbClr val="FFFFFF"/>
            </a:solidFill>
            <a:prstDash val="solid"/>
            <a:miter/>
          </a:ln>
        </p:spPr>
        <p:txBody>
          <a:bodyPr/>
          <a:lstStyle/>
          <a:p>
            <a:endParaRPr lang="en-US" dirty="0"/>
          </a:p>
        </p:txBody>
      </p:sp>
      <p:sp>
        <p:nvSpPr>
          <p:cNvPr id="199" name="TextBox 198">
            <a:extLst>
              <a:ext uri="{FF2B5EF4-FFF2-40B4-BE49-F238E27FC236}">
                <a16:creationId xmlns:a16="http://schemas.microsoft.com/office/drawing/2014/main" id="{626B7E9F-E8A3-BBF0-B298-832D10292431}"/>
              </a:ext>
            </a:extLst>
          </p:cNvPr>
          <p:cNvSpPr txBox="1"/>
          <p:nvPr/>
        </p:nvSpPr>
        <p:spPr>
          <a:xfrm>
            <a:off x="8587428" y="3913014"/>
            <a:ext cx="534971" cy="207749"/>
          </a:xfrm>
          <a:prstGeom prst="rect">
            <a:avLst/>
          </a:prstGeom>
          <a:noFill/>
        </p:spPr>
        <p:txBody>
          <a:bodyPr wrap="square" rtlCol="0">
            <a:spAutoFit/>
          </a:bodyPr>
          <a:lstStyle/>
          <a:p>
            <a:pPr algn="l"/>
            <a:r>
              <a:rPr lang="en-US" sz="750" b="1" spc="0" baseline="0" dirty="0">
                <a:ln/>
                <a:solidFill>
                  <a:srgbClr val="FFFFFF"/>
                </a:solidFill>
                <a:latin typeface="Helvetica Neue"/>
                <a:ea typeface="Helvetica Neue"/>
                <a:cs typeface="Helvetica Neue"/>
                <a:sym typeface="Helvetica Neue"/>
                <a:rtl val="0"/>
              </a:rPr>
              <a:t>tanh</a:t>
            </a:r>
          </a:p>
        </p:txBody>
      </p:sp>
      <p:sp>
        <p:nvSpPr>
          <p:cNvPr id="200" name="Freeform 199">
            <a:extLst>
              <a:ext uri="{FF2B5EF4-FFF2-40B4-BE49-F238E27FC236}">
                <a16:creationId xmlns:a16="http://schemas.microsoft.com/office/drawing/2014/main" id="{423CCB00-E7E0-7D57-A74B-F23A3CAC7A13}"/>
              </a:ext>
            </a:extLst>
          </p:cNvPr>
          <p:cNvSpPr/>
          <p:nvPr/>
        </p:nvSpPr>
        <p:spPr>
          <a:xfrm>
            <a:off x="3712152" y="4013451"/>
            <a:ext cx="2324100" cy="9516"/>
          </a:xfrm>
          <a:custGeom>
            <a:avLst/>
            <a:gdLst>
              <a:gd name="csX0" fmla="*/ 0 w 2324100"/>
              <a:gd name="csY0" fmla="*/ 0 h 9516"/>
              <a:gd name="csX1" fmla="*/ 2324100 w 2324100"/>
              <a:gd name="csY1" fmla="*/ 0 h 9516"/>
            </a:gdLst>
            <a:ahLst/>
            <a:cxnLst>
              <a:cxn ang="0">
                <a:pos x="csX0" y="csY0"/>
              </a:cxn>
              <a:cxn ang="0">
                <a:pos x="csX1" y="csY1"/>
              </a:cxn>
            </a:cxnLst>
            <a:rect l="l" t="t" r="r" b="b"/>
            <a:pathLst>
              <a:path w="2324100" h="9516">
                <a:moveTo>
                  <a:pt x="0" y="0"/>
                </a:moveTo>
                <a:lnTo>
                  <a:pt x="2324100" y="0"/>
                </a:lnTo>
              </a:path>
            </a:pathLst>
          </a:custGeom>
          <a:ln w="14288" cap="flat">
            <a:solidFill>
              <a:srgbClr val="003366">
                <a:alpha val="40000"/>
              </a:srgbClr>
            </a:solidFill>
            <a:prstDash val="solid"/>
            <a:miter/>
          </a:ln>
        </p:spPr>
        <p:txBody>
          <a:bodyPr/>
          <a:lstStyle/>
          <a:p>
            <a:endParaRPr lang="en-US" dirty="0"/>
          </a:p>
        </p:txBody>
      </p:sp>
      <p:sp>
        <p:nvSpPr>
          <p:cNvPr id="201" name="Freeform 200">
            <a:extLst>
              <a:ext uri="{FF2B5EF4-FFF2-40B4-BE49-F238E27FC236}">
                <a16:creationId xmlns:a16="http://schemas.microsoft.com/office/drawing/2014/main" id="{002C0CEE-4614-2E89-A8EE-957A5CFD8FAE}"/>
              </a:ext>
            </a:extLst>
          </p:cNvPr>
          <p:cNvSpPr/>
          <p:nvPr/>
        </p:nvSpPr>
        <p:spPr>
          <a:xfrm>
            <a:off x="6426777" y="4013451"/>
            <a:ext cx="2105025" cy="9516"/>
          </a:xfrm>
          <a:custGeom>
            <a:avLst/>
            <a:gdLst>
              <a:gd name="csX0" fmla="*/ 0 w 2105025"/>
              <a:gd name="csY0" fmla="*/ 0 h 9516"/>
              <a:gd name="csX1" fmla="*/ 2105025 w 2105025"/>
              <a:gd name="csY1" fmla="*/ 0 h 9516"/>
            </a:gdLst>
            <a:ahLst/>
            <a:cxnLst>
              <a:cxn ang="0">
                <a:pos x="csX0" y="csY0"/>
              </a:cxn>
              <a:cxn ang="0">
                <a:pos x="csX1" y="csY1"/>
              </a:cxn>
            </a:cxnLst>
            <a:rect l="l" t="t" r="r" b="b"/>
            <a:pathLst>
              <a:path w="2105025" h="9516">
                <a:moveTo>
                  <a:pt x="0" y="0"/>
                </a:moveTo>
                <a:lnTo>
                  <a:pt x="2105025" y="0"/>
                </a:lnTo>
              </a:path>
            </a:pathLst>
          </a:custGeom>
          <a:ln w="14288" cap="flat">
            <a:solidFill>
              <a:srgbClr val="009999"/>
            </a:solidFill>
            <a:prstDash val="solid"/>
            <a:miter/>
          </a:ln>
        </p:spPr>
        <p:txBody>
          <a:bodyPr/>
          <a:lstStyle/>
          <a:p>
            <a:endParaRPr lang="en-US" dirty="0"/>
          </a:p>
        </p:txBody>
      </p:sp>
      <p:sp>
        <p:nvSpPr>
          <p:cNvPr id="202" name="Freeform 201">
            <a:extLst>
              <a:ext uri="{FF2B5EF4-FFF2-40B4-BE49-F238E27FC236}">
                <a16:creationId xmlns:a16="http://schemas.microsoft.com/office/drawing/2014/main" id="{AC495813-72A6-E5AB-C2CC-8C825EB1418B}"/>
              </a:ext>
            </a:extLst>
          </p:cNvPr>
          <p:cNvSpPr/>
          <p:nvPr/>
        </p:nvSpPr>
        <p:spPr>
          <a:xfrm>
            <a:off x="8998527" y="4013451"/>
            <a:ext cx="400050" cy="9516"/>
          </a:xfrm>
          <a:custGeom>
            <a:avLst/>
            <a:gdLst>
              <a:gd name="csX0" fmla="*/ 0 w 400050"/>
              <a:gd name="csY0" fmla="*/ 0 h 9516"/>
              <a:gd name="csX1" fmla="*/ 400050 w 400050"/>
              <a:gd name="csY1" fmla="*/ 0 h 9516"/>
            </a:gdLst>
            <a:ahLst/>
            <a:cxnLst>
              <a:cxn ang="0">
                <a:pos x="csX0" y="csY0"/>
              </a:cxn>
              <a:cxn ang="0">
                <a:pos x="csX1" y="csY1"/>
              </a:cxn>
            </a:cxnLst>
            <a:rect l="l" t="t" r="r" b="b"/>
            <a:pathLst>
              <a:path w="400050" h="9516">
                <a:moveTo>
                  <a:pt x="0" y="0"/>
                </a:moveTo>
                <a:lnTo>
                  <a:pt x="400050" y="0"/>
                </a:lnTo>
              </a:path>
            </a:pathLst>
          </a:custGeom>
          <a:ln w="19050" cap="flat">
            <a:solidFill>
              <a:srgbClr val="CC6633"/>
            </a:solidFill>
            <a:prstDash val="solid"/>
            <a:miter/>
          </a:ln>
        </p:spPr>
        <p:txBody>
          <a:bodyPr/>
          <a:lstStyle/>
          <a:p>
            <a:endParaRPr lang="en-US" dirty="0"/>
          </a:p>
        </p:txBody>
      </p:sp>
      <p:sp>
        <p:nvSpPr>
          <p:cNvPr id="203" name="Rounded Rectangle 202">
            <a:extLst>
              <a:ext uri="{FF2B5EF4-FFF2-40B4-BE49-F238E27FC236}">
                <a16:creationId xmlns:a16="http://schemas.microsoft.com/office/drawing/2014/main" id="{5C476048-6F60-9CC8-0BFA-62FB74D83E9A}"/>
              </a:ext>
            </a:extLst>
          </p:cNvPr>
          <p:cNvSpPr/>
          <p:nvPr/>
        </p:nvSpPr>
        <p:spPr>
          <a:xfrm>
            <a:off x="9398577" y="3842162"/>
            <a:ext cx="419100" cy="342578"/>
          </a:xfrm>
          <a:prstGeom prst="roundRect">
            <a:avLst>
              <a:gd name="adj" fmla="val 13901"/>
            </a:avLst>
          </a:prstGeom>
          <a:solidFill>
            <a:srgbClr val="CC6633"/>
          </a:solidFill>
          <a:ln w="9525" cap="flat">
            <a:noFill/>
            <a:prstDash val="solid"/>
            <a:miter/>
          </a:ln>
        </p:spPr>
        <p:txBody>
          <a:bodyPr/>
          <a:lstStyle/>
          <a:p>
            <a:endParaRPr lang="en-US" dirty="0"/>
          </a:p>
        </p:txBody>
      </p:sp>
      <p:sp>
        <p:nvSpPr>
          <p:cNvPr id="204" name="TextBox 203">
            <a:extLst>
              <a:ext uri="{FF2B5EF4-FFF2-40B4-BE49-F238E27FC236}">
                <a16:creationId xmlns:a16="http://schemas.microsoft.com/office/drawing/2014/main" id="{4236218E-8348-5893-FF48-40835C5F7DB6}"/>
              </a:ext>
            </a:extLst>
          </p:cNvPr>
          <p:cNvSpPr txBox="1"/>
          <p:nvPr/>
        </p:nvSpPr>
        <p:spPr>
          <a:xfrm>
            <a:off x="9467620" y="3861369"/>
            <a:ext cx="990542" cy="207749"/>
          </a:xfrm>
          <a:prstGeom prst="rect">
            <a:avLst/>
          </a:prstGeom>
          <a:noFill/>
        </p:spPr>
        <p:txBody>
          <a:bodyPr wrap="square" rtlCol="0">
            <a:spAutoFit/>
          </a:bodyPr>
          <a:lstStyle/>
          <a:p>
            <a:pPr algn="l"/>
            <a:r>
              <a:rPr lang="en-US" sz="750" b="1" spc="0" baseline="0" dirty="0">
                <a:ln/>
                <a:solidFill>
                  <a:srgbClr val="FFFFFF"/>
                </a:solidFill>
                <a:latin typeface="Helvetica Neue"/>
                <a:ea typeface="Helvetica Neue"/>
                <a:cs typeface="Helvetica Neue"/>
                <a:sym typeface="Helvetica Neue"/>
                <a:rtl val="0"/>
              </a:rPr>
              <a:t>ΔV</a:t>
            </a:r>
          </a:p>
        </p:txBody>
      </p:sp>
      <p:sp>
        <p:nvSpPr>
          <p:cNvPr id="205" name="TextBox 204">
            <a:extLst>
              <a:ext uri="{FF2B5EF4-FFF2-40B4-BE49-F238E27FC236}">
                <a16:creationId xmlns:a16="http://schemas.microsoft.com/office/drawing/2014/main" id="{20FE1100-B50B-4BF1-461D-201FBDED105C}"/>
              </a:ext>
            </a:extLst>
          </p:cNvPr>
          <p:cNvSpPr txBox="1"/>
          <p:nvPr/>
        </p:nvSpPr>
        <p:spPr>
          <a:xfrm>
            <a:off x="9386584" y="3985807"/>
            <a:ext cx="862185" cy="196208"/>
          </a:xfrm>
          <a:prstGeom prst="rect">
            <a:avLst/>
          </a:prstGeom>
          <a:noFill/>
        </p:spPr>
        <p:txBody>
          <a:bodyPr wrap="square" rtlCol="0">
            <a:spAutoFit/>
          </a:bodyPr>
          <a:lstStyle/>
          <a:p>
            <a:pPr algn="l"/>
            <a:r>
              <a:rPr lang="en-US" sz="675" spc="0" baseline="0" dirty="0">
                <a:ln/>
                <a:solidFill>
                  <a:srgbClr val="FFFFFF"/>
                </a:solidFill>
                <a:latin typeface="Cambria Math"/>
                <a:ea typeface="Cambria Math"/>
                <a:sym typeface="Cambria Math"/>
                <a:rtl val="0"/>
              </a:rPr>
              <a:t>∈</a:t>
            </a:r>
            <a:r>
              <a:rPr lang="en-US" sz="675" spc="0" baseline="0" dirty="0">
                <a:ln/>
                <a:solidFill>
                  <a:srgbClr val="FFFFFF"/>
                </a:solidFill>
                <a:latin typeface="Helvetica Neue"/>
                <a:ea typeface="Helvetica Neue"/>
                <a:cs typeface="Helvetica Neue"/>
                <a:sym typeface="Helvetica Neue"/>
                <a:rtl val="0"/>
              </a:rPr>
              <a:t>[−1,1]</a:t>
            </a:r>
          </a:p>
        </p:txBody>
      </p:sp>
      <p:sp>
        <p:nvSpPr>
          <p:cNvPr id="206" name="Rounded Rectangle 205">
            <a:extLst>
              <a:ext uri="{FF2B5EF4-FFF2-40B4-BE49-F238E27FC236}">
                <a16:creationId xmlns:a16="http://schemas.microsoft.com/office/drawing/2014/main" id="{27C6BDB3-FDFE-9ACD-F646-98C5001A9373}"/>
              </a:ext>
            </a:extLst>
          </p:cNvPr>
          <p:cNvSpPr/>
          <p:nvPr/>
        </p:nvSpPr>
        <p:spPr>
          <a:xfrm>
            <a:off x="5826702" y="5369214"/>
            <a:ext cx="857250" cy="171289"/>
          </a:xfrm>
          <a:prstGeom prst="roundRect">
            <a:avLst>
              <a:gd name="adj" fmla="val 22243"/>
            </a:avLst>
          </a:prstGeom>
          <a:solidFill>
            <a:srgbClr val="009999">
              <a:alpha val="15000"/>
            </a:srgbClr>
          </a:solidFill>
          <a:ln w="9525" cap="flat">
            <a:noFill/>
            <a:prstDash val="solid"/>
            <a:miter/>
          </a:ln>
        </p:spPr>
        <p:txBody>
          <a:bodyPr/>
          <a:lstStyle/>
          <a:p>
            <a:endParaRPr lang="en-US" dirty="0"/>
          </a:p>
        </p:txBody>
      </p:sp>
      <p:sp>
        <p:nvSpPr>
          <p:cNvPr id="207" name="TextBox 206">
            <a:extLst>
              <a:ext uri="{FF2B5EF4-FFF2-40B4-BE49-F238E27FC236}">
                <a16:creationId xmlns:a16="http://schemas.microsoft.com/office/drawing/2014/main" id="{FE0CA7E8-6AA6-9866-4DAB-6ACCCC7A6CA2}"/>
              </a:ext>
            </a:extLst>
          </p:cNvPr>
          <p:cNvSpPr txBox="1"/>
          <p:nvPr/>
        </p:nvSpPr>
        <p:spPr>
          <a:xfrm>
            <a:off x="6038632" y="5349558"/>
            <a:ext cx="433387" cy="207749"/>
          </a:xfrm>
          <a:prstGeom prst="rect">
            <a:avLst/>
          </a:prstGeom>
          <a:noFill/>
        </p:spPr>
        <p:txBody>
          <a:bodyPr wrap="square" rtlCol="0">
            <a:spAutoFit/>
          </a:bodyPr>
          <a:lstStyle/>
          <a:p>
            <a:pPr algn="l"/>
            <a:r>
              <a:rPr lang="en-US" sz="750" b="1" spc="0" baseline="0" dirty="0">
                <a:ln/>
                <a:solidFill>
                  <a:srgbClr val="009999"/>
                </a:solidFill>
                <a:latin typeface="Helvetica Neue"/>
                <a:ea typeface="Helvetica Neue"/>
                <a:cs typeface="Helvetica Neue"/>
                <a:sym typeface="Helvetica Neue"/>
                <a:rtl val="0"/>
              </a:rPr>
              <a:t>ReLU</a:t>
            </a:r>
          </a:p>
        </p:txBody>
      </p:sp>
      <p:sp>
        <p:nvSpPr>
          <p:cNvPr id="208" name="Rounded Rectangle 207">
            <a:extLst>
              <a:ext uri="{FF2B5EF4-FFF2-40B4-BE49-F238E27FC236}">
                <a16:creationId xmlns:a16="http://schemas.microsoft.com/office/drawing/2014/main" id="{EF2DCD88-4566-F2BA-B2A1-F5E52A014EE0}"/>
              </a:ext>
            </a:extLst>
          </p:cNvPr>
          <p:cNvSpPr/>
          <p:nvPr/>
        </p:nvSpPr>
        <p:spPr>
          <a:xfrm>
            <a:off x="8748696" y="4382631"/>
            <a:ext cx="857250" cy="171289"/>
          </a:xfrm>
          <a:prstGeom prst="roundRect">
            <a:avLst>
              <a:gd name="adj" fmla="val 22243"/>
            </a:avLst>
          </a:prstGeom>
          <a:solidFill>
            <a:srgbClr val="CC6633">
              <a:alpha val="15000"/>
            </a:srgbClr>
          </a:solidFill>
          <a:ln w="9525" cap="flat">
            <a:noFill/>
            <a:prstDash val="solid"/>
            <a:miter/>
          </a:ln>
        </p:spPr>
        <p:txBody>
          <a:bodyPr/>
          <a:lstStyle/>
          <a:p>
            <a:endParaRPr lang="en-US" dirty="0"/>
          </a:p>
        </p:txBody>
      </p:sp>
      <p:sp>
        <p:nvSpPr>
          <p:cNvPr id="209" name="TextBox 208">
            <a:extLst>
              <a:ext uri="{FF2B5EF4-FFF2-40B4-BE49-F238E27FC236}">
                <a16:creationId xmlns:a16="http://schemas.microsoft.com/office/drawing/2014/main" id="{C51DBBAA-AFD3-F12B-31E4-9992FF6042D5}"/>
              </a:ext>
            </a:extLst>
          </p:cNvPr>
          <p:cNvSpPr txBox="1"/>
          <p:nvPr/>
        </p:nvSpPr>
        <p:spPr>
          <a:xfrm>
            <a:off x="8771460" y="4367838"/>
            <a:ext cx="990542" cy="207749"/>
          </a:xfrm>
          <a:prstGeom prst="rect">
            <a:avLst/>
          </a:prstGeom>
          <a:noFill/>
        </p:spPr>
        <p:txBody>
          <a:bodyPr wrap="square" rtlCol="0">
            <a:spAutoFit/>
          </a:bodyPr>
          <a:lstStyle/>
          <a:p>
            <a:pPr algn="l"/>
            <a:r>
              <a:rPr lang="en-US" sz="750" b="1" spc="0" baseline="0" dirty="0">
                <a:ln/>
                <a:solidFill>
                  <a:srgbClr val="CC6633"/>
                </a:solidFill>
                <a:latin typeface="Helvetica Neue"/>
                <a:ea typeface="Helvetica Neue"/>
                <a:cs typeface="Helvetica Neue"/>
                <a:sym typeface="Helvetica Neue"/>
                <a:rtl val="0"/>
              </a:rPr>
              <a:t>tanh </a:t>
            </a:r>
            <a:r>
              <a:rPr lang="en-US" sz="750" b="1" spc="0" baseline="0" dirty="0">
                <a:ln/>
                <a:solidFill>
                  <a:srgbClr val="CC6633"/>
                </a:solidFill>
                <a:latin typeface="Times New Roman"/>
                <a:ea typeface="Helvetica Neue"/>
                <a:cs typeface="Times New Roman"/>
                <a:sym typeface="Times New Roman"/>
                <a:rtl val="0"/>
              </a:rPr>
              <a:t>→</a:t>
            </a:r>
            <a:r>
              <a:rPr lang="en-US" sz="750" b="1" spc="0" baseline="0" dirty="0">
                <a:ln/>
                <a:solidFill>
                  <a:srgbClr val="CC6633"/>
                </a:solidFill>
                <a:latin typeface="Helvetica Neue"/>
                <a:ea typeface="Helvetica Neue"/>
                <a:cs typeface="Helvetica Neue"/>
                <a:sym typeface="Helvetica Neue"/>
                <a:rtl val="0"/>
              </a:rPr>
              <a:t> [−1, 1]</a:t>
            </a:r>
          </a:p>
        </p:txBody>
      </p:sp>
      <p:sp>
        <p:nvSpPr>
          <p:cNvPr id="210" name="TextBox 209">
            <a:extLst>
              <a:ext uri="{FF2B5EF4-FFF2-40B4-BE49-F238E27FC236}">
                <a16:creationId xmlns:a16="http://schemas.microsoft.com/office/drawing/2014/main" id="{9DFA8869-D347-B195-ECF9-FCAEFAB104C0}"/>
              </a:ext>
            </a:extLst>
          </p:cNvPr>
          <p:cNvSpPr txBox="1"/>
          <p:nvPr/>
        </p:nvSpPr>
        <p:spPr>
          <a:xfrm>
            <a:off x="4592943" y="2755418"/>
            <a:ext cx="708472" cy="207749"/>
          </a:xfrm>
          <a:prstGeom prst="rect">
            <a:avLst/>
          </a:prstGeom>
          <a:noFill/>
        </p:spPr>
        <p:txBody>
          <a:bodyPr wrap="square" rtlCol="0">
            <a:spAutoFit/>
          </a:bodyPr>
          <a:lstStyle/>
          <a:p>
            <a:pPr algn="l"/>
            <a:r>
              <a:rPr lang="en-US" sz="750" i="1" spc="0" baseline="0" dirty="0">
                <a:ln/>
                <a:solidFill>
                  <a:srgbClr val="555555"/>
                </a:solidFill>
                <a:latin typeface="Helvetica Neue"/>
                <a:ea typeface="Helvetica Neue"/>
                <a:cs typeface="Helvetica Neue"/>
                <a:sym typeface="Helvetica Neue"/>
                <a:rtl val="0"/>
              </a:rPr>
              <a:t>W₁ </a:t>
            </a:r>
            <a:r>
              <a:rPr lang="en-US" sz="750" i="1" spc="0" baseline="0" dirty="0">
                <a:ln/>
                <a:solidFill>
                  <a:srgbClr val="555555"/>
                </a:solidFill>
                <a:latin typeface="Cambria Math"/>
                <a:ea typeface="Cambria Math"/>
                <a:cs typeface="Helvetica Neue"/>
                <a:sym typeface="Cambria Math"/>
                <a:rtl val="0"/>
              </a:rPr>
              <a:t>∈</a:t>
            </a:r>
            <a:r>
              <a:rPr lang="en-US" sz="750" i="1" spc="0" baseline="0" dirty="0">
                <a:ln/>
                <a:solidFill>
                  <a:srgbClr val="555555"/>
                </a:solidFill>
                <a:latin typeface="Helvetica Neue"/>
                <a:ea typeface="Helvetica Neue"/>
                <a:cs typeface="Helvetica Neue"/>
                <a:sym typeface="Helvetica Neue"/>
                <a:rtl val="0"/>
              </a:rPr>
              <a:t> </a:t>
            </a:r>
            <a:r>
              <a:rPr lang="en-US" sz="750" i="1" spc="0" baseline="0" dirty="0">
                <a:ln/>
                <a:solidFill>
                  <a:srgbClr val="555555"/>
                </a:solidFill>
                <a:latin typeface="Cambria Math"/>
                <a:ea typeface="Cambria Math"/>
                <a:cs typeface="Helvetica Neue"/>
                <a:sym typeface="Cambria Math"/>
                <a:rtl val="0"/>
              </a:rPr>
              <a:t>ℝ</a:t>
            </a:r>
            <a:r>
              <a:rPr lang="en-US" sz="750" i="1" spc="0" baseline="0" dirty="0">
                <a:ln/>
                <a:solidFill>
                  <a:srgbClr val="555555"/>
                </a:solidFill>
                <a:latin typeface="Helvetica Neue"/>
                <a:ea typeface="Helvetica Neue"/>
                <a:cs typeface="Helvetica Neue"/>
                <a:sym typeface="Helvetica Neue"/>
                <a:rtl val="0"/>
              </a:rPr>
              <a:t>⁶⁴ˣ⁶</a:t>
            </a:r>
          </a:p>
        </p:txBody>
      </p:sp>
      <p:sp>
        <p:nvSpPr>
          <p:cNvPr id="211" name="TextBox 210">
            <a:extLst>
              <a:ext uri="{FF2B5EF4-FFF2-40B4-BE49-F238E27FC236}">
                <a16:creationId xmlns:a16="http://schemas.microsoft.com/office/drawing/2014/main" id="{4490967C-A20D-F15B-5267-6D22E5BC5D1B}"/>
              </a:ext>
            </a:extLst>
          </p:cNvPr>
          <p:cNvSpPr txBox="1"/>
          <p:nvPr/>
        </p:nvSpPr>
        <p:spPr>
          <a:xfrm>
            <a:off x="7118013" y="2811337"/>
            <a:ext cx="874571" cy="207749"/>
          </a:xfrm>
          <a:prstGeom prst="rect">
            <a:avLst/>
          </a:prstGeom>
          <a:noFill/>
        </p:spPr>
        <p:txBody>
          <a:bodyPr wrap="square" rtlCol="0">
            <a:spAutoFit/>
          </a:bodyPr>
          <a:lstStyle/>
          <a:p>
            <a:pPr algn="l"/>
            <a:r>
              <a:rPr lang="en-US" sz="750" i="1" spc="0" baseline="0" dirty="0">
                <a:ln/>
                <a:solidFill>
                  <a:srgbClr val="555555"/>
                </a:solidFill>
                <a:latin typeface="Helvetica Neue"/>
                <a:ea typeface="Helvetica Neue"/>
                <a:cs typeface="Helvetica Neue"/>
                <a:sym typeface="Helvetica Neue"/>
                <a:rtl val="0"/>
              </a:rPr>
              <a:t>W₂ </a:t>
            </a:r>
            <a:r>
              <a:rPr lang="en-US" sz="750" i="1" spc="0" baseline="0" dirty="0">
                <a:ln/>
                <a:solidFill>
                  <a:srgbClr val="555555"/>
                </a:solidFill>
                <a:latin typeface="Cambria Math"/>
                <a:ea typeface="Cambria Math"/>
                <a:cs typeface="Helvetica Neue"/>
                <a:sym typeface="Cambria Math"/>
                <a:rtl val="0"/>
              </a:rPr>
              <a:t>∈</a:t>
            </a:r>
            <a:r>
              <a:rPr lang="en-US" sz="750" i="1" spc="0" baseline="0" dirty="0">
                <a:ln/>
                <a:solidFill>
                  <a:srgbClr val="555555"/>
                </a:solidFill>
                <a:latin typeface="Helvetica Neue"/>
                <a:ea typeface="Helvetica Neue"/>
                <a:cs typeface="Helvetica Neue"/>
                <a:sym typeface="Helvetica Neue"/>
                <a:rtl val="0"/>
              </a:rPr>
              <a:t> </a:t>
            </a:r>
            <a:r>
              <a:rPr lang="en-US" sz="750" i="1" spc="0" baseline="0" dirty="0">
                <a:ln/>
                <a:solidFill>
                  <a:srgbClr val="555555"/>
                </a:solidFill>
                <a:latin typeface="Cambria Math"/>
                <a:ea typeface="Cambria Math"/>
                <a:cs typeface="Helvetica Neue"/>
                <a:sym typeface="Cambria Math"/>
                <a:rtl val="0"/>
              </a:rPr>
              <a:t>ℝ</a:t>
            </a:r>
            <a:r>
              <a:rPr lang="en-US" sz="750" i="1" spc="0" baseline="0" dirty="0">
                <a:ln/>
                <a:solidFill>
                  <a:srgbClr val="555555"/>
                </a:solidFill>
                <a:latin typeface="Helvetica Neue"/>
                <a:ea typeface="Helvetica Neue"/>
                <a:cs typeface="Helvetica Neue"/>
                <a:sym typeface="Helvetica Neue"/>
                <a:rtl val="0"/>
              </a:rPr>
              <a:t>¹ˣ⁶⁴</a:t>
            </a:r>
          </a:p>
        </p:txBody>
      </p:sp>
      <p:sp>
        <p:nvSpPr>
          <p:cNvPr id="212" name="TextBox 211">
            <a:extLst>
              <a:ext uri="{FF2B5EF4-FFF2-40B4-BE49-F238E27FC236}">
                <a16:creationId xmlns:a16="http://schemas.microsoft.com/office/drawing/2014/main" id="{8C14FC78-C15B-BA6D-D5A8-B77A3E786238}"/>
              </a:ext>
            </a:extLst>
          </p:cNvPr>
          <p:cNvSpPr txBox="1"/>
          <p:nvPr/>
        </p:nvSpPr>
        <p:spPr>
          <a:xfrm>
            <a:off x="4984834" y="5574085"/>
            <a:ext cx="2540984" cy="207749"/>
          </a:xfrm>
          <a:prstGeom prst="rect">
            <a:avLst/>
          </a:prstGeom>
          <a:noFill/>
        </p:spPr>
        <p:txBody>
          <a:bodyPr wrap="square" rtlCol="0">
            <a:spAutoFit/>
          </a:bodyPr>
          <a:lstStyle/>
          <a:p>
            <a:pPr algn="l"/>
            <a:r>
              <a:rPr lang="en-US" sz="750" spc="0" baseline="0" dirty="0">
                <a:ln/>
                <a:solidFill>
                  <a:srgbClr val="666666"/>
                </a:solidFill>
                <a:latin typeface="Helvetica Neue"/>
                <a:ea typeface="Helvetica Neue"/>
                <a:cs typeface="Helvetica Neue"/>
                <a:sym typeface="Helvetica Neue"/>
                <a:rtl val="0"/>
              </a:rPr>
              <a:t>Total trainable parameters: 6×64 + 64 + 64×1 + 1 = </a:t>
            </a:r>
            <a:r>
              <a:rPr lang="en-US" sz="750" b="1" spc="0" baseline="0" dirty="0">
                <a:ln/>
                <a:solidFill>
                  <a:srgbClr val="003366"/>
                </a:solidFill>
                <a:latin typeface="Helvetica Neue"/>
                <a:ea typeface="Helvetica Neue"/>
                <a:cs typeface="Helvetica Neue"/>
                <a:sym typeface="Helvetica Neue"/>
                <a:rtl val="0"/>
              </a:rPr>
              <a:t>513</a:t>
            </a:r>
          </a:p>
        </p:txBody>
      </p:sp>
      <mc:AlternateContent xmlns:mc="http://schemas.openxmlformats.org/markup-compatibility/2006" xmlns:a14="http://schemas.microsoft.com/office/drawing/2010/main">
        <mc:Choice Requires="a14">
          <p:sp>
            <p:nvSpPr>
              <p:cNvPr id="213" name="TextBox 212">
                <a:extLst>
                  <a:ext uri="{FF2B5EF4-FFF2-40B4-BE49-F238E27FC236}">
                    <a16:creationId xmlns:a16="http://schemas.microsoft.com/office/drawing/2014/main" id="{FE1F5680-0855-2C34-A78C-28EC9025A980}"/>
                  </a:ext>
                </a:extLst>
              </p:cNvPr>
              <p:cNvSpPr txBox="1"/>
              <p:nvPr/>
            </p:nvSpPr>
            <p:spPr>
              <a:xfrm>
                <a:off x="868680" y="5861044"/>
                <a:ext cx="10607040" cy="1107996"/>
              </a:xfrm>
              <a:prstGeom prst="rect">
                <a:avLst/>
              </a:prstGeom>
              <a:noFill/>
            </p:spPr>
            <p:txBody>
              <a:bodyPr wrap="square" rtlCol="0">
                <a:spAutoFit/>
              </a:bodyPr>
              <a:lstStyle/>
              <a:p>
                <a:r>
                  <a:rPr lang="en-GB" sz="1200" dirty="0">
                    <a:solidFill>
                      <a:srgbClr val="495A66"/>
                    </a:solidFill>
                    <a:latin typeface="Consolas" panose="020B0609020204030204" pitchFamily="49" charset="0"/>
                    <a:cs typeface="Consolas" panose="020B0609020204030204" pitchFamily="49" charset="0"/>
                  </a:rPr>
                  <a:t>One hidden layer and 64 units residual </a:t>
                </a:r>
                <a14:m>
                  <m:oMath xmlns:m="http://schemas.openxmlformats.org/officeDocument/2006/math">
                    <m:r>
                      <a:rPr lang="en-GB" sz="1200" i="1">
                        <a:solidFill>
                          <a:srgbClr val="495A66"/>
                        </a:solidFill>
                        <a:latin typeface="Cambria Math" panose="02040503050406030204" pitchFamily="18" charset="0"/>
                        <a:ea typeface="Cambria Math" panose="02040503050406030204" pitchFamily="18" charset="0"/>
                      </a:rPr>
                      <m:t>∆</m:t>
                    </m:r>
                    <m:r>
                      <a:rPr lang="it-IT" sz="1200" i="1">
                        <a:solidFill>
                          <a:srgbClr val="495A66"/>
                        </a:solidFill>
                        <a:latin typeface="Cambria Math" panose="02040503050406030204" pitchFamily="18" charset="0"/>
                        <a:ea typeface="Cambria Math" panose="02040503050406030204" pitchFamily="18" charset="0"/>
                      </a:rPr>
                      <m:t>𝑉</m:t>
                    </m:r>
                  </m:oMath>
                </a14:m>
                <a:r>
                  <a:rPr lang="en-GB" sz="1200" dirty="0">
                    <a:solidFill>
                      <a:srgbClr val="495A66"/>
                    </a:solidFill>
                    <a:latin typeface="Consolas" panose="020B0609020204030204" pitchFamily="49" charset="0"/>
                    <a:cs typeface="Consolas" panose="020B0609020204030204" pitchFamily="49" charset="0"/>
                  </a:rPr>
                  <a:t> is a smooth, low-dimensional correction, this is sufficient to approximate it.</a:t>
                </a:r>
              </a:p>
              <a:p>
                <a:r>
                  <a:rPr lang="en-GB" sz="1200" dirty="0">
                    <a:solidFill>
                      <a:srgbClr val="495A66"/>
                    </a:solidFill>
                    <a:latin typeface="Consolas" panose="020B0609020204030204" pitchFamily="49" charset="0"/>
                    <a:cs typeface="Consolas" panose="020B0609020204030204" pitchFamily="49" charset="0"/>
                  </a:rPr>
                  <a:t>ReLU activation, piecewise-linear, no vanishing gradient, standard for continuous-action SAC policies.</a:t>
                </a:r>
              </a:p>
              <a:p>
                <a:r>
                  <a:rPr lang="en-GB" sz="1200" i="1" dirty="0">
                    <a:solidFill>
                      <a:srgbClr val="495A66"/>
                    </a:solidFill>
                    <a:latin typeface="Consolas" panose="020B0609020204030204" pitchFamily="49" charset="0"/>
                    <a:cs typeface="Consolas" panose="020B0609020204030204" pitchFamily="49" charset="0"/>
                  </a:rPr>
                  <a:t>tanh</a:t>
                </a:r>
                <a:r>
                  <a:rPr lang="en-GB" sz="1200" dirty="0">
                    <a:solidFill>
                      <a:srgbClr val="495A66"/>
                    </a:solidFill>
                    <a:latin typeface="Consolas" panose="020B0609020204030204" pitchFamily="49" charset="0"/>
                    <a:cs typeface="Consolas" panose="020B0609020204030204" pitchFamily="49" charset="0"/>
                  </a:rPr>
                  <a:t> output, squashes the network output to (-1, +1) regardless of weight magnitude, the residual limit </a:t>
                </a:r>
                <a14:m>
                  <m:oMath xmlns:m="http://schemas.openxmlformats.org/officeDocument/2006/math">
                    <m:r>
                      <a:rPr lang="en-GB" sz="1200" i="1">
                        <a:solidFill>
                          <a:srgbClr val="495A66"/>
                        </a:solidFill>
                        <a:latin typeface="Cambria Math" panose="02040503050406030204" pitchFamily="18" charset="0"/>
                        <a:ea typeface="Cambria Math" panose="02040503050406030204" pitchFamily="18" charset="0"/>
                      </a:rPr>
                      <m:t>∆</m:t>
                    </m:r>
                    <m:r>
                      <a:rPr lang="it-IT" sz="1200" i="1">
                        <a:solidFill>
                          <a:srgbClr val="495A66"/>
                        </a:solidFill>
                        <a:latin typeface="Cambria Math" panose="02040503050406030204" pitchFamily="18" charset="0"/>
                        <a:ea typeface="Cambria Math" panose="02040503050406030204" pitchFamily="18" charset="0"/>
                      </a:rPr>
                      <m:t>𝑉</m:t>
                    </m:r>
                    <m:r>
                      <a:rPr lang="it-IT" sz="1200" i="1" smtClean="0">
                        <a:solidFill>
                          <a:srgbClr val="495A66"/>
                        </a:solidFill>
                        <a:latin typeface="Cambria Math" panose="02040503050406030204" pitchFamily="18" charset="0"/>
                        <a:ea typeface="Cambria Math" panose="02040503050406030204" pitchFamily="18" charset="0"/>
                      </a:rPr>
                      <m:t>≤</m:t>
                    </m:r>
                    <m:r>
                      <a:rPr lang="it-IT" sz="1200" b="0" i="1" smtClean="0">
                        <a:solidFill>
                          <a:srgbClr val="495A66"/>
                        </a:solidFill>
                        <a:latin typeface="Cambria Math" panose="02040503050406030204" pitchFamily="18" charset="0"/>
                        <a:ea typeface="Cambria Math" panose="02040503050406030204" pitchFamily="18" charset="0"/>
                      </a:rPr>
                      <m:t>3.6 </m:t>
                    </m:r>
                    <m:r>
                      <a:rPr lang="it-IT" sz="1200" b="0" i="1" smtClean="0">
                        <a:solidFill>
                          <a:srgbClr val="495A66"/>
                        </a:solidFill>
                        <a:latin typeface="Cambria Math" panose="02040503050406030204" pitchFamily="18" charset="0"/>
                        <a:ea typeface="Cambria Math" panose="02040503050406030204" pitchFamily="18" charset="0"/>
                      </a:rPr>
                      <m:t>𝑉</m:t>
                    </m:r>
                  </m:oMath>
                </a14:m>
                <a:r>
                  <a:rPr lang="en-GB" sz="1200" dirty="0">
                    <a:solidFill>
                      <a:srgbClr val="495A66"/>
                    </a:solidFill>
                    <a:latin typeface="Consolas" panose="020B0609020204030204" pitchFamily="49" charset="0"/>
                    <a:cs typeface="Consolas" panose="020B0609020204030204" pitchFamily="49" charset="0"/>
                  </a:rPr>
                  <a:t> is enforced by the architecture, not by clipping after the fact.</a:t>
                </a:r>
              </a:p>
              <a:p>
                <a:endParaRPr lang="en-US" dirty="0"/>
              </a:p>
            </p:txBody>
          </p:sp>
        </mc:Choice>
        <mc:Fallback xmlns="">
          <p:sp>
            <p:nvSpPr>
              <p:cNvPr id="213" name="TextBox 212">
                <a:extLst>
                  <a:ext uri="{FF2B5EF4-FFF2-40B4-BE49-F238E27FC236}">
                    <a16:creationId xmlns:a16="http://schemas.microsoft.com/office/drawing/2014/main" id="{FE1F5680-0855-2C34-A78C-28EC9025A980}"/>
                  </a:ext>
                </a:extLst>
              </p:cNvPr>
              <p:cNvSpPr txBox="1">
                <a:spLocks noRot="1" noChangeAspect="1" noMove="1" noResize="1" noEditPoints="1" noAdjustHandles="1" noChangeArrowheads="1" noChangeShapeType="1" noTextEdit="1"/>
              </p:cNvSpPr>
              <p:nvPr/>
            </p:nvSpPr>
            <p:spPr>
              <a:xfrm>
                <a:off x="868680" y="5861044"/>
                <a:ext cx="10607040" cy="1107996"/>
              </a:xfrm>
              <a:prstGeom prst="rect">
                <a:avLst/>
              </a:prstGeom>
              <a:blipFill>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317951216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BFAF6"/>
        </a:solidFill>
        <a:effectLst/>
      </p:bgPr>
    </p:bg>
    <p:spTree>
      <p:nvGrpSpPr>
        <p:cNvPr id="1" name="">
          <a:extLst>
            <a:ext uri="{FF2B5EF4-FFF2-40B4-BE49-F238E27FC236}">
              <a16:creationId xmlns:a16="http://schemas.microsoft.com/office/drawing/2014/main" id="{8810C7BE-A530-561E-FF9B-873D9060774A}"/>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BA6A4301-5790-1DAA-7B4F-BCBDDD2B36C9}"/>
              </a:ext>
            </a:extLst>
          </p:cNvPr>
          <p:cNvSpPr/>
          <p:nvPr/>
        </p:nvSpPr>
        <p:spPr>
          <a:xfrm>
            <a:off x="566928" y="502920"/>
            <a:ext cx="17780" cy="5852160"/>
          </a:xfrm>
          <a:prstGeom prst="rect">
            <a:avLst/>
          </a:prstGeom>
          <a:solidFill>
            <a:srgbClr val="D9D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3" name="Rectangle 2">
            <a:extLst>
              <a:ext uri="{FF2B5EF4-FFF2-40B4-BE49-F238E27FC236}">
                <a16:creationId xmlns:a16="http://schemas.microsoft.com/office/drawing/2014/main" id="{8C21A271-ABBD-FE89-6C89-8D10E95DFEA4}"/>
              </a:ext>
            </a:extLst>
          </p:cNvPr>
          <p:cNvSpPr/>
          <p:nvPr/>
        </p:nvSpPr>
        <p:spPr>
          <a:xfrm>
            <a:off x="566928" y="502920"/>
            <a:ext cx="30480" cy="56692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4" name="TextBox 3">
            <a:extLst>
              <a:ext uri="{FF2B5EF4-FFF2-40B4-BE49-F238E27FC236}">
                <a16:creationId xmlns:a16="http://schemas.microsoft.com/office/drawing/2014/main" id="{68F5EC38-FC54-D33C-3D94-2A6B32B8A1B2}"/>
              </a:ext>
            </a:extLst>
          </p:cNvPr>
          <p:cNvSpPr txBox="1"/>
          <p:nvPr/>
        </p:nvSpPr>
        <p:spPr>
          <a:xfrm>
            <a:off x="868680" y="548640"/>
            <a:ext cx="10607040" cy="169277"/>
          </a:xfrm>
          <a:prstGeom prst="rect">
            <a:avLst/>
          </a:prstGeom>
          <a:noFill/>
        </p:spPr>
        <p:txBody>
          <a:bodyPr wrap="square" lIns="0" tIns="0" rIns="0" bIns="0" anchor="t">
            <a:spAutoFit/>
          </a:bodyPr>
          <a:lstStyle/>
          <a:p>
            <a:pPr>
              <a:lnSpc>
                <a:spcPct val="100000"/>
              </a:lnSpc>
            </a:pPr>
            <a:r>
              <a:rPr lang="en-US" sz="1100" b="1" noProof="1">
                <a:solidFill>
                  <a:srgbClr val="E07A5F"/>
                </a:solidFill>
                <a:latin typeface="Consolas"/>
              </a:rPr>
              <a:t>B6  </a:t>
            </a:r>
            <a:r>
              <a:rPr lang="en-US" sz="1100" noProof="1">
                <a:solidFill>
                  <a:srgbClr val="2A9D8F"/>
                </a:solidFill>
                <a:latin typeface="Consolas"/>
              </a:rPr>
              <a:t>RESIDUAL REINFORCEMENT LEARNING - Validation</a:t>
            </a:r>
          </a:p>
        </p:txBody>
      </p:sp>
      <p:sp>
        <p:nvSpPr>
          <p:cNvPr id="6" name="TextBox 5">
            <a:extLst>
              <a:ext uri="{FF2B5EF4-FFF2-40B4-BE49-F238E27FC236}">
                <a16:creationId xmlns:a16="http://schemas.microsoft.com/office/drawing/2014/main" id="{21A5E97C-E2F1-4478-0292-B76E3098C10C}"/>
              </a:ext>
            </a:extLst>
          </p:cNvPr>
          <p:cNvSpPr txBox="1"/>
          <p:nvPr/>
        </p:nvSpPr>
        <p:spPr>
          <a:xfrm>
            <a:off x="868680" y="960120"/>
            <a:ext cx="10607040" cy="412805"/>
          </a:xfrm>
          <a:prstGeom prst="rect">
            <a:avLst/>
          </a:prstGeom>
          <a:noFill/>
        </p:spPr>
        <p:txBody>
          <a:bodyPr wrap="square" lIns="0" tIns="0" rIns="0" bIns="0" anchor="t">
            <a:spAutoFit/>
          </a:bodyPr>
          <a:lstStyle/>
          <a:p>
            <a:pPr>
              <a:lnSpc>
                <a:spcPct val="102000"/>
              </a:lnSpc>
              <a:spcAft>
                <a:spcPts val="600"/>
              </a:spcAft>
            </a:pPr>
            <a:r>
              <a:rPr lang="en-US" sz="2800" b="1" noProof="1">
                <a:solidFill>
                  <a:srgbClr val="1D3557"/>
                </a:solidFill>
                <a:latin typeface="Georgia"/>
              </a:rPr>
              <a:t>Saturation and Residual Authority: Design Choice</a:t>
            </a:r>
            <a:r>
              <a:rPr lang="en-GB" dirty="0"/>
              <a:t> </a:t>
            </a:r>
            <a:endParaRPr lang="en-US" sz="2800" b="1" noProof="1">
              <a:solidFill>
                <a:srgbClr val="1D3557"/>
              </a:solidFill>
              <a:latin typeface="Georgia"/>
            </a:endParaRP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772DF973-C274-B706-D4F8-BEA59B2926F3}"/>
                  </a:ext>
                </a:extLst>
              </p:cNvPr>
              <p:cNvSpPr txBox="1"/>
              <p:nvPr/>
            </p:nvSpPr>
            <p:spPr>
              <a:xfrm>
                <a:off x="792675" y="1372925"/>
                <a:ext cx="10832397" cy="1569660"/>
              </a:xfrm>
              <a:prstGeom prst="rect">
                <a:avLst/>
              </a:prstGeom>
              <a:noFill/>
            </p:spPr>
            <p:txBody>
              <a:bodyPr wrap="square" rtlCol="0">
                <a:spAutoFit/>
              </a:bodyPr>
              <a:lstStyle/>
              <a:p>
                <a:r>
                  <a:rPr lang="en-GB" sz="1600" dirty="0">
                    <a:solidFill>
                      <a:srgbClr val="495A66"/>
                    </a:solidFill>
                  </a:rPr>
                  <a:t>The residual authority </a:t>
                </a:r>
                <a14:m>
                  <m:oMath xmlns:m="http://schemas.openxmlformats.org/officeDocument/2006/math">
                    <m:r>
                      <a:rPr lang="en-GB" sz="1600" i="1" smtClean="0">
                        <a:solidFill>
                          <a:srgbClr val="495A66"/>
                        </a:solidFill>
                        <a:latin typeface="Cambria Math" panose="02040503050406030204" pitchFamily="18" charset="0"/>
                        <a:ea typeface="Cambria Math" panose="02040503050406030204" pitchFamily="18" charset="0"/>
                      </a:rPr>
                      <m:t>∆</m:t>
                    </m:r>
                    <m:r>
                      <a:rPr lang="it-IT" sz="1600" b="0" i="1" smtClean="0">
                        <a:solidFill>
                          <a:srgbClr val="495A66"/>
                        </a:solidFill>
                        <a:latin typeface="Cambria Math" panose="02040503050406030204" pitchFamily="18" charset="0"/>
                        <a:ea typeface="Cambria Math" panose="02040503050406030204" pitchFamily="18" charset="0"/>
                      </a:rPr>
                      <m:t>𝑉</m:t>
                    </m:r>
                    <m:r>
                      <a:rPr lang="it-IT" sz="1600" b="0" i="1" smtClean="0">
                        <a:solidFill>
                          <a:srgbClr val="495A66"/>
                        </a:solidFill>
                        <a:latin typeface="Cambria Math" panose="02040503050406030204" pitchFamily="18" charset="0"/>
                        <a:ea typeface="Cambria Math" panose="02040503050406030204" pitchFamily="18" charset="0"/>
                      </a:rPr>
                      <m:t>=0.3×</m:t>
                    </m:r>
                    <m:sSub>
                      <m:sSubPr>
                        <m:ctrlPr>
                          <a:rPr lang="it-IT" sz="1600" b="0" i="1" smtClean="0">
                            <a:solidFill>
                              <a:srgbClr val="495A66"/>
                            </a:solidFill>
                            <a:latin typeface="Cambria Math" panose="02040503050406030204" pitchFamily="18" charset="0"/>
                            <a:ea typeface="Cambria Math" panose="02040503050406030204" pitchFamily="18" charset="0"/>
                          </a:rPr>
                        </m:ctrlPr>
                      </m:sSubPr>
                      <m:e>
                        <m:r>
                          <a:rPr lang="it-IT" sz="1600" b="0" i="1" smtClean="0">
                            <a:solidFill>
                              <a:srgbClr val="495A66"/>
                            </a:solidFill>
                            <a:latin typeface="Cambria Math" panose="02040503050406030204" pitchFamily="18" charset="0"/>
                            <a:ea typeface="Cambria Math" panose="02040503050406030204" pitchFamily="18" charset="0"/>
                          </a:rPr>
                          <m:t>𝑉</m:t>
                        </m:r>
                      </m:e>
                      <m:sub>
                        <m:r>
                          <a:rPr lang="it-IT" sz="1600" b="0" i="1" smtClean="0">
                            <a:solidFill>
                              <a:srgbClr val="495A66"/>
                            </a:solidFill>
                            <a:latin typeface="Cambria Math" panose="02040503050406030204" pitchFamily="18" charset="0"/>
                            <a:ea typeface="Cambria Math" panose="02040503050406030204" pitchFamily="18" charset="0"/>
                          </a:rPr>
                          <m:t>𝑚𝑎𝑥</m:t>
                        </m:r>
                      </m:sub>
                    </m:sSub>
                    <m:r>
                      <a:rPr lang="it-IT" sz="1600" b="0" i="1" smtClean="0">
                        <a:solidFill>
                          <a:srgbClr val="495A66"/>
                        </a:solidFill>
                        <a:latin typeface="Cambria Math" panose="02040503050406030204" pitchFamily="18" charset="0"/>
                        <a:ea typeface="Cambria Math" panose="02040503050406030204" pitchFamily="18" charset="0"/>
                      </a:rPr>
                      <m:t>=3.6 </m:t>
                    </m:r>
                    <m:r>
                      <a:rPr lang="it-IT" sz="1600" b="0" i="1" smtClean="0">
                        <a:solidFill>
                          <a:srgbClr val="495A66"/>
                        </a:solidFill>
                        <a:latin typeface="Cambria Math" panose="02040503050406030204" pitchFamily="18" charset="0"/>
                        <a:ea typeface="Cambria Math" panose="02040503050406030204" pitchFamily="18" charset="0"/>
                      </a:rPr>
                      <m:t>𝑉</m:t>
                    </m:r>
                  </m:oMath>
                </a14:m>
                <a:r>
                  <a:rPr lang="en-GB" sz="1600" dirty="0">
                    <a:solidFill>
                      <a:srgbClr val="495A66"/>
                    </a:solidFill>
                  </a:rPr>
                  <a:t> is a deliberate design choice, not an optimised hyperparameter. The reasoning is physical: the two corrections the PI is missing are the gravity compensation and the steady-state feedforward. Together they sum to at most </a:t>
                </a:r>
                <a14:m>
                  <m:oMath xmlns:m="http://schemas.openxmlformats.org/officeDocument/2006/math">
                    <m:r>
                      <a:rPr lang="en-GB" sz="1600" i="1" dirty="0" smtClean="0">
                        <a:solidFill>
                          <a:srgbClr val="495A66"/>
                        </a:solidFill>
                        <a:latin typeface="Cambria Math" panose="02040503050406030204" pitchFamily="18" charset="0"/>
                        <a:ea typeface="Cambria Math" panose="02040503050406030204" pitchFamily="18" charset="0"/>
                      </a:rPr>
                      <m:t>4</m:t>
                    </m:r>
                    <m:r>
                      <a:rPr lang="it-IT" sz="1600" b="0" i="1" dirty="0" smtClean="0">
                        <a:solidFill>
                          <a:srgbClr val="495A66"/>
                        </a:solidFill>
                        <a:latin typeface="Cambria Math" panose="02040503050406030204" pitchFamily="18" charset="0"/>
                        <a:ea typeface="Cambria Math" panose="02040503050406030204" pitchFamily="18" charset="0"/>
                      </a:rPr>
                      <m:t>−5</m:t>
                    </m:r>
                    <m:r>
                      <a:rPr lang="it-IT" sz="1600" i="1">
                        <a:solidFill>
                          <a:srgbClr val="495A66"/>
                        </a:solidFill>
                        <a:latin typeface="Cambria Math" panose="02040503050406030204" pitchFamily="18" charset="0"/>
                        <a:ea typeface="Cambria Math" panose="02040503050406030204" pitchFamily="18" charset="0"/>
                      </a:rPr>
                      <m:t> </m:t>
                    </m:r>
                    <m:r>
                      <a:rPr lang="it-IT" sz="1600" i="1">
                        <a:solidFill>
                          <a:srgbClr val="495A66"/>
                        </a:solidFill>
                        <a:latin typeface="Cambria Math" panose="02040503050406030204" pitchFamily="18" charset="0"/>
                        <a:ea typeface="Cambria Math" panose="02040503050406030204" pitchFamily="18" charset="0"/>
                      </a:rPr>
                      <m:t>𝑉</m:t>
                    </m:r>
                  </m:oMath>
                </a14:m>
                <a:r>
                  <a:rPr lang="en-GB" sz="1600" dirty="0">
                    <a:solidFill>
                      <a:srgbClr val="495A66"/>
                    </a:solidFill>
                  </a:rPr>
                  <a:t> comfortably within the </a:t>
                </a:r>
                <a14:m>
                  <m:oMath xmlns:m="http://schemas.openxmlformats.org/officeDocument/2006/math">
                    <m:r>
                      <a:rPr lang="it-IT" sz="1600" i="1" smtClean="0">
                        <a:solidFill>
                          <a:srgbClr val="495A66"/>
                        </a:solidFill>
                        <a:latin typeface="Cambria Math" panose="02040503050406030204" pitchFamily="18" charset="0"/>
                        <a:ea typeface="Cambria Math" panose="02040503050406030204" pitchFamily="18" charset="0"/>
                      </a:rPr>
                      <m:t>±</m:t>
                    </m:r>
                    <m:r>
                      <a:rPr lang="it-IT" sz="1600" i="1">
                        <a:solidFill>
                          <a:srgbClr val="495A66"/>
                        </a:solidFill>
                        <a:latin typeface="Cambria Math" panose="02040503050406030204" pitchFamily="18" charset="0"/>
                        <a:ea typeface="Cambria Math" panose="02040503050406030204" pitchFamily="18" charset="0"/>
                      </a:rPr>
                      <m:t>3.6 </m:t>
                    </m:r>
                    <m:r>
                      <a:rPr lang="it-IT" sz="1600" i="1">
                        <a:solidFill>
                          <a:srgbClr val="495A66"/>
                        </a:solidFill>
                        <a:latin typeface="Cambria Math" panose="02040503050406030204" pitchFamily="18" charset="0"/>
                        <a:ea typeface="Cambria Math" panose="02040503050406030204" pitchFamily="18" charset="0"/>
                      </a:rPr>
                      <m:t>𝑉</m:t>
                    </m:r>
                  </m:oMath>
                </a14:m>
                <a:r>
                  <a:rPr lang="en-GB" sz="1600" dirty="0">
                    <a:solidFill>
                      <a:srgbClr val="495A66"/>
                    </a:solidFill>
                  </a:rPr>
                  <a:t> window. Setting </a:t>
                </a:r>
                <a:r>
                  <a:rPr lang="el-GR" sz="1600" dirty="0">
                    <a:solidFill>
                      <a:srgbClr val="495A66"/>
                    </a:solidFill>
                  </a:rPr>
                  <a:t>δ </a:t>
                </a:r>
                <a:r>
                  <a:rPr lang="en-GB" sz="1600" dirty="0">
                    <a:solidFill>
                      <a:srgbClr val="495A66"/>
                    </a:solidFill>
                  </a:rPr>
                  <a:t>too small would prevent the policy from correcting what the PI misses; setting it too large would let the policy override the baseline and risk destabilising the loop. 30% is the conservative choice that covers the physically meaningful corrections while keeping the PI in charge.</a:t>
                </a:r>
              </a:p>
              <a:p>
                <a:r>
                  <a:rPr lang="en-GB" sz="1600" dirty="0">
                    <a:solidFill>
                      <a:srgbClr val="495A66"/>
                    </a:solidFill>
                  </a:rPr>
                  <a:t>The saturation is managed at three levels:</a:t>
                </a:r>
              </a:p>
            </p:txBody>
          </p:sp>
        </mc:Choice>
        <mc:Fallback xmlns="">
          <p:sp>
            <p:nvSpPr>
              <p:cNvPr id="5" name="TextBox 4">
                <a:extLst>
                  <a:ext uri="{FF2B5EF4-FFF2-40B4-BE49-F238E27FC236}">
                    <a16:creationId xmlns:a16="http://schemas.microsoft.com/office/drawing/2014/main" id="{772DF973-C274-B706-D4F8-BEA59B2926F3}"/>
                  </a:ext>
                </a:extLst>
              </p:cNvPr>
              <p:cNvSpPr txBox="1">
                <a:spLocks noRot="1" noChangeAspect="1" noMove="1" noResize="1" noEditPoints="1" noAdjustHandles="1" noChangeArrowheads="1" noChangeShapeType="1" noTextEdit="1"/>
              </p:cNvSpPr>
              <p:nvPr/>
            </p:nvSpPr>
            <p:spPr>
              <a:xfrm>
                <a:off x="792675" y="1372925"/>
                <a:ext cx="10832397" cy="1569660"/>
              </a:xfrm>
              <a:prstGeom prst="rect">
                <a:avLst/>
              </a:prstGeom>
              <a:blipFill>
                <a:blip r:embed="rId2"/>
                <a:stretch>
                  <a:fillRect l="-234" t="-1613" r="-585" b="-4032"/>
                </a:stretch>
              </a:blipFill>
            </p:spPr>
            <p:txBody>
              <a:bodyPr/>
              <a:lstStyle/>
              <a:p>
                <a:r>
                  <a:rPr lang="en-US">
                    <a:noFill/>
                  </a:rPr>
                  <a:t> </a:t>
                </a:r>
              </a:p>
            </p:txBody>
          </p:sp>
        </mc:Fallback>
      </mc:AlternateContent>
      <p:sp>
        <p:nvSpPr>
          <p:cNvPr id="7" name="Rounded Rectangle 6">
            <a:extLst>
              <a:ext uri="{FF2B5EF4-FFF2-40B4-BE49-F238E27FC236}">
                <a16:creationId xmlns:a16="http://schemas.microsoft.com/office/drawing/2014/main" id="{EAACB81B-9527-FFFD-51B7-121C9881557D}"/>
              </a:ext>
            </a:extLst>
          </p:cNvPr>
          <p:cNvSpPr/>
          <p:nvPr/>
        </p:nvSpPr>
        <p:spPr>
          <a:xfrm>
            <a:off x="868680" y="3146860"/>
            <a:ext cx="3375661" cy="1862028"/>
          </a:xfrm>
          <a:prstGeom prst="roundRect">
            <a:avLst>
              <a:gd name="adj" fmla="val 6000"/>
            </a:avLst>
          </a:prstGeom>
          <a:solidFill>
            <a:srgbClr val="FFFFFF"/>
          </a:solidFill>
          <a:ln w="12700">
            <a:solidFill>
              <a:srgbClr val="D9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8" name="Rectangle 7">
            <a:extLst>
              <a:ext uri="{FF2B5EF4-FFF2-40B4-BE49-F238E27FC236}">
                <a16:creationId xmlns:a16="http://schemas.microsoft.com/office/drawing/2014/main" id="{4728EFA1-C5C6-85D9-5075-34D6C9F2FE22}"/>
              </a:ext>
            </a:extLst>
          </p:cNvPr>
          <p:cNvSpPr/>
          <p:nvPr/>
        </p:nvSpPr>
        <p:spPr>
          <a:xfrm>
            <a:off x="861061" y="3146859"/>
            <a:ext cx="53911" cy="1862027"/>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A4C3F119-D183-C7DC-8A65-B4C43C11AFDF}"/>
                  </a:ext>
                </a:extLst>
              </p:cNvPr>
              <p:cNvSpPr txBox="1"/>
              <p:nvPr/>
            </p:nvSpPr>
            <p:spPr>
              <a:xfrm>
                <a:off x="1069847" y="3311451"/>
                <a:ext cx="3081023" cy="1208536"/>
              </a:xfrm>
              <a:prstGeom prst="rect">
                <a:avLst/>
              </a:prstGeom>
              <a:noFill/>
            </p:spPr>
            <p:txBody>
              <a:bodyPr wrap="square" lIns="0" tIns="0" rIns="0" bIns="0" anchor="t">
                <a:spAutoFit/>
              </a:bodyPr>
              <a:lstStyle/>
              <a:p>
                <a:pPr algn="l">
                  <a:lnSpc>
                    <a:spcPct val="112000"/>
                  </a:lnSpc>
                  <a:spcBef>
                    <a:spcPts val="0"/>
                  </a:spcBef>
                  <a:spcAft>
                    <a:spcPts val="400"/>
                  </a:spcAft>
                </a:pPr>
                <a:r>
                  <a:rPr lang="en-US" sz="1000" noProof="1">
                    <a:solidFill>
                      <a:srgbClr val="2A9D8F"/>
                    </a:solidFill>
                    <a:latin typeface="Consolas"/>
                  </a:rPr>
                  <a:t>Architecture</a:t>
                </a:r>
                <a:endParaRPr lang="en-US" sz="1000" b="0" noProof="1">
                  <a:solidFill>
                    <a:srgbClr val="2A9D8F"/>
                  </a:solidFill>
                  <a:latin typeface="Consolas"/>
                </a:endParaRPr>
              </a:p>
              <a:p>
                <a:pPr>
                  <a:spcAft>
                    <a:spcPts val="600"/>
                  </a:spcAft>
                </a:pPr>
                <a:r>
                  <a:rPr lang="en-GB" sz="1600" b="1" dirty="0">
                    <a:solidFill>
                      <a:srgbClr val="1D3456"/>
                    </a:solidFill>
                    <a:latin typeface="Georgia" panose="02040502050405020303" pitchFamily="18" charset="0"/>
                  </a:rPr>
                  <a:t>tanh bounds </a:t>
                </a:r>
                <a:r>
                  <a:rPr lang="el-GR" sz="1600" b="1" dirty="0">
                    <a:solidFill>
                      <a:srgbClr val="1D3456"/>
                    </a:solidFill>
                    <a:latin typeface="Georgia" panose="02040502050405020303" pitchFamily="18" charset="0"/>
                  </a:rPr>
                  <a:t>Δ</a:t>
                </a:r>
                <a:r>
                  <a:rPr lang="en-GB" sz="1600" b="1" dirty="0">
                    <a:solidFill>
                      <a:srgbClr val="1D3456"/>
                    </a:solidFill>
                    <a:latin typeface="Georgia" panose="02040502050405020303" pitchFamily="18" charset="0"/>
                  </a:rPr>
                  <a:t>V</a:t>
                </a:r>
                <a:br>
                  <a:rPr lang="en-GB" sz="1200" dirty="0"/>
                </a:br>
                <a:r>
                  <a:rPr lang="en-GB" sz="1200" dirty="0">
                    <a:solidFill>
                      <a:srgbClr val="495A66"/>
                    </a:solidFill>
                  </a:rPr>
                  <a:t>The output neuron passes through </a:t>
                </a:r>
                <a:r>
                  <a:rPr lang="en-GB" sz="1200" i="1" dirty="0">
                    <a:solidFill>
                      <a:srgbClr val="495A66"/>
                    </a:solidFill>
                  </a:rPr>
                  <a:t>tanh</a:t>
                </a:r>
                <a:r>
                  <a:rPr lang="en-GB" sz="1200" dirty="0">
                    <a:solidFill>
                      <a:srgbClr val="495A66"/>
                    </a:solidFill>
                  </a:rPr>
                  <a:t>, so </a:t>
                </a:r>
                <a14:m>
                  <m:oMath xmlns:m="http://schemas.openxmlformats.org/officeDocument/2006/math">
                    <m:r>
                      <a:rPr lang="it-IT" sz="1200" b="0" i="1" smtClean="0">
                        <a:solidFill>
                          <a:srgbClr val="495A66"/>
                        </a:solidFill>
                        <a:latin typeface="Cambria Math" panose="02040503050406030204" pitchFamily="18" charset="0"/>
                      </a:rPr>
                      <m:t>𝑎</m:t>
                    </m:r>
                    <m:r>
                      <a:rPr lang="it-IT" sz="1200" b="0" i="1" smtClean="0">
                        <a:solidFill>
                          <a:srgbClr val="495A66"/>
                        </a:solidFill>
                        <a:latin typeface="Cambria Math" panose="02040503050406030204" pitchFamily="18" charset="0"/>
                        <a:ea typeface="Cambria Math" panose="02040503050406030204" pitchFamily="18" charset="0"/>
                      </a:rPr>
                      <m:t>∈(−1,+1)</m:t>
                    </m:r>
                  </m:oMath>
                </a14:m>
                <a:r>
                  <a:rPr lang="en-GB" sz="1200" dirty="0">
                    <a:solidFill>
                      <a:srgbClr val="495A66"/>
                    </a:solidFill>
                  </a:rPr>
                  <a:t> always and </a:t>
                </a:r>
                <a14:m>
                  <m:oMath xmlns:m="http://schemas.openxmlformats.org/officeDocument/2006/math">
                    <m:d>
                      <m:dPr>
                        <m:begChr m:val="|"/>
                        <m:endChr m:val="|"/>
                        <m:ctrlPr>
                          <a:rPr lang="en-GB" sz="1200" i="1" smtClean="0">
                            <a:solidFill>
                              <a:srgbClr val="495A66"/>
                            </a:solidFill>
                            <a:latin typeface="Cambria Math" panose="02040503050406030204" pitchFamily="18" charset="0"/>
                            <a:ea typeface="Cambria Math" panose="02040503050406030204" pitchFamily="18" charset="0"/>
                          </a:rPr>
                        </m:ctrlPr>
                      </m:dPr>
                      <m:e>
                        <m:r>
                          <a:rPr lang="en-GB" sz="1200" i="1">
                            <a:solidFill>
                              <a:srgbClr val="495A66"/>
                            </a:solidFill>
                            <a:latin typeface="Cambria Math" panose="02040503050406030204" pitchFamily="18" charset="0"/>
                            <a:ea typeface="Cambria Math" panose="02040503050406030204" pitchFamily="18" charset="0"/>
                          </a:rPr>
                          <m:t>∆</m:t>
                        </m:r>
                        <m:r>
                          <a:rPr lang="it-IT" sz="1200" i="1">
                            <a:solidFill>
                              <a:srgbClr val="495A66"/>
                            </a:solidFill>
                            <a:latin typeface="Cambria Math" panose="02040503050406030204" pitchFamily="18" charset="0"/>
                            <a:ea typeface="Cambria Math" panose="02040503050406030204" pitchFamily="18" charset="0"/>
                          </a:rPr>
                          <m:t>𝑉</m:t>
                        </m:r>
                      </m:e>
                    </m:d>
                    <m:r>
                      <a:rPr lang="it-IT" sz="1200" b="0" i="1" smtClean="0">
                        <a:solidFill>
                          <a:srgbClr val="495A66"/>
                        </a:solidFill>
                        <a:latin typeface="Cambria Math" panose="02040503050406030204" pitchFamily="18" charset="0"/>
                        <a:ea typeface="Cambria Math" panose="02040503050406030204" pitchFamily="18" charset="0"/>
                      </a:rPr>
                      <m:t>=</m:t>
                    </m:r>
                    <m:r>
                      <a:rPr lang="it-IT" sz="1200" b="0" i="1" smtClean="0">
                        <a:solidFill>
                          <a:srgbClr val="495A66"/>
                        </a:solidFill>
                        <a:latin typeface="Cambria Math" panose="02040503050406030204" pitchFamily="18" charset="0"/>
                        <a:ea typeface="Cambria Math" panose="02040503050406030204" pitchFamily="18" charset="0"/>
                      </a:rPr>
                      <m:t>𝛿</m:t>
                    </m:r>
                    <m:d>
                      <m:dPr>
                        <m:begChr m:val="|"/>
                        <m:endChr m:val="|"/>
                        <m:ctrlPr>
                          <a:rPr lang="it-IT" sz="1200" b="0" i="1" smtClean="0">
                            <a:solidFill>
                              <a:srgbClr val="495A66"/>
                            </a:solidFill>
                            <a:latin typeface="Cambria Math" panose="02040503050406030204" pitchFamily="18" charset="0"/>
                            <a:ea typeface="Cambria Math" panose="02040503050406030204" pitchFamily="18" charset="0"/>
                          </a:rPr>
                        </m:ctrlPr>
                      </m:dPr>
                      <m:e>
                        <m:r>
                          <a:rPr lang="it-IT" sz="1200" b="0" i="1" smtClean="0">
                            <a:solidFill>
                              <a:srgbClr val="495A66"/>
                            </a:solidFill>
                            <a:latin typeface="Cambria Math" panose="02040503050406030204" pitchFamily="18" charset="0"/>
                            <a:ea typeface="Cambria Math" panose="02040503050406030204" pitchFamily="18" charset="0"/>
                          </a:rPr>
                          <m:t>𝑎</m:t>
                        </m:r>
                      </m:e>
                    </m:d>
                    <m:r>
                      <a:rPr lang="it-IT" sz="1200" b="0" i="1" smtClean="0">
                        <a:solidFill>
                          <a:srgbClr val="495A66"/>
                        </a:solidFill>
                        <a:latin typeface="Cambria Math" panose="02040503050406030204" pitchFamily="18" charset="0"/>
                        <a:ea typeface="Cambria Math" panose="02040503050406030204" pitchFamily="18" charset="0"/>
                      </a:rPr>
                      <m:t>&lt;3.6 </m:t>
                    </m:r>
                    <m:r>
                      <a:rPr lang="it-IT" sz="1200" b="0" i="1" smtClean="0">
                        <a:solidFill>
                          <a:srgbClr val="495A66"/>
                        </a:solidFill>
                        <a:latin typeface="Cambria Math" panose="02040503050406030204" pitchFamily="18" charset="0"/>
                        <a:ea typeface="Cambria Math" panose="02040503050406030204" pitchFamily="18" charset="0"/>
                      </a:rPr>
                      <m:t>𝑉</m:t>
                    </m:r>
                  </m:oMath>
                </a14:m>
                <a:r>
                  <a:rPr lang="en-GB" sz="1200" dirty="0">
                    <a:solidFill>
                      <a:srgbClr val="495A66"/>
                    </a:solidFill>
                  </a:rPr>
                  <a:t> regardless of weight values. The policy cannot saturate the residual channel even if it tries</a:t>
                </a:r>
                <a:r>
                  <a:rPr lang="en-GB" sz="1200" dirty="0"/>
                  <a:t>.</a:t>
                </a:r>
                <a:endParaRPr lang="en-US" sz="1200" b="0" noProof="1">
                  <a:solidFill>
                    <a:srgbClr val="495A66"/>
                  </a:solidFill>
                  <a:latin typeface="Calibri"/>
                </a:endParaRPr>
              </a:p>
            </p:txBody>
          </p:sp>
        </mc:Choice>
        <mc:Fallback xmlns="">
          <p:sp>
            <p:nvSpPr>
              <p:cNvPr id="9" name="TextBox 8">
                <a:extLst>
                  <a:ext uri="{FF2B5EF4-FFF2-40B4-BE49-F238E27FC236}">
                    <a16:creationId xmlns:a16="http://schemas.microsoft.com/office/drawing/2014/main" id="{A4C3F119-D183-C7DC-8A65-B4C43C11AFDF}"/>
                  </a:ext>
                </a:extLst>
              </p:cNvPr>
              <p:cNvSpPr txBox="1">
                <a:spLocks noRot="1" noChangeAspect="1" noMove="1" noResize="1" noEditPoints="1" noAdjustHandles="1" noChangeArrowheads="1" noChangeShapeType="1" noTextEdit="1"/>
              </p:cNvSpPr>
              <p:nvPr/>
            </p:nvSpPr>
            <p:spPr>
              <a:xfrm>
                <a:off x="1069847" y="3311451"/>
                <a:ext cx="3081023" cy="1208536"/>
              </a:xfrm>
              <a:prstGeom prst="rect">
                <a:avLst/>
              </a:prstGeom>
              <a:blipFill>
                <a:blip r:embed="rId3"/>
                <a:stretch>
                  <a:fillRect l="-4115" t="-2083" b="-6250"/>
                </a:stretch>
              </a:blipFill>
            </p:spPr>
            <p:txBody>
              <a:bodyPr/>
              <a:lstStyle/>
              <a:p>
                <a:r>
                  <a:rPr lang="en-US">
                    <a:noFill/>
                  </a:rPr>
                  <a:t> </a:t>
                </a:r>
              </a:p>
            </p:txBody>
          </p:sp>
        </mc:Fallback>
      </mc:AlternateContent>
      <p:sp>
        <p:nvSpPr>
          <p:cNvPr id="10" name="Rounded Rectangle 9">
            <a:extLst>
              <a:ext uri="{FF2B5EF4-FFF2-40B4-BE49-F238E27FC236}">
                <a16:creationId xmlns:a16="http://schemas.microsoft.com/office/drawing/2014/main" id="{AA64A035-A3EC-F7BE-02E9-6786BF611F8F}"/>
              </a:ext>
            </a:extLst>
          </p:cNvPr>
          <p:cNvSpPr/>
          <p:nvPr/>
        </p:nvSpPr>
        <p:spPr>
          <a:xfrm>
            <a:off x="4480560" y="3146860"/>
            <a:ext cx="3383280" cy="1862028"/>
          </a:xfrm>
          <a:prstGeom prst="roundRect">
            <a:avLst>
              <a:gd name="adj" fmla="val 6000"/>
            </a:avLst>
          </a:prstGeom>
          <a:solidFill>
            <a:srgbClr val="FFFFFF"/>
          </a:solidFill>
          <a:ln w="12700">
            <a:solidFill>
              <a:srgbClr val="D9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11" name="Rectangle 10">
            <a:extLst>
              <a:ext uri="{FF2B5EF4-FFF2-40B4-BE49-F238E27FC236}">
                <a16:creationId xmlns:a16="http://schemas.microsoft.com/office/drawing/2014/main" id="{62B40994-E6B0-863B-9EC5-9A7C9AE8AD15}"/>
              </a:ext>
            </a:extLst>
          </p:cNvPr>
          <p:cNvSpPr/>
          <p:nvPr/>
        </p:nvSpPr>
        <p:spPr>
          <a:xfrm>
            <a:off x="4472941" y="3146860"/>
            <a:ext cx="53911" cy="1862028"/>
          </a:xfrm>
          <a:prstGeom prst="rect">
            <a:avLst/>
          </a:prstGeom>
          <a:solidFill>
            <a:srgbClr val="1D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3FF08BDB-AFE6-3D0F-E1AA-06157B6B731A}"/>
                  </a:ext>
                </a:extLst>
              </p:cNvPr>
              <p:cNvSpPr txBox="1"/>
              <p:nvPr/>
            </p:nvSpPr>
            <p:spPr>
              <a:xfrm>
                <a:off x="4681728" y="3311451"/>
                <a:ext cx="3017520" cy="1315553"/>
              </a:xfrm>
              <a:prstGeom prst="rect">
                <a:avLst/>
              </a:prstGeom>
              <a:noFill/>
            </p:spPr>
            <p:txBody>
              <a:bodyPr wrap="square" lIns="0" tIns="0" rIns="0" bIns="0" anchor="t">
                <a:spAutoFit/>
              </a:bodyPr>
              <a:lstStyle/>
              <a:p>
                <a:pPr algn="l">
                  <a:lnSpc>
                    <a:spcPct val="112000"/>
                  </a:lnSpc>
                  <a:spcBef>
                    <a:spcPts val="0"/>
                  </a:spcBef>
                  <a:spcAft>
                    <a:spcPts val="400"/>
                  </a:spcAft>
                </a:pPr>
                <a:r>
                  <a:rPr lang="en-US" sz="1000" noProof="1">
                    <a:solidFill>
                      <a:srgbClr val="1D3557"/>
                    </a:solidFill>
                    <a:latin typeface="Consolas"/>
                  </a:rPr>
                  <a:t>Control Law </a:t>
                </a:r>
              </a:p>
              <a:p>
                <a:pPr>
                  <a:lnSpc>
                    <a:spcPct val="112000"/>
                  </a:lnSpc>
                  <a:spcAft>
                    <a:spcPts val="400"/>
                  </a:spcAft>
                </a:pPr>
                <a:r>
                  <a:rPr lang="en-GB" sz="1600" b="1" dirty="0">
                    <a:solidFill>
                      <a:srgbClr val="1D3456"/>
                    </a:solidFill>
                    <a:latin typeface="Georgia" panose="02040502050405020303" pitchFamily="18" charset="0"/>
                  </a:rPr>
                  <a:t>Hard clip before the motor</a:t>
                </a:r>
                <a:r>
                  <a:rPr lang="en-GB" sz="1000" dirty="0"/>
                  <a:t> </a:t>
                </a:r>
                <a14:m>
                  <m:oMath xmlns:m="http://schemas.openxmlformats.org/officeDocument/2006/math">
                    <m:r>
                      <a:rPr lang="it-IT" sz="1200" b="0" i="1" smtClean="0">
                        <a:solidFill>
                          <a:srgbClr val="495A66"/>
                        </a:solidFill>
                        <a:latin typeface="Cambria Math" panose="02040503050406030204" pitchFamily="18" charset="0"/>
                      </a:rPr>
                      <m:t>𝑐𝑙𝑖𝑝</m:t>
                    </m:r>
                    <m:d>
                      <m:dPr>
                        <m:ctrlPr>
                          <a:rPr lang="it-IT" sz="1200" b="0" i="1" smtClean="0">
                            <a:solidFill>
                              <a:srgbClr val="495A66"/>
                            </a:solidFill>
                            <a:latin typeface="Cambria Math" panose="02040503050406030204" pitchFamily="18" charset="0"/>
                          </a:rPr>
                        </m:ctrlPr>
                      </m:dPr>
                      <m:e>
                        <m:sSub>
                          <m:sSubPr>
                            <m:ctrlPr>
                              <a:rPr lang="it-IT" sz="1200" b="0" i="1" smtClean="0">
                                <a:solidFill>
                                  <a:srgbClr val="495A66"/>
                                </a:solidFill>
                                <a:latin typeface="Cambria Math" panose="02040503050406030204" pitchFamily="18" charset="0"/>
                              </a:rPr>
                            </m:ctrlPr>
                          </m:sSubPr>
                          <m:e>
                            <m:r>
                              <a:rPr lang="it-IT" sz="1200" b="0" i="1" smtClean="0">
                                <a:solidFill>
                                  <a:srgbClr val="495A66"/>
                                </a:solidFill>
                                <a:latin typeface="Cambria Math" panose="02040503050406030204" pitchFamily="18" charset="0"/>
                              </a:rPr>
                              <m:t>𝑉</m:t>
                            </m:r>
                          </m:e>
                          <m:sub>
                            <m:r>
                              <a:rPr lang="it-IT" sz="1200" b="0" i="1" smtClean="0">
                                <a:solidFill>
                                  <a:srgbClr val="495A66"/>
                                </a:solidFill>
                                <a:latin typeface="Cambria Math" panose="02040503050406030204" pitchFamily="18" charset="0"/>
                              </a:rPr>
                              <m:t>𝑏𝑎𝑠𝑒</m:t>
                            </m:r>
                          </m:sub>
                        </m:sSub>
                        <m:r>
                          <a:rPr lang="it-IT" sz="1200" b="0" i="1" smtClean="0">
                            <a:solidFill>
                              <a:srgbClr val="495A66"/>
                            </a:solidFill>
                            <a:latin typeface="Cambria Math" panose="02040503050406030204" pitchFamily="18" charset="0"/>
                          </a:rPr>
                          <m:t>+</m:t>
                        </m:r>
                        <m:r>
                          <a:rPr lang="it-IT" sz="1200" b="0" i="1" smtClean="0">
                            <a:solidFill>
                              <a:srgbClr val="495A66"/>
                            </a:solidFill>
                            <a:latin typeface="Cambria Math" panose="02040503050406030204" pitchFamily="18" charset="0"/>
                            <a:ea typeface="Cambria Math" panose="02040503050406030204" pitchFamily="18" charset="0"/>
                          </a:rPr>
                          <m:t>∆</m:t>
                        </m:r>
                        <m:r>
                          <a:rPr lang="it-IT" sz="1200" b="0" i="1" smtClean="0">
                            <a:solidFill>
                              <a:srgbClr val="495A66"/>
                            </a:solidFill>
                            <a:latin typeface="Cambria Math" panose="02040503050406030204" pitchFamily="18" charset="0"/>
                            <a:ea typeface="Cambria Math" panose="02040503050406030204" pitchFamily="18" charset="0"/>
                          </a:rPr>
                          <m:t>𝑉</m:t>
                        </m:r>
                        <m:r>
                          <a:rPr lang="it-IT" sz="1200" b="0" i="1" smtClean="0">
                            <a:solidFill>
                              <a:srgbClr val="495A66"/>
                            </a:solidFill>
                            <a:latin typeface="Cambria Math" panose="02040503050406030204" pitchFamily="18" charset="0"/>
                            <a:ea typeface="Cambria Math" panose="02040503050406030204" pitchFamily="18" charset="0"/>
                          </a:rPr>
                          <m:t>, −12, +12</m:t>
                        </m:r>
                      </m:e>
                    </m:d>
                  </m:oMath>
                </a14:m>
                <a:r>
                  <a:rPr lang="en-GB" sz="1200" dirty="0">
                    <a:solidFill>
                      <a:srgbClr val="495A66"/>
                    </a:solidFill>
                  </a:rPr>
                  <a:t>, PI and policy are summed first, then clipped. Neither component alone can push the motor beyond the hardware rail.</a:t>
                </a:r>
                <a:endParaRPr lang="en-US" sz="1200" b="0" noProof="1">
                  <a:solidFill>
                    <a:srgbClr val="1D3557"/>
                  </a:solidFill>
                </a:endParaRPr>
              </a:p>
            </p:txBody>
          </p:sp>
        </mc:Choice>
        <mc:Fallback xmlns="">
          <p:sp>
            <p:nvSpPr>
              <p:cNvPr id="12" name="TextBox 11">
                <a:extLst>
                  <a:ext uri="{FF2B5EF4-FFF2-40B4-BE49-F238E27FC236}">
                    <a16:creationId xmlns:a16="http://schemas.microsoft.com/office/drawing/2014/main" id="{3FF08BDB-AFE6-3D0F-E1AA-06157B6B731A}"/>
                  </a:ext>
                </a:extLst>
              </p:cNvPr>
              <p:cNvSpPr txBox="1">
                <a:spLocks noRot="1" noChangeAspect="1" noMove="1" noResize="1" noEditPoints="1" noAdjustHandles="1" noChangeArrowheads="1" noChangeShapeType="1" noTextEdit="1"/>
              </p:cNvSpPr>
              <p:nvPr/>
            </p:nvSpPr>
            <p:spPr>
              <a:xfrm>
                <a:off x="4681728" y="3311451"/>
                <a:ext cx="3017520" cy="1315553"/>
              </a:xfrm>
              <a:prstGeom prst="rect">
                <a:avLst/>
              </a:prstGeom>
              <a:blipFill>
                <a:blip r:embed="rId4"/>
                <a:stretch>
                  <a:fillRect l="-3766" t="-1905" r="-2092" b="-5714"/>
                </a:stretch>
              </a:blipFill>
            </p:spPr>
            <p:txBody>
              <a:bodyPr/>
              <a:lstStyle/>
              <a:p>
                <a:r>
                  <a:rPr lang="en-US">
                    <a:noFill/>
                  </a:rPr>
                  <a:t> </a:t>
                </a:r>
              </a:p>
            </p:txBody>
          </p:sp>
        </mc:Fallback>
      </mc:AlternateContent>
      <p:sp>
        <p:nvSpPr>
          <p:cNvPr id="13" name="Rounded Rectangle 12">
            <a:extLst>
              <a:ext uri="{FF2B5EF4-FFF2-40B4-BE49-F238E27FC236}">
                <a16:creationId xmlns:a16="http://schemas.microsoft.com/office/drawing/2014/main" id="{42B6A7A7-8A70-D059-40D6-02B0C57B73AF}"/>
              </a:ext>
            </a:extLst>
          </p:cNvPr>
          <p:cNvSpPr/>
          <p:nvPr/>
        </p:nvSpPr>
        <p:spPr>
          <a:xfrm>
            <a:off x="8092440" y="3146859"/>
            <a:ext cx="3383280" cy="1862029"/>
          </a:xfrm>
          <a:prstGeom prst="roundRect">
            <a:avLst>
              <a:gd name="adj" fmla="val 6000"/>
            </a:avLst>
          </a:prstGeom>
          <a:solidFill>
            <a:srgbClr val="FFFFFF"/>
          </a:solidFill>
          <a:ln w="12700">
            <a:solidFill>
              <a:srgbClr val="D9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14" name="Rectangle 13">
            <a:extLst>
              <a:ext uri="{FF2B5EF4-FFF2-40B4-BE49-F238E27FC236}">
                <a16:creationId xmlns:a16="http://schemas.microsoft.com/office/drawing/2014/main" id="{90FDB919-8C9D-D820-BCA3-7AE521BAC091}"/>
              </a:ext>
            </a:extLst>
          </p:cNvPr>
          <p:cNvSpPr/>
          <p:nvPr/>
        </p:nvSpPr>
        <p:spPr>
          <a:xfrm>
            <a:off x="8084821" y="3146859"/>
            <a:ext cx="53911" cy="1862029"/>
          </a:xfrm>
          <a:prstGeom prst="rect">
            <a:avLst/>
          </a:prstGeom>
          <a:solidFill>
            <a:srgbClr val="E07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CCC9B0AB-0584-38B9-9A32-97AE974C6F39}"/>
                  </a:ext>
                </a:extLst>
              </p:cNvPr>
              <p:cNvSpPr txBox="1"/>
              <p:nvPr/>
            </p:nvSpPr>
            <p:spPr>
              <a:xfrm>
                <a:off x="8293608" y="3311451"/>
                <a:ext cx="3017520" cy="1554336"/>
              </a:xfrm>
              <a:prstGeom prst="rect">
                <a:avLst/>
              </a:prstGeom>
              <a:noFill/>
            </p:spPr>
            <p:txBody>
              <a:bodyPr wrap="square" lIns="0" tIns="0" rIns="0" bIns="0" anchor="t">
                <a:spAutoFit/>
              </a:bodyPr>
              <a:lstStyle/>
              <a:p>
                <a:pPr algn="l">
                  <a:lnSpc>
                    <a:spcPct val="112000"/>
                  </a:lnSpc>
                  <a:spcBef>
                    <a:spcPts val="0"/>
                  </a:spcBef>
                  <a:spcAft>
                    <a:spcPts val="400"/>
                  </a:spcAft>
                </a:pPr>
                <a:r>
                  <a:rPr lang="en-US" sz="1000" b="0" noProof="1">
                    <a:solidFill>
                      <a:srgbClr val="E07A5F"/>
                    </a:solidFill>
                    <a:latin typeface="Consolas"/>
                  </a:rPr>
                  <a:t>PI anti-windup</a:t>
                </a:r>
              </a:p>
              <a:p>
                <a:pPr>
                  <a:lnSpc>
                    <a:spcPct val="112000"/>
                  </a:lnSpc>
                  <a:spcAft>
                    <a:spcPts val="400"/>
                  </a:spcAft>
                </a:pPr>
                <a:r>
                  <a:rPr lang="en-GB" sz="1600" b="1" dirty="0">
                    <a:solidFill>
                      <a:srgbClr val="1D3456"/>
                    </a:solidFill>
                    <a:latin typeface="Georgia" panose="02040502050405020303" pitchFamily="18" charset="0"/>
                  </a:rPr>
                  <a:t>Prevents integrator blow-up</a:t>
                </a:r>
                <a:br>
                  <a:rPr lang="en-GB" sz="1000" dirty="0"/>
                </a:br>
                <a:r>
                  <a:rPr lang="en-GB" sz="1200" dirty="0">
                    <a:solidFill>
                      <a:srgbClr val="495A66"/>
                    </a:solidFill>
                  </a:rPr>
                  <a:t>The integrator is clamped so </a:t>
                </a:r>
                <a14:m>
                  <m:oMath xmlns:m="http://schemas.openxmlformats.org/officeDocument/2006/math">
                    <m:sSub>
                      <m:sSubPr>
                        <m:ctrlPr>
                          <a:rPr lang="en-GB" sz="1200" i="1" smtClean="0">
                            <a:solidFill>
                              <a:srgbClr val="495A66"/>
                            </a:solidFill>
                            <a:latin typeface="Cambria Math" panose="02040503050406030204" pitchFamily="18" charset="0"/>
                          </a:rPr>
                        </m:ctrlPr>
                      </m:sSubPr>
                      <m:e>
                        <m:r>
                          <a:rPr lang="it-IT" sz="1200" b="0" i="1" smtClean="0">
                            <a:solidFill>
                              <a:srgbClr val="495A66"/>
                            </a:solidFill>
                            <a:latin typeface="Cambria Math" panose="02040503050406030204" pitchFamily="18" charset="0"/>
                          </a:rPr>
                          <m:t>𝐾</m:t>
                        </m:r>
                      </m:e>
                      <m:sub>
                        <m:r>
                          <a:rPr lang="it-IT" sz="1200" b="0" i="1" smtClean="0">
                            <a:solidFill>
                              <a:srgbClr val="495A66"/>
                            </a:solidFill>
                            <a:latin typeface="Cambria Math" panose="02040503050406030204" pitchFamily="18" charset="0"/>
                          </a:rPr>
                          <m:t>𝑖</m:t>
                        </m:r>
                      </m:sub>
                    </m:sSub>
                    <m:nary>
                      <m:naryPr>
                        <m:limLoc m:val="undOvr"/>
                        <m:subHide m:val="on"/>
                        <m:supHide m:val="on"/>
                        <m:ctrlPr>
                          <a:rPr lang="en-GB" sz="1200" i="1" smtClean="0">
                            <a:solidFill>
                              <a:srgbClr val="495A66"/>
                            </a:solidFill>
                            <a:latin typeface="Cambria Math" panose="02040503050406030204" pitchFamily="18" charset="0"/>
                          </a:rPr>
                        </m:ctrlPr>
                      </m:naryPr>
                      <m:sub/>
                      <m:sup/>
                      <m:e>
                        <m:r>
                          <a:rPr lang="it-IT" sz="1200" b="0" i="1" smtClean="0">
                            <a:solidFill>
                              <a:srgbClr val="495A66"/>
                            </a:solidFill>
                            <a:latin typeface="Cambria Math" panose="02040503050406030204" pitchFamily="18" charset="0"/>
                          </a:rPr>
                          <m:t>𝑒</m:t>
                        </m:r>
                        <m:r>
                          <a:rPr lang="it-IT" sz="1200" b="0" i="1" smtClean="0">
                            <a:solidFill>
                              <a:srgbClr val="495A66"/>
                            </a:solidFill>
                            <a:latin typeface="Cambria Math" panose="02040503050406030204" pitchFamily="18" charset="0"/>
                          </a:rPr>
                          <m:t> </m:t>
                        </m:r>
                        <m:r>
                          <a:rPr lang="it-IT" sz="1200" b="0" i="1" smtClean="0">
                            <a:solidFill>
                              <a:srgbClr val="495A66"/>
                            </a:solidFill>
                            <a:latin typeface="Cambria Math" panose="02040503050406030204" pitchFamily="18" charset="0"/>
                          </a:rPr>
                          <m:t>𝑑𝑡</m:t>
                        </m:r>
                        <m:r>
                          <a:rPr lang="it-IT" sz="1200" b="0" i="1" smtClean="0">
                            <a:solidFill>
                              <a:srgbClr val="495A66"/>
                            </a:solidFill>
                            <a:latin typeface="Cambria Math" panose="02040503050406030204" pitchFamily="18" charset="0"/>
                            <a:ea typeface="Cambria Math" panose="02040503050406030204" pitchFamily="18" charset="0"/>
                          </a:rPr>
                          <m:t>≤±</m:t>
                        </m:r>
                        <m:sSub>
                          <m:sSubPr>
                            <m:ctrlPr>
                              <a:rPr lang="it-IT" sz="1200" b="0" i="1" smtClean="0">
                                <a:solidFill>
                                  <a:srgbClr val="495A66"/>
                                </a:solidFill>
                                <a:latin typeface="Cambria Math" panose="02040503050406030204" pitchFamily="18" charset="0"/>
                                <a:ea typeface="Cambria Math" panose="02040503050406030204" pitchFamily="18" charset="0"/>
                              </a:rPr>
                            </m:ctrlPr>
                          </m:sSubPr>
                          <m:e>
                            <m:r>
                              <a:rPr lang="it-IT" sz="1200" b="0" i="1" smtClean="0">
                                <a:solidFill>
                                  <a:srgbClr val="495A66"/>
                                </a:solidFill>
                                <a:latin typeface="Cambria Math" panose="02040503050406030204" pitchFamily="18" charset="0"/>
                                <a:ea typeface="Cambria Math" panose="02040503050406030204" pitchFamily="18" charset="0"/>
                              </a:rPr>
                              <m:t>𝑉</m:t>
                            </m:r>
                          </m:e>
                          <m:sub>
                            <m:r>
                              <a:rPr lang="it-IT" sz="1200" b="0" i="1" smtClean="0">
                                <a:solidFill>
                                  <a:srgbClr val="495A66"/>
                                </a:solidFill>
                                <a:latin typeface="Cambria Math" panose="02040503050406030204" pitchFamily="18" charset="0"/>
                                <a:ea typeface="Cambria Math" panose="02040503050406030204" pitchFamily="18" charset="0"/>
                              </a:rPr>
                              <m:t>𝑚𝑎𝑥</m:t>
                            </m:r>
                          </m:sub>
                        </m:sSub>
                      </m:e>
                    </m:nary>
                  </m:oMath>
                </a14:m>
                <a:r>
                  <a:rPr lang="en-GB" sz="1200" dirty="0">
                    <a:solidFill>
                      <a:srgbClr val="495A66"/>
                    </a:solidFill>
                  </a:rPr>
                  <a:t>. Without this, a sustained error during a transient would wind the integrator to an arbitrarily large value, causing a slow oscillatory recovery once the error clears.</a:t>
                </a:r>
                <a:endParaRPr lang="en-US" sz="1200" b="0" noProof="1">
                  <a:solidFill>
                    <a:srgbClr val="495A66"/>
                  </a:solidFill>
                  <a:latin typeface="Consolas"/>
                </a:endParaRPr>
              </a:p>
            </p:txBody>
          </p:sp>
        </mc:Choice>
        <mc:Fallback xmlns="">
          <p:sp>
            <p:nvSpPr>
              <p:cNvPr id="15" name="TextBox 14">
                <a:extLst>
                  <a:ext uri="{FF2B5EF4-FFF2-40B4-BE49-F238E27FC236}">
                    <a16:creationId xmlns:a16="http://schemas.microsoft.com/office/drawing/2014/main" id="{CCC9B0AB-0584-38B9-9A32-97AE974C6F39}"/>
                  </a:ext>
                </a:extLst>
              </p:cNvPr>
              <p:cNvSpPr txBox="1">
                <a:spLocks noRot="1" noChangeAspect="1" noMove="1" noResize="1" noEditPoints="1" noAdjustHandles="1" noChangeArrowheads="1" noChangeShapeType="1" noTextEdit="1"/>
              </p:cNvSpPr>
              <p:nvPr/>
            </p:nvSpPr>
            <p:spPr>
              <a:xfrm>
                <a:off x="8293608" y="3311451"/>
                <a:ext cx="3017520" cy="1554336"/>
              </a:xfrm>
              <a:prstGeom prst="rect">
                <a:avLst/>
              </a:prstGeom>
              <a:blipFill>
                <a:blip r:embed="rId5"/>
                <a:stretch>
                  <a:fillRect l="-4202" t="-1613" r="-3782" b="-403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26E7B8EB-B0B0-8B39-9607-9E8201DAB50E}"/>
                  </a:ext>
                </a:extLst>
              </p:cNvPr>
              <p:cNvSpPr txBox="1"/>
              <p:nvPr/>
            </p:nvSpPr>
            <p:spPr>
              <a:xfrm>
                <a:off x="790194" y="5213162"/>
                <a:ext cx="10764012" cy="1096198"/>
              </a:xfrm>
              <a:prstGeom prst="rect">
                <a:avLst/>
              </a:prstGeom>
              <a:noFill/>
            </p:spPr>
            <p:txBody>
              <a:bodyPr wrap="square" rtlCol="0">
                <a:spAutoFit/>
              </a:bodyPr>
              <a:lstStyle/>
              <a:p>
                <a:r>
                  <a:rPr lang="en-GB" sz="1600" dirty="0">
                    <a:solidFill>
                      <a:srgbClr val="495A66"/>
                    </a:solidFill>
                  </a:rPr>
                  <a:t>In our operating regime (references up to 12 rad/s), the total voltage touches the </a:t>
                </a:r>
                <a14:m>
                  <m:oMath xmlns:m="http://schemas.openxmlformats.org/officeDocument/2006/math">
                    <m:r>
                      <a:rPr lang="en-GB" sz="1600" i="1" smtClean="0">
                        <a:solidFill>
                          <a:srgbClr val="495A66"/>
                        </a:solidFill>
                        <a:latin typeface="Cambria Math" panose="02040503050406030204" pitchFamily="18" charset="0"/>
                        <a:ea typeface="Cambria Math" panose="02040503050406030204" pitchFamily="18" charset="0"/>
                      </a:rPr>
                      <m:t>±</m:t>
                    </m:r>
                    <m:r>
                      <a:rPr lang="it-IT" sz="1600" b="0" i="1" smtClean="0">
                        <a:solidFill>
                          <a:srgbClr val="495A66"/>
                        </a:solidFill>
                        <a:latin typeface="Cambria Math" panose="02040503050406030204" pitchFamily="18" charset="0"/>
                        <a:ea typeface="Cambria Math" panose="02040503050406030204" pitchFamily="18" charset="0"/>
                      </a:rPr>
                      <m:t>12 </m:t>
                    </m:r>
                    <m:r>
                      <a:rPr lang="it-IT" sz="1600" b="0" i="1" smtClean="0">
                        <a:solidFill>
                          <a:srgbClr val="495A66"/>
                        </a:solidFill>
                        <a:latin typeface="Cambria Math" panose="02040503050406030204" pitchFamily="18" charset="0"/>
                        <a:ea typeface="Cambria Math" panose="02040503050406030204" pitchFamily="18" charset="0"/>
                      </a:rPr>
                      <m:t>𝑉</m:t>
                    </m:r>
                  </m:oMath>
                </a14:m>
                <a:r>
                  <a:rPr lang="en-GB" sz="1600" dirty="0">
                    <a:solidFill>
                      <a:srgbClr val="495A66"/>
                    </a:solidFill>
                  </a:rPr>
                  <a:t> rail for only 0.1–0.4 % of the time, brief spikes at step changes. Saturation is not a limiting factor here. For higher speeds where rail contact becomes frequent, a saturation-aware observation mode is available: the state gains a seventh feature </a:t>
                </a:r>
                <a14:m>
                  <m:oMath xmlns:m="http://schemas.openxmlformats.org/officeDocument/2006/math">
                    <m:sSub>
                      <m:sSubPr>
                        <m:ctrlPr>
                          <a:rPr lang="en-GB" sz="1600" i="1" smtClean="0">
                            <a:solidFill>
                              <a:srgbClr val="495A66"/>
                            </a:solidFill>
                            <a:latin typeface="Cambria Math" panose="02040503050406030204" pitchFamily="18" charset="0"/>
                          </a:rPr>
                        </m:ctrlPr>
                      </m:sSubPr>
                      <m:e>
                        <m:r>
                          <a:rPr lang="it-IT" sz="1600" b="0" i="1" smtClean="0">
                            <a:solidFill>
                              <a:srgbClr val="495A66"/>
                            </a:solidFill>
                            <a:latin typeface="Cambria Math" panose="02040503050406030204" pitchFamily="18" charset="0"/>
                          </a:rPr>
                          <m:t>𝑉</m:t>
                        </m:r>
                      </m:e>
                      <m:sub>
                        <m:r>
                          <a:rPr lang="it-IT" sz="1600" b="0" i="1" smtClean="0">
                            <a:solidFill>
                              <a:srgbClr val="495A66"/>
                            </a:solidFill>
                            <a:latin typeface="Cambria Math" panose="02040503050406030204" pitchFamily="18" charset="0"/>
                          </a:rPr>
                          <m:t>𝑝𝑟𝑒𝑣</m:t>
                        </m:r>
                      </m:sub>
                    </m:sSub>
                    <m:r>
                      <a:rPr lang="it-IT" sz="1600" b="0" i="1" smtClean="0">
                        <a:solidFill>
                          <a:srgbClr val="495A66"/>
                        </a:solidFill>
                        <a:latin typeface="Cambria Math" panose="02040503050406030204" pitchFamily="18" charset="0"/>
                      </a:rPr>
                      <m:t>/</m:t>
                    </m:r>
                    <m:sSub>
                      <m:sSubPr>
                        <m:ctrlPr>
                          <a:rPr lang="it-IT" sz="1600" b="0" i="1" smtClean="0">
                            <a:solidFill>
                              <a:srgbClr val="495A66"/>
                            </a:solidFill>
                            <a:latin typeface="Cambria Math" panose="02040503050406030204" pitchFamily="18" charset="0"/>
                          </a:rPr>
                        </m:ctrlPr>
                      </m:sSubPr>
                      <m:e>
                        <m:r>
                          <a:rPr lang="it-IT" sz="1600" b="0" i="1" smtClean="0">
                            <a:solidFill>
                              <a:srgbClr val="495A66"/>
                            </a:solidFill>
                            <a:latin typeface="Cambria Math" panose="02040503050406030204" pitchFamily="18" charset="0"/>
                          </a:rPr>
                          <m:t>𝑉</m:t>
                        </m:r>
                      </m:e>
                      <m:sub>
                        <m:r>
                          <a:rPr lang="it-IT" sz="1600" b="0" i="1" smtClean="0">
                            <a:solidFill>
                              <a:srgbClr val="495A66"/>
                            </a:solidFill>
                            <a:latin typeface="Cambria Math" panose="02040503050406030204" pitchFamily="18" charset="0"/>
                          </a:rPr>
                          <m:t>𝑚𝑎𝑥</m:t>
                        </m:r>
                      </m:sub>
                    </m:sSub>
                  </m:oMath>
                </a14:m>
                <a:r>
                  <a:rPr lang="en-GB" sz="1600" dirty="0">
                    <a:solidFill>
                      <a:srgbClr val="495A66"/>
                    </a:solidFill>
                  </a:rPr>
                  <a:t>, the policy can sense the rail and avoid wasting effort against it</a:t>
                </a:r>
                <a:endParaRPr lang="en-US" sz="1600" dirty="0">
                  <a:solidFill>
                    <a:srgbClr val="495A66"/>
                  </a:solidFill>
                </a:endParaRPr>
              </a:p>
            </p:txBody>
          </p:sp>
        </mc:Choice>
        <mc:Fallback xmlns="">
          <p:sp>
            <p:nvSpPr>
              <p:cNvPr id="16" name="TextBox 15">
                <a:extLst>
                  <a:ext uri="{FF2B5EF4-FFF2-40B4-BE49-F238E27FC236}">
                    <a16:creationId xmlns:a16="http://schemas.microsoft.com/office/drawing/2014/main" id="{26E7B8EB-B0B0-8B39-9607-9E8201DAB50E}"/>
                  </a:ext>
                </a:extLst>
              </p:cNvPr>
              <p:cNvSpPr txBox="1">
                <a:spLocks noRot="1" noChangeAspect="1" noMove="1" noResize="1" noEditPoints="1" noAdjustHandles="1" noChangeArrowheads="1" noChangeShapeType="1" noTextEdit="1"/>
              </p:cNvSpPr>
              <p:nvPr/>
            </p:nvSpPr>
            <p:spPr>
              <a:xfrm>
                <a:off x="790194" y="5213162"/>
                <a:ext cx="10764012" cy="1096198"/>
              </a:xfrm>
              <a:prstGeom prst="rect">
                <a:avLst/>
              </a:prstGeom>
              <a:blipFill>
                <a:blip r:embed="rId6"/>
                <a:stretch>
                  <a:fillRect l="-354" t="-2299" r="-472" b="-5747"/>
                </a:stretch>
              </a:blipFill>
            </p:spPr>
            <p:txBody>
              <a:bodyPr/>
              <a:lstStyle/>
              <a:p>
                <a:r>
                  <a:rPr lang="en-US">
                    <a:noFill/>
                  </a:rPr>
                  <a:t> </a:t>
                </a:r>
              </a:p>
            </p:txBody>
          </p:sp>
        </mc:Fallback>
      </mc:AlternateContent>
    </p:spTree>
    <p:extLst>
      <p:ext uri="{BB962C8B-B14F-4D97-AF65-F5344CB8AC3E}">
        <p14:creationId xmlns:p14="http://schemas.microsoft.com/office/powerpoint/2010/main" val="285899388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BFAF6"/>
        </a:solidFill>
        <a:effectLst/>
      </p:bgPr>
    </p:bg>
    <p:spTree>
      <p:nvGrpSpPr>
        <p:cNvPr id="1" name="">
          <a:extLst>
            <a:ext uri="{FF2B5EF4-FFF2-40B4-BE49-F238E27FC236}">
              <a16:creationId xmlns:a16="http://schemas.microsoft.com/office/drawing/2014/main" id="{D52E3186-EA00-C2E7-AFE0-3595CD270A53}"/>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B134B9A0-2453-5530-E20F-66A39EB25D6C}"/>
              </a:ext>
            </a:extLst>
          </p:cNvPr>
          <p:cNvSpPr/>
          <p:nvPr/>
        </p:nvSpPr>
        <p:spPr>
          <a:xfrm>
            <a:off x="566928" y="502920"/>
            <a:ext cx="17780" cy="5852160"/>
          </a:xfrm>
          <a:prstGeom prst="rect">
            <a:avLst/>
          </a:prstGeom>
          <a:solidFill>
            <a:srgbClr val="D9D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3" name="Rectangle 2">
            <a:extLst>
              <a:ext uri="{FF2B5EF4-FFF2-40B4-BE49-F238E27FC236}">
                <a16:creationId xmlns:a16="http://schemas.microsoft.com/office/drawing/2014/main" id="{E2781A92-61B2-A517-2F56-DF6E37033ED1}"/>
              </a:ext>
            </a:extLst>
          </p:cNvPr>
          <p:cNvSpPr/>
          <p:nvPr/>
        </p:nvSpPr>
        <p:spPr>
          <a:xfrm>
            <a:off x="566928" y="502920"/>
            <a:ext cx="30480" cy="56692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4" name="TextBox 3">
            <a:extLst>
              <a:ext uri="{FF2B5EF4-FFF2-40B4-BE49-F238E27FC236}">
                <a16:creationId xmlns:a16="http://schemas.microsoft.com/office/drawing/2014/main" id="{0B4CF013-D369-6EA4-A158-8C37B64C44F2}"/>
              </a:ext>
            </a:extLst>
          </p:cNvPr>
          <p:cNvSpPr txBox="1"/>
          <p:nvPr/>
        </p:nvSpPr>
        <p:spPr>
          <a:xfrm>
            <a:off x="868680" y="548640"/>
            <a:ext cx="10607040" cy="169277"/>
          </a:xfrm>
          <a:prstGeom prst="rect">
            <a:avLst/>
          </a:prstGeom>
          <a:noFill/>
        </p:spPr>
        <p:txBody>
          <a:bodyPr wrap="square" lIns="0" tIns="0" rIns="0" bIns="0" anchor="t">
            <a:spAutoFit/>
          </a:bodyPr>
          <a:lstStyle/>
          <a:p>
            <a:pPr>
              <a:lnSpc>
                <a:spcPct val="100000"/>
              </a:lnSpc>
            </a:pPr>
            <a:r>
              <a:rPr lang="en-US" sz="1100" b="1" noProof="1">
                <a:solidFill>
                  <a:srgbClr val="E07A5F"/>
                </a:solidFill>
                <a:latin typeface="Consolas"/>
              </a:rPr>
              <a:t>B7  </a:t>
            </a:r>
            <a:r>
              <a:rPr lang="en-US" sz="1100" noProof="1">
                <a:solidFill>
                  <a:srgbClr val="2A9D8F"/>
                </a:solidFill>
                <a:latin typeface="Consolas"/>
              </a:rPr>
              <a:t>RESIDUAL REINFORCEMENT LEARNING - Validation</a:t>
            </a:r>
          </a:p>
        </p:txBody>
      </p:sp>
      <p:sp>
        <p:nvSpPr>
          <p:cNvPr id="6" name="TextBox 5">
            <a:extLst>
              <a:ext uri="{FF2B5EF4-FFF2-40B4-BE49-F238E27FC236}">
                <a16:creationId xmlns:a16="http://schemas.microsoft.com/office/drawing/2014/main" id="{673E50A2-43BD-AF58-B1F8-9180AB23A50E}"/>
              </a:ext>
            </a:extLst>
          </p:cNvPr>
          <p:cNvSpPr txBox="1"/>
          <p:nvPr/>
        </p:nvSpPr>
        <p:spPr>
          <a:xfrm>
            <a:off x="868680" y="960120"/>
            <a:ext cx="10607040" cy="412805"/>
          </a:xfrm>
          <a:prstGeom prst="rect">
            <a:avLst/>
          </a:prstGeom>
          <a:noFill/>
        </p:spPr>
        <p:txBody>
          <a:bodyPr wrap="square" lIns="0" tIns="0" rIns="0" bIns="0" anchor="t">
            <a:spAutoFit/>
          </a:bodyPr>
          <a:lstStyle/>
          <a:p>
            <a:pPr algn="l">
              <a:lnSpc>
                <a:spcPct val="102000"/>
              </a:lnSpc>
              <a:spcBef>
                <a:spcPts val="0"/>
              </a:spcBef>
              <a:spcAft>
                <a:spcPts val="600"/>
              </a:spcAft>
            </a:pPr>
            <a:r>
              <a:rPr lang="en-US" sz="2800" b="1" noProof="1">
                <a:solidFill>
                  <a:srgbClr val="1D3557"/>
                </a:solidFill>
                <a:latin typeface="Georgia"/>
              </a:rPr>
              <a:t>Machine Learning Validation: Train Vs Test set</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13898AC-13E8-CD52-9489-A13168668366}"/>
                  </a:ext>
                </a:extLst>
              </p:cNvPr>
              <p:cNvSpPr txBox="1"/>
              <p:nvPr/>
            </p:nvSpPr>
            <p:spPr>
              <a:xfrm>
                <a:off x="792675" y="1372925"/>
                <a:ext cx="10832397" cy="1815882"/>
              </a:xfrm>
              <a:prstGeom prst="rect">
                <a:avLst/>
              </a:prstGeom>
              <a:noFill/>
            </p:spPr>
            <p:txBody>
              <a:bodyPr wrap="square" rtlCol="0">
                <a:spAutoFit/>
              </a:bodyPr>
              <a:lstStyle/>
              <a:p>
                <a:r>
                  <a:rPr lang="en-GB" sz="1600" dirty="0">
                    <a:solidFill>
                      <a:srgbClr val="495A66"/>
                    </a:solidFill>
                  </a:rPr>
                  <a:t>This is a regression problem, the network outputs a continuous voltage correction, not a class label. We report four metrics on the tracking error </a:t>
                </a:r>
                <a14:m>
                  <m:oMath xmlns:m="http://schemas.openxmlformats.org/officeDocument/2006/math">
                    <m:r>
                      <a:rPr lang="it-IT" sz="1600" b="0" i="1" smtClean="0">
                        <a:solidFill>
                          <a:srgbClr val="495A66"/>
                        </a:solidFill>
                        <a:latin typeface="Cambria Math" panose="02040503050406030204" pitchFamily="18" charset="0"/>
                      </a:rPr>
                      <m:t>𝑒</m:t>
                    </m:r>
                    <m:r>
                      <a:rPr lang="it-IT" sz="1600" b="0" i="1" smtClean="0">
                        <a:solidFill>
                          <a:srgbClr val="495A66"/>
                        </a:solidFill>
                        <a:latin typeface="Cambria Math" panose="02040503050406030204" pitchFamily="18" charset="0"/>
                      </a:rPr>
                      <m:t>=</m:t>
                    </m:r>
                    <m:r>
                      <a:rPr lang="it-IT" sz="1600" b="0" i="1" smtClean="0">
                        <a:solidFill>
                          <a:srgbClr val="495A66"/>
                        </a:solidFill>
                        <a:latin typeface="Cambria Math" panose="02040503050406030204" pitchFamily="18" charset="0"/>
                        <a:ea typeface="Cambria Math" panose="02040503050406030204" pitchFamily="18" charset="0"/>
                      </a:rPr>
                      <m:t>𝜔</m:t>
                    </m:r>
                    <m:r>
                      <a:rPr lang="it-IT" sz="1600" b="0" i="1" smtClean="0">
                        <a:solidFill>
                          <a:srgbClr val="495A66"/>
                        </a:solidFill>
                        <a:latin typeface="Cambria Math" panose="02040503050406030204" pitchFamily="18" charset="0"/>
                        <a:ea typeface="Cambria Math" panose="02040503050406030204" pitchFamily="18" charset="0"/>
                      </a:rPr>
                      <m:t>−</m:t>
                    </m:r>
                    <m:sSup>
                      <m:sSupPr>
                        <m:ctrlPr>
                          <a:rPr lang="it-IT" sz="1600" b="0" i="1" smtClean="0">
                            <a:solidFill>
                              <a:srgbClr val="495A66"/>
                            </a:solidFill>
                            <a:latin typeface="Cambria Math" panose="02040503050406030204" pitchFamily="18" charset="0"/>
                            <a:ea typeface="Cambria Math" panose="02040503050406030204" pitchFamily="18" charset="0"/>
                          </a:rPr>
                        </m:ctrlPr>
                      </m:sSupPr>
                      <m:e>
                        <m:r>
                          <a:rPr lang="it-IT" sz="1600" b="0" i="1" smtClean="0">
                            <a:solidFill>
                              <a:srgbClr val="495A66"/>
                            </a:solidFill>
                            <a:latin typeface="Cambria Math" panose="02040503050406030204" pitchFamily="18" charset="0"/>
                            <a:ea typeface="Cambria Math" panose="02040503050406030204" pitchFamily="18" charset="0"/>
                          </a:rPr>
                          <m:t>𝜔</m:t>
                        </m:r>
                      </m:e>
                      <m:sup>
                        <m:r>
                          <a:rPr lang="it-IT" sz="1600" b="0" i="1" smtClean="0">
                            <a:solidFill>
                              <a:srgbClr val="495A66"/>
                            </a:solidFill>
                            <a:latin typeface="Cambria Math" panose="02040503050406030204" pitchFamily="18" charset="0"/>
                            <a:ea typeface="Cambria Math" panose="02040503050406030204" pitchFamily="18" charset="0"/>
                          </a:rPr>
                          <m:t>∗</m:t>
                        </m:r>
                      </m:sup>
                    </m:sSup>
                  </m:oMath>
                </a14:m>
                <a:r>
                  <a:rPr lang="en-GB" sz="1600" dirty="0">
                    <a:solidFill>
                      <a:srgbClr val="495A66"/>
                    </a:solidFill>
                  </a:rPr>
                  <a:t>:</a:t>
                </a:r>
              </a:p>
              <a:p>
                <a:r>
                  <a:rPr lang="en-US" sz="1600" b="1" noProof="1">
                    <a:solidFill>
                      <a:srgbClr val="1D3557"/>
                    </a:solidFill>
                  </a:rPr>
                  <a:t>— </a:t>
                </a:r>
                <a:r>
                  <a:rPr lang="en-GB" sz="1600" dirty="0">
                    <a:solidFill>
                      <a:srgbClr val="495A66"/>
                    </a:solidFill>
                  </a:rPr>
                  <a:t>MAE, mean absolute error: average magnitude of the tracking error</a:t>
                </a:r>
              </a:p>
              <a:p>
                <a:r>
                  <a:rPr lang="en-US" sz="1600" b="1" noProof="1">
                    <a:solidFill>
                      <a:srgbClr val="E07A5F"/>
                    </a:solidFill>
                  </a:rPr>
                  <a:t>— </a:t>
                </a:r>
                <a:r>
                  <a:rPr lang="en-GB" sz="1600" dirty="0">
                    <a:solidFill>
                      <a:srgbClr val="495A66"/>
                    </a:solidFill>
                  </a:rPr>
                  <a:t>RMSE, root mean squared error: primary control metric, penalises large deviations more</a:t>
                </a:r>
              </a:p>
              <a:p>
                <a:r>
                  <a:rPr lang="en-US" sz="1600" b="1" noProof="1">
                    <a:solidFill>
                      <a:srgbClr val="2A9D8F"/>
                    </a:solidFill>
                  </a:rPr>
                  <a:t>— </a:t>
                </a:r>
                <a:r>
                  <a:rPr lang="en-GB" sz="1600" dirty="0">
                    <a:solidFill>
                      <a:srgbClr val="495A66"/>
                    </a:solidFill>
                  </a:rPr>
                  <a:t>R², fraction of the reference variance explained by the achieved speed; defined only for time-varying references</a:t>
                </a:r>
              </a:p>
              <a:p>
                <a:r>
                  <a:rPr lang="en-US" sz="1600" b="1" noProof="1">
                    <a:solidFill>
                      <a:schemeClr val="accent4">
                        <a:lumMod val="75000"/>
                      </a:schemeClr>
                    </a:solidFill>
                  </a:rPr>
                  <a:t>—</a:t>
                </a:r>
                <a:r>
                  <a:rPr lang="en-US" sz="1600" b="1" noProof="1">
                    <a:solidFill>
                      <a:srgbClr val="2A9D8F"/>
                    </a:solidFill>
                  </a:rPr>
                  <a:t> </a:t>
                </a:r>
                <a:r>
                  <a:rPr lang="en-GB" sz="1600" dirty="0">
                    <a:solidFill>
                      <a:srgbClr val="495A66"/>
                    </a:solidFill>
                  </a:rPr>
                  <a:t>in-band %,  fraction of time with </a:t>
                </a:r>
                <a14:m>
                  <m:oMath xmlns:m="http://schemas.openxmlformats.org/officeDocument/2006/math">
                    <m:d>
                      <m:dPr>
                        <m:begChr m:val="|"/>
                        <m:endChr m:val="|"/>
                        <m:ctrlPr>
                          <a:rPr lang="en-GB" sz="1600" i="1" smtClean="0">
                            <a:solidFill>
                              <a:srgbClr val="495A66"/>
                            </a:solidFill>
                            <a:latin typeface="Cambria Math" panose="02040503050406030204" pitchFamily="18" charset="0"/>
                          </a:rPr>
                        </m:ctrlPr>
                      </m:dPr>
                      <m:e>
                        <m:r>
                          <a:rPr lang="it-IT" sz="1600" b="0" i="1" smtClean="0">
                            <a:solidFill>
                              <a:srgbClr val="495A66"/>
                            </a:solidFill>
                            <a:latin typeface="Cambria Math" panose="02040503050406030204" pitchFamily="18" charset="0"/>
                          </a:rPr>
                          <m:t>𝑒</m:t>
                        </m:r>
                      </m:e>
                    </m:d>
                    <m:r>
                      <a:rPr lang="en-GB" sz="1600" i="1" smtClean="0">
                        <a:solidFill>
                          <a:srgbClr val="495A66"/>
                        </a:solidFill>
                        <a:latin typeface="Cambria Math" panose="02040503050406030204" pitchFamily="18" charset="0"/>
                        <a:ea typeface="Cambria Math" panose="02040503050406030204" pitchFamily="18" charset="0"/>
                      </a:rPr>
                      <m:t>&lt;</m:t>
                    </m:r>
                    <m:r>
                      <a:rPr lang="it-IT" sz="1600" b="0" i="1" smtClean="0">
                        <a:solidFill>
                          <a:srgbClr val="495A66"/>
                        </a:solidFill>
                        <a:latin typeface="Cambria Math" panose="02040503050406030204" pitchFamily="18" charset="0"/>
                        <a:ea typeface="Cambria Math" panose="02040503050406030204" pitchFamily="18" charset="0"/>
                      </a:rPr>
                      <m:t>0,5 </m:t>
                    </m:r>
                    <m:r>
                      <a:rPr lang="it-IT" sz="1600" b="0" i="1" smtClean="0">
                        <a:solidFill>
                          <a:srgbClr val="495A66"/>
                        </a:solidFill>
                        <a:latin typeface="Cambria Math" panose="02040503050406030204" pitchFamily="18" charset="0"/>
                        <a:ea typeface="Cambria Math" panose="02040503050406030204" pitchFamily="18" charset="0"/>
                      </a:rPr>
                      <m:t>𝑟𝑎𝑑</m:t>
                    </m:r>
                    <m:r>
                      <a:rPr lang="it-IT" sz="1600" b="0" i="1" smtClean="0">
                        <a:solidFill>
                          <a:srgbClr val="495A66"/>
                        </a:solidFill>
                        <a:latin typeface="Cambria Math" panose="02040503050406030204" pitchFamily="18" charset="0"/>
                        <a:ea typeface="Cambria Math" panose="02040503050406030204" pitchFamily="18" charset="0"/>
                      </a:rPr>
                      <m:t>/</m:t>
                    </m:r>
                    <m:r>
                      <a:rPr lang="it-IT" sz="1600" b="0" i="1" smtClean="0">
                        <a:solidFill>
                          <a:srgbClr val="495A66"/>
                        </a:solidFill>
                        <a:latin typeface="Cambria Math" panose="02040503050406030204" pitchFamily="18" charset="0"/>
                        <a:ea typeface="Cambria Math" panose="02040503050406030204" pitchFamily="18" charset="0"/>
                      </a:rPr>
                      <m:t>𝑠</m:t>
                    </m:r>
                  </m:oMath>
                </a14:m>
                <a:r>
                  <a:rPr lang="en-GB" sz="1600" dirty="0">
                    <a:solidFill>
                      <a:srgbClr val="495A66"/>
                    </a:solidFill>
                  </a:rPr>
                  <a:t>; the honest analogue of "accuracy" for a continuous tracking task</a:t>
                </a:r>
              </a:p>
              <a:p>
                <a:endParaRPr lang="en-US" sz="1600" dirty="0">
                  <a:solidFill>
                    <a:srgbClr val="495A66"/>
                  </a:solidFill>
                </a:endParaRPr>
              </a:p>
            </p:txBody>
          </p:sp>
        </mc:Choice>
        <mc:Fallback xmlns="">
          <p:sp>
            <p:nvSpPr>
              <p:cNvPr id="5" name="TextBox 4">
                <a:extLst>
                  <a:ext uri="{FF2B5EF4-FFF2-40B4-BE49-F238E27FC236}">
                    <a16:creationId xmlns:a16="http://schemas.microsoft.com/office/drawing/2014/main" id="{813898AC-13E8-CD52-9489-A13168668366}"/>
                  </a:ext>
                </a:extLst>
              </p:cNvPr>
              <p:cNvSpPr txBox="1">
                <a:spLocks noRot="1" noChangeAspect="1" noMove="1" noResize="1" noEditPoints="1" noAdjustHandles="1" noChangeArrowheads="1" noChangeShapeType="1" noTextEdit="1"/>
              </p:cNvSpPr>
              <p:nvPr/>
            </p:nvSpPr>
            <p:spPr>
              <a:xfrm>
                <a:off x="792675" y="1372925"/>
                <a:ext cx="10832397" cy="1815882"/>
              </a:xfrm>
              <a:prstGeom prst="rect">
                <a:avLst/>
              </a:prstGeom>
              <a:blipFill>
                <a:blip r:embed="rId3"/>
                <a:stretch>
                  <a:fillRect l="-234" t="-1389"/>
                </a:stretch>
              </a:blipFill>
            </p:spPr>
            <p:txBody>
              <a:bodyPr/>
              <a:lstStyle/>
              <a:p>
                <a:r>
                  <a:rPr lang="en-US">
                    <a:noFill/>
                  </a:rPr>
                  <a:t> </a:t>
                </a:r>
              </a:p>
            </p:txBody>
          </p:sp>
        </mc:Fallback>
      </mc:AlternateContent>
      <p:graphicFrame>
        <p:nvGraphicFramePr>
          <p:cNvPr id="15" name="Table 14">
            <a:extLst>
              <a:ext uri="{FF2B5EF4-FFF2-40B4-BE49-F238E27FC236}">
                <a16:creationId xmlns:a16="http://schemas.microsoft.com/office/drawing/2014/main" id="{0C05EE68-E50E-C94B-7D45-D458A65F1CF5}"/>
              </a:ext>
            </a:extLst>
          </p:cNvPr>
          <p:cNvGraphicFramePr>
            <a:graphicFrameLocks noGrp="1"/>
          </p:cNvGraphicFramePr>
          <p:nvPr>
            <p:extLst>
              <p:ext uri="{D42A27DB-BD31-4B8C-83A1-F6EECF244321}">
                <p14:modId xmlns:p14="http://schemas.microsoft.com/office/powerpoint/2010/main" val="1692381663"/>
              </p:ext>
            </p:extLst>
          </p:nvPr>
        </p:nvGraphicFramePr>
        <p:xfrm>
          <a:off x="1132200" y="3429000"/>
          <a:ext cx="10080000" cy="1234440"/>
        </p:xfrm>
        <a:graphic>
          <a:graphicData uri="http://schemas.openxmlformats.org/drawingml/2006/table">
            <a:tbl>
              <a:tblPr>
                <a:tableStyleId>{5C22544A-7EE6-4342-B048-85BDC9FD1C3A}</a:tableStyleId>
              </a:tblPr>
              <a:tblGrid>
                <a:gridCol w="2016000">
                  <a:extLst>
                    <a:ext uri="{9D8B030D-6E8A-4147-A177-3AD203B41FA5}">
                      <a16:colId xmlns:a16="http://schemas.microsoft.com/office/drawing/2014/main" val="20000"/>
                    </a:ext>
                  </a:extLst>
                </a:gridCol>
                <a:gridCol w="2016000">
                  <a:extLst>
                    <a:ext uri="{9D8B030D-6E8A-4147-A177-3AD203B41FA5}">
                      <a16:colId xmlns:a16="http://schemas.microsoft.com/office/drawing/2014/main" val="20001"/>
                    </a:ext>
                  </a:extLst>
                </a:gridCol>
                <a:gridCol w="2016000">
                  <a:extLst>
                    <a:ext uri="{9D8B030D-6E8A-4147-A177-3AD203B41FA5}">
                      <a16:colId xmlns:a16="http://schemas.microsoft.com/office/drawing/2014/main" val="3123090793"/>
                    </a:ext>
                  </a:extLst>
                </a:gridCol>
                <a:gridCol w="2016000">
                  <a:extLst>
                    <a:ext uri="{9D8B030D-6E8A-4147-A177-3AD203B41FA5}">
                      <a16:colId xmlns:a16="http://schemas.microsoft.com/office/drawing/2014/main" val="1251604277"/>
                    </a:ext>
                  </a:extLst>
                </a:gridCol>
                <a:gridCol w="2016000">
                  <a:extLst>
                    <a:ext uri="{9D8B030D-6E8A-4147-A177-3AD203B41FA5}">
                      <a16:colId xmlns:a16="http://schemas.microsoft.com/office/drawing/2014/main" val="2435101031"/>
                    </a:ext>
                  </a:extLst>
                </a:gridCol>
              </a:tblGrid>
              <a:tr h="411480">
                <a:tc>
                  <a:txBody>
                    <a:bodyPr/>
                    <a:lstStyle/>
                    <a:p>
                      <a:r>
                        <a:rPr lang="en-US" sz="1200" b="1" noProof="1">
                          <a:solidFill>
                            <a:srgbClr val="1D3557"/>
                          </a:solidFill>
                          <a:latin typeface="+mn-lt"/>
                        </a:rPr>
                        <a:t>Set</a:t>
                      </a:r>
                    </a:p>
                  </a:txBody>
                  <a:tcPr marL="73152" marT="27432" marB="27432" anchor="ctr">
                    <a:solidFill>
                      <a:srgbClr val="FBFAF6"/>
                    </a:solidFill>
                  </a:tcPr>
                </a:tc>
                <a:tc>
                  <a:txBody>
                    <a:bodyPr/>
                    <a:lstStyle/>
                    <a:p>
                      <a:r>
                        <a:rPr lang="en-US" sz="1200" b="1" noProof="1">
                          <a:solidFill>
                            <a:srgbClr val="4A5A66"/>
                          </a:solidFill>
                          <a:latin typeface="+mn-lt"/>
                        </a:rPr>
                        <a:t>MAE</a:t>
                      </a:r>
                    </a:p>
                  </a:txBody>
                  <a:tcPr marL="73152" marT="27432" marB="27432" anchor="ctr">
                    <a:solidFill>
                      <a:srgbClr val="FBFAF6"/>
                    </a:solidFill>
                  </a:tcPr>
                </a:tc>
                <a:tc>
                  <a:txBody>
                    <a:bodyPr/>
                    <a:lstStyle/>
                    <a:p>
                      <a:r>
                        <a:rPr lang="en-US" sz="1200" b="1" noProof="1">
                          <a:solidFill>
                            <a:srgbClr val="4A5A66"/>
                          </a:solidFill>
                          <a:latin typeface="+mn-lt"/>
                        </a:rPr>
                        <a:t>RMSE</a:t>
                      </a:r>
                    </a:p>
                  </a:txBody>
                  <a:tcPr marL="73152" marT="27432" marB="27432" anchor="ctr">
                    <a:solidFill>
                      <a:srgbClr val="FBFAF6"/>
                    </a:solidFill>
                  </a:tcPr>
                </a:tc>
                <a:tc>
                  <a:txBody>
                    <a:bodyPr/>
                    <a:lstStyle/>
                    <a:p>
                      <a:r>
                        <a:rPr lang="en-US" sz="1200" b="1" noProof="1">
                          <a:solidFill>
                            <a:srgbClr val="4A5A66"/>
                          </a:solidFill>
                          <a:latin typeface="+mn-lt"/>
                        </a:rPr>
                        <a:t>R2</a:t>
                      </a:r>
                    </a:p>
                  </a:txBody>
                  <a:tcPr marL="73152" marT="27432" marB="27432" anchor="ctr">
                    <a:solidFill>
                      <a:srgbClr val="FBFAF6"/>
                    </a:solidFill>
                  </a:tcPr>
                </a:tc>
                <a:tc>
                  <a:txBody>
                    <a:bodyPr/>
                    <a:lstStyle/>
                    <a:p>
                      <a:r>
                        <a:rPr lang="en-US" sz="1200" b="1" noProof="1">
                          <a:solidFill>
                            <a:srgbClr val="4A5A66"/>
                          </a:solidFill>
                          <a:latin typeface="+mn-lt"/>
                        </a:rPr>
                        <a:t>In-band %</a:t>
                      </a:r>
                    </a:p>
                  </a:txBody>
                  <a:tcPr marL="73152" marT="27432" marB="27432" anchor="ctr">
                    <a:solidFill>
                      <a:srgbClr val="FBFAF6"/>
                    </a:solidFill>
                  </a:tcPr>
                </a:tc>
                <a:extLst>
                  <a:ext uri="{0D108BD9-81ED-4DB2-BD59-A6C34878D82A}">
                    <a16:rowId xmlns:a16="http://schemas.microsoft.com/office/drawing/2014/main" val="10000"/>
                  </a:ext>
                </a:extLst>
              </a:tr>
              <a:tr h="411480">
                <a:tc>
                  <a:txBody>
                    <a:bodyPr/>
                    <a:lstStyle/>
                    <a:p>
                      <a:r>
                        <a:rPr lang="en-US" sz="1200" b="0" noProof="1">
                          <a:solidFill>
                            <a:srgbClr val="1D3557"/>
                          </a:solidFill>
                          <a:latin typeface="+mn-lt"/>
                        </a:rPr>
                        <a:t>Train (12 references)</a:t>
                      </a:r>
                    </a:p>
                  </a:txBody>
                  <a:tcPr marL="73152" marT="27432" marB="27432" anchor="ctr">
                    <a:solidFill>
                      <a:srgbClr val="FBFAF6"/>
                    </a:solidFill>
                  </a:tcPr>
                </a:tc>
                <a:tc>
                  <a:txBody>
                    <a:bodyPr/>
                    <a:lstStyle/>
                    <a:p>
                      <a:r>
                        <a:rPr lang="en-US" sz="1200" b="0" noProof="1">
                          <a:solidFill>
                            <a:srgbClr val="495A66"/>
                          </a:solidFill>
                          <a:latin typeface="+mn-lt"/>
                        </a:rPr>
                        <a:t>0.069</a:t>
                      </a:r>
                    </a:p>
                  </a:txBody>
                  <a:tcPr marL="73152" marT="27432" marB="27432" anchor="ctr">
                    <a:solidFill>
                      <a:srgbClr val="FBFAF6"/>
                    </a:solidFill>
                  </a:tcPr>
                </a:tc>
                <a:tc>
                  <a:txBody>
                    <a:bodyPr/>
                    <a:lstStyle/>
                    <a:p>
                      <a:r>
                        <a:rPr lang="en-US" sz="1200" b="0" noProof="1">
                          <a:solidFill>
                            <a:srgbClr val="495A66"/>
                          </a:solidFill>
                          <a:latin typeface="+mn-lt"/>
                        </a:rPr>
                        <a:t>0.292</a:t>
                      </a:r>
                    </a:p>
                  </a:txBody>
                  <a:tcPr marL="73152" marT="27432" marB="27432" anchor="ctr">
                    <a:solidFill>
                      <a:srgbClr val="FBFAF6"/>
                    </a:solidFill>
                  </a:tcPr>
                </a:tc>
                <a:tc>
                  <a:txBody>
                    <a:bodyPr/>
                    <a:lstStyle/>
                    <a:p>
                      <a:r>
                        <a:rPr lang="en-US" sz="1200" b="0" noProof="1">
                          <a:solidFill>
                            <a:srgbClr val="495A66"/>
                          </a:solidFill>
                          <a:latin typeface="+mn-lt"/>
                        </a:rPr>
                        <a:t>0.955</a:t>
                      </a:r>
                    </a:p>
                  </a:txBody>
                  <a:tcPr marL="73152" marT="27432" marB="27432" anchor="ctr">
                    <a:solidFill>
                      <a:srgbClr val="FBFAF6"/>
                    </a:solidFill>
                  </a:tcPr>
                </a:tc>
                <a:tc>
                  <a:txBody>
                    <a:bodyPr/>
                    <a:lstStyle/>
                    <a:p>
                      <a:r>
                        <a:rPr lang="en-GB" sz="1200" b="0" i="0" kern="1200" noProof="1">
                          <a:solidFill>
                            <a:srgbClr val="495A66"/>
                          </a:solidFill>
                          <a:effectLst/>
                          <a:latin typeface="+mn-lt"/>
                          <a:ea typeface="+mn-ea"/>
                          <a:cs typeface="+mn-cs"/>
                        </a:rPr>
                        <a:t>99.7%</a:t>
                      </a:r>
                      <a:endParaRPr lang="en-US" sz="1200" b="0" noProof="1">
                        <a:solidFill>
                          <a:srgbClr val="495A66"/>
                        </a:solidFill>
                        <a:latin typeface="+mn-lt"/>
                      </a:endParaRPr>
                    </a:p>
                  </a:txBody>
                  <a:tcPr marL="73152" marT="27432" marB="27432" anchor="ctr">
                    <a:solidFill>
                      <a:srgbClr val="FBFAF6"/>
                    </a:solidFill>
                  </a:tcPr>
                </a:tc>
                <a:extLst>
                  <a:ext uri="{0D108BD9-81ED-4DB2-BD59-A6C34878D82A}">
                    <a16:rowId xmlns:a16="http://schemas.microsoft.com/office/drawing/2014/main" val="10001"/>
                  </a:ext>
                </a:extLst>
              </a:tr>
              <a:tr h="411480">
                <a:tc>
                  <a:txBody>
                    <a:bodyPr/>
                    <a:lstStyle/>
                    <a:p>
                      <a:r>
                        <a:rPr lang="en-US" sz="1200" b="0" i="0" noProof="1">
                          <a:solidFill>
                            <a:srgbClr val="1D3557"/>
                          </a:solidFill>
                          <a:latin typeface="+mn-lt"/>
                        </a:rPr>
                        <a:t>Test (7 held-out)</a:t>
                      </a:r>
                    </a:p>
                  </a:txBody>
                  <a:tcPr marL="73152" marT="27432" marB="27432" anchor="ctr">
                    <a:solidFill>
                      <a:srgbClr val="FBFAF6"/>
                    </a:solidFill>
                  </a:tcPr>
                </a:tc>
                <a:tc>
                  <a:txBody>
                    <a:bodyPr/>
                    <a:lstStyle/>
                    <a:p>
                      <a:r>
                        <a:rPr lang="en-US" sz="1200" b="0" noProof="1">
                          <a:solidFill>
                            <a:srgbClr val="4A5A66"/>
                          </a:solidFill>
                          <a:latin typeface="+mn-lt"/>
                        </a:rPr>
                        <a:t>0.080</a:t>
                      </a:r>
                    </a:p>
                  </a:txBody>
                  <a:tcPr marL="73152" marT="27432" marB="27432" anchor="ctr">
                    <a:solidFill>
                      <a:srgbClr val="FBFAF6"/>
                    </a:solidFill>
                  </a:tcPr>
                </a:tc>
                <a:tc>
                  <a:txBody>
                    <a:bodyPr/>
                    <a:lstStyle/>
                    <a:p>
                      <a:r>
                        <a:rPr lang="en-US" sz="1200" b="0" noProof="1">
                          <a:solidFill>
                            <a:srgbClr val="495A66"/>
                          </a:solidFill>
                          <a:latin typeface="+mn-lt"/>
                        </a:rPr>
                        <a:t>0.240</a:t>
                      </a:r>
                    </a:p>
                  </a:txBody>
                  <a:tcPr marL="73152" marT="27432" marB="27432" anchor="ctr">
                    <a:solidFill>
                      <a:srgbClr val="FBFAF6"/>
                    </a:solidFill>
                  </a:tcPr>
                </a:tc>
                <a:tc>
                  <a:txBody>
                    <a:bodyPr/>
                    <a:lstStyle/>
                    <a:p>
                      <a:r>
                        <a:rPr lang="en-US" sz="1200" b="0" noProof="1">
                          <a:solidFill>
                            <a:srgbClr val="495A66"/>
                          </a:solidFill>
                          <a:latin typeface="+mn-lt"/>
                        </a:rPr>
                        <a:t>0.996</a:t>
                      </a:r>
                    </a:p>
                  </a:txBody>
                  <a:tcPr marL="73152" marT="27432" marB="27432" anchor="ctr">
                    <a:solidFill>
                      <a:srgbClr val="FBFAF6"/>
                    </a:solidFill>
                  </a:tcPr>
                </a:tc>
                <a:tc>
                  <a:txBody>
                    <a:bodyPr/>
                    <a:lstStyle/>
                    <a:p>
                      <a:r>
                        <a:rPr lang="en-GB" sz="1200" b="0" i="0" kern="1200" noProof="1">
                          <a:solidFill>
                            <a:srgbClr val="495A66"/>
                          </a:solidFill>
                          <a:effectLst/>
                          <a:latin typeface="+mn-lt"/>
                          <a:ea typeface="+mn-ea"/>
                          <a:cs typeface="+mn-cs"/>
                        </a:rPr>
                        <a:t>99.8%</a:t>
                      </a:r>
                      <a:endParaRPr lang="en-US" sz="1200" b="0" noProof="1">
                        <a:solidFill>
                          <a:srgbClr val="495A66"/>
                        </a:solidFill>
                        <a:latin typeface="+mn-lt"/>
                      </a:endParaRPr>
                    </a:p>
                  </a:txBody>
                  <a:tcPr marL="73152" marT="27432" marB="27432" anchor="ctr">
                    <a:solidFill>
                      <a:srgbClr val="FBFAF6"/>
                    </a:solidFill>
                  </a:tcPr>
                </a:tc>
                <a:extLst>
                  <a:ext uri="{0D108BD9-81ED-4DB2-BD59-A6C34878D82A}">
                    <a16:rowId xmlns:a16="http://schemas.microsoft.com/office/drawing/2014/main" val="10002"/>
                  </a:ext>
                </a:extLst>
              </a:tr>
            </a:tbl>
          </a:graphicData>
        </a:graphic>
      </p:graphicFrame>
      <p:sp>
        <p:nvSpPr>
          <p:cNvPr id="16" name="Rounded Rectangle 15">
            <a:extLst>
              <a:ext uri="{FF2B5EF4-FFF2-40B4-BE49-F238E27FC236}">
                <a16:creationId xmlns:a16="http://schemas.microsoft.com/office/drawing/2014/main" id="{913C3B33-4832-5E3F-08C5-521E708F3BFC}"/>
              </a:ext>
            </a:extLst>
          </p:cNvPr>
          <p:cNvSpPr/>
          <p:nvPr/>
        </p:nvSpPr>
        <p:spPr>
          <a:xfrm>
            <a:off x="868679" y="5109882"/>
            <a:ext cx="10875301" cy="1134006"/>
          </a:xfrm>
          <a:prstGeom prst="roundRect">
            <a:avLst>
              <a:gd name="adj" fmla="val 6000"/>
            </a:avLst>
          </a:prstGeom>
          <a:solidFill>
            <a:srgbClr val="E7F2F0"/>
          </a:solidFill>
          <a:ln w="12700">
            <a:solidFill>
              <a:srgbClr val="E7F2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17" name="Rectangle 16">
            <a:extLst>
              <a:ext uri="{FF2B5EF4-FFF2-40B4-BE49-F238E27FC236}">
                <a16:creationId xmlns:a16="http://schemas.microsoft.com/office/drawing/2014/main" id="{533162AF-8A51-BD8F-DD98-11AC58FA3027}"/>
              </a:ext>
            </a:extLst>
          </p:cNvPr>
          <p:cNvSpPr/>
          <p:nvPr/>
        </p:nvSpPr>
        <p:spPr>
          <a:xfrm>
            <a:off x="868679" y="5109882"/>
            <a:ext cx="45719" cy="1134006"/>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18" name="TextBox 17">
            <a:extLst>
              <a:ext uri="{FF2B5EF4-FFF2-40B4-BE49-F238E27FC236}">
                <a16:creationId xmlns:a16="http://schemas.microsoft.com/office/drawing/2014/main" id="{32FD3207-F921-A873-A408-96D217C1652A}"/>
              </a:ext>
            </a:extLst>
          </p:cNvPr>
          <p:cNvSpPr txBox="1"/>
          <p:nvPr/>
        </p:nvSpPr>
        <p:spPr>
          <a:xfrm>
            <a:off x="1069848" y="5299406"/>
            <a:ext cx="10222992" cy="1020279"/>
          </a:xfrm>
          <a:prstGeom prst="rect">
            <a:avLst/>
          </a:prstGeom>
          <a:noFill/>
        </p:spPr>
        <p:txBody>
          <a:bodyPr wrap="square" lIns="0" tIns="0" rIns="0" bIns="0" anchor="ctr">
            <a:spAutoFit/>
          </a:bodyPr>
          <a:lstStyle/>
          <a:p>
            <a:pPr>
              <a:lnSpc>
                <a:spcPct val="112000"/>
              </a:lnSpc>
            </a:pPr>
            <a:r>
              <a:rPr lang="en-US" sz="1500" b="1" noProof="1">
                <a:solidFill>
                  <a:srgbClr val="1D3557"/>
                </a:solidFill>
                <a:latin typeface="Georgia"/>
              </a:rPr>
              <a:t>Result. </a:t>
            </a:r>
            <a:r>
              <a:rPr lang="en-GB" sz="1500" dirty="0">
                <a:solidFill>
                  <a:srgbClr val="495A66"/>
                </a:solidFill>
              </a:rPr>
              <a:t>Test error is no worse than train on every metric, the policy has not memorised the training references, it has learned a general control strategy. R2 improves on the test set because held-out references are smoother and easier to track than the random multi-step profiles used during training. The gap between train and test RMSE goes in the safe direction: no overfitting</a:t>
            </a:r>
            <a:r>
              <a:rPr lang="en-GB" sz="1500" i="1" dirty="0">
                <a:solidFill>
                  <a:srgbClr val="495A66"/>
                </a:solidFill>
              </a:rPr>
              <a:t>.</a:t>
            </a:r>
            <a:endParaRPr lang="en-US" sz="1500" noProof="1">
              <a:solidFill>
                <a:srgbClr val="495A66"/>
              </a:solidFill>
            </a:endParaRPr>
          </a:p>
          <a:p>
            <a:pPr>
              <a:lnSpc>
                <a:spcPct val="112000"/>
              </a:lnSpc>
            </a:pPr>
            <a:endParaRPr lang="en-US" sz="1500" b="0" noProof="1">
              <a:solidFill>
                <a:srgbClr val="4A5A66"/>
              </a:solidFill>
              <a:latin typeface="Calibri"/>
            </a:endParaRPr>
          </a:p>
        </p:txBody>
      </p:sp>
    </p:spTree>
    <p:extLst>
      <p:ext uri="{BB962C8B-B14F-4D97-AF65-F5344CB8AC3E}">
        <p14:creationId xmlns:p14="http://schemas.microsoft.com/office/powerpoint/2010/main" val="346575992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BFAF6"/>
        </a:solidFill>
        <a:effectLst/>
      </p:bgPr>
    </p:bg>
    <p:spTree>
      <p:nvGrpSpPr>
        <p:cNvPr id="1" name="">
          <a:extLst>
            <a:ext uri="{FF2B5EF4-FFF2-40B4-BE49-F238E27FC236}">
              <a16:creationId xmlns:a16="http://schemas.microsoft.com/office/drawing/2014/main" id="{754A797F-1558-4034-8904-241FBF17C6BC}"/>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1A8DAAEF-82B6-6C2B-5872-D278BFF69D28}"/>
              </a:ext>
            </a:extLst>
          </p:cNvPr>
          <p:cNvSpPr/>
          <p:nvPr/>
        </p:nvSpPr>
        <p:spPr>
          <a:xfrm>
            <a:off x="566928" y="502920"/>
            <a:ext cx="17780" cy="5852160"/>
          </a:xfrm>
          <a:prstGeom prst="rect">
            <a:avLst/>
          </a:prstGeom>
          <a:solidFill>
            <a:srgbClr val="D9D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3" name="Rectangle 2">
            <a:extLst>
              <a:ext uri="{FF2B5EF4-FFF2-40B4-BE49-F238E27FC236}">
                <a16:creationId xmlns:a16="http://schemas.microsoft.com/office/drawing/2014/main" id="{1E4EC752-2CAC-1293-9C3B-3FDBF0BBF816}"/>
              </a:ext>
            </a:extLst>
          </p:cNvPr>
          <p:cNvSpPr/>
          <p:nvPr/>
        </p:nvSpPr>
        <p:spPr>
          <a:xfrm>
            <a:off x="566928" y="502920"/>
            <a:ext cx="30480" cy="56692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4" name="TextBox 3">
            <a:extLst>
              <a:ext uri="{FF2B5EF4-FFF2-40B4-BE49-F238E27FC236}">
                <a16:creationId xmlns:a16="http://schemas.microsoft.com/office/drawing/2014/main" id="{12671021-4B72-6449-FFF6-DA5E292E15E9}"/>
              </a:ext>
            </a:extLst>
          </p:cNvPr>
          <p:cNvSpPr txBox="1"/>
          <p:nvPr/>
        </p:nvSpPr>
        <p:spPr>
          <a:xfrm>
            <a:off x="868680" y="548640"/>
            <a:ext cx="10607040" cy="169277"/>
          </a:xfrm>
          <a:prstGeom prst="rect">
            <a:avLst/>
          </a:prstGeom>
          <a:noFill/>
        </p:spPr>
        <p:txBody>
          <a:bodyPr wrap="square" lIns="0" tIns="0" rIns="0" bIns="0" anchor="t">
            <a:spAutoFit/>
          </a:bodyPr>
          <a:lstStyle/>
          <a:p>
            <a:pPr>
              <a:lnSpc>
                <a:spcPct val="100000"/>
              </a:lnSpc>
            </a:pPr>
            <a:r>
              <a:rPr lang="en-US" sz="1100" b="1" noProof="1">
                <a:solidFill>
                  <a:srgbClr val="E07A5F"/>
                </a:solidFill>
                <a:latin typeface="Consolas"/>
              </a:rPr>
              <a:t>B8  </a:t>
            </a:r>
            <a:r>
              <a:rPr lang="en-US" sz="1100" noProof="1">
                <a:solidFill>
                  <a:srgbClr val="2A9D8F"/>
                </a:solidFill>
                <a:latin typeface="Consolas"/>
              </a:rPr>
              <a:t>RESIDUAL REINFORCEMENT LEARNING - Validation</a:t>
            </a:r>
          </a:p>
        </p:txBody>
      </p:sp>
      <p:sp>
        <p:nvSpPr>
          <p:cNvPr id="6" name="TextBox 5">
            <a:extLst>
              <a:ext uri="{FF2B5EF4-FFF2-40B4-BE49-F238E27FC236}">
                <a16:creationId xmlns:a16="http://schemas.microsoft.com/office/drawing/2014/main" id="{4B3CDAFE-3748-55F6-252F-948C988C6658}"/>
              </a:ext>
            </a:extLst>
          </p:cNvPr>
          <p:cNvSpPr txBox="1"/>
          <p:nvPr/>
        </p:nvSpPr>
        <p:spPr>
          <a:xfrm>
            <a:off x="868680" y="960120"/>
            <a:ext cx="10607040" cy="412805"/>
          </a:xfrm>
          <a:prstGeom prst="rect">
            <a:avLst/>
          </a:prstGeom>
          <a:noFill/>
        </p:spPr>
        <p:txBody>
          <a:bodyPr wrap="square" lIns="0" tIns="0" rIns="0" bIns="0" anchor="t">
            <a:spAutoFit/>
          </a:bodyPr>
          <a:lstStyle/>
          <a:p>
            <a:pPr>
              <a:lnSpc>
                <a:spcPct val="102000"/>
              </a:lnSpc>
              <a:spcAft>
                <a:spcPts val="600"/>
              </a:spcAft>
            </a:pPr>
            <a:r>
              <a:rPr lang="en-US" sz="2800" b="1" noProof="1">
                <a:solidFill>
                  <a:srgbClr val="1D3557"/>
                </a:solidFill>
                <a:latin typeface="Georgia"/>
              </a:rPr>
              <a:t>Ablation Study: Network Depth and Seed Robustness</a:t>
            </a:r>
          </a:p>
        </p:txBody>
      </p:sp>
      <p:sp>
        <p:nvSpPr>
          <p:cNvPr id="5" name="TextBox 4">
            <a:extLst>
              <a:ext uri="{FF2B5EF4-FFF2-40B4-BE49-F238E27FC236}">
                <a16:creationId xmlns:a16="http://schemas.microsoft.com/office/drawing/2014/main" id="{CB565417-C77E-FA39-EBAC-E57A3750CAFF}"/>
              </a:ext>
            </a:extLst>
          </p:cNvPr>
          <p:cNvSpPr txBox="1"/>
          <p:nvPr/>
        </p:nvSpPr>
        <p:spPr>
          <a:xfrm>
            <a:off x="756001" y="1372925"/>
            <a:ext cx="10832397" cy="830997"/>
          </a:xfrm>
          <a:prstGeom prst="rect">
            <a:avLst/>
          </a:prstGeom>
          <a:noFill/>
        </p:spPr>
        <p:txBody>
          <a:bodyPr wrap="square" rtlCol="0">
            <a:spAutoFit/>
          </a:bodyPr>
          <a:lstStyle/>
          <a:p>
            <a:r>
              <a:rPr lang="en-GB" sz="1600" dirty="0">
                <a:solidFill>
                  <a:srgbClr val="495A66"/>
                </a:solidFill>
              </a:rPr>
              <a:t>To verify that the architecture choice is not arbitrary and the results are not seed-dependent, we trained 3 architectures × 3 random seeds = 9 independent models and evaluated each on the held-out test set. All models use the same reward, hyperparameters and training budget (300k steps).</a:t>
            </a:r>
            <a:endParaRPr lang="en-US" sz="1600" dirty="0">
              <a:solidFill>
                <a:srgbClr val="495A66"/>
              </a:solidFill>
            </a:endParaRPr>
          </a:p>
        </p:txBody>
      </p:sp>
      <mc:AlternateContent xmlns:mc="http://schemas.openxmlformats.org/markup-compatibility/2006" xmlns:a14="http://schemas.microsoft.com/office/drawing/2010/main">
        <mc:Choice Requires="a14">
          <p:graphicFrame>
            <p:nvGraphicFramePr>
              <p:cNvPr id="15" name="Table 14">
                <a:extLst>
                  <a:ext uri="{FF2B5EF4-FFF2-40B4-BE49-F238E27FC236}">
                    <a16:creationId xmlns:a16="http://schemas.microsoft.com/office/drawing/2014/main" id="{CDAC3E55-D1F1-3C3C-4C69-5F364CDEEEB9}"/>
                  </a:ext>
                </a:extLst>
              </p:cNvPr>
              <p:cNvGraphicFramePr>
                <a:graphicFrameLocks noGrp="1"/>
              </p:cNvGraphicFramePr>
              <p:nvPr>
                <p:extLst>
                  <p:ext uri="{D42A27DB-BD31-4B8C-83A1-F6EECF244321}">
                    <p14:modId xmlns:p14="http://schemas.microsoft.com/office/powerpoint/2010/main" val="2485419590"/>
                  </p:ext>
                </p:extLst>
              </p:nvPr>
            </p:nvGraphicFramePr>
            <p:xfrm>
              <a:off x="2064000" y="2406435"/>
              <a:ext cx="8064000" cy="1684728"/>
            </p:xfrm>
            <a:graphic>
              <a:graphicData uri="http://schemas.openxmlformats.org/drawingml/2006/table">
                <a:tbl>
                  <a:tblPr>
                    <a:tableStyleId>{5C22544A-7EE6-4342-B048-85BDC9FD1C3A}</a:tableStyleId>
                  </a:tblPr>
                  <a:tblGrid>
                    <a:gridCol w="2016000">
                      <a:extLst>
                        <a:ext uri="{9D8B030D-6E8A-4147-A177-3AD203B41FA5}">
                          <a16:colId xmlns:a16="http://schemas.microsoft.com/office/drawing/2014/main" val="20000"/>
                        </a:ext>
                      </a:extLst>
                    </a:gridCol>
                    <a:gridCol w="2016000">
                      <a:extLst>
                        <a:ext uri="{9D8B030D-6E8A-4147-A177-3AD203B41FA5}">
                          <a16:colId xmlns:a16="http://schemas.microsoft.com/office/drawing/2014/main" val="3123090793"/>
                        </a:ext>
                      </a:extLst>
                    </a:gridCol>
                    <a:gridCol w="2016000">
                      <a:extLst>
                        <a:ext uri="{9D8B030D-6E8A-4147-A177-3AD203B41FA5}">
                          <a16:colId xmlns:a16="http://schemas.microsoft.com/office/drawing/2014/main" val="1251604277"/>
                        </a:ext>
                      </a:extLst>
                    </a:gridCol>
                    <a:gridCol w="2016000">
                      <a:extLst>
                        <a:ext uri="{9D8B030D-6E8A-4147-A177-3AD203B41FA5}">
                          <a16:colId xmlns:a16="http://schemas.microsoft.com/office/drawing/2014/main" val="2435101031"/>
                        </a:ext>
                      </a:extLst>
                    </a:gridCol>
                  </a:tblGrid>
                  <a:tr h="432000">
                    <a:tc>
                      <a:txBody>
                        <a:bodyPr/>
                        <a:lstStyle/>
                        <a:p>
                          <a:r>
                            <a:rPr lang="en-US" sz="1200" b="1" noProof="1">
                              <a:solidFill>
                                <a:srgbClr val="1D3557"/>
                              </a:solidFill>
                              <a:latin typeface="+mn-lt"/>
                            </a:rPr>
                            <a:t>Architecture</a:t>
                          </a:r>
                        </a:p>
                      </a:txBody>
                      <a:tcPr marL="73152" marT="27432" marB="27432" anchor="ctr">
                        <a:solidFill>
                          <a:srgbClr val="FBFAF6"/>
                        </a:solidFill>
                      </a:tcPr>
                    </a:tc>
                    <a:tc>
                      <a:txBody>
                        <a:bodyPr/>
                        <a:lstStyle/>
                        <a:p>
                          <a:r>
                            <a:rPr lang="en-US" sz="1200" b="1" noProof="1">
                              <a:solidFill>
                                <a:srgbClr val="4A5A66"/>
                              </a:solidFill>
                              <a:latin typeface="+mn-lt"/>
                            </a:rPr>
                            <a:t>RMSE</a:t>
                          </a:r>
                        </a:p>
                      </a:txBody>
                      <a:tcPr marL="73152" marT="27432" marB="27432" anchor="ctr">
                        <a:solidFill>
                          <a:srgbClr val="FBFAF6"/>
                        </a:solidFill>
                      </a:tcPr>
                    </a:tc>
                    <a:tc>
                      <a:txBody>
                        <a:bodyPr/>
                        <a:lstStyle/>
                        <a:p>
                          <a:r>
                            <a:rPr lang="en-US" sz="1200" b="1" noProof="1">
                              <a:solidFill>
                                <a:srgbClr val="4A5A66"/>
                              </a:solidFill>
                              <a:latin typeface="+mn-lt"/>
                            </a:rPr>
                            <a:t>R2</a:t>
                          </a:r>
                        </a:p>
                      </a:txBody>
                      <a:tcPr marL="73152" marT="27432" marB="27432" anchor="ctr">
                        <a:solidFill>
                          <a:srgbClr val="FBFAF6"/>
                        </a:solidFill>
                      </a:tcPr>
                    </a:tc>
                    <a:tc>
                      <a:txBody>
                        <a:bodyPr/>
                        <a:lstStyle/>
                        <a:p>
                          <a:r>
                            <a:rPr lang="en-US" sz="1200" b="1" noProof="1">
                              <a:solidFill>
                                <a:srgbClr val="4A5A66"/>
                              </a:solidFill>
                              <a:latin typeface="+mn-lt"/>
                            </a:rPr>
                            <a:t>In-band %</a:t>
                          </a:r>
                        </a:p>
                      </a:txBody>
                      <a:tcPr marL="73152" marT="27432" marB="27432" anchor="ctr">
                        <a:solidFill>
                          <a:srgbClr val="FBFAF6"/>
                        </a:solidFill>
                      </a:tcPr>
                    </a:tc>
                    <a:extLst>
                      <a:ext uri="{0D108BD9-81ED-4DB2-BD59-A6C34878D82A}">
                        <a16:rowId xmlns:a16="http://schemas.microsoft.com/office/drawing/2014/main" val="10000"/>
                      </a:ext>
                    </a:extLst>
                  </a:tr>
                  <a:tr h="411480">
                    <a:tc>
                      <a:txBody>
                        <a:bodyPr/>
                        <a:lstStyle/>
                        <a:p>
                          <a:r>
                            <a:rPr lang="en-US" sz="1200" b="0" noProof="1">
                              <a:solidFill>
                                <a:srgbClr val="1D3557"/>
                              </a:solidFill>
                              <a:latin typeface="+mn-lt"/>
                            </a:rPr>
                            <a:t>MLP [64]</a:t>
                          </a:r>
                        </a:p>
                      </a:txBody>
                      <a:tcPr marL="73152" marT="27432" marB="27432" anchor="ctr">
                        <a:solidFill>
                          <a:srgbClr val="FBFAF6"/>
                        </a:solidFill>
                      </a:tcPr>
                    </a:tc>
                    <a:tc>
                      <a:txBody>
                        <a:bodyPr/>
                        <a:lstStyle/>
                        <a:p>
                          <a:pPr algn="l"/>
                          <a14:m>
                            <m:oMathPara xmlns:m="http://schemas.openxmlformats.org/officeDocument/2006/math">
                              <m:oMathParaPr>
                                <m:jc m:val="left"/>
                              </m:oMathParaPr>
                              <m:oMath xmlns:m="http://schemas.openxmlformats.org/officeDocument/2006/math">
                                <m:r>
                                  <a:rPr lang="it-IT" sz="1200" b="0" i="1" noProof="1" smtClean="0">
                                    <a:solidFill>
                                      <a:srgbClr val="495A66"/>
                                    </a:solidFill>
                                    <a:latin typeface="Cambria Math" panose="02040503050406030204" pitchFamily="18" charset="0"/>
                                  </a:rPr>
                                  <m:t>0.238</m:t>
                                </m:r>
                                <m:r>
                                  <a:rPr lang="it-IT" sz="1200" b="0" i="1" noProof="1" smtClean="0">
                                    <a:solidFill>
                                      <a:srgbClr val="495A66"/>
                                    </a:solidFill>
                                    <a:latin typeface="Cambria Math" panose="02040503050406030204" pitchFamily="18" charset="0"/>
                                    <a:ea typeface="Cambria Math" panose="02040503050406030204" pitchFamily="18" charset="0"/>
                                  </a:rPr>
                                  <m:t>±0.001</m:t>
                                </m:r>
                              </m:oMath>
                            </m:oMathPara>
                          </a14:m>
                          <a:endParaRPr lang="en-US" sz="1200" b="0" noProof="1">
                            <a:solidFill>
                              <a:srgbClr val="495A66"/>
                            </a:solidFill>
                            <a:latin typeface="+mn-lt"/>
                          </a:endParaRPr>
                        </a:p>
                      </a:txBody>
                      <a:tcPr marL="73152" marT="27432" marB="27432" anchor="ctr">
                        <a:solidFill>
                          <a:srgbClr val="FBFAF6"/>
                        </a:solidFill>
                      </a:tcPr>
                    </a:tc>
                    <a:tc>
                      <a:txBody>
                        <a:bodyPr/>
                        <a:lstStyle/>
                        <a:p>
                          <a:r>
                            <a:rPr lang="en-US" sz="1200" b="0" noProof="1">
                              <a:solidFill>
                                <a:srgbClr val="495A66"/>
                              </a:solidFill>
                              <a:latin typeface="+mn-lt"/>
                            </a:rPr>
                            <a:t>0.996</a:t>
                          </a:r>
                        </a:p>
                      </a:txBody>
                      <a:tcPr marL="73152" marT="27432" marB="27432" anchor="ctr">
                        <a:solidFill>
                          <a:srgbClr val="FBFAF6"/>
                        </a:solidFill>
                      </a:tcPr>
                    </a:tc>
                    <a:tc>
                      <a:txBody>
                        <a:bodyPr/>
                        <a:lstStyle/>
                        <a:p>
                          <a:r>
                            <a:rPr lang="en-GB" sz="1200" b="0" i="0" kern="1200" noProof="1">
                              <a:solidFill>
                                <a:srgbClr val="495A66"/>
                              </a:solidFill>
                              <a:effectLst/>
                              <a:latin typeface="+mn-lt"/>
                              <a:ea typeface="+mn-ea"/>
                              <a:cs typeface="+mn-cs"/>
                            </a:rPr>
                            <a:t>99.8%</a:t>
                          </a:r>
                          <a:endParaRPr lang="en-US" sz="1200" b="0" noProof="1">
                            <a:solidFill>
                              <a:srgbClr val="495A66"/>
                            </a:solidFill>
                            <a:latin typeface="+mn-lt"/>
                          </a:endParaRPr>
                        </a:p>
                      </a:txBody>
                      <a:tcPr marL="73152" marT="27432" marB="27432" anchor="ctr">
                        <a:solidFill>
                          <a:srgbClr val="FBFAF6"/>
                        </a:solidFill>
                      </a:tcPr>
                    </a:tc>
                    <a:extLst>
                      <a:ext uri="{0D108BD9-81ED-4DB2-BD59-A6C34878D82A}">
                        <a16:rowId xmlns:a16="http://schemas.microsoft.com/office/drawing/2014/main" val="10001"/>
                      </a:ext>
                    </a:extLst>
                  </a:tr>
                  <a:tr h="411480">
                    <a:tc>
                      <a:txBody>
                        <a:bodyPr/>
                        <a:lstStyle/>
                        <a:p>
                          <a:r>
                            <a:rPr lang="en-US" sz="1200" b="0" i="0" noProof="1">
                              <a:solidFill>
                                <a:srgbClr val="1D3557"/>
                              </a:solidFill>
                              <a:latin typeface="+mn-lt"/>
                            </a:rPr>
                            <a:t>MLP [256,256]</a:t>
                          </a:r>
                        </a:p>
                      </a:txBody>
                      <a:tcPr marL="73152" marT="27432" marB="27432" anchor="ctr">
                        <a:solidFill>
                          <a:srgbClr val="FBFAF6"/>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lang="it-IT" sz="1200" b="0" i="1" noProof="1" smtClean="0">
                                    <a:solidFill>
                                      <a:srgbClr val="495A66"/>
                                    </a:solidFill>
                                    <a:latin typeface="Cambria Math" panose="02040503050406030204" pitchFamily="18" charset="0"/>
                                  </a:rPr>
                                  <m:t>0.256</m:t>
                                </m:r>
                                <m:r>
                                  <a:rPr lang="it-IT" sz="1200" b="0" i="1" noProof="1" smtClean="0">
                                    <a:solidFill>
                                      <a:srgbClr val="495A66"/>
                                    </a:solidFill>
                                    <a:latin typeface="Cambria Math" panose="02040503050406030204" pitchFamily="18" charset="0"/>
                                    <a:ea typeface="Cambria Math" panose="02040503050406030204" pitchFamily="18" charset="0"/>
                                  </a:rPr>
                                  <m:t>±0.004</m:t>
                                </m:r>
                              </m:oMath>
                            </m:oMathPara>
                          </a14:m>
                          <a:endParaRPr lang="en-US" sz="1200" b="0" noProof="1">
                            <a:solidFill>
                              <a:srgbClr val="495A66"/>
                            </a:solidFill>
                            <a:latin typeface="+mn-lt"/>
                          </a:endParaRPr>
                        </a:p>
                        <a:p>
                          <a:pPr algn="l"/>
                          <a:endParaRPr lang="en-US" sz="1200" b="0" noProof="1">
                            <a:solidFill>
                              <a:srgbClr val="495A66"/>
                            </a:solidFill>
                            <a:latin typeface="+mn-lt"/>
                          </a:endParaRPr>
                        </a:p>
                      </a:txBody>
                      <a:tcPr marL="73152" marT="27432" marB="27432" anchor="ctr">
                        <a:solidFill>
                          <a:srgbClr val="FBFAF6"/>
                        </a:solidFill>
                      </a:tcPr>
                    </a:tc>
                    <a:tc>
                      <a:txBody>
                        <a:bodyPr/>
                        <a:lstStyle/>
                        <a:p>
                          <a:r>
                            <a:rPr lang="en-US" sz="1200" b="0" noProof="1">
                              <a:solidFill>
                                <a:srgbClr val="495A66"/>
                              </a:solidFill>
                              <a:latin typeface="+mn-lt"/>
                            </a:rPr>
                            <a:t>0.995</a:t>
                          </a:r>
                        </a:p>
                      </a:txBody>
                      <a:tcPr marL="73152" marT="27432" marB="27432" anchor="ctr">
                        <a:solidFill>
                          <a:srgbClr val="FBFAF6"/>
                        </a:solidFill>
                      </a:tcPr>
                    </a:tc>
                    <a:tc>
                      <a:txBody>
                        <a:bodyPr/>
                        <a:lstStyle/>
                        <a:p>
                          <a:r>
                            <a:rPr lang="en-GB" sz="1200" b="0" i="0" kern="1200" noProof="1">
                              <a:solidFill>
                                <a:srgbClr val="495A66"/>
                              </a:solidFill>
                              <a:effectLst/>
                              <a:latin typeface="+mn-lt"/>
                              <a:ea typeface="+mn-ea"/>
                              <a:cs typeface="+mn-cs"/>
                            </a:rPr>
                            <a:t>99.8%</a:t>
                          </a:r>
                          <a:endParaRPr lang="en-US" sz="1200" b="0" noProof="1">
                            <a:solidFill>
                              <a:srgbClr val="495A66"/>
                            </a:solidFill>
                            <a:latin typeface="+mn-lt"/>
                          </a:endParaRPr>
                        </a:p>
                      </a:txBody>
                      <a:tcPr marL="73152" marT="27432" marB="27432" anchor="ctr">
                        <a:solidFill>
                          <a:srgbClr val="FBFAF6"/>
                        </a:solidFill>
                      </a:tcPr>
                    </a:tc>
                    <a:extLst>
                      <a:ext uri="{0D108BD9-81ED-4DB2-BD59-A6C34878D82A}">
                        <a16:rowId xmlns:a16="http://schemas.microsoft.com/office/drawing/2014/main" val="10002"/>
                      </a:ext>
                    </a:extLst>
                  </a:tr>
                  <a:tr h="41148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0" i="0" noProof="1">
                              <a:solidFill>
                                <a:srgbClr val="1D3557"/>
                              </a:solidFill>
                              <a:latin typeface="+mn-lt"/>
                            </a:rPr>
                            <a:t>MLP [256,256, 256]</a:t>
                          </a:r>
                        </a:p>
                        <a:p>
                          <a:endParaRPr lang="en-US" sz="1200" b="0" i="0" noProof="1">
                            <a:solidFill>
                              <a:srgbClr val="1D3557"/>
                            </a:solidFill>
                            <a:latin typeface="+mn-lt"/>
                          </a:endParaRPr>
                        </a:p>
                      </a:txBody>
                      <a:tcPr marL="73152" marT="27432" marB="27432" anchor="ctr">
                        <a:solidFill>
                          <a:srgbClr val="FBFAF6"/>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lang="it-IT" sz="1200" b="0" i="1" noProof="1" smtClean="0">
                                    <a:solidFill>
                                      <a:srgbClr val="495A66"/>
                                    </a:solidFill>
                                    <a:latin typeface="Cambria Math" panose="02040503050406030204" pitchFamily="18" charset="0"/>
                                  </a:rPr>
                                  <m:t>0.247</m:t>
                                </m:r>
                                <m:r>
                                  <a:rPr lang="it-IT" sz="1200" b="0" i="1" noProof="1" smtClean="0">
                                    <a:solidFill>
                                      <a:srgbClr val="495A66"/>
                                    </a:solidFill>
                                    <a:latin typeface="Cambria Math" panose="02040503050406030204" pitchFamily="18" charset="0"/>
                                    <a:ea typeface="Cambria Math" panose="02040503050406030204" pitchFamily="18" charset="0"/>
                                  </a:rPr>
                                  <m:t>±0.001</m:t>
                                </m:r>
                              </m:oMath>
                            </m:oMathPara>
                          </a14:m>
                          <a:endParaRPr lang="en-US" sz="1200" b="0" noProof="1">
                            <a:solidFill>
                              <a:srgbClr val="495A66"/>
                            </a:solidFill>
                            <a:latin typeface="+mn-lt"/>
                          </a:endParaRPr>
                        </a:p>
                        <a:p>
                          <a:pPr algn="l"/>
                          <a:endParaRPr lang="en-US" sz="1200" b="0" noProof="1">
                            <a:solidFill>
                              <a:srgbClr val="495A66"/>
                            </a:solidFill>
                            <a:latin typeface="+mn-lt"/>
                          </a:endParaRPr>
                        </a:p>
                      </a:txBody>
                      <a:tcPr marL="73152" marT="27432" marB="27432" anchor="ctr">
                        <a:solidFill>
                          <a:srgbClr val="FBFAF6"/>
                        </a:solidFill>
                      </a:tcPr>
                    </a:tc>
                    <a:tc>
                      <a:txBody>
                        <a:bodyPr/>
                        <a:lstStyle/>
                        <a:p>
                          <a:r>
                            <a:rPr lang="en-US" sz="1200" b="0" noProof="1">
                              <a:solidFill>
                                <a:srgbClr val="495A66"/>
                              </a:solidFill>
                              <a:latin typeface="+mn-lt"/>
                            </a:rPr>
                            <a:t>0.996</a:t>
                          </a:r>
                        </a:p>
                      </a:txBody>
                      <a:tcPr marL="73152" marT="27432" marB="27432" anchor="ctr">
                        <a:solidFill>
                          <a:srgbClr val="FBFAF6"/>
                        </a:solidFill>
                      </a:tcPr>
                    </a:tc>
                    <a:tc>
                      <a:txBody>
                        <a:bodyPr/>
                        <a:lstStyle/>
                        <a:p>
                          <a:r>
                            <a:rPr lang="en-US" sz="1200" b="0" noProof="1">
                              <a:solidFill>
                                <a:srgbClr val="495A66"/>
                              </a:solidFill>
                              <a:latin typeface="+mn-lt"/>
                            </a:rPr>
                            <a:t>99.8%</a:t>
                          </a:r>
                        </a:p>
                      </a:txBody>
                      <a:tcPr marL="73152" marT="27432" marB="27432" anchor="ctr">
                        <a:solidFill>
                          <a:srgbClr val="FBFAF6"/>
                        </a:solidFill>
                      </a:tcPr>
                    </a:tc>
                    <a:extLst>
                      <a:ext uri="{0D108BD9-81ED-4DB2-BD59-A6C34878D82A}">
                        <a16:rowId xmlns:a16="http://schemas.microsoft.com/office/drawing/2014/main" val="3088058039"/>
                      </a:ext>
                    </a:extLst>
                  </a:tr>
                </a:tbl>
              </a:graphicData>
            </a:graphic>
          </p:graphicFrame>
        </mc:Choice>
        <mc:Fallback xmlns="">
          <p:graphicFrame>
            <p:nvGraphicFramePr>
              <p:cNvPr id="15" name="Table 14">
                <a:extLst>
                  <a:ext uri="{FF2B5EF4-FFF2-40B4-BE49-F238E27FC236}">
                    <a16:creationId xmlns:a16="http://schemas.microsoft.com/office/drawing/2014/main" id="{CDAC3E55-D1F1-3C3C-4C69-5F364CDEEEB9}"/>
                  </a:ext>
                </a:extLst>
              </p:cNvPr>
              <p:cNvGraphicFramePr>
                <a:graphicFrameLocks noGrp="1"/>
              </p:cNvGraphicFramePr>
              <p:nvPr>
                <p:extLst>
                  <p:ext uri="{D42A27DB-BD31-4B8C-83A1-F6EECF244321}">
                    <p14:modId xmlns:p14="http://schemas.microsoft.com/office/powerpoint/2010/main" val="2485419590"/>
                  </p:ext>
                </p:extLst>
              </p:nvPr>
            </p:nvGraphicFramePr>
            <p:xfrm>
              <a:off x="2064000" y="2406435"/>
              <a:ext cx="8064000" cy="1684728"/>
            </p:xfrm>
            <a:graphic>
              <a:graphicData uri="http://schemas.openxmlformats.org/drawingml/2006/table">
                <a:tbl>
                  <a:tblPr>
                    <a:tableStyleId>{5C22544A-7EE6-4342-B048-85BDC9FD1C3A}</a:tableStyleId>
                  </a:tblPr>
                  <a:tblGrid>
                    <a:gridCol w="2016000">
                      <a:extLst>
                        <a:ext uri="{9D8B030D-6E8A-4147-A177-3AD203B41FA5}">
                          <a16:colId xmlns:a16="http://schemas.microsoft.com/office/drawing/2014/main" val="20000"/>
                        </a:ext>
                      </a:extLst>
                    </a:gridCol>
                    <a:gridCol w="2016000">
                      <a:extLst>
                        <a:ext uri="{9D8B030D-6E8A-4147-A177-3AD203B41FA5}">
                          <a16:colId xmlns:a16="http://schemas.microsoft.com/office/drawing/2014/main" val="3123090793"/>
                        </a:ext>
                      </a:extLst>
                    </a:gridCol>
                    <a:gridCol w="2016000">
                      <a:extLst>
                        <a:ext uri="{9D8B030D-6E8A-4147-A177-3AD203B41FA5}">
                          <a16:colId xmlns:a16="http://schemas.microsoft.com/office/drawing/2014/main" val="1251604277"/>
                        </a:ext>
                      </a:extLst>
                    </a:gridCol>
                    <a:gridCol w="2016000">
                      <a:extLst>
                        <a:ext uri="{9D8B030D-6E8A-4147-A177-3AD203B41FA5}">
                          <a16:colId xmlns:a16="http://schemas.microsoft.com/office/drawing/2014/main" val="2435101031"/>
                        </a:ext>
                      </a:extLst>
                    </a:gridCol>
                  </a:tblGrid>
                  <a:tr h="432000">
                    <a:tc>
                      <a:txBody>
                        <a:bodyPr/>
                        <a:lstStyle/>
                        <a:p>
                          <a:r>
                            <a:rPr lang="en-US" sz="1200" b="1" noProof="1">
                              <a:solidFill>
                                <a:srgbClr val="1D3557"/>
                              </a:solidFill>
                              <a:latin typeface="+mn-lt"/>
                            </a:rPr>
                            <a:t>Architecture</a:t>
                          </a:r>
                        </a:p>
                      </a:txBody>
                      <a:tcPr marL="73152" marT="27432" marB="27432" anchor="ctr">
                        <a:solidFill>
                          <a:srgbClr val="FBFAF6"/>
                        </a:solidFill>
                      </a:tcPr>
                    </a:tc>
                    <a:tc>
                      <a:txBody>
                        <a:bodyPr/>
                        <a:lstStyle/>
                        <a:p>
                          <a:r>
                            <a:rPr lang="en-US" sz="1200" b="1" noProof="1">
                              <a:solidFill>
                                <a:srgbClr val="4A5A66"/>
                              </a:solidFill>
                              <a:latin typeface="+mn-lt"/>
                            </a:rPr>
                            <a:t>RMSE</a:t>
                          </a:r>
                        </a:p>
                      </a:txBody>
                      <a:tcPr marL="73152" marT="27432" marB="27432" anchor="ctr">
                        <a:solidFill>
                          <a:srgbClr val="FBFAF6"/>
                        </a:solidFill>
                      </a:tcPr>
                    </a:tc>
                    <a:tc>
                      <a:txBody>
                        <a:bodyPr/>
                        <a:lstStyle/>
                        <a:p>
                          <a:r>
                            <a:rPr lang="en-US" sz="1200" b="1" noProof="1">
                              <a:solidFill>
                                <a:srgbClr val="4A5A66"/>
                              </a:solidFill>
                              <a:latin typeface="+mn-lt"/>
                            </a:rPr>
                            <a:t>R2</a:t>
                          </a:r>
                        </a:p>
                      </a:txBody>
                      <a:tcPr marL="73152" marT="27432" marB="27432" anchor="ctr">
                        <a:solidFill>
                          <a:srgbClr val="FBFAF6"/>
                        </a:solidFill>
                      </a:tcPr>
                    </a:tc>
                    <a:tc>
                      <a:txBody>
                        <a:bodyPr/>
                        <a:lstStyle/>
                        <a:p>
                          <a:r>
                            <a:rPr lang="en-US" sz="1200" b="1" noProof="1">
                              <a:solidFill>
                                <a:srgbClr val="4A5A66"/>
                              </a:solidFill>
                              <a:latin typeface="+mn-lt"/>
                            </a:rPr>
                            <a:t>In-band %</a:t>
                          </a:r>
                        </a:p>
                      </a:txBody>
                      <a:tcPr marL="73152" marT="27432" marB="27432" anchor="ctr">
                        <a:solidFill>
                          <a:srgbClr val="FBFAF6"/>
                        </a:solidFill>
                      </a:tcPr>
                    </a:tc>
                    <a:extLst>
                      <a:ext uri="{0D108BD9-81ED-4DB2-BD59-A6C34878D82A}">
                        <a16:rowId xmlns:a16="http://schemas.microsoft.com/office/drawing/2014/main" val="10000"/>
                      </a:ext>
                    </a:extLst>
                  </a:tr>
                  <a:tr h="411480">
                    <a:tc>
                      <a:txBody>
                        <a:bodyPr/>
                        <a:lstStyle/>
                        <a:p>
                          <a:r>
                            <a:rPr lang="en-US" sz="1200" b="0" noProof="1">
                              <a:solidFill>
                                <a:srgbClr val="1D3557"/>
                              </a:solidFill>
                              <a:latin typeface="+mn-lt"/>
                            </a:rPr>
                            <a:t>MLP [64]</a:t>
                          </a:r>
                        </a:p>
                      </a:txBody>
                      <a:tcPr marL="73152" marT="27432" marB="27432" anchor="ctr">
                        <a:solidFill>
                          <a:srgbClr val="FBFAF6"/>
                        </a:solidFill>
                      </a:tcPr>
                    </a:tc>
                    <a:tc>
                      <a:txBody>
                        <a:bodyPr/>
                        <a:lstStyle/>
                        <a:p>
                          <a:endParaRPr lang="en-IT"/>
                        </a:p>
                      </a:txBody>
                      <a:tcPr marL="73152" marT="27432" marB="27432" anchor="ctr">
                        <a:blipFill>
                          <a:blip r:embed="rId3"/>
                          <a:stretch>
                            <a:fillRect l="-100629" t="-106061" r="-200629" b="-206061"/>
                          </a:stretch>
                        </a:blipFill>
                      </a:tcPr>
                    </a:tc>
                    <a:tc>
                      <a:txBody>
                        <a:bodyPr/>
                        <a:lstStyle/>
                        <a:p>
                          <a:r>
                            <a:rPr lang="en-US" sz="1200" b="0" noProof="1">
                              <a:solidFill>
                                <a:srgbClr val="495A66"/>
                              </a:solidFill>
                              <a:latin typeface="+mn-lt"/>
                            </a:rPr>
                            <a:t>0.996</a:t>
                          </a:r>
                        </a:p>
                      </a:txBody>
                      <a:tcPr marL="73152" marT="27432" marB="27432" anchor="ctr">
                        <a:solidFill>
                          <a:srgbClr val="FBFAF6"/>
                        </a:solidFill>
                      </a:tcPr>
                    </a:tc>
                    <a:tc>
                      <a:txBody>
                        <a:bodyPr/>
                        <a:lstStyle/>
                        <a:p>
                          <a:r>
                            <a:rPr lang="en-GB" sz="1200" b="0" i="0" kern="1200" noProof="1">
                              <a:solidFill>
                                <a:srgbClr val="495A66"/>
                              </a:solidFill>
                              <a:effectLst/>
                              <a:latin typeface="+mn-lt"/>
                              <a:ea typeface="+mn-ea"/>
                              <a:cs typeface="+mn-cs"/>
                            </a:rPr>
                            <a:t>99.8%</a:t>
                          </a:r>
                          <a:endParaRPr lang="en-US" sz="1200" b="0" noProof="1">
                            <a:solidFill>
                              <a:srgbClr val="495A66"/>
                            </a:solidFill>
                            <a:latin typeface="+mn-lt"/>
                          </a:endParaRPr>
                        </a:p>
                      </a:txBody>
                      <a:tcPr marL="73152" marT="27432" marB="27432" anchor="ctr">
                        <a:solidFill>
                          <a:srgbClr val="FBFAF6"/>
                        </a:solidFill>
                      </a:tcPr>
                    </a:tc>
                    <a:extLst>
                      <a:ext uri="{0D108BD9-81ED-4DB2-BD59-A6C34878D82A}">
                        <a16:rowId xmlns:a16="http://schemas.microsoft.com/office/drawing/2014/main" val="10001"/>
                      </a:ext>
                    </a:extLst>
                  </a:tr>
                  <a:tr h="420624">
                    <a:tc>
                      <a:txBody>
                        <a:bodyPr/>
                        <a:lstStyle/>
                        <a:p>
                          <a:r>
                            <a:rPr lang="en-US" sz="1200" b="0" i="0" noProof="1">
                              <a:solidFill>
                                <a:srgbClr val="1D3557"/>
                              </a:solidFill>
                              <a:latin typeface="+mn-lt"/>
                            </a:rPr>
                            <a:t>MLP [256,256]</a:t>
                          </a:r>
                        </a:p>
                      </a:txBody>
                      <a:tcPr marL="73152" marT="27432" marB="27432" anchor="ctr">
                        <a:solidFill>
                          <a:srgbClr val="FBFAF6"/>
                        </a:solidFill>
                      </a:tcPr>
                    </a:tc>
                    <a:tc>
                      <a:txBody>
                        <a:bodyPr/>
                        <a:lstStyle/>
                        <a:p>
                          <a:endParaRPr lang="en-IT"/>
                        </a:p>
                      </a:txBody>
                      <a:tcPr marL="73152" marT="27432" marB="27432" anchor="ctr">
                        <a:blipFill>
                          <a:blip r:embed="rId3"/>
                          <a:stretch>
                            <a:fillRect l="-100629" t="-200000" r="-200629" b="-100000"/>
                          </a:stretch>
                        </a:blipFill>
                      </a:tcPr>
                    </a:tc>
                    <a:tc>
                      <a:txBody>
                        <a:bodyPr/>
                        <a:lstStyle/>
                        <a:p>
                          <a:r>
                            <a:rPr lang="en-US" sz="1200" b="0" noProof="1">
                              <a:solidFill>
                                <a:srgbClr val="495A66"/>
                              </a:solidFill>
                              <a:latin typeface="+mn-lt"/>
                            </a:rPr>
                            <a:t>0.995</a:t>
                          </a:r>
                        </a:p>
                      </a:txBody>
                      <a:tcPr marL="73152" marT="27432" marB="27432" anchor="ctr">
                        <a:solidFill>
                          <a:srgbClr val="FBFAF6"/>
                        </a:solidFill>
                      </a:tcPr>
                    </a:tc>
                    <a:tc>
                      <a:txBody>
                        <a:bodyPr/>
                        <a:lstStyle/>
                        <a:p>
                          <a:r>
                            <a:rPr lang="en-GB" sz="1200" b="0" i="0" kern="1200" noProof="1">
                              <a:solidFill>
                                <a:srgbClr val="495A66"/>
                              </a:solidFill>
                              <a:effectLst/>
                              <a:latin typeface="+mn-lt"/>
                              <a:ea typeface="+mn-ea"/>
                              <a:cs typeface="+mn-cs"/>
                            </a:rPr>
                            <a:t>99.8%</a:t>
                          </a:r>
                          <a:endParaRPr lang="en-US" sz="1200" b="0" noProof="1">
                            <a:solidFill>
                              <a:srgbClr val="495A66"/>
                            </a:solidFill>
                            <a:latin typeface="+mn-lt"/>
                          </a:endParaRPr>
                        </a:p>
                      </a:txBody>
                      <a:tcPr marL="73152" marT="27432" marB="27432" anchor="ctr">
                        <a:solidFill>
                          <a:srgbClr val="FBFAF6"/>
                        </a:solidFill>
                      </a:tcPr>
                    </a:tc>
                    <a:extLst>
                      <a:ext uri="{0D108BD9-81ED-4DB2-BD59-A6C34878D82A}">
                        <a16:rowId xmlns:a16="http://schemas.microsoft.com/office/drawing/2014/main" val="10002"/>
                      </a:ext>
                    </a:extLst>
                  </a:tr>
                  <a:tr h="420624">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0" i="0" noProof="1">
                              <a:solidFill>
                                <a:srgbClr val="1D3557"/>
                              </a:solidFill>
                              <a:latin typeface="+mn-lt"/>
                            </a:rPr>
                            <a:t>MLP [256,256, 256]</a:t>
                          </a:r>
                        </a:p>
                        <a:p>
                          <a:endParaRPr lang="en-US" sz="1200" b="0" i="0" noProof="1">
                            <a:solidFill>
                              <a:srgbClr val="1D3557"/>
                            </a:solidFill>
                            <a:latin typeface="+mn-lt"/>
                          </a:endParaRPr>
                        </a:p>
                      </a:txBody>
                      <a:tcPr marL="73152" marT="27432" marB="27432" anchor="ctr">
                        <a:solidFill>
                          <a:srgbClr val="FBFAF6"/>
                        </a:solidFill>
                      </a:tcPr>
                    </a:tc>
                    <a:tc>
                      <a:txBody>
                        <a:bodyPr/>
                        <a:lstStyle/>
                        <a:p>
                          <a:endParaRPr lang="en-IT"/>
                        </a:p>
                      </a:txBody>
                      <a:tcPr marL="73152" marT="27432" marB="27432" anchor="ctr">
                        <a:blipFill>
                          <a:blip r:embed="rId3"/>
                          <a:stretch>
                            <a:fillRect l="-100629" t="-309091" r="-200629" b="-3030"/>
                          </a:stretch>
                        </a:blipFill>
                      </a:tcPr>
                    </a:tc>
                    <a:tc>
                      <a:txBody>
                        <a:bodyPr/>
                        <a:lstStyle/>
                        <a:p>
                          <a:r>
                            <a:rPr lang="en-US" sz="1200" b="0" noProof="1">
                              <a:solidFill>
                                <a:srgbClr val="495A66"/>
                              </a:solidFill>
                              <a:latin typeface="+mn-lt"/>
                            </a:rPr>
                            <a:t>0.996</a:t>
                          </a:r>
                        </a:p>
                      </a:txBody>
                      <a:tcPr marL="73152" marT="27432" marB="27432" anchor="ctr">
                        <a:solidFill>
                          <a:srgbClr val="FBFAF6"/>
                        </a:solidFill>
                      </a:tcPr>
                    </a:tc>
                    <a:tc>
                      <a:txBody>
                        <a:bodyPr/>
                        <a:lstStyle/>
                        <a:p>
                          <a:r>
                            <a:rPr lang="en-US" sz="1200" b="0" noProof="1">
                              <a:solidFill>
                                <a:srgbClr val="495A66"/>
                              </a:solidFill>
                              <a:latin typeface="+mn-lt"/>
                            </a:rPr>
                            <a:t>99.8%</a:t>
                          </a:r>
                        </a:p>
                      </a:txBody>
                      <a:tcPr marL="73152" marT="27432" marB="27432" anchor="ctr">
                        <a:solidFill>
                          <a:srgbClr val="FBFAF6"/>
                        </a:solidFill>
                      </a:tcPr>
                    </a:tc>
                    <a:extLst>
                      <a:ext uri="{0D108BD9-81ED-4DB2-BD59-A6C34878D82A}">
                        <a16:rowId xmlns:a16="http://schemas.microsoft.com/office/drawing/2014/main" val="3088058039"/>
                      </a:ext>
                    </a:extLst>
                  </a:tr>
                </a:tbl>
              </a:graphicData>
            </a:graphic>
          </p:graphicFrame>
        </mc:Fallback>
      </mc:AlternateContent>
      <p:sp>
        <p:nvSpPr>
          <p:cNvPr id="7" name="Rounded Rectangle 6">
            <a:extLst>
              <a:ext uri="{FF2B5EF4-FFF2-40B4-BE49-F238E27FC236}">
                <a16:creationId xmlns:a16="http://schemas.microsoft.com/office/drawing/2014/main" id="{01C2A33C-5BE3-1B15-4311-EB7BDB700032}"/>
              </a:ext>
            </a:extLst>
          </p:cNvPr>
          <p:cNvSpPr/>
          <p:nvPr/>
        </p:nvSpPr>
        <p:spPr>
          <a:xfrm>
            <a:off x="868679" y="4288585"/>
            <a:ext cx="10875300" cy="868680"/>
          </a:xfrm>
          <a:prstGeom prst="roundRect">
            <a:avLst>
              <a:gd name="adj" fmla="val 6000"/>
            </a:avLst>
          </a:prstGeom>
          <a:solidFill>
            <a:srgbClr val="FAECE7"/>
          </a:solidFill>
          <a:ln w="12700">
            <a:solidFill>
              <a:srgbClr val="FAEC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8" name="Rectangle 7">
            <a:extLst>
              <a:ext uri="{FF2B5EF4-FFF2-40B4-BE49-F238E27FC236}">
                <a16:creationId xmlns:a16="http://schemas.microsoft.com/office/drawing/2014/main" id="{9439AFD0-CD79-0779-A297-017C52594942}"/>
              </a:ext>
            </a:extLst>
          </p:cNvPr>
          <p:cNvSpPr/>
          <p:nvPr/>
        </p:nvSpPr>
        <p:spPr>
          <a:xfrm>
            <a:off x="868679" y="4288585"/>
            <a:ext cx="38100" cy="868680"/>
          </a:xfrm>
          <a:prstGeom prst="rect">
            <a:avLst/>
          </a:prstGeom>
          <a:solidFill>
            <a:srgbClr val="E07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9" name="TextBox 8">
            <a:extLst>
              <a:ext uri="{FF2B5EF4-FFF2-40B4-BE49-F238E27FC236}">
                <a16:creationId xmlns:a16="http://schemas.microsoft.com/office/drawing/2014/main" id="{7A27D5D5-B146-D3BB-8FF6-707BBA21CD40}"/>
              </a:ext>
            </a:extLst>
          </p:cNvPr>
          <p:cNvSpPr txBox="1"/>
          <p:nvPr/>
        </p:nvSpPr>
        <p:spPr>
          <a:xfrm>
            <a:off x="1069847" y="4342050"/>
            <a:ext cx="10222992" cy="761747"/>
          </a:xfrm>
          <a:prstGeom prst="rect">
            <a:avLst/>
          </a:prstGeom>
          <a:noFill/>
        </p:spPr>
        <p:txBody>
          <a:bodyPr wrap="square" lIns="0" tIns="0" rIns="0" bIns="0" anchor="ctr">
            <a:spAutoFit/>
          </a:bodyPr>
          <a:lstStyle/>
          <a:p>
            <a:pPr>
              <a:lnSpc>
                <a:spcPct val="112000"/>
              </a:lnSpc>
            </a:pPr>
            <a:r>
              <a:rPr lang="en-GB" sz="1500" b="1" dirty="0">
                <a:latin typeface="Georgia" panose="02040502050405020303" pitchFamily="18" charset="0"/>
              </a:rPr>
              <a:t>Depth does not help. </a:t>
            </a:r>
            <a:r>
              <a:rPr lang="en-GB" sz="1500" dirty="0">
                <a:solidFill>
                  <a:srgbClr val="495A66"/>
                </a:solidFill>
              </a:rPr>
              <a:t>The smallest network achieves the lowest RMSE. Adding layers and parameters makes performance slightly worse, the residual is a smooth, low-dimensional function that a shallow network approximates just as well, with less risk of overfitting the training distribution.</a:t>
            </a:r>
            <a:endParaRPr lang="en-US" sz="1500" b="0" noProof="1">
              <a:solidFill>
                <a:srgbClr val="495A66"/>
              </a:solidFill>
              <a:latin typeface="Calibri"/>
            </a:endParaRPr>
          </a:p>
        </p:txBody>
      </p:sp>
      <p:sp>
        <p:nvSpPr>
          <p:cNvPr id="10" name="Rounded Rectangle 9">
            <a:extLst>
              <a:ext uri="{FF2B5EF4-FFF2-40B4-BE49-F238E27FC236}">
                <a16:creationId xmlns:a16="http://schemas.microsoft.com/office/drawing/2014/main" id="{32FA7291-40B3-6D0D-8823-84517B21666A}"/>
              </a:ext>
            </a:extLst>
          </p:cNvPr>
          <p:cNvSpPr/>
          <p:nvPr/>
        </p:nvSpPr>
        <p:spPr>
          <a:xfrm>
            <a:off x="868679" y="5375208"/>
            <a:ext cx="10875301" cy="868680"/>
          </a:xfrm>
          <a:prstGeom prst="roundRect">
            <a:avLst>
              <a:gd name="adj" fmla="val 6000"/>
            </a:avLst>
          </a:prstGeom>
          <a:solidFill>
            <a:srgbClr val="E7F2F0"/>
          </a:solidFill>
          <a:ln w="12700">
            <a:solidFill>
              <a:srgbClr val="E7F2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11" name="Rectangle 10">
            <a:extLst>
              <a:ext uri="{FF2B5EF4-FFF2-40B4-BE49-F238E27FC236}">
                <a16:creationId xmlns:a16="http://schemas.microsoft.com/office/drawing/2014/main" id="{31F5680E-0826-6B02-C890-52B8D47CA384}"/>
              </a:ext>
            </a:extLst>
          </p:cNvPr>
          <p:cNvSpPr/>
          <p:nvPr/>
        </p:nvSpPr>
        <p:spPr>
          <a:xfrm>
            <a:off x="868680" y="5375208"/>
            <a:ext cx="38100" cy="868680"/>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12" name="TextBox 11">
            <a:extLst>
              <a:ext uri="{FF2B5EF4-FFF2-40B4-BE49-F238E27FC236}">
                <a16:creationId xmlns:a16="http://schemas.microsoft.com/office/drawing/2014/main" id="{D7DAAD7A-1744-AF1C-8A19-15595B5EDA0B}"/>
              </a:ext>
            </a:extLst>
          </p:cNvPr>
          <p:cNvSpPr txBox="1"/>
          <p:nvPr/>
        </p:nvSpPr>
        <p:spPr>
          <a:xfrm>
            <a:off x="1069848" y="5428672"/>
            <a:ext cx="10222992" cy="761747"/>
          </a:xfrm>
          <a:prstGeom prst="rect">
            <a:avLst/>
          </a:prstGeom>
          <a:noFill/>
        </p:spPr>
        <p:txBody>
          <a:bodyPr wrap="square" lIns="0" tIns="0" rIns="0" bIns="0" anchor="ctr">
            <a:spAutoFit/>
          </a:bodyPr>
          <a:lstStyle/>
          <a:p>
            <a:pPr>
              <a:lnSpc>
                <a:spcPct val="112000"/>
              </a:lnSpc>
            </a:pPr>
            <a:r>
              <a:rPr lang="en-GB" sz="1500" b="1" dirty="0">
                <a:latin typeface="Georgia" panose="02040502050405020303" pitchFamily="18" charset="0"/>
              </a:rPr>
              <a:t>The result is robust, not lucky. </a:t>
            </a:r>
            <a:r>
              <a:rPr lang="en-GB" sz="1500" dirty="0">
                <a:solidFill>
                  <a:srgbClr val="495A66"/>
                </a:solidFill>
              </a:rPr>
              <a:t>The per-seed standard deviation for [64] is ±0.001, negligible. The [256,256] network shows higher variance (±0.004), meaning deeper models are more sensitive to initialisation. The multi-seed experiment confirms that the improvement over pure PI is a structural property of the residual architecture, not an artefact of a fortunate random seed.</a:t>
            </a:r>
            <a:endParaRPr lang="en-US" sz="1500" b="0" noProof="1">
              <a:solidFill>
                <a:srgbClr val="495A66"/>
              </a:solidFill>
              <a:latin typeface="Calibri"/>
            </a:endParaRPr>
          </a:p>
        </p:txBody>
      </p:sp>
    </p:spTree>
    <p:extLst>
      <p:ext uri="{BB962C8B-B14F-4D97-AF65-F5344CB8AC3E}">
        <p14:creationId xmlns:p14="http://schemas.microsoft.com/office/powerpoint/2010/main" val="117905246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BFAF6"/>
        </a:solidFill>
        <a:effectLst/>
      </p:bgPr>
    </p:bg>
    <p:spTree>
      <p:nvGrpSpPr>
        <p:cNvPr id="1" name="">
          <a:extLst>
            <a:ext uri="{FF2B5EF4-FFF2-40B4-BE49-F238E27FC236}">
              <a16:creationId xmlns:a16="http://schemas.microsoft.com/office/drawing/2014/main" id="{EFB242D5-9A75-6E58-55C2-F07F7D51EFFA}"/>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03631F00-246A-219F-9791-832746D2F748}"/>
              </a:ext>
            </a:extLst>
          </p:cNvPr>
          <p:cNvSpPr/>
          <p:nvPr/>
        </p:nvSpPr>
        <p:spPr>
          <a:xfrm>
            <a:off x="566928" y="502920"/>
            <a:ext cx="17780" cy="5852160"/>
          </a:xfrm>
          <a:prstGeom prst="rect">
            <a:avLst/>
          </a:prstGeom>
          <a:solidFill>
            <a:srgbClr val="D9D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3" name="Rectangle 2">
            <a:extLst>
              <a:ext uri="{FF2B5EF4-FFF2-40B4-BE49-F238E27FC236}">
                <a16:creationId xmlns:a16="http://schemas.microsoft.com/office/drawing/2014/main" id="{B065122D-4992-AD31-A49E-82766351C956}"/>
              </a:ext>
            </a:extLst>
          </p:cNvPr>
          <p:cNvSpPr/>
          <p:nvPr/>
        </p:nvSpPr>
        <p:spPr>
          <a:xfrm>
            <a:off x="566928" y="502920"/>
            <a:ext cx="30480" cy="56692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4" name="TextBox 3">
            <a:extLst>
              <a:ext uri="{FF2B5EF4-FFF2-40B4-BE49-F238E27FC236}">
                <a16:creationId xmlns:a16="http://schemas.microsoft.com/office/drawing/2014/main" id="{2AD068D5-2971-BC26-715E-4381B9A63513}"/>
              </a:ext>
            </a:extLst>
          </p:cNvPr>
          <p:cNvSpPr txBox="1"/>
          <p:nvPr/>
        </p:nvSpPr>
        <p:spPr>
          <a:xfrm>
            <a:off x="868680" y="548640"/>
            <a:ext cx="10607040" cy="169277"/>
          </a:xfrm>
          <a:prstGeom prst="rect">
            <a:avLst/>
          </a:prstGeom>
          <a:noFill/>
        </p:spPr>
        <p:txBody>
          <a:bodyPr wrap="square" lIns="0" tIns="0" rIns="0" bIns="0" anchor="t">
            <a:spAutoFit/>
          </a:bodyPr>
          <a:lstStyle/>
          <a:p>
            <a:pPr>
              <a:lnSpc>
                <a:spcPct val="100000"/>
              </a:lnSpc>
            </a:pPr>
            <a:r>
              <a:rPr lang="en-US" sz="1100" b="1" noProof="1">
                <a:solidFill>
                  <a:srgbClr val="E07A5F"/>
                </a:solidFill>
                <a:latin typeface="Consolas"/>
              </a:rPr>
              <a:t>B9  </a:t>
            </a:r>
            <a:r>
              <a:rPr lang="en-US" sz="1100" noProof="1">
                <a:solidFill>
                  <a:srgbClr val="2A9D8F"/>
                </a:solidFill>
                <a:latin typeface="Consolas"/>
              </a:rPr>
              <a:t>RESIDUAL REINFORCEMENT LEARNING - Validation</a:t>
            </a:r>
          </a:p>
        </p:txBody>
      </p:sp>
      <p:sp>
        <p:nvSpPr>
          <p:cNvPr id="6" name="TextBox 5">
            <a:extLst>
              <a:ext uri="{FF2B5EF4-FFF2-40B4-BE49-F238E27FC236}">
                <a16:creationId xmlns:a16="http://schemas.microsoft.com/office/drawing/2014/main" id="{F9B8C954-E679-282C-BC1D-9D247DC32D21}"/>
              </a:ext>
            </a:extLst>
          </p:cNvPr>
          <p:cNvSpPr txBox="1"/>
          <p:nvPr/>
        </p:nvSpPr>
        <p:spPr>
          <a:xfrm>
            <a:off x="868680" y="960120"/>
            <a:ext cx="10607040" cy="412805"/>
          </a:xfrm>
          <a:prstGeom prst="rect">
            <a:avLst/>
          </a:prstGeom>
          <a:noFill/>
        </p:spPr>
        <p:txBody>
          <a:bodyPr wrap="square" lIns="0" tIns="0" rIns="0" bIns="0" anchor="t">
            <a:spAutoFit/>
          </a:bodyPr>
          <a:lstStyle/>
          <a:p>
            <a:pPr>
              <a:lnSpc>
                <a:spcPct val="102000"/>
              </a:lnSpc>
              <a:spcAft>
                <a:spcPts val="600"/>
              </a:spcAft>
            </a:pPr>
            <a:r>
              <a:rPr lang="en-US" sz="2800" b="1" noProof="1">
                <a:solidFill>
                  <a:srgbClr val="1D3557"/>
                </a:solidFill>
                <a:latin typeface="Georgia"/>
              </a:rPr>
              <a:t>Closed-Loop Performance: Benchmark</a:t>
            </a:r>
          </a:p>
        </p:txBody>
      </p:sp>
      <p:sp>
        <p:nvSpPr>
          <p:cNvPr id="5" name="TextBox 4">
            <a:extLst>
              <a:ext uri="{FF2B5EF4-FFF2-40B4-BE49-F238E27FC236}">
                <a16:creationId xmlns:a16="http://schemas.microsoft.com/office/drawing/2014/main" id="{E2C5A523-85A1-B864-50B4-C6ED3CACCFE9}"/>
              </a:ext>
            </a:extLst>
          </p:cNvPr>
          <p:cNvSpPr txBox="1"/>
          <p:nvPr/>
        </p:nvSpPr>
        <p:spPr>
          <a:xfrm>
            <a:off x="756001" y="1372925"/>
            <a:ext cx="10832397" cy="830997"/>
          </a:xfrm>
          <a:prstGeom prst="rect">
            <a:avLst/>
          </a:prstGeom>
          <a:noFill/>
        </p:spPr>
        <p:txBody>
          <a:bodyPr wrap="square" rtlCol="0">
            <a:spAutoFit/>
          </a:bodyPr>
          <a:lstStyle/>
          <a:p>
            <a:r>
              <a:rPr lang="en-GB" sz="1600" dirty="0">
                <a:solidFill>
                  <a:srgbClr val="495A66"/>
                </a:solidFill>
              </a:rPr>
              <a:t>All three controllers run on the same simulated plant, same references, same noise model. Performance is measured on the held-out test set, 7 references never seen during training, to avoid any information leak between the RL training and the evaluation.</a:t>
            </a:r>
            <a:endParaRPr lang="en-US" sz="1600" dirty="0">
              <a:solidFill>
                <a:srgbClr val="495A66"/>
              </a:solidFill>
            </a:endParaRPr>
          </a:p>
        </p:txBody>
      </p:sp>
      <p:graphicFrame>
        <p:nvGraphicFramePr>
          <p:cNvPr id="15" name="Table 14">
            <a:extLst>
              <a:ext uri="{FF2B5EF4-FFF2-40B4-BE49-F238E27FC236}">
                <a16:creationId xmlns:a16="http://schemas.microsoft.com/office/drawing/2014/main" id="{D2022E52-B73A-EAB9-7422-9621BA187BAB}"/>
              </a:ext>
            </a:extLst>
          </p:cNvPr>
          <p:cNvGraphicFramePr>
            <a:graphicFrameLocks noGrp="1"/>
          </p:cNvGraphicFramePr>
          <p:nvPr>
            <p:extLst>
              <p:ext uri="{D42A27DB-BD31-4B8C-83A1-F6EECF244321}">
                <p14:modId xmlns:p14="http://schemas.microsoft.com/office/powerpoint/2010/main" val="3973097758"/>
              </p:ext>
            </p:extLst>
          </p:nvPr>
        </p:nvGraphicFramePr>
        <p:xfrm>
          <a:off x="2064000" y="2421865"/>
          <a:ext cx="8064000" cy="1728000"/>
        </p:xfrm>
        <a:graphic>
          <a:graphicData uri="http://schemas.openxmlformats.org/drawingml/2006/table">
            <a:tbl>
              <a:tblPr>
                <a:tableStyleId>{5C22544A-7EE6-4342-B048-85BDC9FD1C3A}</a:tableStyleId>
              </a:tblPr>
              <a:tblGrid>
                <a:gridCol w="1612800">
                  <a:extLst>
                    <a:ext uri="{9D8B030D-6E8A-4147-A177-3AD203B41FA5}">
                      <a16:colId xmlns:a16="http://schemas.microsoft.com/office/drawing/2014/main" val="20000"/>
                    </a:ext>
                  </a:extLst>
                </a:gridCol>
                <a:gridCol w="1612800">
                  <a:extLst>
                    <a:ext uri="{9D8B030D-6E8A-4147-A177-3AD203B41FA5}">
                      <a16:colId xmlns:a16="http://schemas.microsoft.com/office/drawing/2014/main" val="2457836061"/>
                    </a:ext>
                  </a:extLst>
                </a:gridCol>
                <a:gridCol w="1612800">
                  <a:extLst>
                    <a:ext uri="{9D8B030D-6E8A-4147-A177-3AD203B41FA5}">
                      <a16:colId xmlns:a16="http://schemas.microsoft.com/office/drawing/2014/main" val="3123090793"/>
                    </a:ext>
                  </a:extLst>
                </a:gridCol>
                <a:gridCol w="1612800">
                  <a:extLst>
                    <a:ext uri="{9D8B030D-6E8A-4147-A177-3AD203B41FA5}">
                      <a16:colId xmlns:a16="http://schemas.microsoft.com/office/drawing/2014/main" val="1251604277"/>
                    </a:ext>
                  </a:extLst>
                </a:gridCol>
                <a:gridCol w="1612800">
                  <a:extLst>
                    <a:ext uri="{9D8B030D-6E8A-4147-A177-3AD203B41FA5}">
                      <a16:colId xmlns:a16="http://schemas.microsoft.com/office/drawing/2014/main" val="2435101031"/>
                    </a:ext>
                  </a:extLst>
                </a:gridCol>
              </a:tblGrid>
              <a:tr h="432000">
                <a:tc>
                  <a:txBody>
                    <a:bodyPr/>
                    <a:lstStyle/>
                    <a:p>
                      <a:r>
                        <a:rPr lang="en-US" sz="1200" b="1" noProof="1">
                          <a:solidFill>
                            <a:srgbClr val="1D3557"/>
                          </a:solidFill>
                          <a:latin typeface="+mn-lt"/>
                        </a:rPr>
                        <a:t>Controller</a:t>
                      </a:r>
                    </a:p>
                  </a:txBody>
                  <a:tcPr marL="73152" marT="27432" marB="27432" anchor="ctr">
                    <a:solidFill>
                      <a:srgbClr val="FBFAF6"/>
                    </a:solidFill>
                  </a:tcPr>
                </a:tc>
                <a:tc>
                  <a:txBody>
                    <a:bodyPr/>
                    <a:lstStyle/>
                    <a:p>
                      <a:r>
                        <a:rPr lang="en-US" sz="1200" b="1" noProof="1">
                          <a:solidFill>
                            <a:srgbClr val="1D3557"/>
                          </a:solidFill>
                          <a:latin typeface="+mn-lt"/>
                        </a:rPr>
                        <a:t>MAE</a:t>
                      </a:r>
                    </a:p>
                  </a:txBody>
                  <a:tcPr marL="73152" marT="27432" marB="27432" anchor="ctr">
                    <a:solidFill>
                      <a:srgbClr val="FBFAF6"/>
                    </a:solidFill>
                  </a:tcPr>
                </a:tc>
                <a:tc>
                  <a:txBody>
                    <a:bodyPr/>
                    <a:lstStyle/>
                    <a:p>
                      <a:r>
                        <a:rPr lang="en-US" sz="1200" b="1" noProof="1">
                          <a:solidFill>
                            <a:srgbClr val="4A5A66"/>
                          </a:solidFill>
                          <a:latin typeface="+mn-lt"/>
                        </a:rPr>
                        <a:t>RMSE</a:t>
                      </a:r>
                    </a:p>
                  </a:txBody>
                  <a:tcPr marL="73152" marT="27432" marB="27432" anchor="ctr">
                    <a:solidFill>
                      <a:srgbClr val="FBFAF6"/>
                    </a:solidFill>
                  </a:tcPr>
                </a:tc>
                <a:tc>
                  <a:txBody>
                    <a:bodyPr/>
                    <a:lstStyle/>
                    <a:p>
                      <a:r>
                        <a:rPr lang="en-US" sz="1200" b="1" noProof="1">
                          <a:solidFill>
                            <a:srgbClr val="4A5A66"/>
                          </a:solidFill>
                          <a:latin typeface="+mn-lt"/>
                        </a:rPr>
                        <a:t>R2</a:t>
                      </a:r>
                    </a:p>
                  </a:txBody>
                  <a:tcPr marL="73152" marT="27432" marB="27432" anchor="ctr">
                    <a:solidFill>
                      <a:srgbClr val="FBFAF6"/>
                    </a:solidFill>
                  </a:tcPr>
                </a:tc>
                <a:tc>
                  <a:txBody>
                    <a:bodyPr/>
                    <a:lstStyle/>
                    <a:p>
                      <a:r>
                        <a:rPr lang="en-US" sz="1200" b="1" noProof="1">
                          <a:solidFill>
                            <a:srgbClr val="4A5A66"/>
                          </a:solidFill>
                          <a:latin typeface="+mn-lt"/>
                        </a:rPr>
                        <a:t>In-band %</a:t>
                      </a:r>
                    </a:p>
                  </a:txBody>
                  <a:tcPr marL="73152" marT="27432" marB="27432" anchor="ctr">
                    <a:solidFill>
                      <a:srgbClr val="FBFAF6"/>
                    </a:solidFill>
                  </a:tcPr>
                </a:tc>
                <a:extLst>
                  <a:ext uri="{0D108BD9-81ED-4DB2-BD59-A6C34878D82A}">
                    <a16:rowId xmlns:a16="http://schemas.microsoft.com/office/drawing/2014/main" val="10000"/>
                  </a:ext>
                </a:extLst>
              </a:tr>
              <a:tr h="432000">
                <a:tc>
                  <a:txBody>
                    <a:bodyPr/>
                    <a:lstStyle/>
                    <a:p>
                      <a:r>
                        <a:rPr lang="en-US" sz="1200" b="0" noProof="1">
                          <a:solidFill>
                            <a:srgbClr val="1D3557"/>
                          </a:solidFill>
                          <a:latin typeface="+mn-lt"/>
                        </a:rPr>
                        <a:t>PI (Baseline)</a:t>
                      </a:r>
                    </a:p>
                  </a:txBody>
                  <a:tcPr marL="73152" marT="27432" marB="27432" anchor="ctr">
                    <a:solidFill>
                      <a:srgbClr val="FBFAF6"/>
                    </a:solidFill>
                  </a:tcPr>
                </a:tc>
                <a:tc>
                  <a:txBody>
                    <a:bodyPr/>
                    <a:lstStyle/>
                    <a:p>
                      <a:r>
                        <a:rPr lang="en-US" sz="1200" b="0" noProof="1">
                          <a:solidFill>
                            <a:srgbClr val="1D3557"/>
                          </a:solidFill>
                          <a:latin typeface="+mn-lt"/>
                        </a:rPr>
                        <a:t>0.281</a:t>
                      </a:r>
                    </a:p>
                  </a:txBody>
                  <a:tcPr marL="73152" marT="27432" marB="27432" anchor="ctr">
                    <a:solidFill>
                      <a:srgbClr val="FBFAF6"/>
                    </a:solidFill>
                  </a:tcPr>
                </a:tc>
                <a:tc>
                  <a:txBody>
                    <a:bodyPr/>
                    <a:lstStyle/>
                    <a:p>
                      <a:pPr algn="l"/>
                      <a:r>
                        <a:rPr lang="en-US" sz="1200" b="0" noProof="1">
                          <a:solidFill>
                            <a:srgbClr val="495A66"/>
                          </a:solidFill>
                          <a:latin typeface="+mn-lt"/>
                        </a:rPr>
                        <a:t>0.411</a:t>
                      </a:r>
                    </a:p>
                  </a:txBody>
                  <a:tcPr marL="73152" marT="27432" marB="27432" anchor="ctr">
                    <a:solidFill>
                      <a:srgbClr val="FBFAF6"/>
                    </a:solidFill>
                  </a:tcPr>
                </a:tc>
                <a:tc>
                  <a:txBody>
                    <a:bodyPr/>
                    <a:lstStyle/>
                    <a:p>
                      <a:r>
                        <a:rPr lang="en-US" sz="1200" b="0" noProof="1">
                          <a:solidFill>
                            <a:srgbClr val="495A66"/>
                          </a:solidFill>
                          <a:latin typeface="+mn-lt"/>
                        </a:rPr>
                        <a:t>0.988</a:t>
                      </a:r>
                    </a:p>
                  </a:txBody>
                  <a:tcPr marL="73152" marT="27432" marB="27432" anchor="ctr">
                    <a:solidFill>
                      <a:srgbClr val="FBFAF6"/>
                    </a:solidFill>
                  </a:tcPr>
                </a:tc>
                <a:tc>
                  <a:txBody>
                    <a:bodyPr/>
                    <a:lstStyle/>
                    <a:p>
                      <a:r>
                        <a:rPr lang="en-GB" sz="1200" b="0" i="0" kern="1200" noProof="1">
                          <a:solidFill>
                            <a:srgbClr val="495A66"/>
                          </a:solidFill>
                          <a:effectLst/>
                          <a:latin typeface="+mn-lt"/>
                          <a:ea typeface="+mn-ea"/>
                          <a:cs typeface="+mn-cs"/>
                        </a:rPr>
                        <a:t>85.2%</a:t>
                      </a:r>
                      <a:endParaRPr lang="en-US" sz="1200" b="0" noProof="1">
                        <a:solidFill>
                          <a:srgbClr val="495A66"/>
                        </a:solidFill>
                        <a:latin typeface="+mn-lt"/>
                      </a:endParaRPr>
                    </a:p>
                  </a:txBody>
                  <a:tcPr marL="73152" marT="27432" marB="27432" anchor="ctr">
                    <a:solidFill>
                      <a:srgbClr val="FBFAF6"/>
                    </a:solidFill>
                  </a:tcPr>
                </a:tc>
                <a:extLst>
                  <a:ext uri="{0D108BD9-81ED-4DB2-BD59-A6C34878D82A}">
                    <a16:rowId xmlns:a16="http://schemas.microsoft.com/office/drawing/2014/main" val="10001"/>
                  </a:ext>
                </a:extLst>
              </a:tr>
              <a:tr h="432000">
                <a:tc>
                  <a:txBody>
                    <a:bodyPr/>
                    <a:lstStyle/>
                    <a:p>
                      <a:r>
                        <a:rPr lang="en-US" sz="1200" b="0" i="0" noProof="1">
                          <a:solidFill>
                            <a:srgbClr val="1D3557"/>
                          </a:solidFill>
                          <a:latin typeface="+mn-lt"/>
                        </a:rPr>
                        <a:t>PI + poly + grav</a:t>
                      </a:r>
                    </a:p>
                  </a:txBody>
                  <a:tcPr marL="73152" marT="27432" marB="27432" anchor="ctr">
                    <a:solidFill>
                      <a:srgbClr val="FBFAF6"/>
                    </a:solidFill>
                  </a:tcPr>
                </a:tc>
                <a:tc>
                  <a:txBody>
                    <a:bodyPr/>
                    <a:lstStyle/>
                    <a:p>
                      <a:r>
                        <a:rPr lang="en-US" sz="1200" b="0" i="0" noProof="1">
                          <a:solidFill>
                            <a:srgbClr val="1D3557"/>
                          </a:solidFill>
                          <a:latin typeface="+mn-lt"/>
                        </a:rPr>
                        <a:t>0.020</a:t>
                      </a:r>
                    </a:p>
                  </a:txBody>
                  <a:tcPr marL="73152" marT="27432" marB="27432" anchor="ctr">
                    <a:solidFill>
                      <a:srgbClr val="FBFAF6"/>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0" noProof="1">
                          <a:solidFill>
                            <a:srgbClr val="495A66"/>
                          </a:solidFill>
                          <a:latin typeface="+mn-lt"/>
                        </a:rPr>
                        <a:t>0.203</a:t>
                      </a:r>
                    </a:p>
                  </a:txBody>
                  <a:tcPr marL="73152" marT="27432" marB="27432" anchor="ctr">
                    <a:solidFill>
                      <a:srgbClr val="FBFAF6"/>
                    </a:solidFill>
                  </a:tcPr>
                </a:tc>
                <a:tc>
                  <a:txBody>
                    <a:bodyPr/>
                    <a:lstStyle/>
                    <a:p>
                      <a:r>
                        <a:rPr lang="en-US" sz="1200" b="0" noProof="1">
                          <a:solidFill>
                            <a:srgbClr val="495A66"/>
                          </a:solidFill>
                          <a:latin typeface="+mn-lt"/>
                        </a:rPr>
                        <a:t>0.997</a:t>
                      </a:r>
                    </a:p>
                  </a:txBody>
                  <a:tcPr marL="73152" marT="27432" marB="27432" anchor="ctr">
                    <a:solidFill>
                      <a:srgbClr val="FBFAF6"/>
                    </a:solidFill>
                  </a:tcPr>
                </a:tc>
                <a:tc>
                  <a:txBody>
                    <a:bodyPr/>
                    <a:lstStyle/>
                    <a:p>
                      <a:r>
                        <a:rPr lang="en-GB" sz="1200" b="0" i="0" kern="1200" noProof="1">
                          <a:solidFill>
                            <a:srgbClr val="495A66"/>
                          </a:solidFill>
                          <a:effectLst/>
                          <a:latin typeface="+mn-lt"/>
                          <a:ea typeface="+mn-ea"/>
                          <a:cs typeface="+mn-cs"/>
                        </a:rPr>
                        <a:t>99.8%</a:t>
                      </a:r>
                      <a:endParaRPr lang="en-US" sz="1200" b="0" noProof="1">
                        <a:solidFill>
                          <a:srgbClr val="495A66"/>
                        </a:solidFill>
                        <a:latin typeface="+mn-lt"/>
                      </a:endParaRPr>
                    </a:p>
                  </a:txBody>
                  <a:tcPr marL="73152" marT="27432" marB="27432" anchor="ctr">
                    <a:solidFill>
                      <a:srgbClr val="FBFAF6"/>
                    </a:solidFill>
                  </a:tcPr>
                </a:tc>
                <a:extLst>
                  <a:ext uri="{0D108BD9-81ED-4DB2-BD59-A6C34878D82A}">
                    <a16:rowId xmlns:a16="http://schemas.microsoft.com/office/drawing/2014/main" val="10002"/>
                  </a:ext>
                </a:extLst>
              </a:tr>
              <a:tr h="43200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0" i="0" noProof="1">
                          <a:solidFill>
                            <a:srgbClr val="1D3557"/>
                          </a:solidFill>
                          <a:latin typeface="+mn-lt"/>
                        </a:rPr>
                        <a:t>RL residual</a:t>
                      </a:r>
                    </a:p>
                    <a:p>
                      <a:endParaRPr lang="en-US" sz="1200" b="0" i="0" noProof="1">
                        <a:solidFill>
                          <a:srgbClr val="1D3557"/>
                        </a:solidFill>
                        <a:latin typeface="+mn-lt"/>
                      </a:endParaRPr>
                    </a:p>
                  </a:txBody>
                  <a:tcPr marL="73152" marT="27432" marB="27432" anchor="ctr">
                    <a:solidFill>
                      <a:srgbClr val="FBFAF6"/>
                    </a:solidFill>
                  </a:tcPr>
                </a:tc>
                <a:tc>
                  <a:txBody>
                    <a:bodyPr/>
                    <a:lstStyle/>
                    <a:p>
                      <a:r>
                        <a:rPr lang="en-US" sz="1200" b="0" i="0" noProof="1">
                          <a:solidFill>
                            <a:srgbClr val="1D3557"/>
                          </a:solidFill>
                          <a:latin typeface="+mn-lt"/>
                        </a:rPr>
                        <a:t>0.078</a:t>
                      </a:r>
                    </a:p>
                  </a:txBody>
                  <a:tcPr marL="73152" marT="27432" marB="27432" anchor="ctr">
                    <a:solidFill>
                      <a:srgbClr val="FBFAF6"/>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0" noProof="1">
                          <a:solidFill>
                            <a:srgbClr val="495A66"/>
                          </a:solidFill>
                          <a:latin typeface="+mn-lt"/>
                        </a:rPr>
                        <a:t>0.240</a:t>
                      </a:r>
                    </a:p>
                  </a:txBody>
                  <a:tcPr marL="73152" marT="27432" marB="27432" anchor="ctr">
                    <a:solidFill>
                      <a:srgbClr val="FBFAF6"/>
                    </a:solidFill>
                  </a:tcPr>
                </a:tc>
                <a:tc>
                  <a:txBody>
                    <a:bodyPr/>
                    <a:lstStyle/>
                    <a:p>
                      <a:r>
                        <a:rPr lang="en-US" sz="1200" b="0" noProof="1">
                          <a:solidFill>
                            <a:srgbClr val="495A66"/>
                          </a:solidFill>
                          <a:latin typeface="+mn-lt"/>
                        </a:rPr>
                        <a:t>0.997</a:t>
                      </a:r>
                    </a:p>
                  </a:txBody>
                  <a:tcPr marL="73152" marT="27432" marB="27432" anchor="ctr">
                    <a:solidFill>
                      <a:srgbClr val="FBFAF6"/>
                    </a:solidFill>
                  </a:tcPr>
                </a:tc>
                <a:tc>
                  <a:txBody>
                    <a:bodyPr/>
                    <a:lstStyle/>
                    <a:p>
                      <a:r>
                        <a:rPr lang="en-US" sz="1200" b="0" noProof="1">
                          <a:solidFill>
                            <a:srgbClr val="495A66"/>
                          </a:solidFill>
                          <a:latin typeface="+mn-lt"/>
                        </a:rPr>
                        <a:t>99.8%</a:t>
                      </a:r>
                    </a:p>
                  </a:txBody>
                  <a:tcPr marL="73152" marT="27432" marB="27432" anchor="ctr">
                    <a:solidFill>
                      <a:srgbClr val="FBFAF6"/>
                    </a:solidFill>
                  </a:tcPr>
                </a:tc>
                <a:extLst>
                  <a:ext uri="{0D108BD9-81ED-4DB2-BD59-A6C34878D82A}">
                    <a16:rowId xmlns:a16="http://schemas.microsoft.com/office/drawing/2014/main" val="3088058039"/>
                  </a:ext>
                </a:extLst>
              </a:tr>
            </a:tbl>
          </a:graphicData>
        </a:graphic>
      </p:graphicFrame>
      <p:sp>
        <p:nvSpPr>
          <p:cNvPr id="9" name="TextBox 8">
            <a:extLst>
              <a:ext uri="{FF2B5EF4-FFF2-40B4-BE49-F238E27FC236}">
                <a16:creationId xmlns:a16="http://schemas.microsoft.com/office/drawing/2014/main" id="{6C3C9868-1E28-728E-AC25-0D8D4080F776}"/>
              </a:ext>
            </a:extLst>
          </p:cNvPr>
          <p:cNvSpPr txBox="1"/>
          <p:nvPr/>
        </p:nvSpPr>
        <p:spPr>
          <a:xfrm>
            <a:off x="868680" y="4657959"/>
            <a:ext cx="10222992" cy="1475789"/>
          </a:xfrm>
          <a:prstGeom prst="rect">
            <a:avLst/>
          </a:prstGeom>
          <a:noFill/>
        </p:spPr>
        <p:txBody>
          <a:bodyPr wrap="square" lIns="0" tIns="0" rIns="0" bIns="0" anchor="ctr">
            <a:spAutoFit/>
          </a:bodyPr>
          <a:lstStyle/>
          <a:p>
            <a:r>
              <a:rPr lang="en-GB" sz="1600" dirty="0">
                <a:solidFill>
                  <a:srgbClr val="495A66"/>
                </a:solidFill>
              </a:rPr>
              <a:t>RL residual reduces the pure PI tracking error by 75% (RMSE 0.411 → 0.240) and closes most of the gap to the strong classical baseline (0.240 vs 0.203), without any knowledge of the motor parameters or the gravity model. The in-band percentage jumps from 85% to 99.8%, matching the feedforward controller exactly on that metric.</a:t>
            </a:r>
          </a:p>
          <a:p>
            <a:r>
              <a:rPr lang="en-GB" sz="1600" dirty="0">
                <a:solidFill>
                  <a:srgbClr val="495A66"/>
                </a:solidFill>
              </a:rPr>
              <a:t>The residual does not fully match PI + poly + grav on RMSE. This is expected: the classical controller uses the exact physical model; the policy approximates it from data alone. The remaining gap (0.018 rad/s) is the cost of being model-free.</a:t>
            </a:r>
          </a:p>
          <a:p>
            <a:pPr>
              <a:lnSpc>
                <a:spcPct val="112000"/>
              </a:lnSpc>
            </a:pPr>
            <a:endParaRPr lang="en-US" sz="1500" b="0" noProof="1">
              <a:solidFill>
                <a:srgbClr val="495A66"/>
              </a:solidFill>
              <a:latin typeface="Calibri"/>
            </a:endParaRPr>
          </a:p>
        </p:txBody>
      </p:sp>
    </p:spTree>
    <p:extLst>
      <p:ext uri="{BB962C8B-B14F-4D97-AF65-F5344CB8AC3E}">
        <p14:creationId xmlns:p14="http://schemas.microsoft.com/office/powerpoint/2010/main" val="318459420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BFAF6"/>
        </a:solidFill>
        <a:effectLst/>
      </p:bgPr>
    </p:bg>
    <p:spTree>
      <p:nvGrpSpPr>
        <p:cNvPr id="1" name="">
          <a:extLst>
            <a:ext uri="{FF2B5EF4-FFF2-40B4-BE49-F238E27FC236}">
              <a16:creationId xmlns:a16="http://schemas.microsoft.com/office/drawing/2014/main" id="{844CB6EA-7400-E1A2-B112-D8A1D4015920}"/>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E645BF6E-C3B9-B4EC-6EDF-6FFF15DE97B4}"/>
              </a:ext>
            </a:extLst>
          </p:cNvPr>
          <p:cNvSpPr/>
          <p:nvPr/>
        </p:nvSpPr>
        <p:spPr>
          <a:xfrm>
            <a:off x="566928" y="502920"/>
            <a:ext cx="17780" cy="5852160"/>
          </a:xfrm>
          <a:prstGeom prst="rect">
            <a:avLst/>
          </a:prstGeom>
          <a:solidFill>
            <a:srgbClr val="D9D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3" name="Rectangle 2">
            <a:extLst>
              <a:ext uri="{FF2B5EF4-FFF2-40B4-BE49-F238E27FC236}">
                <a16:creationId xmlns:a16="http://schemas.microsoft.com/office/drawing/2014/main" id="{DA63C865-9852-1A38-EE76-EA6F47EDA4E4}"/>
              </a:ext>
            </a:extLst>
          </p:cNvPr>
          <p:cNvSpPr/>
          <p:nvPr/>
        </p:nvSpPr>
        <p:spPr>
          <a:xfrm>
            <a:off x="566928" y="502920"/>
            <a:ext cx="30480" cy="56692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4" name="TextBox 3">
            <a:extLst>
              <a:ext uri="{FF2B5EF4-FFF2-40B4-BE49-F238E27FC236}">
                <a16:creationId xmlns:a16="http://schemas.microsoft.com/office/drawing/2014/main" id="{89B44395-9B0A-5F7D-D929-7264E50F4C6E}"/>
              </a:ext>
            </a:extLst>
          </p:cNvPr>
          <p:cNvSpPr txBox="1"/>
          <p:nvPr/>
        </p:nvSpPr>
        <p:spPr>
          <a:xfrm>
            <a:off x="868680" y="548640"/>
            <a:ext cx="10607040" cy="169277"/>
          </a:xfrm>
          <a:prstGeom prst="rect">
            <a:avLst/>
          </a:prstGeom>
          <a:noFill/>
        </p:spPr>
        <p:txBody>
          <a:bodyPr wrap="square" lIns="0" tIns="0" rIns="0" bIns="0" anchor="t">
            <a:spAutoFit/>
          </a:bodyPr>
          <a:lstStyle/>
          <a:p>
            <a:pPr>
              <a:lnSpc>
                <a:spcPct val="100000"/>
              </a:lnSpc>
            </a:pPr>
            <a:r>
              <a:rPr lang="en-US" sz="1100" b="1" noProof="1">
                <a:solidFill>
                  <a:srgbClr val="E07A5F"/>
                </a:solidFill>
                <a:latin typeface="Consolas"/>
              </a:rPr>
              <a:t>B10  </a:t>
            </a:r>
            <a:r>
              <a:rPr lang="en-US" sz="1100" noProof="1">
                <a:solidFill>
                  <a:srgbClr val="2A9D8F"/>
                </a:solidFill>
                <a:latin typeface="Consolas"/>
              </a:rPr>
              <a:t>RESIDUAL REINFORCEMENT LEARNING - Validation</a:t>
            </a:r>
          </a:p>
        </p:txBody>
      </p:sp>
      <p:sp>
        <p:nvSpPr>
          <p:cNvPr id="6" name="TextBox 5">
            <a:extLst>
              <a:ext uri="{FF2B5EF4-FFF2-40B4-BE49-F238E27FC236}">
                <a16:creationId xmlns:a16="http://schemas.microsoft.com/office/drawing/2014/main" id="{51A69FF7-17E4-9694-5841-17ACDEB28076}"/>
              </a:ext>
            </a:extLst>
          </p:cNvPr>
          <p:cNvSpPr txBox="1"/>
          <p:nvPr/>
        </p:nvSpPr>
        <p:spPr>
          <a:xfrm>
            <a:off x="868680" y="960120"/>
            <a:ext cx="10607040" cy="412805"/>
          </a:xfrm>
          <a:prstGeom prst="rect">
            <a:avLst/>
          </a:prstGeom>
          <a:noFill/>
        </p:spPr>
        <p:txBody>
          <a:bodyPr wrap="square" lIns="0" tIns="0" rIns="0" bIns="0" anchor="t">
            <a:spAutoFit/>
          </a:bodyPr>
          <a:lstStyle/>
          <a:p>
            <a:pPr>
              <a:lnSpc>
                <a:spcPct val="102000"/>
              </a:lnSpc>
              <a:spcAft>
                <a:spcPts val="600"/>
              </a:spcAft>
            </a:pPr>
            <a:r>
              <a:rPr lang="en-US" sz="2800" b="1" noProof="1">
                <a:solidFill>
                  <a:srgbClr val="1D3557"/>
                </a:solidFill>
                <a:latin typeface="Georgia"/>
              </a:rPr>
              <a:t>Closed-Loop Performance: Controller Comparison </a:t>
            </a:r>
          </a:p>
        </p:txBody>
      </p:sp>
      <p:sp>
        <p:nvSpPr>
          <p:cNvPr id="9" name="TextBox 8">
            <a:extLst>
              <a:ext uri="{FF2B5EF4-FFF2-40B4-BE49-F238E27FC236}">
                <a16:creationId xmlns:a16="http://schemas.microsoft.com/office/drawing/2014/main" id="{CF3CC242-9CC9-DD82-17A1-89A798008D70}"/>
              </a:ext>
            </a:extLst>
          </p:cNvPr>
          <p:cNvSpPr txBox="1"/>
          <p:nvPr/>
        </p:nvSpPr>
        <p:spPr>
          <a:xfrm>
            <a:off x="7882801" y="3044671"/>
            <a:ext cx="4047345" cy="1948290"/>
          </a:xfrm>
          <a:prstGeom prst="rect">
            <a:avLst/>
          </a:prstGeom>
          <a:noFill/>
        </p:spPr>
        <p:txBody>
          <a:bodyPr wrap="square" lIns="0" tIns="0" rIns="0" bIns="0" anchor="ctr">
            <a:spAutoFit/>
          </a:bodyPr>
          <a:lstStyle/>
          <a:p>
            <a:pPr>
              <a:lnSpc>
                <a:spcPct val="112000"/>
              </a:lnSpc>
            </a:pPr>
            <a:r>
              <a:rPr lang="en-GB" sz="1600" dirty="0">
                <a:solidFill>
                  <a:srgbClr val="495A66"/>
                </a:solidFill>
              </a:rPr>
              <a:t>Each panel shows the achieved speed (blue) against the reference (dashed red) for one controller and one reference profile. RL Residual follows the reference closely on the quintic trajectory, where the PI alone shows a persistent steady-state offset, the learned </a:t>
            </a:r>
            <a:r>
              <a:rPr lang="el-GR" sz="1600" dirty="0">
                <a:solidFill>
                  <a:srgbClr val="495A66"/>
                </a:solidFill>
              </a:rPr>
              <a:t>Δ</a:t>
            </a:r>
            <a:r>
              <a:rPr lang="en-GB" sz="1600" dirty="0">
                <a:solidFill>
                  <a:srgbClr val="495A66"/>
                </a:solidFill>
              </a:rPr>
              <a:t>V compensates what the integrator cannot correct fast enough</a:t>
            </a:r>
            <a:r>
              <a:rPr lang="en-GB" dirty="0"/>
              <a:t>.</a:t>
            </a:r>
            <a:endParaRPr lang="en-US" sz="1500" b="0" noProof="1">
              <a:solidFill>
                <a:srgbClr val="495A66"/>
              </a:solidFill>
              <a:latin typeface="Calibri"/>
            </a:endParaRPr>
          </a:p>
        </p:txBody>
      </p:sp>
      <p:pic>
        <p:nvPicPr>
          <p:cNvPr id="8" name="Picture 7">
            <a:extLst>
              <a:ext uri="{FF2B5EF4-FFF2-40B4-BE49-F238E27FC236}">
                <a16:creationId xmlns:a16="http://schemas.microsoft.com/office/drawing/2014/main" id="{8042DBA8-E192-2122-52A5-55F80E80B872}"/>
              </a:ext>
            </a:extLst>
          </p:cNvPr>
          <p:cNvPicPr>
            <a:picLocks noChangeAspect="1"/>
          </p:cNvPicPr>
          <p:nvPr/>
        </p:nvPicPr>
        <p:blipFill>
          <a:blip r:embed="rId3"/>
          <a:stretch>
            <a:fillRect/>
          </a:stretch>
        </p:blipFill>
        <p:spPr>
          <a:xfrm>
            <a:off x="868680" y="1495010"/>
            <a:ext cx="6730149" cy="5047612"/>
          </a:xfrm>
          <a:prstGeom prst="rect">
            <a:avLst/>
          </a:prstGeom>
        </p:spPr>
      </p:pic>
    </p:spTree>
    <p:extLst>
      <p:ext uri="{BB962C8B-B14F-4D97-AF65-F5344CB8AC3E}">
        <p14:creationId xmlns:p14="http://schemas.microsoft.com/office/powerpoint/2010/main" val="239473744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BFAF6"/>
        </a:solidFill>
        <a:effectLst/>
      </p:bgPr>
    </p:bg>
    <p:spTree>
      <p:nvGrpSpPr>
        <p:cNvPr id="1" name="">
          <a:extLst>
            <a:ext uri="{FF2B5EF4-FFF2-40B4-BE49-F238E27FC236}">
              <a16:creationId xmlns:a16="http://schemas.microsoft.com/office/drawing/2014/main" id="{F2CA31CA-23CC-760C-A5CC-A3E19F9A77BC}"/>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FBB8BC75-C582-B545-AE84-F06D66A4E104}"/>
              </a:ext>
            </a:extLst>
          </p:cNvPr>
          <p:cNvSpPr/>
          <p:nvPr/>
        </p:nvSpPr>
        <p:spPr>
          <a:xfrm>
            <a:off x="566928" y="502920"/>
            <a:ext cx="17780" cy="5852160"/>
          </a:xfrm>
          <a:prstGeom prst="rect">
            <a:avLst/>
          </a:prstGeom>
          <a:solidFill>
            <a:srgbClr val="D9D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3" name="Rectangle 2">
            <a:extLst>
              <a:ext uri="{FF2B5EF4-FFF2-40B4-BE49-F238E27FC236}">
                <a16:creationId xmlns:a16="http://schemas.microsoft.com/office/drawing/2014/main" id="{F0CAF183-05B9-CA8C-6858-E543CCB47B94}"/>
              </a:ext>
            </a:extLst>
          </p:cNvPr>
          <p:cNvSpPr/>
          <p:nvPr/>
        </p:nvSpPr>
        <p:spPr>
          <a:xfrm>
            <a:off x="566928" y="502920"/>
            <a:ext cx="30480" cy="56692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4" name="TextBox 3">
            <a:extLst>
              <a:ext uri="{FF2B5EF4-FFF2-40B4-BE49-F238E27FC236}">
                <a16:creationId xmlns:a16="http://schemas.microsoft.com/office/drawing/2014/main" id="{D59325BD-8D16-DD0B-75D9-566C80770962}"/>
              </a:ext>
            </a:extLst>
          </p:cNvPr>
          <p:cNvSpPr txBox="1"/>
          <p:nvPr/>
        </p:nvSpPr>
        <p:spPr>
          <a:xfrm>
            <a:off x="868680" y="548640"/>
            <a:ext cx="10607040" cy="169277"/>
          </a:xfrm>
          <a:prstGeom prst="rect">
            <a:avLst/>
          </a:prstGeom>
          <a:noFill/>
        </p:spPr>
        <p:txBody>
          <a:bodyPr wrap="square" lIns="0" tIns="0" rIns="0" bIns="0" anchor="t">
            <a:spAutoFit/>
          </a:bodyPr>
          <a:lstStyle/>
          <a:p>
            <a:pPr>
              <a:lnSpc>
                <a:spcPct val="100000"/>
              </a:lnSpc>
            </a:pPr>
            <a:r>
              <a:rPr lang="en-US" sz="1100" b="1" noProof="1">
                <a:solidFill>
                  <a:srgbClr val="E07A5F"/>
                </a:solidFill>
                <a:latin typeface="Consolas"/>
              </a:rPr>
              <a:t>B11  </a:t>
            </a:r>
            <a:r>
              <a:rPr lang="en-US" sz="1100" noProof="1">
                <a:solidFill>
                  <a:srgbClr val="2A9D8F"/>
                </a:solidFill>
                <a:latin typeface="Consolas"/>
              </a:rPr>
              <a:t>RESIDUAL REINFORCEMENT LEARNING - Validation</a:t>
            </a:r>
          </a:p>
        </p:txBody>
      </p:sp>
      <p:sp>
        <p:nvSpPr>
          <p:cNvPr id="6" name="TextBox 5">
            <a:extLst>
              <a:ext uri="{FF2B5EF4-FFF2-40B4-BE49-F238E27FC236}">
                <a16:creationId xmlns:a16="http://schemas.microsoft.com/office/drawing/2014/main" id="{6E4792B4-A221-A87C-63A7-980BDFCA75FE}"/>
              </a:ext>
            </a:extLst>
          </p:cNvPr>
          <p:cNvSpPr txBox="1"/>
          <p:nvPr/>
        </p:nvSpPr>
        <p:spPr>
          <a:xfrm>
            <a:off x="868680" y="960120"/>
            <a:ext cx="10607040" cy="412805"/>
          </a:xfrm>
          <a:prstGeom prst="rect">
            <a:avLst/>
          </a:prstGeom>
          <a:noFill/>
        </p:spPr>
        <p:txBody>
          <a:bodyPr wrap="square" lIns="0" tIns="0" rIns="0" bIns="0" anchor="t">
            <a:spAutoFit/>
          </a:bodyPr>
          <a:lstStyle/>
          <a:p>
            <a:pPr>
              <a:lnSpc>
                <a:spcPct val="102000"/>
              </a:lnSpc>
              <a:spcAft>
                <a:spcPts val="600"/>
              </a:spcAft>
            </a:pPr>
            <a:r>
              <a:rPr lang="en-US" sz="2800" b="1" noProof="1">
                <a:solidFill>
                  <a:srgbClr val="1D3557"/>
                </a:solidFill>
                <a:latin typeface="Georgia"/>
              </a:rPr>
              <a:t>Closed-Loop Performance: Voltage Decomposition</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31F83517-970F-5E23-80AB-20BA43DBB05F}"/>
                  </a:ext>
                </a:extLst>
              </p:cNvPr>
              <p:cNvSpPr txBox="1"/>
              <p:nvPr/>
            </p:nvSpPr>
            <p:spPr>
              <a:xfrm>
                <a:off x="756001" y="1372925"/>
                <a:ext cx="10832397" cy="861774"/>
              </a:xfrm>
              <a:prstGeom prst="rect">
                <a:avLst/>
              </a:prstGeom>
              <a:noFill/>
            </p:spPr>
            <p:txBody>
              <a:bodyPr wrap="square" rtlCol="0">
                <a:spAutoFit/>
              </a:bodyPr>
              <a:lstStyle/>
              <a:p>
                <a:r>
                  <a:rPr lang="en-GB" sz="1600" dirty="0">
                    <a:solidFill>
                      <a:srgbClr val="495A66"/>
                    </a:solidFill>
                  </a:rPr>
                  <a:t>Total motor voltage for each controller. Bottom: the RL residual split into </a:t>
                </a:r>
                <a14:m>
                  <m:oMath xmlns:m="http://schemas.openxmlformats.org/officeDocument/2006/math">
                    <m:sSub>
                      <m:sSubPr>
                        <m:ctrlPr>
                          <a:rPr lang="en-GB" sz="1600" i="1" smtClean="0">
                            <a:solidFill>
                              <a:srgbClr val="495A66"/>
                            </a:solidFill>
                            <a:latin typeface="Cambria Math" panose="02040503050406030204" pitchFamily="18" charset="0"/>
                          </a:rPr>
                        </m:ctrlPr>
                      </m:sSubPr>
                      <m:e>
                        <m:r>
                          <a:rPr lang="it-IT" sz="1600" b="0" i="1" smtClean="0">
                            <a:solidFill>
                              <a:srgbClr val="495A66"/>
                            </a:solidFill>
                            <a:latin typeface="Cambria Math" panose="02040503050406030204" pitchFamily="18" charset="0"/>
                          </a:rPr>
                          <m:t>𝑉</m:t>
                        </m:r>
                      </m:e>
                      <m:sub>
                        <m:r>
                          <a:rPr lang="it-IT" sz="1600" b="0" i="1" smtClean="0">
                            <a:solidFill>
                              <a:srgbClr val="495A66"/>
                            </a:solidFill>
                            <a:latin typeface="Cambria Math" panose="02040503050406030204" pitchFamily="18" charset="0"/>
                          </a:rPr>
                          <m:t>𝑏𝑎𝑠𝑒</m:t>
                        </m:r>
                      </m:sub>
                    </m:sSub>
                  </m:oMath>
                </a14:m>
                <a:r>
                  <a:rPr lang="en-GB" sz="1600" dirty="0">
                    <a:solidFill>
                      <a:srgbClr val="495A66"/>
                    </a:solidFill>
                  </a:rPr>
                  <a:t> (PI baseline, blue) and </a:t>
                </a:r>
                <a14:m>
                  <m:oMath xmlns:m="http://schemas.openxmlformats.org/officeDocument/2006/math">
                    <m:r>
                      <a:rPr lang="en-GB" sz="1600" i="1" smtClean="0">
                        <a:solidFill>
                          <a:srgbClr val="495A66"/>
                        </a:solidFill>
                        <a:latin typeface="Cambria Math" panose="02040503050406030204" pitchFamily="18" charset="0"/>
                        <a:ea typeface="Cambria Math" panose="02040503050406030204" pitchFamily="18" charset="0"/>
                      </a:rPr>
                      <m:t>∆</m:t>
                    </m:r>
                    <m:r>
                      <a:rPr lang="it-IT" sz="1600" b="0" i="1" smtClean="0">
                        <a:solidFill>
                          <a:srgbClr val="495A66"/>
                        </a:solidFill>
                        <a:latin typeface="Cambria Math" panose="02040503050406030204" pitchFamily="18" charset="0"/>
                        <a:ea typeface="Cambria Math" panose="02040503050406030204" pitchFamily="18" charset="0"/>
                      </a:rPr>
                      <m:t>𝑉</m:t>
                    </m:r>
                  </m:oMath>
                </a14:m>
                <a:r>
                  <a:rPr lang="en-GB" sz="1600" dirty="0">
                    <a:solidFill>
                      <a:srgbClr val="495A66"/>
                    </a:solidFill>
                  </a:rPr>
                  <a:t> (learned correction, orange). During transients </a:t>
                </a:r>
                <a:r>
                  <a:rPr lang="el-GR" sz="1600" dirty="0">
                    <a:solidFill>
                      <a:srgbClr val="495A66"/>
                    </a:solidFill>
                  </a:rPr>
                  <a:t>Δ</a:t>
                </a:r>
                <a:r>
                  <a:rPr lang="en-GB" sz="1600" dirty="0">
                    <a:solidFill>
                      <a:srgbClr val="495A66"/>
                    </a:solidFill>
                  </a:rPr>
                  <a:t>V is the dominant term, so the policy has implicitly learned the feedforward and gravity compensation that the PI baseline cannot provide</a:t>
                </a:r>
                <a:r>
                  <a:rPr lang="en-GB" dirty="0"/>
                  <a:t>.</a:t>
                </a:r>
                <a:endParaRPr lang="en-US" sz="1600" dirty="0">
                  <a:solidFill>
                    <a:srgbClr val="495A66"/>
                  </a:solidFill>
                </a:endParaRPr>
              </a:p>
            </p:txBody>
          </p:sp>
        </mc:Choice>
        <mc:Fallback xmlns="">
          <p:sp>
            <p:nvSpPr>
              <p:cNvPr id="5" name="TextBox 4">
                <a:extLst>
                  <a:ext uri="{FF2B5EF4-FFF2-40B4-BE49-F238E27FC236}">
                    <a16:creationId xmlns:a16="http://schemas.microsoft.com/office/drawing/2014/main" id="{31F83517-970F-5E23-80AB-20BA43DBB05F}"/>
                  </a:ext>
                </a:extLst>
              </p:cNvPr>
              <p:cNvSpPr txBox="1">
                <a:spLocks noRot="1" noChangeAspect="1" noMove="1" noResize="1" noEditPoints="1" noAdjustHandles="1" noChangeArrowheads="1" noChangeShapeType="1" noTextEdit="1"/>
              </p:cNvSpPr>
              <p:nvPr/>
            </p:nvSpPr>
            <p:spPr>
              <a:xfrm>
                <a:off x="756001" y="1372925"/>
                <a:ext cx="10832397" cy="861774"/>
              </a:xfrm>
              <a:prstGeom prst="rect">
                <a:avLst/>
              </a:prstGeom>
              <a:blipFill>
                <a:blip r:embed="rId3"/>
                <a:stretch>
                  <a:fillRect l="-234" t="-2899" b="-8696"/>
                </a:stretch>
              </a:blipFill>
            </p:spPr>
            <p:txBody>
              <a:bodyPr/>
              <a:lstStyle/>
              <a:p>
                <a:r>
                  <a:rPr lang="en-US">
                    <a:noFill/>
                  </a:rPr>
                  <a:t> </a:t>
                </a:r>
              </a:p>
            </p:txBody>
          </p:sp>
        </mc:Fallback>
      </mc:AlternateContent>
      <p:pic>
        <p:nvPicPr>
          <p:cNvPr id="8" name="Picture 7">
            <a:extLst>
              <a:ext uri="{FF2B5EF4-FFF2-40B4-BE49-F238E27FC236}">
                <a16:creationId xmlns:a16="http://schemas.microsoft.com/office/drawing/2014/main" id="{E814B86B-754B-C3A1-2337-06AEF231051B}"/>
              </a:ext>
            </a:extLst>
          </p:cNvPr>
          <p:cNvPicPr>
            <a:picLocks noChangeAspect="1"/>
          </p:cNvPicPr>
          <p:nvPr/>
        </p:nvPicPr>
        <p:blipFill>
          <a:blip r:embed="rId4"/>
          <a:stretch>
            <a:fillRect/>
          </a:stretch>
        </p:blipFill>
        <p:spPr>
          <a:xfrm>
            <a:off x="3286245" y="2234699"/>
            <a:ext cx="5601161" cy="4356459"/>
          </a:xfrm>
          <a:prstGeom prst="rect">
            <a:avLst/>
          </a:prstGeom>
        </p:spPr>
      </p:pic>
    </p:spTree>
    <p:extLst>
      <p:ext uri="{BB962C8B-B14F-4D97-AF65-F5344CB8AC3E}">
        <p14:creationId xmlns:p14="http://schemas.microsoft.com/office/powerpoint/2010/main" val="200580091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68" name="Straight Arrow Connector 167">
            <a:extLst>
              <a:ext uri="{FF2B5EF4-FFF2-40B4-BE49-F238E27FC236}">
                <a16:creationId xmlns:a16="http://schemas.microsoft.com/office/drawing/2014/main" id="{15C159BF-0CE4-4E99-9A5A-1B0775FCA0C8}"/>
              </a:ext>
            </a:extLst>
          </p:cNvPr>
          <p:cNvCxnSpPr>
            <a:cxnSpLocks/>
          </p:cNvCxnSpPr>
          <p:nvPr/>
        </p:nvCxnSpPr>
        <p:spPr>
          <a:xfrm>
            <a:off x="7704169" y="2828145"/>
            <a:ext cx="36162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170" name="Straight Arrow Connector 169">
            <a:extLst>
              <a:ext uri="{FF2B5EF4-FFF2-40B4-BE49-F238E27FC236}">
                <a16:creationId xmlns:a16="http://schemas.microsoft.com/office/drawing/2014/main" id="{75661AE0-ADAF-4D4C-89C7-371430DC905E}"/>
              </a:ext>
            </a:extLst>
          </p:cNvPr>
          <p:cNvCxnSpPr>
            <a:cxnSpLocks/>
          </p:cNvCxnSpPr>
          <p:nvPr/>
        </p:nvCxnSpPr>
        <p:spPr>
          <a:xfrm>
            <a:off x="10365995" y="2870795"/>
            <a:ext cx="43200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p:sp>
        <p:nvSpPr>
          <p:cNvPr id="2" name="Rectangle 1"/>
          <p:cNvSpPr/>
          <p:nvPr/>
        </p:nvSpPr>
        <p:spPr>
          <a:xfrm>
            <a:off x="566928" y="502920"/>
            <a:ext cx="17780" cy="5852160"/>
          </a:xfrm>
          <a:prstGeom prst="rect">
            <a:avLst/>
          </a:prstGeom>
          <a:solidFill>
            <a:srgbClr val="D9D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1"/>
          <p:cNvSpPr/>
          <p:nvPr/>
        </p:nvSpPr>
        <p:spPr>
          <a:xfrm>
            <a:off x="566928" y="502920"/>
            <a:ext cx="17780" cy="5852160"/>
          </a:xfrm>
          <a:prstGeom prst="rect">
            <a:avLst/>
          </a:prstGeom>
          <a:solidFill>
            <a:srgbClr val="D9D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66928" y="502920"/>
            <a:ext cx="30480" cy="56692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1"/>
          <p:cNvSpPr/>
          <p:nvPr/>
        </p:nvSpPr>
        <p:spPr>
          <a:xfrm>
            <a:off x="566928" y="502920"/>
            <a:ext cx="17780" cy="5852160"/>
          </a:xfrm>
          <a:prstGeom prst="rect">
            <a:avLst/>
          </a:prstGeom>
          <a:solidFill>
            <a:srgbClr val="D9D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2"/>
          <p:cNvSpPr/>
          <p:nvPr/>
        </p:nvSpPr>
        <p:spPr>
          <a:xfrm>
            <a:off x="566928" y="502920"/>
            <a:ext cx="30480" cy="56692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548640"/>
            <a:ext cx="10607040" cy="169277"/>
          </a:xfrm>
          <a:prstGeom prst="rect">
            <a:avLst/>
          </a:prstGeom>
          <a:noFill/>
        </p:spPr>
        <p:txBody>
          <a:bodyPr wrap="square" lIns="0" tIns="0" rIns="0" bIns="0" anchor="t">
            <a:spAutoFit/>
          </a:bodyPr>
          <a:lstStyle/>
          <a:p>
            <a:pPr>
              <a:lnSpc>
                <a:spcPct val="100000"/>
              </a:lnSpc>
            </a:pPr>
            <a:r>
              <a:rPr lang="en-US" altLang="zh-CN" sz="1100" b="1" dirty="0">
                <a:solidFill>
                  <a:srgbClr val="E07A5F"/>
                </a:solidFill>
                <a:latin typeface="Consolas"/>
              </a:rPr>
              <a:t>C1</a:t>
            </a:r>
            <a:r>
              <a:rPr sz="1100" b="1" dirty="0">
                <a:solidFill>
                  <a:srgbClr val="E07A5F"/>
                </a:solidFill>
                <a:latin typeface="Consolas"/>
              </a:rPr>
              <a:t>  </a:t>
            </a:r>
            <a:r>
              <a:rPr lang="en-US" sz="1100" dirty="0">
                <a:solidFill>
                  <a:srgbClr val="2A9D8F"/>
                </a:solidFill>
                <a:latin typeface="Consolas"/>
              </a:rPr>
              <a:t>SAC-RL Controller Design</a:t>
            </a:r>
            <a:endParaRPr sz="1100" dirty="0">
              <a:solidFill>
                <a:srgbClr val="2A9D8F"/>
              </a:solidFill>
              <a:latin typeface="Consolas"/>
            </a:endParaRPr>
          </a:p>
        </p:txBody>
      </p:sp>
      <p:sp>
        <p:nvSpPr>
          <p:cNvPr id="9" name="Rectangle 1"/>
          <p:cNvSpPr/>
          <p:nvPr/>
        </p:nvSpPr>
        <p:spPr>
          <a:xfrm>
            <a:off x="566928" y="502920"/>
            <a:ext cx="17780" cy="5852160"/>
          </a:xfrm>
          <a:prstGeom prst="rect">
            <a:avLst/>
          </a:prstGeom>
          <a:solidFill>
            <a:srgbClr val="D9D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2"/>
          <p:cNvSpPr/>
          <p:nvPr/>
        </p:nvSpPr>
        <p:spPr>
          <a:xfrm>
            <a:off x="566928" y="502920"/>
            <a:ext cx="30480" cy="56692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838173"/>
            <a:ext cx="10607040" cy="929229"/>
          </a:xfrm>
          <a:prstGeom prst="rect">
            <a:avLst/>
          </a:prstGeom>
          <a:noFill/>
        </p:spPr>
        <p:txBody>
          <a:bodyPr wrap="square" lIns="0" tIns="0" rIns="0" bIns="0" anchor="t">
            <a:spAutoFit/>
          </a:bodyPr>
          <a:lstStyle/>
          <a:p>
            <a:pPr>
              <a:lnSpc>
                <a:spcPct val="102000"/>
              </a:lnSpc>
              <a:spcAft>
                <a:spcPts val="600"/>
              </a:spcAft>
            </a:pPr>
            <a:r>
              <a:rPr sz="2800" b="1" dirty="0">
                <a:solidFill>
                  <a:srgbClr val="1D3557"/>
                </a:solidFill>
                <a:latin typeface="Georgia"/>
              </a:rPr>
              <a:t>Can We Skip the Math?</a:t>
            </a:r>
            <a:r>
              <a:rPr lang="th-TH" sz="2800" b="1" dirty="0">
                <a:solidFill>
                  <a:srgbClr val="1D3557"/>
                </a:solidFill>
                <a:latin typeface="Georgia"/>
              </a:rPr>
              <a:t> </a:t>
            </a:r>
            <a:r>
              <a:rPr lang="en-US" sz="1600" b="1" noProof="1">
                <a:solidFill>
                  <a:schemeClr val="accent2">
                    <a:lumMod val="75000"/>
                  </a:schemeClr>
                </a:solidFill>
              </a:rPr>
              <a:t>— </a:t>
            </a:r>
            <a:r>
              <a:rPr lang="en-US" sz="1600" b="1" dirty="0">
                <a:solidFill>
                  <a:schemeClr val="accent2">
                    <a:lumMod val="75000"/>
                  </a:schemeClr>
                </a:solidFill>
                <a:latin typeface="Georgia"/>
              </a:rPr>
              <a:t>SAC-RL Controller Design</a:t>
            </a:r>
          </a:p>
          <a:p>
            <a:pPr algn="l">
              <a:lnSpc>
                <a:spcPct val="102000"/>
              </a:lnSpc>
              <a:spcBef>
                <a:spcPts val="0"/>
              </a:spcBef>
              <a:spcAft>
                <a:spcPts val="600"/>
              </a:spcAft>
            </a:pPr>
            <a:endParaRPr sz="2800" b="1" dirty="0">
              <a:solidFill>
                <a:srgbClr val="1D3557"/>
              </a:solidFill>
              <a:latin typeface="Georgia"/>
            </a:endParaRPr>
          </a:p>
        </p:txBody>
      </p:sp>
      <p:sp>
        <p:nvSpPr>
          <p:cNvPr id="40" name="Hdr_PID"/>
          <p:cNvSpPr txBox="1"/>
          <p:nvPr/>
        </p:nvSpPr>
        <p:spPr>
          <a:xfrm>
            <a:off x="695998" y="1387424"/>
            <a:ext cx="4800000" cy="250000"/>
          </a:xfrm>
          <a:prstGeom prst="rect">
            <a:avLst/>
          </a:prstGeom>
          <a:noFill/>
        </p:spPr>
        <p:txBody>
          <a:bodyPr wrap="square" lIns="0" tIns="0" rIns="0" bIns="0" anchor="ctr"/>
          <a:lstStyle/>
          <a:p>
            <a:pPr marL="285750" indent="-285750" algn="ctr">
              <a:buFont typeface="Arial" panose="020B0604020202020204" pitchFamily="34" charset="0"/>
              <a:buChar char="•"/>
            </a:pPr>
            <a:r>
              <a:rPr lang="en-US" altLang="zh-CN" sz="1500" b="1" dirty="0">
                <a:solidFill>
                  <a:srgbClr val="1D3557"/>
                </a:solidFill>
                <a:latin typeface="Georgia"/>
              </a:rPr>
              <a:t>Conventional Controller </a:t>
            </a:r>
            <a:r>
              <a:rPr lang="en-US" sz="1500" b="1" dirty="0">
                <a:solidFill>
                  <a:srgbClr val="1D3557"/>
                </a:solidFill>
                <a:latin typeface="Georgia"/>
              </a:rPr>
              <a:t>: PID + Feedforward</a:t>
            </a:r>
          </a:p>
        </p:txBody>
      </p:sp>
      <p:sp>
        <p:nvSpPr>
          <p:cNvPr id="41" name="Hdr_SAC"/>
          <p:cNvSpPr txBox="1"/>
          <p:nvPr/>
        </p:nvSpPr>
        <p:spPr>
          <a:xfrm>
            <a:off x="6068680" y="1329924"/>
            <a:ext cx="5083972" cy="326509"/>
          </a:xfrm>
          <a:prstGeom prst="rect">
            <a:avLst/>
          </a:prstGeom>
          <a:noFill/>
        </p:spPr>
        <p:txBody>
          <a:bodyPr wrap="square" lIns="0" tIns="0" rIns="0" bIns="0" anchor="ctr"/>
          <a:lstStyle/>
          <a:p>
            <a:pPr marL="285750" indent="-285750" algn="ctr">
              <a:buFont typeface="Arial" panose="020B0604020202020204" pitchFamily="34" charset="0"/>
              <a:buChar char="•"/>
            </a:pPr>
            <a:r>
              <a:rPr lang="en-US" sz="1500" b="1" dirty="0">
                <a:solidFill>
                  <a:srgbClr val="1D3557"/>
                </a:solidFill>
                <a:latin typeface="Georgia"/>
              </a:rPr>
              <a:t>Proposed Controller</a:t>
            </a:r>
            <a:r>
              <a:rPr sz="1500" b="1" dirty="0">
                <a:solidFill>
                  <a:srgbClr val="1D3557"/>
                </a:solidFill>
                <a:latin typeface="Georgia"/>
              </a:rPr>
              <a:t>: </a:t>
            </a:r>
            <a:r>
              <a:rPr lang="en-US" sz="1500" b="1" dirty="0">
                <a:solidFill>
                  <a:srgbClr val="1D3557"/>
                </a:solidFill>
                <a:latin typeface="Georgia"/>
              </a:rPr>
              <a:t>Soft Actor-Critic (SAC-RL)</a:t>
            </a:r>
            <a:endParaRPr sz="1500" b="1" dirty="0">
              <a:solidFill>
                <a:srgbClr val="1D3557"/>
              </a:solidFill>
              <a:latin typeface="Georgia"/>
            </a:endParaRPr>
          </a:p>
        </p:txBody>
      </p:sp>
      <p:cxnSp>
        <p:nvCxnSpPr>
          <p:cNvPr id="42" name="Divider"/>
          <p:cNvCxnSpPr>
            <a:cxnSpLocks/>
          </p:cNvCxnSpPr>
          <p:nvPr/>
        </p:nvCxnSpPr>
        <p:spPr>
          <a:xfrm>
            <a:off x="5855181" y="1418710"/>
            <a:ext cx="9464" cy="4974984"/>
          </a:xfrm>
          <a:prstGeom prst="line">
            <a:avLst/>
          </a:prstGeom>
          <a:ln w="18000" cap="flat">
            <a:solidFill>
              <a:srgbClr val="D9D2C4"/>
            </a:solidFill>
          </a:ln>
        </p:spPr>
      </p:cxnSp>
      <mc:AlternateContent xmlns:mc="http://schemas.openxmlformats.org/markup-compatibility/2006">
        <mc:Choice xmlns:a14="http://schemas.microsoft.com/office/drawing/2010/main" Requires="a14">
          <p:sp>
            <p:nvSpPr>
              <p:cNvPr id="68" name="Eq_PID"/>
              <p:cNvSpPr txBox="1"/>
              <p:nvPr/>
            </p:nvSpPr>
            <p:spPr>
              <a:xfrm>
                <a:off x="868680" y="3645362"/>
                <a:ext cx="4800000" cy="480000"/>
              </a:xfrm>
              <a:prstGeom prst="rect">
                <a:avLst/>
              </a:prstGeom>
              <a:solidFill>
                <a:srgbClr val="F4F1E9"/>
              </a:solidFill>
            </p:spPr>
            <p:txBody>
              <a:bodyPr wrap="square" lIns="60960" tIns="45720" rIns="60960" bIns="45720" anchor="ctr"/>
              <a:lstStyle/>
              <a:p>
                <a:pPr algn="ctr">
                  <a:buNone/>
                </a:pPr>
                <a14:m>
                  <m:oMathPara xmlns:m="http://schemas.openxmlformats.org/officeDocument/2006/math">
                    <m:oMathParaPr>
                      <m:jc m:val="center"/>
                    </m:oMathParaPr>
                    <m:oMath xmlns:m="http://schemas.openxmlformats.org/officeDocument/2006/math">
                      <m:r>
                        <a:rPr>
                          <a:latin typeface="Cambria Math" panose="02040503050406030204" pitchFamily="18" charset="0"/>
                        </a:rPr>
                        <m:t>𝑉</m:t>
                      </m:r>
                      <m:r>
                        <a:rPr>
                          <a:latin typeface="Cambria Math" panose="02040503050406030204" pitchFamily="18" charset="0"/>
                        </a:rPr>
                        <m:t>=</m:t>
                      </m:r>
                      <m:sSup>
                        <m:sSupPr>
                          <m:ctrlPr>
                            <a:rPr i="1">
                              <a:latin typeface="Cambria Math" panose="02040503050406030204" pitchFamily="18" charset="0"/>
                            </a:rPr>
                          </m:ctrlPr>
                        </m:sSupPr>
                        <m:e>
                          <m:r>
                            <a:rPr>
                              <a:latin typeface="Cambria Math" panose="02040503050406030204" pitchFamily="18" charset="0"/>
                            </a:rPr>
                            <m:t>𝑓</m:t>
                          </m:r>
                        </m:e>
                        <m:sup>
                          <m:r>
                            <a:rPr>
                              <a:latin typeface="Cambria Math" panose="02040503050406030204" pitchFamily="18" charset="0"/>
                            </a:rPr>
                            <m:t>−1</m:t>
                          </m:r>
                        </m:sup>
                      </m:sSup>
                      <m:r>
                        <a:rPr>
                          <a:latin typeface="Cambria Math" panose="02040503050406030204" pitchFamily="18" charset="0"/>
                        </a:rPr>
                        <m:t>(</m:t>
                      </m:r>
                      <m:sSub>
                        <m:sSubPr>
                          <m:ctrlPr>
                            <a:rPr i="1">
                              <a:latin typeface="Cambria Math" panose="02040503050406030204" pitchFamily="18" charset="0"/>
                            </a:rPr>
                          </m:ctrlPr>
                        </m:sSubPr>
                        <m:e>
                          <m:r>
                            <a:rPr>
                              <a:latin typeface="Cambria Math" panose="02040503050406030204" pitchFamily="18" charset="0"/>
                            </a:rPr>
                            <m:t>𝑉</m:t>
                          </m:r>
                        </m:e>
                        <m:sub>
                          <m:r>
                            <m:rPr>
                              <m:sty m:val="p"/>
                            </m:rPr>
                            <a:rPr>
                              <a:latin typeface="Cambria Math" panose="02040503050406030204" pitchFamily="18" charset="0"/>
                            </a:rPr>
                            <m:t>ref</m:t>
                          </m:r>
                        </m:sub>
                      </m:sSub>
                      <m:r>
                        <a:rPr>
                          <a:latin typeface="Cambria Math" panose="02040503050406030204" pitchFamily="18" charset="0"/>
                        </a:rPr>
                        <m:t>)+</m:t>
                      </m:r>
                      <m:r>
                        <m:rPr>
                          <m:sty m:val="p"/>
                        </m:rPr>
                        <a:rPr>
                          <a:latin typeface="Cambria Math" panose="02040503050406030204" pitchFamily="18" charset="0"/>
                        </a:rPr>
                        <m:t>PID</m:t>
                      </m:r>
                      <m:r>
                        <a:rPr>
                          <a:latin typeface="Cambria Math" panose="02040503050406030204" pitchFamily="18" charset="0"/>
                        </a:rPr>
                        <m:t>(</m:t>
                      </m:r>
                      <m:r>
                        <a:rPr>
                          <a:latin typeface="Cambria Math" panose="02040503050406030204" pitchFamily="18" charset="0"/>
                        </a:rPr>
                        <m:t>𝑒</m:t>
                      </m:r>
                      <m:r>
                        <a:rPr>
                          <a:latin typeface="Cambria Math" panose="02040503050406030204" pitchFamily="18" charset="0"/>
                        </a:rPr>
                        <m:t>)</m:t>
                      </m:r>
                    </m:oMath>
                  </m:oMathPara>
                </a14:m>
                <a:endParaRPr/>
              </a:p>
            </p:txBody>
          </p:sp>
        </mc:Choice>
        <mc:Fallback>
          <p:sp>
            <p:nvSpPr>
              <p:cNvPr id="68" name="Eq_PID"/>
              <p:cNvSpPr txBox="1">
                <a:spLocks noRot="1" noChangeAspect="1" noMove="1" noResize="1" noEditPoints="1" noAdjustHandles="1" noChangeArrowheads="1" noChangeShapeType="1" noTextEdit="1"/>
              </p:cNvSpPr>
              <p:nvPr/>
            </p:nvSpPr>
            <p:spPr>
              <a:xfrm>
                <a:off x="868680" y="3645362"/>
                <a:ext cx="4800000" cy="480000"/>
              </a:xfrm>
              <a:prstGeom prst="rect">
                <a:avLst/>
              </a:prstGeom>
              <a:blipFill>
                <a:blip r:embed="rId4"/>
                <a:stretch>
                  <a:fillRect/>
                </a:stretch>
              </a:blipFill>
            </p:spPr>
            <p:txBody>
              <a:bodyPr/>
              <a:lstStyle/>
              <a:p>
                <a:r>
                  <a:rPr lang="th-TH">
                    <a:noFill/>
                  </a:rPr>
                  <a:t> </a:t>
                </a:r>
              </a:p>
            </p:txBody>
          </p:sp>
        </mc:Fallback>
      </mc:AlternateContent>
      <p:sp>
        <p:nvSpPr>
          <p:cNvPr id="69" name="Badge_PID"/>
          <p:cNvSpPr/>
          <p:nvPr/>
        </p:nvSpPr>
        <p:spPr>
          <a:xfrm>
            <a:off x="651146" y="4234864"/>
            <a:ext cx="2600000" cy="280000"/>
          </a:xfrm>
          <a:prstGeom prst="roundRect">
            <a:avLst>
              <a:gd name="adj" fmla="val 25000"/>
            </a:avLst>
          </a:prstGeom>
          <a:solidFill>
            <a:srgbClr val="2A9D8F"/>
          </a:solidFill>
          <a:ln>
            <a:noFill/>
          </a:ln>
        </p:spPr>
        <p:txBody>
          <a:bodyPr lIns="45720" tIns="45720" rIns="45720" bIns="45720" anchor="ctr"/>
          <a:lstStyle/>
          <a:p>
            <a:pPr algn="ctr"/>
            <a:r>
              <a:rPr sz="1400" b="1">
                <a:solidFill>
                  <a:srgbClr val="FFFFFF"/>
                </a:solidFill>
              </a:rPr>
              <a:t>Model-based Controller</a:t>
            </a:r>
          </a:p>
        </p:txBody>
      </p:sp>
      <p:sp>
        <p:nvSpPr>
          <p:cNvPr id="70" name="Tag_PID"/>
          <p:cNvSpPr txBox="1"/>
          <p:nvPr/>
        </p:nvSpPr>
        <p:spPr>
          <a:xfrm>
            <a:off x="3342085" y="4273799"/>
            <a:ext cx="2400579" cy="195930"/>
          </a:xfrm>
          <a:prstGeom prst="rect">
            <a:avLst/>
          </a:prstGeom>
          <a:noFill/>
        </p:spPr>
        <p:txBody>
          <a:bodyPr wrap="square" lIns="0" tIns="0" rIns="0" bIns="0" anchor="ctr"/>
          <a:lstStyle/>
          <a:p>
            <a:pPr algn="ctr"/>
            <a:r>
              <a:rPr lang="en-US" altLang="zh-CN" sz="1400" i="1" dirty="0">
                <a:solidFill>
                  <a:srgbClr val="4A5A66"/>
                </a:solidFill>
              </a:rPr>
              <a:t>Need a knowledge of the systems</a:t>
            </a:r>
            <a:endParaRPr sz="1400" i="1" dirty="0">
              <a:solidFill>
                <a:srgbClr val="4A5A66"/>
              </a:solidFill>
            </a:endParaRPr>
          </a:p>
        </p:txBody>
      </p:sp>
      <mc:AlternateContent xmlns:mc="http://schemas.openxmlformats.org/markup-compatibility/2006">
        <mc:Choice xmlns:a14="http://schemas.microsoft.com/office/drawing/2010/main" Requires="a14">
          <p:sp>
            <p:nvSpPr>
              <p:cNvPr id="85" name="Eq_SAC"/>
              <p:cNvSpPr txBox="1"/>
              <p:nvPr/>
            </p:nvSpPr>
            <p:spPr>
              <a:xfrm>
                <a:off x="6078144" y="3643819"/>
                <a:ext cx="5407040" cy="480000"/>
              </a:xfrm>
              <a:prstGeom prst="rect">
                <a:avLst/>
              </a:prstGeom>
              <a:solidFill>
                <a:srgbClr val="F4F1E9"/>
              </a:solidFill>
            </p:spPr>
            <p:txBody>
              <a:bodyPr wrap="square" lIns="60960" tIns="45720" rIns="60960" bIns="45720" anchor="ctr"/>
              <a:lstStyle/>
              <a:p>
                <a:pPr algn="ctr">
                  <a:buNone/>
                </a:pPr>
                <a14:m>
                  <m:oMathPara xmlns:m="http://schemas.openxmlformats.org/officeDocument/2006/math">
                    <m:oMathParaPr>
                      <m:jc m:val="center"/>
                    </m:oMathParaPr>
                    <m:oMath xmlns:m="http://schemas.openxmlformats.org/officeDocument/2006/math">
                      <m:r>
                        <a:rPr>
                          <a:latin typeface="Cambria Math" panose="02040503050406030204" pitchFamily="18" charset="0"/>
                        </a:rPr>
                        <m:t>𝑉</m:t>
                      </m:r>
                      <m:r>
                        <a:rPr>
                          <a:latin typeface="Cambria Math" panose="02040503050406030204" pitchFamily="18" charset="0"/>
                        </a:rPr>
                        <m:t>=</m:t>
                      </m:r>
                      <m:r>
                        <a:rPr>
                          <a:latin typeface="Cambria Math" panose="02040503050406030204" pitchFamily="18" charset="0"/>
                        </a:rPr>
                        <m:t>𝜋</m:t>
                      </m:r>
                      <m:r>
                        <a:rPr>
                          <a:latin typeface="Cambria Math" panose="02040503050406030204" pitchFamily="18" charset="0"/>
                        </a:rPr>
                        <m:t>(</m:t>
                      </m:r>
                      <m:r>
                        <a:rPr>
                          <a:latin typeface="Cambria Math" panose="02040503050406030204" pitchFamily="18" charset="0"/>
                        </a:rPr>
                        <m:t>𝑠</m:t>
                      </m:r>
                      <m:r>
                        <a:rPr>
                          <a:latin typeface="Cambria Math" panose="02040503050406030204" pitchFamily="18" charset="0"/>
                        </a:rPr>
                        <m:t>), </m:t>
                      </m:r>
                      <m:r>
                        <a:rPr>
                          <a:latin typeface="Cambria Math" panose="02040503050406030204" pitchFamily="18" charset="0"/>
                        </a:rPr>
                        <m:t>𝑠</m:t>
                      </m:r>
                      <m:r>
                        <a:rPr>
                          <a:latin typeface="Cambria Math" panose="02040503050406030204" pitchFamily="18" charset="0"/>
                        </a:rPr>
                        <m:t>=[</m:t>
                      </m:r>
                      <m:sSub>
                        <m:sSubPr>
                          <m:ctrlPr>
                            <a:rPr i="1">
                              <a:latin typeface="Cambria Math" panose="02040503050406030204" pitchFamily="18" charset="0"/>
                            </a:rPr>
                          </m:ctrlPr>
                        </m:sSubPr>
                        <m:e>
                          <m:r>
                            <a:rPr>
                              <a:latin typeface="Cambria Math" panose="02040503050406030204" pitchFamily="18" charset="0"/>
                            </a:rPr>
                            <m:t>𝑉</m:t>
                          </m:r>
                        </m:e>
                        <m:sub>
                          <m:r>
                            <m:rPr>
                              <m:sty m:val="p"/>
                            </m:rPr>
                            <a:rPr>
                              <a:latin typeface="Cambria Math" panose="02040503050406030204" pitchFamily="18" charset="0"/>
                            </a:rPr>
                            <m:t>ref</m:t>
                          </m:r>
                        </m:sub>
                      </m:sSub>
                      <m:r>
                        <a:rPr>
                          <a:latin typeface="Cambria Math" panose="02040503050406030204" pitchFamily="18" charset="0"/>
                        </a:rPr>
                        <m:t>, </m:t>
                      </m:r>
                      <m:r>
                        <a:rPr>
                          <a:latin typeface="Cambria Math" panose="02040503050406030204" pitchFamily="18" charset="0"/>
                        </a:rPr>
                        <m:t>𝑉</m:t>
                      </m:r>
                      <m:r>
                        <a:rPr>
                          <a:latin typeface="Cambria Math" panose="02040503050406030204" pitchFamily="18" charset="0"/>
                        </a:rPr>
                        <m:t>, </m:t>
                      </m:r>
                      <m:r>
                        <a:rPr>
                          <a:latin typeface="Cambria Math" panose="02040503050406030204" pitchFamily="18" charset="0"/>
                        </a:rPr>
                        <m:t>𝑒</m:t>
                      </m:r>
                      <m:r>
                        <a:rPr>
                          <a:latin typeface="Cambria Math" panose="02040503050406030204" pitchFamily="18" charset="0"/>
                        </a:rPr>
                        <m:t>, </m:t>
                      </m:r>
                      <m:r>
                        <a:rPr>
                          <a:latin typeface="Cambria Math" panose="02040503050406030204" pitchFamily="18" charset="0"/>
                        </a:rPr>
                        <m:t>𝜔</m:t>
                      </m:r>
                      <m:r>
                        <a:rPr>
                          <a:latin typeface="Cambria Math" panose="02040503050406030204" pitchFamily="18" charset="0"/>
                        </a:rPr>
                        <m:t>, …]</m:t>
                      </m:r>
                    </m:oMath>
                  </m:oMathPara>
                </a14:m>
                <a:endParaRPr/>
              </a:p>
            </p:txBody>
          </p:sp>
        </mc:Choice>
        <mc:Fallback>
          <p:sp>
            <p:nvSpPr>
              <p:cNvPr id="85" name="Eq_SAC"/>
              <p:cNvSpPr txBox="1">
                <a:spLocks noRot="1" noChangeAspect="1" noMove="1" noResize="1" noEditPoints="1" noAdjustHandles="1" noChangeArrowheads="1" noChangeShapeType="1" noTextEdit="1"/>
              </p:cNvSpPr>
              <p:nvPr/>
            </p:nvSpPr>
            <p:spPr>
              <a:xfrm>
                <a:off x="6078144" y="3643819"/>
                <a:ext cx="5407040" cy="480000"/>
              </a:xfrm>
              <a:prstGeom prst="rect">
                <a:avLst/>
              </a:prstGeom>
              <a:blipFill>
                <a:blip r:embed="rId5"/>
                <a:stretch>
                  <a:fillRect b="-1282"/>
                </a:stretch>
              </a:blipFill>
            </p:spPr>
            <p:txBody>
              <a:bodyPr/>
              <a:lstStyle/>
              <a:p>
                <a:r>
                  <a:rPr lang="th-TH">
                    <a:noFill/>
                  </a:rPr>
                  <a:t> </a:t>
                </a:r>
              </a:p>
            </p:txBody>
          </p:sp>
        </mc:Fallback>
      </mc:AlternateContent>
      <p:sp>
        <p:nvSpPr>
          <p:cNvPr id="86" name="Badge_SAC"/>
          <p:cNvSpPr/>
          <p:nvPr/>
        </p:nvSpPr>
        <p:spPr>
          <a:xfrm>
            <a:off x="6308533" y="4237898"/>
            <a:ext cx="2700000" cy="280000"/>
          </a:xfrm>
          <a:prstGeom prst="roundRect">
            <a:avLst>
              <a:gd name="adj" fmla="val 25000"/>
            </a:avLst>
          </a:prstGeom>
          <a:solidFill>
            <a:schemeClr val="accent6">
              <a:lumMod val="75000"/>
            </a:schemeClr>
          </a:solidFill>
          <a:ln>
            <a:noFill/>
          </a:ln>
        </p:spPr>
        <p:txBody>
          <a:bodyPr lIns="45720" tIns="45720" rIns="45720" bIns="45720" anchor="ctr"/>
          <a:lstStyle/>
          <a:p>
            <a:pPr algn="ctr"/>
            <a:r>
              <a:rPr sz="1400" b="1">
                <a:solidFill>
                  <a:srgbClr val="FFFFFF"/>
                </a:solidFill>
              </a:rPr>
              <a:t>Data-driven Controller</a:t>
            </a:r>
          </a:p>
        </p:txBody>
      </p:sp>
      <p:sp>
        <p:nvSpPr>
          <p:cNvPr id="87" name="Tag_SAC"/>
          <p:cNvSpPr txBox="1"/>
          <p:nvPr/>
        </p:nvSpPr>
        <p:spPr>
          <a:xfrm>
            <a:off x="9152564" y="4236355"/>
            <a:ext cx="2600000" cy="260000"/>
          </a:xfrm>
          <a:prstGeom prst="rect">
            <a:avLst/>
          </a:prstGeom>
          <a:noFill/>
        </p:spPr>
        <p:txBody>
          <a:bodyPr wrap="square" lIns="0" tIns="0" rIns="0" bIns="0" anchor="ctr"/>
          <a:lstStyle/>
          <a:p>
            <a:pPr algn="ctr"/>
            <a:r>
              <a:rPr lang="en-US" sz="1400" i="1" dirty="0">
                <a:solidFill>
                  <a:srgbClr val="4A5A66"/>
                </a:solidFill>
              </a:rPr>
              <a:t>The systems learn from the rewards</a:t>
            </a:r>
            <a:endParaRPr sz="1400" i="1" dirty="0">
              <a:solidFill>
                <a:srgbClr val="4A5A66"/>
              </a:solidFill>
            </a:endParaRPr>
          </a:p>
        </p:txBody>
      </p:sp>
      <p:graphicFrame>
        <p:nvGraphicFramePr>
          <p:cNvPr id="90" name="Object 89">
            <a:extLst>
              <a:ext uri="{FF2B5EF4-FFF2-40B4-BE49-F238E27FC236}">
                <a16:creationId xmlns:a16="http://schemas.microsoft.com/office/drawing/2014/main" id="{C0CE55F2-3633-4298-8316-D9C6857431C9}"/>
              </a:ext>
            </a:extLst>
          </p:cNvPr>
          <p:cNvGraphicFramePr>
            <a:graphicFrameLocks noChangeAspect="1"/>
          </p:cNvGraphicFramePr>
          <p:nvPr/>
        </p:nvGraphicFramePr>
        <p:xfrm>
          <a:off x="5356298" y="2658879"/>
          <a:ext cx="139700" cy="228600"/>
        </p:xfrm>
        <a:graphic>
          <a:graphicData uri="http://schemas.openxmlformats.org/presentationml/2006/ole">
            <mc:AlternateContent xmlns:mc="http://schemas.openxmlformats.org/markup-compatibility/2006">
              <mc:Choice xmlns:v="urn:schemas-microsoft-com:vml" Requires="v">
                <p:oleObj spid="_x0000_s7192" name="Equation" r:id="rId6" imgW="139680" imgH="228600" progId="Equation.DSMT4">
                  <p:embed/>
                </p:oleObj>
              </mc:Choice>
              <mc:Fallback>
                <p:oleObj name="Equation" r:id="rId6" imgW="139680" imgH="228600" progId="Equation.DSMT4">
                  <p:embed/>
                  <p:pic>
                    <p:nvPicPr>
                      <p:cNvPr id="90" name="Object 89">
                        <a:extLst>
                          <a:ext uri="{FF2B5EF4-FFF2-40B4-BE49-F238E27FC236}">
                            <a16:creationId xmlns:a16="http://schemas.microsoft.com/office/drawing/2014/main" id="{C0CE55F2-3633-4298-8316-D9C6857431C9}"/>
                          </a:ext>
                        </a:extLst>
                      </p:cNvPr>
                      <p:cNvPicPr/>
                      <p:nvPr/>
                    </p:nvPicPr>
                    <p:blipFill>
                      <a:blip r:embed="rId7"/>
                      <a:stretch>
                        <a:fillRect/>
                      </a:stretch>
                    </p:blipFill>
                    <p:spPr>
                      <a:xfrm>
                        <a:off x="5356298" y="2658879"/>
                        <a:ext cx="139700" cy="228600"/>
                      </a:xfrm>
                      <a:prstGeom prst="rect">
                        <a:avLst/>
                      </a:prstGeom>
                    </p:spPr>
                  </p:pic>
                </p:oleObj>
              </mc:Fallback>
            </mc:AlternateContent>
          </a:graphicData>
        </a:graphic>
      </p:graphicFrame>
      <p:sp>
        <p:nvSpPr>
          <p:cNvPr id="91" name="Rounded Rectangle 6">
            <a:extLst>
              <a:ext uri="{FF2B5EF4-FFF2-40B4-BE49-F238E27FC236}">
                <a16:creationId xmlns:a16="http://schemas.microsoft.com/office/drawing/2014/main" id="{03CDC375-5F3E-45A4-B578-1FB75676FDE8}"/>
              </a:ext>
            </a:extLst>
          </p:cNvPr>
          <p:cNvSpPr/>
          <p:nvPr/>
        </p:nvSpPr>
        <p:spPr>
          <a:xfrm>
            <a:off x="1628828" y="2593942"/>
            <a:ext cx="406858" cy="479453"/>
          </a:xfrm>
          <a:prstGeom prst="roundRect">
            <a:avLst/>
          </a:prstGeom>
          <a:ln w="15875">
            <a:solidFill>
              <a:srgbClr val="1D3456"/>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noProof="1">
                <a:solidFill>
                  <a:srgbClr val="1D3456"/>
                </a:solidFill>
              </a:rPr>
              <a:t>PI</a:t>
            </a:r>
          </a:p>
        </p:txBody>
      </p:sp>
      <p:cxnSp>
        <p:nvCxnSpPr>
          <p:cNvPr id="92" name="Straight Arrow Connector 91">
            <a:extLst>
              <a:ext uri="{FF2B5EF4-FFF2-40B4-BE49-F238E27FC236}">
                <a16:creationId xmlns:a16="http://schemas.microsoft.com/office/drawing/2014/main" id="{FF214B7B-F5C6-4026-A5F0-CA4C1037A915}"/>
              </a:ext>
            </a:extLst>
          </p:cNvPr>
          <p:cNvCxnSpPr>
            <a:cxnSpLocks/>
          </p:cNvCxnSpPr>
          <p:nvPr/>
        </p:nvCxnSpPr>
        <p:spPr>
          <a:xfrm>
            <a:off x="2035686" y="2841001"/>
            <a:ext cx="72000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93" name="TextBox 92">
                <a:extLst>
                  <a:ext uri="{FF2B5EF4-FFF2-40B4-BE49-F238E27FC236}">
                    <a16:creationId xmlns:a16="http://schemas.microsoft.com/office/drawing/2014/main" id="{6437A8D6-EEED-4875-8580-159C61C2BBAB}"/>
                  </a:ext>
                </a:extLst>
              </p:cNvPr>
              <p:cNvSpPr txBox="1"/>
              <p:nvPr/>
            </p:nvSpPr>
            <p:spPr>
              <a:xfrm>
                <a:off x="2159828" y="2593942"/>
                <a:ext cx="434799"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400" i="1" noProof="1" dirty="0" smtClean="0">
                              <a:solidFill>
                                <a:srgbClr val="1D3456"/>
                              </a:solidFill>
                              <a:latin typeface="Cambria Math" panose="02040503050406030204" pitchFamily="18" charset="0"/>
                            </a:rPr>
                          </m:ctrlPr>
                        </m:sSubPr>
                        <m:e>
                          <m:r>
                            <a:rPr lang="en-US" sz="1400" b="0" i="1" noProof="1" dirty="0" smtClean="0">
                              <a:solidFill>
                                <a:srgbClr val="1D3456"/>
                              </a:solidFill>
                              <a:latin typeface="Cambria Math" panose="02040503050406030204" pitchFamily="18" charset="0"/>
                            </a:rPr>
                            <m:t>𝑉</m:t>
                          </m:r>
                        </m:e>
                        <m:sub>
                          <m:r>
                            <a:rPr lang="en-US" sz="1400" b="0" i="1" noProof="1" dirty="0" smtClean="0">
                              <a:solidFill>
                                <a:srgbClr val="1D3456"/>
                              </a:solidFill>
                              <a:latin typeface="Cambria Math" panose="02040503050406030204" pitchFamily="18" charset="0"/>
                            </a:rPr>
                            <m:t>𝑏𝑎𝑠𝑒</m:t>
                          </m:r>
                        </m:sub>
                      </m:sSub>
                    </m:oMath>
                  </m:oMathPara>
                </a14:m>
                <a:endParaRPr lang="en-US" sz="1400" noProof="1"/>
              </a:p>
            </p:txBody>
          </p:sp>
        </mc:Choice>
        <mc:Fallback>
          <p:sp>
            <p:nvSpPr>
              <p:cNvPr id="93" name="TextBox 92">
                <a:extLst>
                  <a:ext uri="{FF2B5EF4-FFF2-40B4-BE49-F238E27FC236}">
                    <a16:creationId xmlns:a16="http://schemas.microsoft.com/office/drawing/2014/main" id="{6437A8D6-EEED-4875-8580-159C61C2BBAB}"/>
                  </a:ext>
                </a:extLst>
              </p:cNvPr>
              <p:cNvSpPr txBox="1">
                <a:spLocks noRot="1" noChangeAspect="1" noMove="1" noResize="1" noEditPoints="1" noAdjustHandles="1" noChangeArrowheads="1" noChangeShapeType="1" noTextEdit="1"/>
              </p:cNvSpPr>
              <p:nvPr/>
            </p:nvSpPr>
            <p:spPr>
              <a:xfrm>
                <a:off x="2159828" y="2593942"/>
                <a:ext cx="434799" cy="215444"/>
              </a:xfrm>
              <a:prstGeom prst="rect">
                <a:avLst/>
              </a:prstGeom>
              <a:blipFill>
                <a:blip r:embed="rId8"/>
                <a:stretch>
                  <a:fillRect l="-9722" r="-1389" b="-14286"/>
                </a:stretch>
              </a:blipFill>
            </p:spPr>
            <p:txBody>
              <a:bodyPr/>
              <a:lstStyle/>
              <a:p>
                <a:r>
                  <a:rPr lang="th-TH">
                    <a:noFill/>
                  </a:rPr>
                  <a:t> </a:t>
                </a:r>
              </a:p>
            </p:txBody>
          </p:sp>
        </mc:Fallback>
      </mc:AlternateContent>
      <p:sp>
        <p:nvSpPr>
          <p:cNvPr id="94" name="Oval 93">
            <a:extLst>
              <a:ext uri="{FF2B5EF4-FFF2-40B4-BE49-F238E27FC236}">
                <a16:creationId xmlns:a16="http://schemas.microsoft.com/office/drawing/2014/main" id="{B8F9CFF8-EC10-4080-B990-01EC2F9E55E2}"/>
              </a:ext>
            </a:extLst>
          </p:cNvPr>
          <p:cNvSpPr/>
          <p:nvPr/>
        </p:nvSpPr>
        <p:spPr>
          <a:xfrm>
            <a:off x="2744828" y="2706001"/>
            <a:ext cx="270000" cy="270000"/>
          </a:xfrm>
          <a:prstGeom prst="ellipse">
            <a:avLst/>
          </a:prstGeom>
          <a:noFill/>
          <a:ln w="15875">
            <a:solidFill>
              <a:srgbClr val="1D34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95" name="TextBox 94">
            <a:extLst>
              <a:ext uri="{FF2B5EF4-FFF2-40B4-BE49-F238E27FC236}">
                <a16:creationId xmlns:a16="http://schemas.microsoft.com/office/drawing/2014/main" id="{663BDDDF-DB55-41BC-A9EB-DC1771E87E63}"/>
              </a:ext>
            </a:extLst>
          </p:cNvPr>
          <p:cNvSpPr txBox="1"/>
          <p:nvPr/>
        </p:nvSpPr>
        <p:spPr>
          <a:xfrm>
            <a:off x="2733654" y="2650067"/>
            <a:ext cx="300082" cy="369332"/>
          </a:xfrm>
          <a:prstGeom prst="rect">
            <a:avLst/>
          </a:prstGeom>
          <a:noFill/>
        </p:spPr>
        <p:txBody>
          <a:bodyPr wrap="none" rtlCol="0">
            <a:spAutoFit/>
          </a:bodyPr>
          <a:lstStyle/>
          <a:p>
            <a:r>
              <a:rPr lang="en-US" noProof="1">
                <a:solidFill>
                  <a:srgbClr val="1D3456"/>
                </a:solidFill>
              </a:rPr>
              <a:t>+</a:t>
            </a:r>
          </a:p>
        </p:txBody>
      </p:sp>
      <mc:AlternateContent xmlns:mc="http://schemas.openxmlformats.org/markup-compatibility/2006">
        <mc:Choice xmlns:a14="http://schemas.microsoft.com/office/drawing/2010/main" Requires="a14">
          <p:sp>
            <p:nvSpPr>
              <p:cNvPr id="96" name="TextBox 95">
                <a:extLst>
                  <a:ext uri="{FF2B5EF4-FFF2-40B4-BE49-F238E27FC236}">
                    <a16:creationId xmlns:a16="http://schemas.microsoft.com/office/drawing/2014/main" id="{DF5E8251-389C-4E28-8C43-ECA5626655B9}"/>
                  </a:ext>
                </a:extLst>
              </p:cNvPr>
              <p:cNvSpPr txBox="1"/>
              <p:nvPr/>
            </p:nvSpPr>
            <p:spPr>
              <a:xfrm>
                <a:off x="3157078" y="2606400"/>
                <a:ext cx="157992"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400" b="0" i="1" noProof="1" dirty="0" smtClean="0">
                          <a:solidFill>
                            <a:srgbClr val="1D3456"/>
                          </a:solidFill>
                          <a:latin typeface="Cambria Math" panose="02040503050406030204" pitchFamily="18" charset="0"/>
                        </a:rPr>
                        <m:t>𝑉</m:t>
                      </m:r>
                    </m:oMath>
                  </m:oMathPara>
                </a14:m>
                <a:endParaRPr lang="en-US" sz="1400" noProof="1"/>
              </a:p>
            </p:txBody>
          </p:sp>
        </mc:Choice>
        <mc:Fallback>
          <p:sp>
            <p:nvSpPr>
              <p:cNvPr id="96" name="TextBox 95">
                <a:extLst>
                  <a:ext uri="{FF2B5EF4-FFF2-40B4-BE49-F238E27FC236}">
                    <a16:creationId xmlns:a16="http://schemas.microsoft.com/office/drawing/2014/main" id="{DF5E8251-389C-4E28-8C43-ECA5626655B9}"/>
                  </a:ext>
                </a:extLst>
              </p:cNvPr>
              <p:cNvSpPr txBox="1">
                <a:spLocks noRot="1" noChangeAspect="1" noMove="1" noResize="1" noEditPoints="1" noAdjustHandles="1" noChangeArrowheads="1" noChangeShapeType="1" noTextEdit="1"/>
              </p:cNvSpPr>
              <p:nvPr/>
            </p:nvSpPr>
            <p:spPr>
              <a:xfrm>
                <a:off x="3157078" y="2606400"/>
                <a:ext cx="157992" cy="215444"/>
              </a:xfrm>
              <a:prstGeom prst="rect">
                <a:avLst/>
              </a:prstGeom>
              <a:blipFill>
                <a:blip r:embed="rId9"/>
                <a:stretch>
                  <a:fillRect l="-26923" r="-19231" b="-5714"/>
                </a:stretch>
              </a:blipFill>
            </p:spPr>
            <p:txBody>
              <a:bodyPr/>
              <a:lstStyle/>
              <a:p>
                <a:r>
                  <a:rPr lang="th-TH">
                    <a:noFill/>
                  </a:rPr>
                  <a:t> </a:t>
                </a:r>
              </a:p>
            </p:txBody>
          </p:sp>
        </mc:Fallback>
      </mc:AlternateContent>
      <p:sp>
        <p:nvSpPr>
          <p:cNvPr id="97" name="Rounded Rectangle 16">
            <a:extLst>
              <a:ext uri="{FF2B5EF4-FFF2-40B4-BE49-F238E27FC236}">
                <a16:creationId xmlns:a16="http://schemas.microsoft.com/office/drawing/2014/main" id="{7B19AFDC-3B67-475E-A1CC-6244B1738F8F}"/>
              </a:ext>
            </a:extLst>
          </p:cNvPr>
          <p:cNvSpPr/>
          <p:nvPr/>
        </p:nvSpPr>
        <p:spPr>
          <a:xfrm>
            <a:off x="4396205" y="2588588"/>
            <a:ext cx="960093" cy="479453"/>
          </a:xfrm>
          <a:prstGeom prst="roundRect">
            <a:avLst/>
          </a:prstGeom>
          <a:ln w="15875">
            <a:solidFill>
              <a:srgbClr val="1D3456"/>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noProof="1">
                <a:solidFill>
                  <a:srgbClr val="1D3456"/>
                </a:solidFill>
              </a:rPr>
              <a:t>Plant</a:t>
            </a:r>
          </a:p>
          <a:p>
            <a:pPr algn="ctr"/>
            <a:r>
              <a:rPr lang="en-US" sz="1050" noProof="1">
                <a:solidFill>
                  <a:srgbClr val="1D3456"/>
                </a:solidFill>
              </a:rPr>
              <a:t>(Motor+Rod)</a:t>
            </a:r>
          </a:p>
        </p:txBody>
      </p:sp>
      <p:cxnSp>
        <p:nvCxnSpPr>
          <p:cNvPr id="98" name="Straight Arrow Connector 97">
            <a:extLst>
              <a:ext uri="{FF2B5EF4-FFF2-40B4-BE49-F238E27FC236}">
                <a16:creationId xmlns:a16="http://schemas.microsoft.com/office/drawing/2014/main" id="{52BB66D5-AFD2-4735-BE7E-7FFBC42A810C}"/>
              </a:ext>
            </a:extLst>
          </p:cNvPr>
          <p:cNvCxnSpPr>
            <a:cxnSpLocks/>
          </p:cNvCxnSpPr>
          <p:nvPr/>
        </p:nvCxnSpPr>
        <p:spPr>
          <a:xfrm flipV="1">
            <a:off x="5352164" y="2828624"/>
            <a:ext cx="390500" cy="786"/>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99" name="TextBox 98">
                <a:extLst>
                  <a:ext uri="{FF2B5EF4-FFF2-40B4-BE49-F238E27FC236}">
                    <a16:creationId xmlns:a16="http://schemas.microsoft.com/office/drawing/2014/main" id="{3D038820-A053-4EE5-B4DD-27CB0187798F}"/>
                  </a:ext>
                </a:extLst>
              </p:cNvPr>
              <p:cNvSpPr txBox="1"/>
              <p:nvPr/>
            </p:nvSpPr>
            <p:spPr>
              <a:xfrm>
                <a:off x="5426148" y="2570530"/>
                <a:ext cx="173894"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400" b="0" i="1" noProof="1" dirty="0" smtClean="0">
                          <a:solidFill>
                            <a:srgbClr val="1D3456"/>
                          </a:solidFill>
                          <a:latin typeface="Cambria Math" panose="02040503050406030204" pitchFamily="18" charset="0"/>
                          <a:ea typeface="Cambria Math" panose="02040503050406030204" pitchFamily="18" charset="0"/>
                        </a:rPr>
                        <m:t>𝜔</m:t>
                      </m:r>
                    </m:oMath>
                  </m:oMathPara>
                </a14:m>
                <a:endParaRPr lang="en-US" sz="1400" noProof="1"/>
              </a:p>
            </p:txBody>
          </p:sp>
        </mc:Choice>
        <mc:Fallback>
          <p:sp>
            <p:nvSpPr>
              <p:cNvPr id="99" name="TextBox 98">
                <a:extLst>
                  <a:ext uri="{FF2B5EF4-FFF2-40B4-BE49-F238E27FC236}">
                    <a16:creationId xmlns:a16="http://schemas.microsoft.com/office/drawing/2014/main" id="{3D038820-A053-4EE5-B4DD-27CB0187798F}"/>
                  </a:ext>
                </a:extLst>
              </p:cNvPr>
              <p:cNvSpPr txBox="1">
                <a:spLocks noRot="1" noChangeAspect="1" noMove="1" noResize="1" noEditPoints="1" noAdjustHandles="1" noChangeArrowheads="1" noChangeShapeType="1" noTextEdit="1"/>
              </p:cNvSpPr>
              <p:nvPr/>
            </p:nvSpPr>
            <p:spPr>
              <a:xfrm>
                <a:off x="5426148" y="2570530"/>
                <a:ext cx="173894" cy="215444"/>
              </a:xfrm>
              <a:prstGeom prst="rect">
                <a:avLst/>
              </a:prstGeom>
              <a:blipFill>
                <a:blip r:embed="rId10"/>
                <a:stretch>
                  <a:fillRect l="-13793" r="-10345"/>
                </a:stretch>
              </a:blipFill>
            </p:spPr>
            <p:txBody>
              <a:bodyPr/>
              <a:lstStyle/>
              <a:p>
                <a:r>
                  <a:rPr lang="th-TH">
                    <a:noFill/>
                  </a:rPr>
                  <a:t> </a:t>
                </a:r>
              </a:p>
            </p:txBody>
          </p:sp>
        </mc:Fallback>
      </mc:AlternateContent>
      <p:sp>
        <p:nvSpPr>
          <p:cNvPr id="100" name="Oval 99">
            <a:extLst>
              <a:ext uri="{FF2B5EF4-FFF2-40B4-BE49-F238E27FC236}">
                <a16:creationId xmlns:a16="http://schemas.microsoft.com/office/drawing/2014/main" id="{DE950C4C-7BF1-4F02-8142-7F925330CBE5}"/>
              </a:ext>
            </a:extLst>
          </p:cNvPr>
          <p:cNvSpPr/>
          <p:nvPr/>
        </p:nvSpPr>
        <p:spPr>
          <a:xfrm>
            <a:off x="1076499" y="2700529"/>
            <a:ext cx="270000" cy="270000"/>
          </a:xfrm>
          <a:prstGeom prst="ellipse">
            <a:avLst/>
          </a:prstGeom>
          <a:noFill/>
          <a:ln w="15875">
            <a:solidFill>
              <a:srgbClr val="1D34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mc:AlternateContent xmlns:mc="http://schemas.openxmlformats.org/markup-compatibility/2006">
        <mc:Choice xmlns:a14="http://schemas.microsoft.com/office/drawing/2010/main" Requires="a14">
          <p:sp>
            <p:nvSpPr>
              <p:cNvPr id="101" name="TextBox 100">
                <a:extLst>
                  <a:ext uri="{FF2B5EF4-FFF2-40B4-BE49-F238E27FC236}">
                    <a16:creationId xmlns:a16="http://schemas.microsoft.com/office/drawing/2014/main" id="{A2E59413-B7EE-475B-8C28-CB00610F7A98}"/>
                  </a:ext>
                </a:extLst>
              </p:cNvPr>
              <p:cNvSpPr txBox="1"/>
              <p:nvPr/>
            </p:nvSpPr>
            <p:spPr>
              <a:xfrm>
                <a:off x="1124135" y="2716619"/>
                <a:ext cx="174727"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400" b="1" i="1" noProof="1" dirty="0" smtClean="0">
                          <a:solidFill>
                            <a:srgbClr val="1D3456"/>
                          </a:solidFill>
                          <a:latin typeface="Cambria Math" panose="02040503050406030204" pitchFamily="18" charset="0"/>
                          <a:ea typeface="Cambria Math" panose="02040503050406030204" pitchFamily="18" charset="0"/>
                        </a:rPr>
                        <m:t>±</m:t>
                      </m:r>
                    </m:oMath>
                  </m:oMathPara>
                </a14:m>
                <a:endParaRPr lang="en-US" sz="1400" b="1" noProof="1">
                  <a:solidFill>
                    <a:srgbClr val="1D3456"/>
                  </a:solidFill>
                </a:endParaRPr>
              </a:p>
            </p:txBody>
          </p:sp>
        </mc:Choice>
        <mc:Fallback>
          <p:sp>
            <p:nvSpPr>
              <p:cNvPr id="101" name="TextBox 100">
                <a:extLst>
                  <a:ext uri="{FF2B5EF4-FFF2-40B4-BE49-F238E27FC236}">
                    <a16:creationId xmlns:a16="http://schemas.microsoft.com/office/drawing/2014/main" id="{A2E59413-B7EE-475B-8C28-CB00610F7A98}"/>
                  </a:ext>
                </a:extLst>
              </p:cNvPr>
              <p:cNvSpPr txBox="1">
                <a:spLocks noRot="1" noChangeAspect="1" noMove="1" noResize="1" noEditPoints="1" noAdjustHandles="1" noChangeArrowheads="1" noChangeShapeType="1" noTextEdit="1"/>
              </p:cNvSpPr>
              <p:nvPr/>
            </p:nvSpPr>
            <p:spPr>
              <a:xfrm>
                <a:off x="1124135" y="2716619"/>
                <a:ext cx="174727" cy="215444"/>
              </a:xfrm>
              <a:prstGeom prst="rect">
                <a:avLst/>
              </a:prstGeom>
              <a:blipFill>
                <a:blip r:embed="rId11"/>
                <a:stretch>
                  <a:fillRect l="-27586" r="-27586" b="-17143"/>
                </a:stretch>
              </a:blipFill>
            </p:spPr>
            <p:txBody>
              <a:bodyPr/>
              <a:lstStyle/>
              <a:p>
                <a:r>
                  <a:rPr lang="th-TH">
                    <a:noFill/>
                  </a:rPr>
                  <a:t> </a:t>
                </a:r>
              </a:p>
            </p:txBody>
          </p:sp>
        </mc:Fallback>
      </mc:AlternateContent>
      <p:cxnSp>
        <p:nvCxnSpPr>
          <p:cNvPr id="102" name="Straight Arrow Connector 101">
            <a:extLst>
              <a:ext uri="{FF2B5EF4-FFF2-40B4-BE49-F238E27FC236}">
                <a16:creationId xmlns:a16="http://schemas.microsoft.com/office/drawing/2014/main" id="{182662D4-2BF1-45F8-9CC8-C72A0BD7765E}"/>
              </a:ext>
            </a:extLst>
          </p:cNvPr>
          <p:cNvCxnSpPr>
            <a:cxnSpLocks/>
          </p:cNvCxnSpPr>
          <p:nvPr/>
        </p:nvCxnSpPr>
        <p:spPr>
          <a:xfrm>
            <a:off x="5495998" y="2838376"/>
            <a:ext cx="0" cy="458550"/>
          </a:xfrm>
          <a:prstGeom prst="straightConnector1">
            <a:avLst/>
          </a:prstGeom>
          <a:ln w="15875">
            <a:solidFill>
              <a:srgbClr val="1D3456"/>
            </a:solidFill>
            <a:headEnd type="oval"/>
            <a:tailEnd type="none"/>
          </a:ln>
          <a:effectLst/>
        </p:spPr>
        <p:style>
          <a:lnRef idx="2">
            <a:schemeClr val="accent1"/>
          </a:lnRef>
          <a:fillRef idx="0">
            <a:schemeClr val="accent1"/>
          </a:fillRef>
          <a:effectRef idx="1">
            <a:schemeClr val="accent1"/>
          </a:effectRef>
          <a:fontRef idx="minor">
            <a:schemeClr val="tx1"/>
          </a:fontRef>
        </p:style>
      </p:cxnSp>
      <p:cxnSp>
        <p:nvCxnSpPr>
          <p:cNvPr id="103" name="Straight Arrow Connector 102">
            <a:extLst>
              <a:ext uri="{FF2B5EF4-FFF2-40B4-BE49-F238E27FC236}">
                <a16:creationId xmlns:a16="http://schemas.microsoft.com/office/drawing/2014/main" id="{2952592E-EE59-4439-8749-B516696E6BE7}"/>
              </a:ext>
            </a:extLst>
          </p:cNvPr>
          <p:cNvCxnSpPr>
            <a:cxnSpLocks/>
          </p:cNvCxnSpPr>
          <p:nvPr/>
        </p:nvCxnSpPr>
        <p:spPr>
          <a:xfrm>
            <a:off x="1222698" y="3297999"/>
            <a:ext cx="4279772" cy="6148"/>
          </a:xfrm>
          <a:prstGeom prst="straightConnector1">
            <a:avLst/>
          </a:prstGeom>
          <a:ln w="15875">
            <a:solidFill>
              <a:srgbClr val="1D3456"/>
            </a:solidFill>
            <a:tailEnd type="none"/>
          </a:ln>
          <a:effectLst/>
        </p:spPr>
        <p:style>
          <a:lnRef idx="2">
            <a:schemeClr val="accent1"/>
          </a:lnRef>
          <a:fillRef idx="0">
            <a:schemeClr val="accent1"/>
          </a:fillRef>
          <a:effectRef idx="1">
            <a:schemeClr val="accent1"/>
          </a:effectRef>
          <a:fontRef idx="minor">
            <a:schemeClr val="tx1"/>
          </a:fontRef>
        </p:style>
      </p:cxnSp>
      <p:cxnSp>
        <p:nvCxnSpPr>
          <p:cNvPr id="104" name="Straight Arrow Connector 103">
            <a:extLst>
              <a:ext uri="{FF2B5EF4-FFF2-40B4-BE49-F238E27FC236}">
                <a16:creationId xmlns:a16="http://schemas.microsoft.com/office/drawing/2014/main" id="{B9022DBB-0448-4AD9-8B84-B8229BE214F6}"/>
              </a:ext>
            </a:extLst>
          </p:cNvPr>
          <p:cNvCxnSpPr>
            <a:cxnSpLocks/>
          </p:cNvCxnSpPr>
          <p:nvPr/>
        </p:nvCxnSpPr>
        <p:spPr>
          <a:xfrm>
            <a:off x="1222322" y="3001009"/>
            <a:ext cx="0" cy="300064"/>
          </a:xfrm>
          <a:prstGeom prst="straightConnector1">
            <a:avLst/>
          </a:prstGeom>
          <a:ln w="15875">
            <a:solidFill>
              <a:srgbClr val="1D3456"/>
            </a:solidFill>
            <a:headEnd type="triangle"/>
            <a:tailEnd type="none"/>
          </a:ln>
          <a:effectLst/>
        </p:spPr>
        <p:style>
          <a:lnRef idx="2">
            <a:schemeClr val="accent1"/>
          </a:lnRef>
          <a:fillRef idx="0">
            <a:schemeClr val="accent1"/>
          </a:fillRef>
          <a:effectRef idx="1">
            <a:schemeClr val="accent1"/>
          </a:effectRef>
          <a:fontRef idx="minor">
            <a:schemeClr val="tx1"/>
          </a:fontRef>
        </p:style>
      </p:cxnSp>
      <p:cxnSp>
        <p:nvCxnSpPr>
          <p:cNvPr id="105" name="Straight Arrow Connector 104">
            <a:extLst>
              <a:ext uri="{FF2B5EF4-FFF2-40B4-BE49-F238E27FC236}">
                <a16:creationId xmlns:a16="http://schemas.microsoft.com/office/drawing/2014/main" id="{020B424B-2862-4129-BD30-8AEADB5F0AA2}"/>
              </a:ext>
            </a:extLst>
          </p:cNvPr>
          <p:cNvCxnSpPr>
            <a:cxnSpLocks/>
          </p:cNvCxnSpPr>
          <p:nvPr/>
        </p:nvCxnSpPr>
        <p:spPr>
          <a:xfrm>
            <a:off x="612704" y="2820817"/>
            <a:ext cx="463795" cy="6982"/>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06" name="Rounded Rectangle 54">
                <a:extLst>
                  <a:ext uri="{FF2B5EF4-FFF2-40B4-BE49-F238E27FC236}">
                    <a16:creationId xmlns:a16="http://schemas.microsoft.com/office/drawing/2014/main" id="{D4A104C9-1FBB-4225-9AA0-F35A3476376F}"/>
                  </a:ext>
                </a:extLst>
              </p:cNvPr>
              <p:cNvSpPr/>
              <p:nvPr/>
            </p:nvSpPr>
            <p:spPr>
              <a:xfrm>
                <a:off x="3446828" y="2588588"/>
                <a:ext cx="679377" cy="479453"/>
              </a:xfrm>
              <a:prstGeom prst="roundRect">
                <a:avLst/>
              </a:prstGeom>
              <a:ln w="15875">
                <a:solidFill>
                  <a:srgbClr val="1D3456"/>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200" noProof="1">
                    <a:solidFill>
                      <a:srgbClr val="1D3456"/>
                    </a:solidFill>
                  </a:rPr>
                  <a:t>Clip to </a:t>
                </a:r>
                <a14:m>
                  <m:oMath xmlns:m="http://schemas.openxmlformats.org/officeDocument/2006/math">
                    <m:r>
                      <a:rPr lang="en-US" sz="1200" i="1" noProof="1" dirty="0" smtClean="0">
                        <a:solidFill>
                          <a:srgbClr val="1D3456"/>
                        </a:solidFill>
                        <a:latin typeface="Cambria Math" panose="02040503050406030204" pitchFamily="18" charset="0"/>
                        <a:ea typeface="Cambria Math" panose="02040503050406030204" pitchFamily="18" charset="0"/>
                      </a:rPr>
                      <m:t>±</m:t>
                    </m:r>
                    <m:r>
                      <a:rPr lang="en-US" sz="1200" b="0" i="1" noProof="1" dirty="0" smtClean="0">
                        <a:solidFill>
                          <a:srgbClr val="1D3456"/>
                        </a:solidFill>
                        <a:latin typeface="Cambria Math" panose="02040503050406030204" pitchFamily="18" charset="0"/>
                        <a:ea typeface="Cambria Math" panose="02040503050406030204" pitchFamily="18" charset="0"/>
                      </a:rPr>
                      <m:t>12</m:t>
                    </m:r>
                    <m:r>
                      <a:rPr lang="en-US" sz="1200" b="0" i="1" noProof="1" dirty="0" smtClean="0">
                        <a:solidFill>
                          <a:srgbClr val="1D3456"/>
                        </a:solidFill>
                        <a:latin typeface="Cambria Math" panose="02040503050406030204" pitchFamily="18" charset="0"/>
                        <a:ea typeface="Cambria Math" panose="02040503050406030204" pitchFamily="18" charset="0"/>
                      </a:rPr>
                      <m:t>𝑉</m:t>
                    </m:r>
                  </m:oMath>
                </a14:m>
                <a:endParaRPr lang="en-US" sz="1200" noProof="1">
                  <a:solidFill>
                    <a:srgbClr val="1D3456"/>
                  </a:solidFill>
                </a:endParaRPr>
              </a:p>
            </p:txBody>
          </p:sp>
        </mc:Choice>
        <mc:Fallback>
          <p:sp>
            <p:nvSpPr>
              <p:cNvPr id="106" name="Rounded Rectangle 54">
                <a:extLst>
                  <a:ext uri="{FF2B5EF4-FFF2-40B4-BE49-F238E27FC236}">
                    <a16:creationId xmlns:a16="http://schemas.microsoft.com/office/drawing/2014/main" id="{D4A104C9-1FBB-4225-9AA0-F35A3476376F}"/>
                  </a:ext>
                </a:extLst>
              </p:cNvPr>
              <p:cNvSpPr>
                <a:spLocks noRot="1" noChangeAspect="1" noMove="1" noResize="1" noEditPoints="1" noAdjustHandles="1" noChangeArrowheads="1" noChangeShapeType="1" noTextEdit="1"/>
              </p:cNvSpPr>
              <p:nvPr/>
            </p:nvSpPr>
            <p:spPr>
              <a:xfrm>
                <a:off x="3446828" y="2588588"/>
                <a:ext cx="679377" cy="479453"/>
              </a:xfrm>
              <a:prstGeom prst="roundRect">
                <a:avLst/>
              </a:prstGeom>
              <a:blipFill>
                <a:blip r:embed="rId12"/>
                <a:stretch>
                  <a:fillRect/>
                </a:stretch>
              </a:blipFill>
              <a:ln w="15875">
                <a:solidFill>
                  <a:srgbClr val="1D3456"/>
                </a:solidFill>
              </a:ln>
            </p:spPr>
            <p:txBody>
              <a:bodyPr/>
              <a:lstStyle/>
              <a:p>
                <a:r>
                  <a:rPr lang="th-TH">
                    <a:noFill/>
                  </a:rPr>
                  <a:t> </a:t>
                </a:r>
              </a:p>
            </p:txBody>
          </p:sp>
        </mc:Fallback>
      </mc:AlternateContent>
      <p:cxnSp>
        <p:nvCxnSpPr>
          <p:cNvPr id="107" name="Straight Arrow Connector 106">
            <a:extLst>
              <a:ext uri="{FF2B5EF4-FFF2-40B4-BE49-F238E27FC236}">
                <a16:creationId xmlns:a16="http://schemas.microsoft.com/office/drawing/2014/main" id="{E9C9B531-5ACF-4CD5-B750-B338A4E2A283}"/>
              </a:ext>
            </a:extLst>
          </p:cNvPr>
          <p:cNvCxnSpPr>
            <a:cxnSpLocks/>
          </p:cNvCxnSpPr>
          <p:nvPr/>
        </p:nvCxnSpPr>
        <p:spPr>
          <a:xfrm>
            <a:off x="3014828" y="2832228"/>
            <a:ext cx="43200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108" name="Straight Arrow Connector 107">
            <a:extLst>
              <a:ext uri="{FF2B5EF4-FFF2-40B4-BE49-F238E27FC236}">
                <a16:creationId xmlns:a16="http://schemas.microsoft.com/office/drawing/2014/main" id="{D439B1E2-ADDF-4A7F-9B7C-5E8D8011CEC6}"/>
              </a:ext>
            </a:extLst>
          </p:cNvPr>
          <p:cNvCxnSpPr>
            <a:cxnSpLocks/>
          </p:cNvCxnSpPr>
          <p:nvPr/>
        </p:nvCxnSpPr>
        <p:spPr>
          <a:xfrm>
            <a:off x="4126205" y="2821844"/>
            <a:ext cx="27000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109" name="Straight Arrow Connector 108">
            <a:extLst>
              <a:ext uri="{FF2B5EF4-FFF2-40B4-BE49-F238E27FC236}">
                <a16:creationId xmlns:a16="http://schemas.microsoft.com/office/drawing/2014/main" id="{AAA7E273-3ABA-4E97-B710-1326B21E496F}"/>
              </a:ext>
            </a:extLst>
          </p:cNvPr>
          <p:cNvCxnSpPr>
            <a:cxnSpLocks/>
          </p:cNvCxnSpPr>
          <p:nvPr/>
        </p:nvCxnSpPr>
        <p:spPr>
          <a:xfrm>
            <a:off x="1350123" y="2828624"/>
            <a:ext cx="27000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20" name="TextBox 119">
                <a:extLst>
                  <a:ext uri="{FF2B5EF4-FFF2-40B4-BE49-F238E27FC236}">
                    <a16:creationId xmlns:a16="http://schemas.microsoft.com/office/drawing/2014/main" id="{B9966DF9-1B03-4975-946E-FFB3F8760706}"/>
                  </a:ext>
                </a:extLst>
              </p:cNvPr>
              <p:cNvSpPr txBox="1"/>
              <p:nvPr/>
            </p:nvSpPr>
            <p:spPr>
              <a:xfrm>
                <a:off x="783896" y="2522161"/>
                <a:ext cx="243848"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en-US" sz="1400" b="0" i="1" noProof="1" dirty="0" smtClean="0">
                              <a:solidFill>
                                <a:srgbClr val="1D3456"/>
                              </a:solidFill>
                              <a:latin typeface="Cambria Math" panose="02040503050406030204" pitchFamily="18" charset="0"/>
                              <a:ea typeface="Cambria Math" panose="02040503050406030204" pitchFamily="18" charset="0"/>
                            </a:rPr>
                          </m:ctrlPr>
                        </m:sSupPr>
                        <m:e>
                          <m:r>
                            <a:rPr lang="en-US" sz="1400" b="0" i="1" noProof="1" dirty="0" smtClean="0">
                              <a:solidFill>
                                <a:srgbClr val="1D3456"/>
                              </a:solidFill>
                              <a:latin typeface="Cambria Math" panose="02040503050406030204" pitchFamily="18" charset="0"/>
                              <a:ea typeface="Cambria Math" panose="02040503050406030204" pitchFamily="18" charset="0"/>
                            </a:rPr>
                            <m:t>𝜔</m:t>
                          </m:r>
                        </m:e>
                        <m:sup>
                          <m:r>
                            <a:rPr lang="en-US" sz="1400" b="0" i="1" noProof="1" dirty="0" smtClean="0">
                              <a:solidFill>
                                <a:srgbClr val="1D3456"/>
                              </a:solidFill>
                              <a:latin typeface="Cambria Math" panose="02040503050406030204" pitchFamily="18" charset="0"/>
                              <a:ea typeface="Cambria Math" panose="02040503050406030204" pitchFamily="18" charset="0"/>
                            </a:rPr>
                            <m:t>∗</m:t>
                          </m:r>
                        </m:sup>
                      </m:sSup>
                    </m:oMath>
                  </m:oMathPara>
                </a14:m>
                <a:endParaRPr lang="en-US" sz="1400" noProof="1"/>
              </a:p>
            </p:txBody>
          </p:sp>
        </mc:Choice>
        <mc:Fallback>
          <p:sp>
            <p:nvSpPr>
              <p:cNvPr id="120" name="TextBox 119">
                <a:extLst>
                  <a:ext uri="{FF2B5EF4-FFF2-40B4-BE49-F238E27FC236}">
                    <a16:creationId xmlns:a16="http://schemas.microsoft.com/office/drawing/2014/main" id="{B9966DF9-1B03-4975-946E-FFB3F8760706}"/>
                  </a:ext>
                </a:extLst>
              </p:cNvPr>
              <p:cNvSpPr txBox="1">
                <a:spLocks noRot="1" noChangeAspect="1" noMove="1" noResize="1" noEditPoints="1" noAdjustHandles="1" noChangeArrowheads="1" noChangeShapeType="1" noTextEdit="1"/>
              </p:cNvSpPr>
              <p:nvPr/>
            </p:nvSpPr>
            <p:spPr>
              <a:xfrm>
                <a:off x="783896" y="2522161"/>
                <a:ext cx="243848" cy="215444"/>
              </a:xfrm>
              <a:prstGeom prst="rect">
                <a:avLst/>
              </a:prstGeom>
              <a:blipFill>
                <a:blip r:embed="rId13"/>
                <a:stretch>
                  <a:fillRect l="-12500"/>
                </a:stretch>
              </a:blipFill>
            </p:spPr>
            <p:txBody>
              <a:bodyPr/>
              <a:lstStyle/>
              <a:p>
                <a:r>
                  <a:rPr lang="th-TH">
                    <a:noFill/>
                  </a:rPr>
                  <a:t> </a:t>
                </a:r>
              </a:p>
            </p:txBody>
          </p:sp>
        </mc:Fallback>
      </mc:AlternateContent>
      <p:cxnSp>
        <p:nvCxnSpPr>
          <p:cNvPr id="121" name="Straight Arrow Connector 120">
            <a:extLst>
              <a:ext uri="{FF2B5EF4-FFF2-40B4-BE49-F238E27FC236}">
                <a16:creationId xmlns:a16="http://schemas.microsoft.com/office/drawing/2014/main" id="{F0439C55-57FB-4FD7-A176-157F14B95C32}"/>
              </a:ext>
            </a:extLst>
          </p:cNvPr>
          <p:cNvCxnSpPr>
            <a:cxnSpLocks/>
            <a:stCxn id="95" idx="0"/>
          </p:cNvCxnSpPr>
          <p:nvPr/>
        </p:nvCxnSpPr>
        <p:spPr>
          <a:xfrm flipV="1">
            <a:off x="2883695" y="2085434"/>
            <a:ext cx="3383" cy="564633"/>
          </a:xfrm>
          <a:prstGeom prst="straightConnector1">
            <a:avLst/>
          </a:prstGeom>
          <a:ln w="15875">
            <a:solidFill>
              <a:srgbClr val="1D3456"/>
            </a:solidFill>
            <a:headEnd type="triangle"/>
            <a:tailEnd type="none"/>
          </a:ln>
          <a:effectLst/>
        </p:spPr>
        <p:style>
          <a:lnRef idx="2">
            <a:schemeClr val="accent1"/>
          </a:lnRef>
          <a:fillRef idx="0">
            <a:schemeClr val="accent1"/>
          </a:fillRef>
          <a:effectRef idx="1">
            <a:schemeClr val="accent1"/>
          </a:effectRef>
          <a:fontRef idx="minor">
            <a:schemeClr val="tx1"/>
          </a:fontRef>
        </p:style>
      </p:cxnSp>
      <p:sp>
        <p:nvSpPr>
          <p:cNvPr id="122" name="Rounded Rectangle 6">
            <a:extLst>
              <a:ext uri="{FF2B5EF4-FFF2-40B4-BE49-F238E27FC236}">
                <a16:creationId xmlns:a16="http://schemas.microsoft.com/office/drawing/2014/main" id="{866B8FDA-4895-4691-93D0-D0DF5492DFD6}"/>
              </a:ext>
            </a:extLst>
          </p:cNvPr>
          <p:cNvSpPr/>
          <p:nvPr/>
        </p:nvSpPr>
        <p:spPr>
          <a:xfrm>
            <a:off x="2221335" y="1870309"/>
            <a:ext cx="1315291" cy="215444"/>
          </a:xfrm>
          <a:prstGeom prst="roundRect">
            <a:avLst/>
          </a:prstGeom>
          <a:ln w="15875">
            <a:solidFill>
              <a:srgbClr val="1D3456"/>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noProof="1">
                <a:solidFill>
                  <a:srgbClr val="1D3456"/>
                </a:solidFill>
              </a:rPr>
              <a:t>Feedforward</a:t>
            </a:r>
          </a:p>
        </p:txBody>
      </p:sp>
      <p:graphicFrame>
        <p:nvGraphicFramePr>
          <p:cNvPr id="123" name="Object 122">
            <a:extLst>
              <a:ext uri="{FF2B5EF4-FFF2-40B4-BE49-F238E27FC236}">
                <a16:creationId xmlns:a16="http://schemas.microsoft.com/office/drawing/2014/main" id="{52AAD40A-1160-4DF3-AD35-DD63B4FC4810}"/>
              </a:ext>
            </a:extLst>
          </p:cNvPr>
          <p:cNvGraphicFramePr>
            <a:graphicFrameLocks noChangeAspect="1"/>
          </p:cNvGraphicFramePr>
          <p:nvPr/>
        </p:nvGraphicFramePr>
        <p:xfrm>
          <a:off x="11769313" y="2710912"/>
          <a:ext cx="139700" cy="228600"/>
        </p:xfrm>
        <a:graphic>
          <a:graphicData uri="http://schemas.openxmlformats.org/presentationml/2006/ole">
            <mc:AlternateContent xmlns:mc="http://schemas.openxmlformats.org/markup-compatibility/2006">
              <mc:Choice xmlns:v="urn:schemas-microsoft-com:vml" Requires="v">
                <p:oleObj spid="_x0000_s7193" name="Equation" r:id="rId6" imgW="139680" imgH="228600" progId="Equation.DSMT4">
                  <p:embed/>
                </p:oleObj>
              </mc:Choice>
              <mc:Fallback>
                <p:oleObj name="Equation" r:id="rId6" imgW="139680" imgH="228600" progId="Equation.DSMT4">
                  <p:embed/>
                  <p:pic>
                    <p:nvPicPr>
                      <p:cNvPr id="123" name="Object 122">
                        <a:extLst>
                          <a:ext uri="{FF2B5EF4-FFF2-40B4-BE49-F238E27FC236}">
                            <a16:creationId xmlns:a16="http://schemas.microsoft.com/office/drawing/2014/main" id="{52AAD40A-1160-4DF3-AD35-DD63B4FC4810}"/>
                          </a:ext>
                        </a:extLst>
                      </p:cNvPr>
                      <p:cNvPicPr/>
                      <p:nvPr/>
                    </p:nvPicPr>
                    <p:blipFill>
                      <a:blip r:embed="rId7"/>
                      <a:stretch>
                        <a:fillRect/>
                      </a:stretch>
                    </p:blipFill>
                    <p:spPr>
                      <a:xfrm>
                        <a:off x="11769313" y="2710912"/>
                        <a:ext cx="139700" cy="228600"/>
                      </a:xfrm>
                      <a:prstGeom prst="rect">
                        <a:avLst/>
                      </a:prstGeom>
                    </p:spPr>
                  </p:pic>
                </p:oleObj>
              </mc:Fallback>
            </mc:AlternateContent>
          </a:graphicData>
        </a:graphic>
      </p:graphicFrame>
      <p:sp>
        <p:nvSpPr>
          <p:cNvPr id="124" name="Rounded Rectangle 6">
            <a:extLst>
              <a:ext uri="{FF2B5EF4-FFF2-40B4-BE49-F238E27FC236}">
                <a16:creationId xmlns:a16="http://schemas.microsoft.com/office/drawing/2014/main" id="{F5F7A656-17D2-4FEA-B9BF-05E60875D916}"/>
              </a:ext>
            </a:extLst>
          </p:cNvPr>
          <p:cNvSpPr/>
          <p:nvPr/>
        </p:nvSpPr>
        <p:spPr>
          <a:xfrm>
            <a:off x="6461416" y="2582117"/>
            <a:ext cx="1242753" cy="479453"/>
          </a:xfrm>
          <a:prstGeom prst="roundRect">
            <a:avLst/>
          </a:prstGeom>
          <a:ln w="15875">
            <a:solidFill>
              <a:srgbClr val="1D3456"/>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noProof="1">
                <a:solidFill>
                  <a:srgbClr val="1D3456"/>
                </a:solidFill>
              </a:rPr>
              <a:t>State Observation</a:t>
            </a:r>
          </a:p>
        </p:txBody>
      </p:sp>
      <mc:AlternateContent xmlns:mc="http://schemas.openxmlformats.org/markup-compatibility/2006">
        <mc:Choice xmlns:a14="http://schemas.microsoft.com/office/drawing/2010/main" Requires="a14">
          <p:sp>
            <p:nvSpPr>
              <p:cNvPr id="126" name="TextBox 125">
                <a:extLst>
                  <a:ext uri="{FF2B5EF4-FFF2-40B4-BE49-F238E27FC236}">
                    <a16:creationId xmlns:a16="http://schemas.microsoft.com/office/drawing/2014/main" id="{9A1EC6B9-8FD5-49ED-ADCE-26F35331098F}"/>
                  </a:ext>
                </a:extLst>
              </p:cNvPr>
              <p:cNvSpPr txBox="1"/>
              <p:nvPr/>
            </p:nvSpPr>
            <p:spPr>
              <a:xfrm>
                <a:off x="9181020" y="3429000"/>
                <a:ext cx="493646" cy="18466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1200" i="1" noProof="1" dirty="0" smtClean="0">
                          <a:solidFill>
                            <a:srgbClr val="1D3456"/>
                          </a:solidFill>
                          <a:latin typeface="Cambria Math" panose="02040503050406030204" pitchFamily="18" charset="0"/>
                        </a:rPr>
                        <m:t>𝐹</m:t>
                      </m:r>
                      <m:r>
                        <a:rPr lang="en-US" sz="1200" b="0" i="1" noProof="1" dirty="0" smtClean="0">
                          <a:solidFill>
                            <a:srgbClr val="1D3456"/>
                          </a:solidFill>
                          <a:latin typeface="Cambria Math" panose="02040503050406030204" pitchFamily="18" charset="0"/>
                        </a:rPr>
                        <m:t>𝑒𝑒𝑑𝑏𝑎𝑐𝑘</m:t>
                      </m:r>
                    </m:oMath>
                  </m:oMathPara>
                </a14:m>
                <a:endParaRPr lang="en-US" sz="1200" noProof="1"/>
              </a:p>
            </p:txBody>
          </p:sp>
        </mc:Choice>
        <mc:Fallback>
          <p:sp>
            <p:nvSpPr>
              <p:cNvPr id="126" name="TextBox 125">
                <a:extLst>
                  <a:ext uri="{FF2B5EF4-FFF2-40B4-BE49-F238E27FC236}">
                    <a16:creationId xmlns:a16="http://schemas.microsoft.com/office/drawing/2014/main" id="{9A1EC6B9-8FD5-49ED-ADCE-26F35331098F}"/>
                  </a:ext>
                </a:extLst>
              </p:cNvPr>
              <p:cNvSpPr txBox="1">
                <a:spLocks noRot="1" noChangeAspect="1" noMove="1" noResize="1" noEditPoints="1" noAdjustHandles="1" noChangeArrowheads="1" noChangeShapeType="1" noTextEdit="1"/>
              </p:cNvSpPr>
              <p:nvPr/>
            </p:nvSpPr>
            <p:spPr>
              <a:xfrm>
                <a:off x="9181020" y="3429000"/>
                <a:ext cx="493646" cy="184666"/>
              </a:xfrm>
              <a:prstGeom prst="rect">
                <a:avLst/>
              </a:prstGeom>
              <a:blipFill>
                <a:blip r:embed="rId14"/>
                <a:stretch>
                  <a:fillRect l="-11111" r="-44444" b="-6667"/>
                </a:stretch>
              </a:blipFill>
            </p:spPr>
            <p:txBody>
              <a:bodyPr/>
              <a:lstStyle/>
              <a:p>
                <a:r>
                  <a:rPr lang="th-TH">
                    <a:noFill/>
                  </a:rPr>
                  <a:t> </a:t>
                </a:r>
              </a:p>
            </p:txBody>
          </p:sp>
        </mc:Fallback>
      </mc:AlternateContent>
      <p:sp>
        <p:nvSpPr>
          <p:cNvPr id="130" name="Rounded Rectangle 16">
            <a:extLst>
              <a:ext uri="{FF2B5EF4-FFF2-40B4-BE49-F238E27FC236}">
                <a16:creationId xmlns:a16="http://schemas.microsoft.com/office/drawing/2014/main" id="{B57A4A6A-A704-4F5C-B480-FB8C94735425}"/>
              </a:ext>
            </a:extLst>
          </p:cNvPr>
          <p:cNvSpPr/>
          <p:nvPr/>
        </p:nvSpPr>
        <p:spPr>
          <a:xfrm>
            <a:off x="10797995" y="2588418"/>
            <a:ext cx="960093" cy="479453"/>
          </a:xfrm>
          <a:prstGeom prst="roundRect">
            <a:avLst/>
          </a:prstGeom>
          <a:ln w="15875">
            <a:solidFill>
              <a:srgbClr val="1D3456"/>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noProof="1">
                <a:solidFill>
                  <a:srgbClr val="1D3456"/>
                </a:solidFill>
              </a:rPr>
              <a:t>Plant</a:t>
            </a:r>
          </a:p>
          <a:p>
            <a:pPr algn="ctr"/>
            <a:r>
              <a:rPr lang="en-US" sz="1050" noProof="1">
                <a:solidFill>
                  <a:srgbClr val="1D3456"/>
                </a:solidFill>
              </a:rPr>
              <a:t>(Motor+Rod)</a:t>
            </a:r>
          </a:p>
        </p:txBody>
      </p:sp>
      <p:cxnSp>
        <p:nvCxnSpPr>
          <p:cNvPr id="131" name="Straight Arrow Connector 130">
            <a:extLst>
              <a:ext uri="{FF2B5EF4-FFF2-40B4-BE49-F238E27FC236}">
                <a16:creationId xmlns:a16="http://schemas.microsoft.com/office/drawing/2014/main" id="{C5083018-A70B-4A11-955C-6F9690A2F52A}"/>
              </a:ext>
            </a:extLst>
          </p:cNvPr>
          <p:cNvCxnSpPr>
            <a:cxnSpLocks/>
          </p:cNvCxnSpPr>
          <p:nvPr/>
        </p:nvCxnSpPr>
        <p:spPr>
          <a:xfrm flipV="1">
            <a:off x="11758088" y="2870402"/>
            <a:ext cx="390500" cy="786"/>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32" name="TextBox 131">
                <a:extLst>
                  <a:ext uri="{FF2B5EF4-FFF2-40B4-BE49-F238E27FC236}">
                    <a16:creationId xmlns:a16="http://schemas.microsoft.com/office/drawing/2014/main" id="{529A57EC-EF8F-4EE9-A361-66EF0E277027}"/>
                  </a:ext>
                </a:extLst>
              </p:cNvPr>
              <p:cNvSpPr txBox="1"/>
              <p:nvPr/>
            </p:nvSpPr>
            <p:spPr>
              <a:xfrm>
                <a:off x="11866391" y="2603190"/>
                <a:ext cx="173894"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400" b="0" i="1" noProof="1" dirty="0" smtClean="0">
                          <a:solidFill>
                            <a:srgbClr val="1D3456"/>
                          </a:solidFill>
                          <a:latin typeface="Cambria Math" panose="02040503050406030204" pitchFamily="18" charset="0"/>
                          <a:ea typeface="Cambria Math" panose="02040503050406030204" pitchFamily="18" charset="0"/>
                        </a:rPr>
                        <m:t>𝜔</m:t>
                      </m:r>
                    </m:oMath>
                  </m:oMathPara>
                </a14:m>
                <a:endParaRPr lang="en-US" sz="1400" noProof="1"/>
              </a:p>
            </p:txBody>
          </p:sp>
        </mc:Choice>
        <mc:Fallback>
          <p:sp>
            <p:nvSpPr>
              <p:cNvPr id="132" name="TextBox 131">
                <a:extLst>
                  <a:ext uri="{FF2B5EF4-FFF2-40B4-BE49-F238E27FC236}">
                    <a16:creationId xmlns:a16="http://schemas.microsoft.com/office/drawing/2014/main" id="{529A57EC-EF8F-4EE9-A361-66EF0E277027}"/>
                  </a:ext>
                </a:extLst>
              </p:cNvPr>
              <p:cNvSpPr txBox="1">
                <a:spLocks noRot="1" noChangeAspect="1" noMove="1" noResize="1" noEditPoints="1" noAdjustHandles="1" noChangeArrowheads="1" noChangeShapeType="1" noTextEdit="1"/>
              </p:cNvSpPr>
              <p:nvPr/>
            </p:nvSpPr>
            <p:spPr>
              <a:xfrm>
                <a:off x="11866391" y="2603190"/>
                <a:ext cx="173894" cy="215444"/>
              </a:xfrm>
              <a:prstGeom prst="rect">
                <a:avLst/>
              </a:prstGeom>
              <a:blipFill>
                <a:blip r:embed="rId15"/>
                <a:stretch>
                  <a:fillRect l="-17857" r="-10714"/>
                </a:stretch>
              </a:blipFill>
            </p:spPr>
            <p:txBody>
              <a:bodyPr/>
              <a:lstStyle/>
              <a:p>
                <a:r>
                  <a:rPr lang="th-TH">
                    <a:noFill/>
                  </a:rPr>
                  <a:t> </a:t>
                </a:r>
              </a:p>
            </p:txBody>
          </p:sp>
        </mc:Fallback>
      </mc:AlternateContent>
      <p:cxnSp>
        <p:nvCxnSpPr>
          <p:cNvPr id="138" name="Straight Arrow Connector 137">
            <a:extLst>
              <a:ext uri="{FF2B5EF4-FFF2-40B4-BE49-F238E27FC236}">
                <a16:creationId xmlns:a16="http://schemas.microsoft.com/office/drawing/2014/main" id="{B01F87CD-476B-4B68-8EC3-4C206A8D48C9}"/>
              </a:ext>
            </a:extLst>
          </p:cNvPr>
          <p:cNvCxnSpPr>
            <a:cxnSpLocks/>
          </p:cNvCxnSpPr>
          <p:nvPr/>
        </p:nvCxnSpPr>
        <p:spPr>
          <a:xfrm>
            <a:off x="6013780" y="2808076"/>
            <a:ext cx="447636"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39" name="Rounded Rectangle 54">
                <a:extLst>
                  <a:ext uri="{FF2B5EF4-FFF2-40B4-BE49-F238E27FC236}">
                    <a16:creationId xmlns:a16="http://schemas.microsoft.com/office/drawing/2014/main" id="{3CF565A6-4223-4AD2-BF8D-4414E682984E}"/>
                  </a:ext>
                </a:extLst>
              </p:cNvPr>
              <p:cNvSpPr/>
              <p:nvPr/>
            </p:nvSpPr>
            <p:spPr>
              <a:xfrm>
                <a:off x="9865565" y="2588418"/>
                <a:ext cx="679377" cy="479453"/>
              </a:xfrm>
              <a:prstGeom prst="roundRect">
                <a:avLst/>
              </a:prstGeom>
              <a:ln w="15875">
                <a:solidFill>
                  <a:srgbClr val="1D3456"/>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200" noProof="1">
                    <a:solidFill>
                      <a:srgbClr val="1D3456"/>
                    </a:solidFill>
                  </a:rPr>
                  <a:t>Clip to </a:t>
                </a:r>
                <a14:m>
                  <m:oMath xmlns:m="http://schemas.openxmlformats.org/officeDocument/2006/math">
                    <m:r>
                      <a:rPr lang="en-US" sz="1200" i="1" noProof="1" dirty="0" smtClean="0">
                        <a:solidFill>
                          <a:srgbClr val="1D3456"/>
                        </a:solidFill>
                        <a:latin typeface="Cambria Math" panose="02040503050406030204" pitchFamily="18" charset="0"/>
                        <a:ea typeface="Cambria Math" panose="02040503050406030204" pitchFamily="18" charset="0"/>
                      </a:rPr>
                      <m:t>±</m:t>
                    </m:r>
                    <m:r>
                      <a:rPr lang="en-US" sz="1200" b="0" i="1" noProof="1" dirty="0" smtClean="0">
                        <a:solidFill>
                          <a:srgbClr val="1D3456"/>
                        </a:solidFill>
                        <a:latin typeface="Cambria Math" panose="02040503050406030204" pitchFamily="18" charset="0"/>
                        <a:ea typeface="Cambria Math" panose="02040503050406030204" pitchFamily="18" charset="0"/>
                      </a:rPr>
                      <m:t>12</m:t>
                    </m:r>
                    <m:r>
                      <a:rPr lang="en-US" sz="1200" b="0" i="1" noProof="1" dirty="0" smtClean="0">
                        <a:solidFill>
                          <a:srgbClr val="1D3456"/>
                        </a:solidFill>
                        <a:latin typeface="Cambria Math" panose="02040503050406030204" pitchFamily="18" charset="0"/>
                        <a:ea typeface="Cambria Math" panose="02040503050406030204" pitchFamily="18" charset="0"/>
                      </a:rPr>
                      <m:t>𝑉</m:t>
                    </m:r>
                  </m:oMath>
                </a14:m>
                <a:endParaRPr lang="en-US" sz="1200" noProof="1">
                  <a:solidFill>
                    <a:srgbClr val="1D3456"/>
                  </a:solidFill>
                </a:endParaRPr>
              </a:p>
            </p:txBody>
          </p:sp>
        </mc:Choice>
        <mc:Fallback>
          <p:sp>
            <p:nvSpPr>
              <p:cNvPr id="139" name="Rounded Rectangle 54">
                <a:extLst>
                  <a:ext uri="{FF2B5EF4-FFF2-40B4-BE49-F238E27FC236}">
                    <a16:creationId xmlns:a16="http://schemas.microsoft.com/office/drawing/2014/main" id="{3CF565A6-4223-4AD2-BF8D-4414E682984E}"/>
                  </a:ext>
                </a:extLst>
              </p:cNvPr>
              <p:cNvSpPr>
                <a:spLocks noRot="1" noChangeAspect="1" noMove="1" noResize="1" noEditPoints="1" noAdjustHandles="1" noChangeArrowheads="1" noChangeShapeType="1" noTextEdit="1"/>
              </p:cNvSpPr>
              <p:nvPr/>
            </p:nvSpPr>
            <p:spPr>
              <a:xfrm>
                <a:off x="9865565" y="2588418"/>
                <a:ext cx="679377" cy="479453"/>
              </a:xfrm>
              <a:prstGeom prst="roundRect">
                <a:avLst/>
              </a:prstGeom>
              <a:blipFill>
                <a:blip r:embed="rId12"/>
                <a:stretch>
                  <a:fillRect/>
                </a:stretch>
              </a:blipFill>
              <a:ln w="15875">
                <a:solidFill>
                  <a:srgbClr val="1D3456"/>
                </a:solidFill>
              </a:ln>
            </p:spPr>
            <p:txBody>
              <a:bodyPr/>
              <a:lstStyle/>
              <a:p>
                <a:r>
                  <a:rPr lang="th-TH">
                    <a:noFill/>
                  </a:rPr>
                  <a:t> </a:t>
                </a:r>
              </a:p>
            </p:txBody>
          </p:sp>
        </mc:Fallback>
      </mc:AlternateContent>
      <p:cxnSp>
        <p:nvCxnSpPr>
          <p:cNvPr id="140" name="Straight Arrow Connector 139">
            <a:extLst>
              <a:ext uri="{FF2B5EF4-FFF2-40B4-BE49-F238E27FC236}">
                <a16:creationId xmlns:a16="http://schemas.microsoft.com/office/drawing/2014/main" id="{7F70757A-D3C5-4BF4-A242-21752EA59F4F}"/>
              </a:ext>
            </a:extLst>
          </p:cNvPr>
          <p:cNvCxnSpPr>
            <a:cxnSpLocks/>
          </p:cNvCxnSpPr>
          <p:nvPr/>
        </p:nvCxnSpPr>
        <p:spPr>
          <a:xfrm>
            <a:off x="9427843" y="2858413"/>
            <a:ext cx="432000" cy="0"/>
          </a:xfrm>
          <a:prstGeom prst="straightConnector1">
            <a:avLst/>
          </a:prstGeom>
          <a:ln w="15875">
            <a:solidFill>
              <a:srgbClr val="1D3456"/>
            </a:solidFill>
            <a:tailEnd type="triangle"/>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43" name="TextBox 142">
                <a:extLst>
                  <a:ext uri="{FF2B5EF4-FFF2-40B4-BE49-F238E27FC236}">
                    <a16:creationId xmlns:a16="http://schemas.microsoft.com/office/drawing/2014/main" id="{82D4D69D-C2C9-4F43-AFCE-EC4A78568634}"/>
                  </a:ext>
                </a:extLst>
              </p:cNvPr>
              <p:cNvSpPr txBox="1"/>
              <p:nvPr/>
            </p:nvSpPr>
            <p:spPr>
              <a:xfrm>
                <a:off x="6134333" y="2593328"/>
                <a:ext cx="243848"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en-US" sz="1400" b="0" i="1" noProof="1" dirty="0" smtClean="0">
                              <a:solidFill>
                                <a:srgbClr val="1D3456"/>
                              </a:solidFill>
                              <a:latin typeface="Cambria Math" panose="02040503050406030204" pitchFamily="18" charset="0"/>
                              <a:ea typeface="Cambria Math" panose="02040503050406030204" pitchFamily="18" charset="0"/>
                            </a:rPr>
                          </m:ctrlPr>
                        </m:sSupPr>
                        <m:e>
                          <m:r>
                            <a:rPr lang="en-US" sz="1400" b="0" i="1" noProof="1" dirty="0" smtClean="0">
                              <a:solidFill>
                                <a:srgbClr val="1D3456"/>
                              </a:solidFill>
                              <a:latin typeface="Cambria Math" panose="02040503050406030204" pitchFamily="18" charset="0"/>
                              <a:ea typeface="Cambria Math" panose="02040503050406030204" pitchFamily="18" charset="0"/>
                            </a:rPr>
                            <m:t>𝜔</m:t>
                          </m:r>
                        </m:e>
                        <m:sup>
                          <m:r>
                            <a:rPr lang="en-US" sz="1400" b="0" i="1" noProof="1" dirty="0" smtClean="0">
                              <a:solidFill>
                                <a:srgbClr val="1D3456"/>
                              </a:solidFill>
                              <a:latin typeface="Cambria Math" panose="02040503050406030204" pitchFamily="18" charset="0"/>
                              <a:ea typeface="Cambria Math" panose="02040503050406030204" pitchFamily="18" charset="0"/>
                            </a:rPr>
                            <m:t>∗</m:t>
                          </m:r>
                        </m:sup>
                      </m:sSup>
                    </m:oMath>
                  </m:oMathPara>
                </a14:m>
                <a:endParaRPr lang="en-US" sz="1400" noProof="1"/>
              </a:p>
            </p:txBody>
          </p:sp>
        </mc:Choice>
        <mc:Fallback>
          <p:sp>
            <p:nvSpPr>
              <p:cNvPr id="143" name="TextBox 142">
                <a:extLst>
                  <a:ext uri="{FF2B5EF4-FFF2-40B4-BE49-F238E27FC236}">
                    <a16:creationId xmlns:a16="http://schemas.microsoft.com/office/drawing/2014/main" id="{82D4D69D-C2C9-4F43-AFCE-EC4A78568634}"/>
                  </a:ext>
                </a:extLst>
              </p:cNvPr>
              <p:cNvSpPr txBox="1">
                <a:spLocks noRot="1" noChangeAspect="1" noMove="1" noResize="1" noEditPoints="1" noAdjustHandles="1" noChangeArrowheads="1" noChangeShapeType="1" noTextEdit="1"/>
              </p:cNvSpPr>
              <p:nvPr/>
            </p:nvSpPr>
            <p:spPr>
              <a:xfrm>
                <a:off x="6134333" y="2593328"/>
                <a:ext cx="243848" cy="215444"/>
              </a:xfrm>
              <a:prstGeom prst="rect">
                <a:avLst/>
              </a:prstGeom>
              <a:blipFill>
                <a:blip r:embed="rId16"/>
                <a:stretch>
                  <a:fillRect l="-10000" r="-2500"/>
                </a:stretch>
              </a:blipFill>
            </p:spPr>
            <p:txBody>
              <a:bodyPr/>
              <a:lstStyle/>
              <a:p>
                <a:r>
                  <a:rPr lang="th-TH">
                    <a:noFill/>
                  </a:rPr>
                  <a:t> </a:t>
                </a:r>
              </a:p>
            </p:txBody>
          </p:sp>
        </mc:Fallback>
      </mc:AlternateContent>
      <p:sp>
        <p:nvSpPr>
          <p:cNvPr id="145" name="Rounded Rectangle 6">
            <a:extLst>
              <a:ext uri="{FF2B5EF4-FFF2-40B4-BE49-F238E27FC236}">
                <a16:creationId xmlns:a16="http://schemas.microsoft.com/office/drawing/2014/main" id="{F701D49B-826C-491C-B1E8-086725C67543}"/>
              </a:ext>
            </a:extLst>
          </p:cNvPr>
          <p:cNvSpPr/>
          <p:nvPr/>
        </p:nvSpPr>
        <p:spPr>
          <a:xfrm>
            <a:off x="8076710" y="2593942"/>
            <a:ext cx="1383939" cy="479453"/>
          </a:xfrm>
          <a:prstGeom prst="roundRect">
            <a:avLst/>
          </a:prstGeom>
          <a:ln w="15875">
            <a:solidFill>
              <a:srgbClr val="1D3456"/>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noProof="1">
                <a:solidFill>
                  <a:srgbClr val="1D3456"/>
                </a:solidFill>
              </a:rPr>
              <a:t>SAC </a:t>
            </a:r>
          </a:p>
          <a:p>
            <a:pPr algn="ctr"/>
            <a:r>
              <a:rPr lang="en-US" sz="1400" noProof="1">
                <a:solidFill>
                  <a:srgbClr val="1D3456"/>
                </a:solidFill>
              </a:rPr>
              <a:t>Policy Network </a:t>
            </a:r>
          </a:p>
        </p:txBody>
      </p:sp>
      <p:cxnSp>
        <p:nvCxnSpPr>
          <p:cNvPr id="171" name="Straight Arrow Connector 170">
            <a:extLst>
              <a:ext uri="{FF2B5EF4-FFF2-40B4-BE49-F238E27FC236}">
                <a16:creationId xmlns:a16="http://schemas.microsoft.com/office/drawing/2014/main" id="{BEC16D1D-84BA-4740-85E5-2ABF6BBE8397}"/>
              </a:ext>
            </a:extLst>
          </p:cNvPr>
          <p:cNvCxnSpPr>
            <a:cxnSpLocks/>
          </p:cNvCxnSpPr>
          <p:nvPr/>
        </p:nvCxnSpPr>
        <p:spPr>
          <a:xfrm>
            <a:off x="11943207" y="2870063"/>
            <a:ext cx="0" cy="491571"/>
          </a:xfrm>
          <a:prstGeom prst="straightConnector1">
            <a:avLst/>
          </a:prstGeom>
          <a:ln w="15875">
            <a:solidFill>
              <a:srgbClr val="1D3456"/>
            </a:solidFill>
            <a:headEnd type="oval"/>
            <a:tailEnd type="none"/>
          </a:ln>
          <a:effectLst/>
        </p:spPr>
        <p:style>
          <a:lnRef idx="2">
            <a:schemeClr val="accent1"/>
          </a:lnRef>
          <a:fillRef idx="0">
            <a:schemeClr val="accent1"/>
          </a:fillRef>
          <a:effectRef idx="1">
            <a:schemeClr val="accent1"/>
          </a:effectRef>
          <a:fontRef idx="minor">
            <a:schemeClr val="tx1"/>
          </a:fontRef>
        </p:style>
      </p:cxnSp>
      <p:cxnSp>
        <p:nvCxnSpPr>
          <p:cNvPr id="172" name="Straight Arrow Connector 171">
            <a:extLst>
              <a:ext uri="{FF2B5EF4-FFF2-40B4-BE49-F238E27FC236}">
                <a16:creationId xmlns:a16="http://schemas.microsoft.com/office/drawing/2014/main" id="{8472BBFD-C360-4385-A6D3-400F24C4FB51}"/>
              </a:ext>
            </a:extLst>
          </p:cNvPr>
          <p:cNvCxnSpPr>
            <a:cxnSpLocks/>
          </p:cNvCxnSpPr>
          <p:nvPr/>
        </p:nvCxnSpPr>
        <p:spPr>
          <a:xfrm>
            <a:off x="7166849" y="3358560"/>
            <a:ext cx="4776358" cy="0"/>
          </a:xfrm>
          <a:prstGeom prst="straightConnector1">
            <a:avLst/>
          </a:prstGeom>
          <a:ln w="15875">
            <a:solidFill>
              <a:srgbClr val="1D3456"/>
            </a:solidFill>
            <a:tailEnd type="none"/>
          </a:ln>
          <a:effectLst/>
        </p:spPr>
        <p:style>
          <a:lnRef idx="2">
            <a:schemeClr val="accent1"/>
          </a:lnRef>
          <a:fillRef idx="0">
            <a:schemeClr val="accent1"/>
          </a:fillRef>
          <a:effectRef idx="1">
            <a:schemeClr val="accent1"/>
          </a:effectRef>
          <a:fontRef idx="minor">
            <a:schemeClr val="tx1"/>
          </a:fontRef>
        </p:style>
      </p:cxnSp>
      <p:cxnSp>
        <p:nvCxnSpPr>
          <p:cNvPr id="173" name="Straight Arrow Connector 172">
            <a:extLst>
              <a:ext uri="{FF2B5EF4-FFF2-40B4-BE49-F238E27FC236}">
                <a16:creationId xmlns:a16="http://schemas.microsoft.com/office/drawing/2014/main" id="{9F8EC759-49F8-4C0B-92F1-900244A2701A}"/>
              </a:ext>
            </a:extLst>
          </p:cNvPr>
          <p:cNvCxnSpPr>
            <a:cxnSpLocks/>
          </p:cNvCxnSpPr>
          <p:nvPr/>
        </p:nvCxnSpPr>
        <p:spPr>
          <a:xfrm>
            <a:off x="7170675" y="3061570"/>
            <a:ext cx="0" cy="300064"/>
          </a:xfrm>
          <a:prstGeom prst="straightConnector1">
            <a:avLst/>
          </a:prstGeom>
          <a:ln w="15875">
            <a:solidFill>
              <a:srgbClr val="1D3456"/>
            </a:solidFill>
            <a:headEnd type="triangle"/>
            <a:tailEnd type="none"/>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79" name="TextBox 178">
                <a:extLst>
                  <a:ext uri="{FF2B5EF4-FFF2-40B4-BE49-F238E27FC236}">
                    <a16:creationId xmlns:a16="http://schemas.microsoft.com/office/drawing/2014/main" id="{253F94E9-0C7A-4366-BF29-4258198538A4}"/>
                  </a:ext>
                </a:extLst>
              </p:cNvPr>
              <p:cNvSpPr txBox="1"/>
              <p:nvPr/>
            </p:nvSpPr>
            <p:spPr>
              <a:xfrm>
                <a:off x="9410177" y="2640648"/>
                <a:ext cx="493646" cy="18466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1200" i="1" noProof="1" dirty="0" smtClean="0">
                          <a:solidFill>
                            <a:srgbClr val="1D3456"/>
                          </a:solidFill>
                          <a:latin typeface="Cambria Math" panose="02040503050406030204" pitchFamily="18" charset="0"/>
                        </a:rPr>
                        <m:t>𝑢</m:t>
                      </m:r>
                      <m:r>
                        <a:rPr lang="en-US" sz="1200" b="0" i="1" noProof="1" dirty="0" smtClean="0">
                          <a:solidFill>
                            <a:srgbClr val="1D3456"/>
                          </a:solidFill>
                          <a:latin typeface="Cambria Math" panose="02040503050406030204" pitchFamily="18" charset="0"/>
                        </a:rPr>
                        <m:t>(</m:t>
                      </m:r>
                      <m:r>
                        <a:rPr lang="en-US" sz="1200" b="0" i="1" noProof="1" dirty="0" smtClean="0">
                          <a:solidFill>
                            <a:srgbClr val="1D3456"/>
                          </a:solidFill>
                          <a:latin typeface="Cambria Math" panose="02040503050406030204" pitchFamily="18" charset="0"/>
                        </a:rPr>
                        <m:t>𝑡</m:t>
                      </m:r>
                      <m:r>
                        <a:rPr lang="en-US" sz="1200" b="0" i="1" noProof="1" dirty="0" smtClean="0">
                          <a:solidFill>
                            <a:srgbClr val="1D3456"/>
                          </a:solidFill>
                          <a:latin typeface="Cambria Math" panose="02040503050406030204" pitchFamily="18" charset="0"/>
                        </a:rPr>
                        <m:t>)</m:t>
                      </m:r>
                    </m:oMath>
                  </m:oMathPara>
                </a14:m>
                <a:endParaRPr lang="en-US" sz="1200" noProof="1"/>
              </a:p>
            </p:txBody>
          </p:sp>
        </mc:Choice>
        <mc:Fallback>
          <p:sp>
            <p:nvSpPr>
              <p:cNvPr id="179" name="TextBox 178">
                <a:extLst>
                  <a:ext uri="{FF2B5EF4-FFF2-40B4-BE49-F238E27FC236}">
                    <a16:creationId xmlns:a16="http://schemas.microsoft.com/office/drawing/2014/main" id="{253F94E9-0C7A-4366-BF29-4258198538A4}"/>
                  </a:ext>
                </a:extLst>
              </p:cNvPr>
              <p:cNvSpPr txBox="1">
                <a:spLocks noRot="1" noChangeAspect="1" noMove="1" noResize="1" noEditPoints="1" noAdjustHandles="1" noChangeArrowheads="1" noChangeShapeType="1" noTextEdit="1"/>
              </p:cNvSpPr>
              <p:nvPr/>
            </p:nvSpPr>
            <p:spPr>
              <a:xfrm>
                <a:off x="9410177" y="2640648"/>
                <a:ext cx="493646" cy="184666"/>
              </a:xfrm>
              <a:prstGeom prst="rect">
                <a:avLst/>
              </a:prstGeom>
              <a:blipFill>
                <a:blip r:embed="rId17"/>
                <a:stretch>
                  <a:fillRect t="-3333" b="-40000"/>
                </a:stretch>
              </a:blipFill>
            </p:spPr>
            <p:txBody>
              <a:bodyPr/>
              <a:lstStyle/>
              <a:p>
                <a:r>
                  <a:rPr lang="th-TH">
                    <a:noFill/>
                  </a:rPr>
                  <a:t> </a:t>
                </a:r>
              </a:p>
            </p:txBody>
          </p:sp>
        </mc:Fallback>
      </mc:AlternateContent>
      <p:graphicFrame>
        <p:nvGraphicFramePr>
          <p:cNvPr id="184" name="Table 183">
            <a:extLst>
              <a:ext uri="{FF2B5EF4-FFF2-40B4-BE49-F238E27FC236}">
                <a16:creationId xmlns:a16="http://schemas.microsoft.com/office/drawing/2014/main" id="{1730ED78-3205-4F87-A826-492F6E8BB7B1}"/>
              </a:ext>
            </a:extLst>
          </p:cNvPr>
          <p:cNvGraphicFramePr>
            <a:graphicFrameLocks noGrp="1"/>
          </p:cNvGraphicFramePr>
          <p:nvPr/>
        </p:nvGraphicFramePr>
        <p:xfrm>
          <a:off x="1116603" y="4706068"/>
          <a:ext cx="4080950" cy="1524000"/>
        </p:xfrm>
        <a:graphic>
          <a:graphicData uri="http://schemas.openxmlformats.org/drawingml/2006/table">
            <a:tbl>
              <a:tblPr/>
              <a:tblGrid>
                <a:gridCol w="4080950">
                  <a:extLst>
                    <a:ext uri="{9D8B030D-6E8A-4147-A177-3AD203B41FA5}">
                      <a16:colId xmlns:a16="http://schemas.microsoft.com/office/drawing/2014/main" val="573703555"/>
                    </a:ext>
                  </a:extLst>
                </a:gridCol>
              </a:tblGrid>
              <a:tr h="0">
                <a:tc>
                  <a:txBody>
                    <a:bodyPr/>
                    <a:lstStyle/>
                    <a:p>
                      <a:pPr algn="ctr" fontAlgn="t"/>
                      <a:r>
                        <a:rPr lang="en-US" sz="1400" b="1" dirty="0">
                          <a:solidFill>
                            <a:schemeClr val="bg1"/>
                          </a:solidFill>
                          <a:effectLst/>
                        </a:rPr>
                        <a:t>PID + Feedforward</a:t>
                      </a:r>
                    </a:p>
                  </a:txBody>
                  <a:tcPr marL="45720" marR="45720">
                    <a:lnL w="6350" cap="flat" cmpd="sng" algn="ctr">
                      <a:solidFill>
                        <a:schemeClr val="bg2">
                          <a:lumMod val="75000"/>
                        </a:schemeClr>
                      </a:solidFill>
                      <a:prstDash val="solid"/>
                      <a:round/>
                      <a:headEnd type="none" w="med" len="med"/>
                      <a:tailEnd type="none" w="med" len="med"/>
                    </a:lnL>
                    <a:lnR w="6350" cap="flat" cmpd="sng" algn="ctr">
                      <a:solidFill>
                        <a:schemeClr val="bg2">
                          <a:lumMod val="75000"/>
                        </a:schemeClr>
                      </a:solidFill>
                      <a:prstDash val="solid"/>
                      <a:round/>
                      <a:headEnd type="none" w="med" len="med"/>
                      <a:tailEnd type="none" w="med" len="med"/>
                    </a:lnR>
                    <a:lnT w="6350" cap="flat" cmpd="sng" algn="ctr">
                      <a:solidFill>
                        <a:schemeClr val="bg2">
                          <a:lumMod val="75000"/>
                        </a:schemeClr>
                      </a:solidFill>
                      <a:prstDash val="solid"/>
                      <a:round/>
                      <a:headEnd type="none" w="med" len="med"/>
                      <a:tailEnd type="none" w="med" len="med"/>
                    </a:lnT>
                    <a:lnB w="6350" cap="flat" cmpd="sng" algn="ctr">
                      <a:solidFill>
                        <a:schemeClr val="bg2">
                          <a:lumMod val="75000"/>
                        </a:schemeClr>
                      </a:solidFill>
                      <a:prstDash val="solid"/>
                      <a:round/>
                      <a:headEnd type="none" w="med" len="med"/>
                      <a:tailEnd type="none" w="med" len="med"/>
                    </a:lnB>
                    <a:solidFill>
                      <a:srgbClr val="2A9D8F"/>
                    </a:solidFill>
                  </a:tcPr>
                </a:tc>
                <a:extLst>
                  <a:ext uri="{0D108BD9-81ED-4DB2-BD59-A6C34878D82A}">
                    <a16:rowId xmlns:a16="http://schemas.microsoft.com/office/drawing/2014/main" val="4071301588"/>
                  </a:ext>
                </a:extLst>
              </a:tr>
              <a:tr h="0">
                <a:tc>
                  <a:txBody>
                    <a:bodyPr/>
                    <a:lstStyle/>
                    <a:p>
                      <a:pPr algn="l" fontAlgn="t"/>
                      <a:r>
                        <a:rPr lang="en-US" sz="1400" dirty="0">
                          <a:effectLst/>
                        </a:rPr>
                        <a:t>Requires system model f⁻¹(</a:t>
                      </a:r>
                      <a:r>
                        <a:rPr lang="en-US" sz="1400" dirty="0" err="1">
                          <a:effectLst/>
                        </a:rPr>
                        <a:t>Vref</a:t>
                      </a:r>
                      <a:r>
                        <a:rPr lang="en-US" sz="1400" dirty="0">
                          <a:effectLst/>
                        </a:rPr>
                        <a:t>)</a:t>
                      </a:r>
                    </a:p>
                  </a:txBody>
                  <a:tcPr marL="45720" marR="45720">
                    <a:lnL w="6350" cap="flat" cmpd="sng" algn="ctr">
                      <a:solidFill>
                        <a:schemeClr val="bg2">
                          <a:lumMod val="75000"/>
                        </a:schemeClr>
                      </a:solidFill>
                      <a:prstDash val="solid"/>
                      <a:round/>
                      <a:headEnd type="none" w="med" len="med"/>
                      <a:tailEnd type="none" w="med" len="med"/>
                    </a:lnL>
                    <a:lnR w="6350" cap="flat" cmpd="sng" algn="ctr">
                      <a:solidFill>
                        <a:schemeClr val="bg2">
                          <a:lumMod val="75000"/>
                        </a:schemeClr>
                      </a:solidFill>
                      <a:prstDash val="solid"/>
                      <a:round/>
                      <a:headEnd type="none" w="med" len="med"/>
                      <a:tailEnd type="none" w="med" len="med"/>
                    </a:lnR>
                    <a:lnT w="6350" cap="flat" cmpd="sng" algn="ctr">
                      <a:solidFill>
                        <a:schemeClr val="bg2">
                          <a:lumMod val="75000"/>
                        </a:schemeClr>
                      </a:solidFill>
                      <a:prstDash val="solid"/>
                      <a:round/>
                      <a:headEnd type="none" w="med" len="med"/>
                      <a:tailEnd type="none" w="med" len="med"/>
                    </a:lnT>
                    <a:lnB w="6350" cap="flat" cmpd="sng" algn="ctr">
                      <a:solidFill>
                        <a:schemeClr val="bg2">
                          <a:lumMod val="75000"/>
                        </a:schemeClr>
                      </a:solidFill>
                      <a:prstDash val="solid"/>
                      <a:round/>
                      <a:headEnd type="none" w="med" len="med"/>
                      <a:tailEnd type="none" w="med" len="med"/>
                    </a:lnB>
                    <a:solidFill>
                      <a:srgbClr val="FDFDFC"/>
                    </a:solidFill>
                  </a:tcPr>
                </a:tc>
                <a:extLst>
                  <a:ext uri="{0D108BD9-81ED-4DB2-BD59-A6C34878D82A}">
                    <a16:rowId xmlns:a16="http://schemas.microsoft.com/office/drawing/2014/main" val="4251933112"/>
                  </a:ext>
                </a:extLst>
              </a:tr>
              <a:tr h="0">
                <a:tc>
                  <a:txBody>
                    <a:bodyPr/>
                    <a:lstStyle/>
                    <a:p>
                      <a:pPr algn="l" fontAlgn="t"/>
                      <a:r>
                        <a:rPr lang="en-US" sz="1400">
                          <a:effectLst/>
                        </a:rPr>
                        <a:t>Gains (Kp, Ki) tuned manually</a:t>
                      </a:r>
                    </a:p>
                  </a:txBody>
                  <a:tcPr marL="45720" marR="45720">
                    <a:lnL w="6350" cap="flat" cmpd="sng" algn="ctr">
                      <a:solidFill>
                        <a:schemeClr val="bg2">
                          <a:lumMod val="75000"/>
                        </a:schemeClr>
                      </a:solidFill>
                      <a:prstDash val="solid"/>
                      <a:round/>
                      <a:headEnd type="none" w="med" len="med"/>
                      <a:tailEnd type="none" w="med" len="med"/>
                    </a:lnL>
                    <a:lnR w="6350" cap="flat" cmpd="sng" algn="ctr">
                      <a:solidFill>
                        <a:schemeClr val="bg2">
                          <a:lumMod val="75000"/>
                        </a:schemeClr>
                      </a:solidFill>
                      <a:prstDash val="solid"/>
                      <a:round/>
                      <a:headEnd type="none" w="med" len="med"/>
                      <a:tailEnd type="none" w="med" len="med"/>
                    </a:lnR>
                    <a:lnT w="6350" cap="flat" cmpd="sng" algn="ctr">
                      <a:solidFill>
                        <a:schemeClr val="bg2">
                          <a:lumMod val="75000"/>
                        </a:schemeClr>
                      </a:solidFill>
                      <a:prstDash val="solid"/>
                      <a:round/>
                      <a:headEnd type="none" w="med" len="med"/>
                      <a:tailEnd type="none" w="med" len="med"/>
                    </a:lnT>
                    <a:lnB w="6350" cap="flat" cmpd="sng" algn="ctr">
                      <a:solidFill>
                        <a:schemeClr val="bg2">
                          <a:lumMod val="75000"/>
                        </a:schemeClr>
                      </a:solidFill>
                      <a:prstDash val="solid"/>
                      <a:round/>
                      <a:headEnd type="none" w="med" len="med"/>
                      <a:tailEnd type="none" w="med" len="med"/>
                    </a:lnB>
                    <a:solidFill>
                      <a:srgbClr val="FDFDFC"/>
                    </a:solidFill>
                  </a:tcPr>
                </a:tc>
                <a:extLst>
                  <a:ext uri="{0D108BD9-81ED-4DB2-BD59-A6C34878D82A}">
                    <a16:rowId xmlns:a16="http://schemas.microsoft.com/office/drawing/2014/main" val="3099434495"/>
                  </a:ext>
                </a:extLst>
              </a:tr>
              <a:tr h="0">
                <a:tc>
                  <a:txBody>
                    <a:bodyPr/>
                    <a:lstStyle/>
                    <a:p>
                      <a:pPr algn="l" fontAlgn="t"/>
                      <a:r>
                        <a:rPr lang="en-US" sz="1400">
                          <a:effectLst/>
                        </a:rPr>
                        <a:t>Degrades if motor parameters drift</a:t>
                      </a:r>
                    </a:p>
                  </a:txBody>
                  <a:tcPr marL="45720" marR="45720">
                    <a:lnL w="6350" cap="flat" cmpd="sng" algn="ctr">
                      <a:solidFill>
                        <a:schemeClr val="bg2">
                          <a:lumMod val="75000"/>
                        </a:schemeClr>
                      </a:solidFill>
                      <a:prstDash val="solid"/>
                      <a:round/>
                      <a:headEnd type="none" w="med" len="med"/>
                      <a:tailEnd type="none" w="med" len="med"/>
                    </a:lnL>
                    <a:lnR w="6350" cap="flat" cmpd="sng" algn="ctr">
                      <a:solidFill>
                        <a:schemeClr val="bg2">
                          <a:lumMod val="75000"/>
                        </a:schemeClr>
                      </a:solidFill>
                      <a:prstDash val="solid"/>
                      <a:round/>
                      <a:headEnd type="none" w="med" len="med"/>
                      <a:tailEnd type="none" w="med" len="med"/>
                    </a:lnR>
                    <a:lnT w="6350" cap="flat" cmpd="sng" algn="ctr">
                      <a:solidFill>
                        <a:schemeClr val="bg2">
                          <a:lumMod val="75000"/>
                        </a:schemeClr>
                      </a:solidFill>
                      <a:prstDash val="solid"/>
                      <a:round/>
                      <a:headEnd type="none" w="med" len="med"/>
                      <a:tailEnd type="none" w="med" len="med"/>
                    </a:lnT>
                    <a:lnB w="6350" cap="flat" cmpd="sng" algn="ctr">
                      <a:solidFill>
                        <a:schemeClr val="bg2">
                          <a:lumMod val="75000"/>
                        </a:schemeClr>
                      </a:solidFill>
                      <a:prstDash val="solid"/>
                      <a:round/>
                      <a:headEnd type="none" w="med" len="med"/>
                      <a:tailEnd type="none" w="med" len="med"/>
                    </a:lnB>
                    <a:solidFill>
                      <a:srgbClr val="FDFDFC"/>
                    </a:solidFill>
                  </a:tcPr>
                </a:tc>
                <a:extLst>
                  <a:ext uri="{0D108BD9-81ED-4DB2-BD59-A6C34878D82A}">
                    <a16:rowId xmlns:a16="http://schemas.microsoft.com/office/drawing/2014/main" val="864468745"/>
                  </a:ext>
                </a:extLst>
              </a:tr>
              <a:tr h="0">
                <a:tc>
                  <a:txBody>
                    <a:bodyPr/>
                    <a:lstStyle/>
                    <a:p>
                      <a:pPr algn="l" fontAlgn="t"/>
                      <a:r>
                        <a:rPr lang="en-US" sz="1400" dirty="0">
                          <a:effectLst/>
                        </a:rPr>
                        <a:t>Feedforward only works near design point</a:t>
                      </a:r>
                    </a:p>
                  </a:txBody>
                  <a:tcPr marL="45720" marR="45720">
                    <a:lnL w="6350" cap="flat" cmpd="sng" algn="ctr">
                      <a:solidFill>
                        <a:schemeClr val="bg2">
                          <a:lumMod val="75000"/>
                        </a:schemeClr>
                      </a:solidFill>
                      <a:prstDash val="solid"/>
                      <a:round/>
                      <a:headEnd type="none" w="med" len="med"/>
                      <a:tailEnd type="none" w="med" len="med"/>
                    </a:lnL>
                    <a:lnR w="6350" cap="flat" cmpd="sng" algn="ctr">
                      <a:solidFill>
                        <a:schemeClr val="bg2">
                          <a:lumMod val="75000"/>
                        </a:schemeClr>
                      </a:solidFill>
                      <a:prstDash val="solid"/>
                      <a:round/>
                      <a:headEnd type="none" w="med" len="med"/>
                      <a:tailEnd type="none" w="med" len="med"/>
                    </a:lnR>
                    <a:lnT w="6350" cap="flat" cmpd="sng" algn="ctr">
                      <a:solidFill>
                        <a:schemeClr val="bg2">
                          <a:lumMod val="75000"/>
                        </a:schemeClr>
                      </a:solidFill>
                      <a:prstDash val="solid"/>
                      <a:round/>
                      <a:headEnd type="none" w="med" len="med"/>
                      <a:tailEnd type="none" w="med" len="med"/>
                    </a:lnT>
                    <a:lnB w="6350" cap="flat" cmpd="sng" algn="ctr">
                      <a:solidFill>
                        <a:schemeClr val="bg2">
                          <a:lumMod val="75000"/>
                        </a:schemeClr>
                      </a:solidFill>
                      <a:prstDash val="solid"/>
                      <a:round/>
                      <a:headEnd type="none" w="med" len="med"/>
                      <a:tailEnd type="none" w="med" len="med"/>
                    </a:lnB>
                    <a:solidFill>
                      <a:srgbClr val="FDFDFC"/>
                    </a:solidFill>
                  </a:tcPr>
                </a:tc>
                <a:extLst>
                  <a:ext uri="{0D108BD9-81ED-4DB2-BD59-A6C34878D82A}">
                    <a16:rowId xmlns:a16="http://schemas.microsoft.com/office/drawing/2014/main" val="4277300608"/>
                  </a:ext>
                </a:extLst>
              </a:tr>
            </a:tbl>
          </a:graphicData>
        </a:graphic>
      </p:graphicFrame>
      <p:graphicFrame>
        <p:nvGraphicFramePr>
          <p:cNvPr id="185" name="Table 184">
            <a:extLst>
              <a:ext uri="{FF2B5EF4-FFF2-40B4-BE49-F238E27FC236}">
                <a16:creationId xmlns:a16="http://schemas.microsoft.com/office/drawing/2014/main" id="{AD53754E-33CB-44E2-AB61-620C323476CA}"/>
              </a:ext>
            </a:extLst>
          </p:cNvPr>
          <p:cNvGraphicFramePr>
            <a:graphicFrameLocks noGrp="1"/>
          </p:cNvGraphicFramePr>
          <p:nvPr/>
        </p:nvGraphicFramePr>
        <p:xfrm>
          <a:off x="6973383" y="4706068"/>
          <a:ext cx="4080950" cy="1524000"/>
        </p:xfrm>
        <a:graphic>
          <a:graphicData uri="http://schemas.openxmlformats.org/drawingml/2006/table">
            <a:tbl>
              <a:tblPr/>
              <a:tblGrid>
                <a:gridCol w="4080950">
                  <a:extLst>
                    <a:ext uri="{9D8B030D-6E8A-4147-A177-3AD203B41FA5}">
                      <a16:colId xmlns:a16="http://schemas.microsoft.com/office/drawing/2014/main" val="3130373767"/>
                    </a:ext>
                  </a:extLst>
                </a:gridCol>
              </a:tblGrid>
              <a:tr h="0">
                <a:tc>
                  <a:txBody>
                    <a:bodyPr/>
                    <a:lstStyle/>
                    <a:p>
                      <a:pPr algn="ctr" fontAlgn="t"/>
                      <a:r>
                        <a:rPr lang="en-US" sz="1400" b="1" dirty="0">
                          <a:solidFill>
                            <a:schemeClr val="bg1"/>
                          </a:solidFill>
                          <a:effectLst/>
                        </a:rPr>
                        <a:t>SAC-RL</a:t>
                      </a:r>
                    </a:p>
                  </a:txBody>
                  <a:tcPr marL="45720" marR="45720">
                    <a:lnL w="6350" cap="flat" cmpd="sng" algn="ctr">
                      <a:solidFill>
                        <a:schemeClr val="bg2">
                          <a:lumMod val="75000"/>
                        </a:schemeClr>
                      </a:solidFill>
                      <a:prstDash val="solid"/>
                      <a:round/>
                      <a:headEnd type="none" w="med" len="med"/>
                      <a:tailEnd type="none" w="med" len="med"/>
                    </a:lnL>
                    <a:lnR w="6350" cap="flat" cmpd="sng" algn="ctr">
                      <a:solidFill>
                        <a:schemeClr val="bg2">
                          <a:lumMod val="75000"/>
                        </a:schemeClr>
                      </a:solidFill>
                      <a:prstDash val="solid"/>
                      <a:round/>
                      <a:headEnd type="none" w="med" len="med"/>
                      <a:tailEnd type="none" w="med" len="med"/>
                    </a:lnR>
                    <a:lnT w="6350" cap="flat" cmpd="sng" algn="ctr">
                      <a:solidFill>
                        <a:schemeClr val="bg2">
                          <a:lumMod val="75000"/>
                        </a:schemeClr>
                      </a:solidFill>
                      <a:prstDash val="solid"/>
                      <a:round/>
                      <a:headEnd type="none" w="med" len="med"/>
                      <a:tailEnd type="none" w="med" len="med"/>
                    </a:lnT>
                    <a:lnB w="6350" cap="flat" cmpd="sng" algn="ctr">
                      <a:solidFill>
                        <a:schemeClr val="bg2">
                          <a:lumMod val="75000"/>
                        </a:schemeClr>
                      </a:solidFill>
                      <a:prstDash val="solid"/>
                      <a:round/>
                      <a:headEnd type="none" w="med" len="med"/>
                      <a:tailEnd type="none" w="med" len="med"/>
                    </a:lnB>
                    <a:solidFill>
                      <a:schemeClr val="accent6">
                        <a:lumMod val="75000"/>
                      </a:schemeClr>
                    </a:solidFill>
                  </a:tcPr>
                </a:tc>
                <a:extLst>
                  <a:ext uri="{0D108BD9-81ED-4DB2-BD59-A6C34878D82A}">
                    <a16:rowId xmlns:a16="http://schemas.microsoft.com/office/drawing/2014/main" val="1562942274"/>
                  </a:ext>
                </a:extLst>
              </a:tr>
              <a:tr h="0">
                <a:tc>
                  <a:txBody>
                    <a:bodyPr/>
                    <a:lstStyle/>
                    <a:p>
                      <a:pPr algn="l" fontAlgn="t"/>
                      <a:r>
                        <a:rPr lang="en-US" sz="1400" dirty="0">
                          <a:effectLst/>
                        </a:rPr>
                        <a:t>No model needed — learns from data</a:t>
                      </a:r>
                    </a:p>
                  </a:txBody>
                  <a:tcPr marL="45720" marR="45720">
                    <a:lnL w="6350" cap="flat" cmpd="sng" algn="ctr">
                      <a:solidFill>
                        <a:schemeClr val="bg2">
                          <a:lumMod val="75000"/>
                        </a:schemeClr>
                      </a:solidFill>
                      <a:prstDash val="solid"/>
                      <a:round/>
                      <a:headEnd type="none" w="med" len="med"/>
                      <a:tailEnd type="none" w="med" len="med"/>
                    </a:lnL>
                    <a:lnR w="6350" cap="flat" cmpd="sng" algn="ctr">
                      <a:solidFill>
                        <a:schemeClr val="bg2">
                          <a:lumMod val="75000"/>
                        </a:schemeClr>
                      </a:solidFill>
                      <a:prstDash val="solid"/>
                      <a:round/>
                      <a:headEnd type="none" w="med" len="med"/>
                      <a:tailEnd type="none" w="med" len="med"/>
                    </a:lnR>
                    <a:lnT w="6350" cap="flat" cmpd="sng" algn="ctr">
                      <a:solidFill>
                        <a:schemeClr val="bg2">
                          <a:lumMod val="75000"/>
                        </a:schemeClr>
                      </a:solidFill>
                      <a:prstDash val="solid"/>
                      <a:round/>
                      <a:headEnd type="none" w="med" len="med"/>
                      <a:tailEnd type="none" w="med" len="med"/>
                    </a:lnT>
                    <a:lnB w="6350" cap="flat" cmpd="sng" algn="ctr">
                      <a:solidFill>
                        <a:schemeClr val="bg2">
                          <a:lumMod val="75000"/>
                        </a:schemeClr>
                      </a:solidFill>
                      <a:prstDash val="solid"/>
                      <a:round/>
                      <a:headEnd type="none" w="med" len="med"/>
                      <a:tailEnd type="none" w="med" len="med"/>
                    </a:lnB>
                    <a:solidFill>
                      <a:srgbClr val="FDFDFC"/>
                    </a:solidFill>
                  </a:tcPr>
                </a:tc>
                <a:extLst>
                  <a:ext uri="{0D108BD9-81ED-4DB2-BD59-A6C34878D82A}">
                    <a16:rowId xmlns:a16="http://schemas.microsoft.com/office/drawing/2014/main" val="3828469086"/>
                  </a:ext>
                </a:extLst>
              </a:tr>
              <a:tr h="0">
                <a:tc>
                  <a:txBody>
                    <a:bodyPr/>
                    <a:lstStyle/>
                    <a:p>
                      <a:pPr algn="l" fontAlgn="t"/>
                      <a:r>
                        <a:rPr lang="en-US" sz="1400" dirty="0">
                          <a:effectLst/>
                        </a:rPr>
                        <a:t>Policy tuned automatically via reward</a:t>
                      </a:r>
                    </a:p>
                  </a:txBody>
                  <a:tcPr marL="45720" marR="45720">
                    <a:lnL w="6350" cap="flat" cmpd="sng" algn="ctr">
                      <a:solidFill>
                        <a:schemeClr val="bg2">
                          <a:lumMod val="75000"/>
                        </a:schemeClr>
                      </a:solidFill>
                      <a:prstDash val="solid"/>
                      <a:round/>
                      <a:headEnd type="none" w="med" len="med"/>
                      <a:tailEnd type="none" w="med" len="med"/>
                    </a:lnL>
                    <a:lnR w="6350" cap="flat" cmpd="sng" algn="ctr">
                      <a:solidFill>
                        <a:schemeClr val="bg2">
                          <a:lumMod val="75000"/>
                        </a:schemeClr>
                      </a:solidFill>
                      <a:prstDash val="solid"/>
                      <a:round/>
                      <a:headEnd type="none" w="med" len="med"/>
                      <a:tailEnd type="none" w="med" len="med"/>
                    </a:lnR>
                    <a:lnT w="6350" cap="flat" cmpd="sng" algn="ctr">
                      <a:solidFill>
                        <a:schemeClr val="bg2">
                          <a:lumMod val="75000"/>
                        </a:schemeClr>
                      </a:solidFill>
                      <a:prstDash val="solid"/>
                      <a:round/>
                      <a:headEnd type="none" w="med" len="med"/>
                      <a:tailEnd type="none" w="med" len="med"/>
                    </a:lnT>
                    <a:lnB w="6350" cap="flat" cmpd="sng" algn="ctr">
                      <a:solidFill>
                        <a:schemeClr val="bg2">
                          <a:lumMod val="75000"/>
                        </a:schemeClr>
                      </a:solidFill>
                      <a:prstDash val="solid"/>
                      <a:round/>
                      <a:headEnd type="none" w="med" len="med"/>
                      <a:tailEnd type="none" w="med" len="med"/>
                    </a:lnB>
                    <a:solidFill>
                      <a:srgbClr val="FDFDFC"/>
                    </a:solidFill>
                  </a:tcPr>
                </a:tc>
                <a:extLst>
                  <a:ext uri="{0D108BD9-81ED-4DB2-BD59-A6C34878D82A}">
                    <a16:rowId xmlns:a16="http://schemas.microsoft.com/office/drawing/2014/main" val="1893264872"/>
                  </a:ext>
                </a:extLst>
              </a:tr>
              <a:tr h="0">
                <a:tc>
                  <a:txBody>
                    <a:bodyPr/>
                    <a:lstStyle/>
                    <a:p>
                      <a:pPr algn="l" fontAlgn="t"/>
                      <a:r>
                        <a:rPr lang="en-US" sz="1400" dirty="0">
                          <a:effectLst/>
                        </a:rPr>
                        <a:t>Adapts implicitly through training</a:t>
                      </a:r>
                    </a:p>
                  </a:txBody>
                  <a:tcPr marL="45720" marR="45720">
                    <a:lnL w="6350" cap="flat" cmpd="sng" algn="ctr">
                      <a:solidFill>
                        <a:schemeClr val="bg2">
                          <a:lumMod val="75000"/>
                        </a:schemeClr>
                      </a:solidFill>
                      <a:prstDash val="solid"/>
                      <a:round/>
                      <a:headEnd type="none" w="med" len="med"/>
                      <a:tailEnd type="none" w="med" len="med"/>
                    </a:lnL>
                    <a:lnR w="6350" cap="flat" cmpd="sng" algn="ctr">
                      <a:solidFill>
                        <a:schemeClr val="bg2">
                          <a:lumMod val="75000"/>
                        </a:schemeClr>
                      </a:solidFill>
                      <a:prstDash val="solid"/>
                      <a:round/>
                      <a:headEnd type="none" w="med" len="med"/>
                      <a:tailEnd type="none" w="med" len="med"/>
                    </a:lnR>
                    <a:lnT w="6350" cap="flat" cmpd="sng" algn="ctr">
                      <a:solidFill>
                        <a:schemeClr val="bg2">
                          <a:lumMod val="75000"/>
                        </a:schemeClr>
                      </a:solidFill>
                      <a:prstDash val="solid"/>
                      <a:round/>
                      <a:headEnd type="none" w="med" len="med"/>
                      <a:tailEnd type="none" w="med" len="med"/>
                    </a:lnT>
                    <a:lnB w="6350" cap="flat" cmpd="sng" algn="ctr">
                      <a:solidFill>
                        <a:schemeClr val="bg2">
                          <a:lumMod val="75000"/>
                        </a:schemeClr>
                      </a:solidFill>
                      <a:prstDash val="solid"/>
                      <a:round/>
                      <a:headEnd type="none" w="med" len="med"/>
                      <a:tailEnd type="none" w="med" len="med"/>
                    </a:lnB>
                    <a:solidFill>
                      <a:srgbClr val="FDFDFC"/>
                    </a:solidFill>
                  </a:tcPr>
                </a:tc>
                <a:extLst>
                  <a:ext uri="{0D108BD9-81ED-4DB2-BD59-A6C34878D82A}">
                    <a16:rowId xmlns:a16="http://schemas.microsoft.com/office/drawing/2014/main" val="2842204058"/>
                  </a:ext>
                </a:extLst>
              </a:tr>
              <a:tr h="0">
                <a:tc>
                  <a:txBody>
                    <a:bodyPr/>
                    <a:lstStyle/>
                    <a:p>
                      <a:pPr algn="l" fontAlgn="t"/>
                      <a:r>
                        <a:rPr lang="en-US" sz="1400" dirty="0">
                          <a:effectLst/>
                        </a:rPr>
                        <a:t>Generalizes across operating range</a:t>
                      </a:r>
                    </a:p>
                  </a:txBody>
                  <a:tcPr marL="45720" marR="45720">
                    <a:lnL w="6350" cap="flat" cmpd="sng" algn="ctr">
                      <a:solidFill>
                        <a:schemeClr val="bg2">
                          <a:lumMod val="75000"/>
                        </a:schemeClr>
                      </a:solidFill>
                      <a:prstDash val="solid"/>
                      <a:round/>
                      <a:headEnd type="none" w="med" len="med"/>
                      <a:tailEnd type="none" w="med" len="med"/>
                    </a:lnL>
                    <a:lnR w="6350" cap="flat" cmpd="sng" algn="ctr">
                      <a:solidFill>
                        <a:schemeClr val="bg2">
                          <a:lumMod val="75000"/>
                        </a:schemeClr>
                      </a:solidFill>
                      <a:prstDash val="solid"/>
                      <a:round/>
                      <a:headEnd type="none" w="med" len="med"/>
                      <a:tailEnd type="none" w="med" len="med"/>
                    </a:lnR>
                    <a:lnT w="6350" cap="flat" cmpd="sng" algn="ctr">
                      <a:solidFill>
                        <a:schemeClr val="bg2">
                          <a:lumMod val="75000"/>
                        </a:schemeClr>
                      </a:solidFill>
                      <a:prstDash val="solid"/>
                      <a:round/>
                      <a:headEnd type="none" w="med" len="med"/>
                      <a:tailEnd type="none" w="med" len="med"/>
                    </a:lnT>
                    <a:lnB w="6350" cap="flat" cmpd="sng" algn="ctr">
                      <a:solidFill>
                        <a:schemeClr val="bg2">
                          <a:lumMod val="75000"/>
                        </a:schemeClr>
                      </a:solidFill>
                      <a:prstDash val="solid"/>
                      <a:round/>
                      <a:headEnd type="none" w="med" len="med"/>
                      <a:tailEnd type="none" w="med" len="med"/>
                    </a:lnB>
                    <a:solidFill>
                      <a:srgbClr val="FDFDFC"/>
                    </a:solidFill>
                  </a:tcPr>
                </a:tc>
                <a:extLst>
                  <a:ext uri="{0D108BD9-81ED-4DB2-BD59-A6C34878D82A}">
                    <a16:rowId xmlns:a16="http://schemas.microsoft.com/office/drawing/2014/main" val="3920872566"/>
                  </a:ext>
                </a:extLst>
              </a:tr>
            </a:tbl>
          </a:graphicData>
        </a:graphic>
      </p:graphicFrame>
      <p:sp>
        <p:nvSpPr>
          <p:cNvPr id="62" name="Badge_PID">
            <a:extLst>
              <a:ext uri="{FF2B5EF4-FFF2-40B4-BE49-F238E27FC236}">
                <a16:creationId xmlns:a16="http://schemas.microsoft.com/office/drawing/2014/main" id="{44FC9FF8-81B1-45B0-931C-A6CE205CA7AB}"/>
              </a:ext>
            </a:extLst>
          </p:cNvPr>
          <p:cNvSpPr/>
          <p:nvPr/>
        </p:nvSpPr>
        <p:spPr>
          <a:xfrm>
            <a:off x="671187" y="1339736"/>
            <a:ext cx="4885336" cy="354683"/>
          </a:xfrm>
          <a:prstGeom prst="roundRect">
            <a:avLst>
              <a:gd name="adj" fmla="val 25000"/>
            </a:avLst>
          </a:prstGeom>
          <a:noFill/>
          <a:ln>
            <a:solidFill>
              <a:srgbClr val="289D8F"/>
            </a:solidFill>
          </a:ln>
        </p:spPr>
        <p:txBody>
          <a:bodyPr lIns="45720" tIns="45720" rIns="45720" bIns="45720" anchor="ctr"/>
          <a:lstStyle/>
          <a:p>
            <a:pPr algn="ctr"/>
            <a:endParaRPr sz="1400" b="1" dirty="0">
              <a:solidFill>
                <a:srgbClr val="FFFFFF"/>
              </a:solidFill>
            </a:endParaRPr>
          </a:p>
        </p:txBody>
      </p:sp>
      <p:sp>
        <p:nvSpPr>
          <p:cNvPr id="63" name="Badge_PID">
            <a:extLst>
              <a:ext uri="{FF2B5EF4-FFF2-40B4-BE49-F238E27FC236}">
                <a16:creationId xmlns:a16="http://schemas.microsoft.com/office/drawing/2014/main" id="{30E0A67D-D75F-479A-BBF5-D81CD8DDA485}"/>
              </a:ext>
            </a:extLst>
          </p:cNvPr>
          <p:cNvSpPr/>
          <p:nvPr/>
        </p:nvSpPr>
        <p:spPr>
          <a:xfrm>
            <a:off x="5999069" y="1335082"/>
            <a:ext cx="5428928" cy="354683"/>
          </a:xfrm>
          <a:prstGeom prst="roundRect">
            <a:avLst>
              <a:gd name="adj" fmla="val 25000"/>
            </a:avLst>
          </a:prstGeom>
          <a:noFill/>
          <a:ln>
            <a:solidFill>
              <a:srgbClr val="E07A5F"/>
            </a:solidFill>
          </a:ln>
        </p:spPr>
        <p:txBody>
          <a:bodyPr lIns="45720" tIns="45720" rIns="45720" bIns="45720" anchor="ctr"/>
          <a:lstStyle/>
          <a:p>
            <a:pPr algn="ctr"/>
            <a:endParaRPr sz="1400" b="1" dirty="0">
              <a:solidFill>
                <a:srgbClr val="FFFFFF"/>
              </a:solidFil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66928" y="502920"/>
            <a:ext cx="17780" cy="5852160"/>
          </a:xfrm>
          <a:prstGeom prst="rect">
            <a:avLst/>
          </a:prstGeom>
          <a:solidFill>
            <a:srgbClr val="D9D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66928" y="502920"/>
            <a:ext cx="30480" cy="56692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824920"/>
            <a:ext cx="10607040" cy="640080"/>
          </a:xfrm>
          <a:prstGeom prst="rect">
            <a:avLst/>
          </a:prstGeom>
          <a:noFill/>
        </p:spPr>
        <p:txBody>
          <a:bodyPr wrap="square" lIns="0" tIns="0" rIns="0" bIns="0" anchor="t">
            <a:spAutoFit/>
          </a:bodyPr>
          <a:lstStyle/>
          <a:p>
            <a:pPr algn="l">
              <a:lnSpc>
                <a:spcPct val="102000"/>
              </a:lnSpc>
              <a:spcBef>
                <a:spcPts val="0"/>
              </a:spcBef>
              <a:spcAft>
                <a:spcPts val="600"/>
              </a:spcAft>
            </a:pPr>
            <a:r>
              <a:rPr sz="2800" b="1" dirty="0">
                <a:solidFill>
                  <a:srgbClr val="1D3557"/>
                </a:solidFill>
                <a:latin typeface="Georgia"/>
              </a:rPr>
              <a:t>Why SAC? — Pure RL, No Feedforward</a:t>
            </a:r>
          </a:p>
        </p:txBody>
      </p:sp>
      <p:sp>
        <p:nvSpPr>
          <p:cNvPr id="6" name="TextBox 6"/>
          <p:cNvSpPr txBox="1"/>
          <p:nvPr/>
        </p:nvSpPr>
        <p:spPr>
          <a:xfrm>
            <a:off x="882829" y="1340566"/>
            <a:ext cx="5050000" cy="3956852"/>
          </a:xfrm>
          <a:prstGeom prst="rect">
            <a:avLst/>
          </a:prstGeom>
          <a:noFill/>
        </p:spPr>
        <p:txBody>
          <a:bodyPr wrap="square" lIns="0" tIns="0" rIns="0" bIns="0" anchor="t">
            <a:spAutoFit/>
          </a:bodyPr>
          <a:lstStyle/>
          <a:p>
            <a:pPr>
              <a:lnSpc>
                <a:spcPct val="115000"/>
              </a:lnSpc>
              <a:spcBef>
                <a:spcPts val="400"/>
              </a:spcBef>
              <a:spcAft>
                <a:spcPts val="0"/>
              </a:spcAft>
            </a:pPr>
            <a:r>
              <a:rPr sz="2400" b="1" dirty="0">
                <a:solidFill>
                  <a:srgbClr val="1D3557"/>
                </a:solidFill>
                <a:latin typeface="Georgia"/>
              </a:rPr>
              <a:t>Algorithm</a:t>
            </a:r>
          </a:p>
          <a:p>
            <a:pPr>
              <a:lnSpc>
                <a:spcPct val="115000"/>
              </a:lnSpc>
              <a:spcBef>
                <a:spcPts val="400"/>
              </a:spcBef>
              <a:spcAft>
                <a:spcPts val="0"/>
              </a:spcAft>
            </a:pPr>
            <a:r>
              <a:rPr sz="1200" b="0" dirty="0">
                <a:solidFill>
                  <a:srgbClr val="4A5A66"/>
                </a:solidFill>
                <a:latin typeface="Calibri"/>
              </a:rPr>
              <a:t>SAC (Soft Actor-Critic): off-policy, reuses past experience via replay buffer. More sample-efficient than on-policy methods. Handles continuous action space natively.</a:t>
            </a:r>
            <a:endParaRPr lang="th-TH" sz="1200" b="0" dirty="0">
              <a:solidFill>
                <a:srgbClr val="4A5A66"/>
              </a:solidFill>
              <a:latin typeface="Calibri"/>
            </a:endParaRPr>
          </a:p>
          <a:p>
            <a:pPr>
              <a:lnSpc>
                <a:spcPct val="115000"/>
              </a:lnSpc>
              <a:spcBef>
                <a:spcPts val="400"/>
              </a:spcBef>
              <a:spcAft>
                <a:spcPts val="0"/>
              </a:spcAft>
            </a:pPr>
            <a:endParaRPr sz="1200" b="0" dirty="0">
              <a:solidFill>
                <a:srgbClr val="4A5A66"/>
              </a:solidFill>
              <a:latin typeface="Calibri"/>
            </a:endParaRPr>
          </a:p>
          <a:p>
            <a:pPr>
              <a:lnSpc>
                <a:spcPct val="115000"/>
              </a:lnSpc>
              <a:spcBef>
                <a:spcPts val="400"/>
              </a:spcBef>
              <a:spcAft>
                <a:spcPts val="0"/>
              </a:spcAft>
            </a:pPr>
            <a:r>
              <a:rPr sz="2400" b="1" dirty="0">
                <a:solidFill>
                  <a:srgbClr val="1D3557"/>
                </a:solidFill>
                <a:latin typeface="Georgia"/>
              </a:rPr>
              <a:t>Key Design Choices</a:t>
            </a:r>
          </a:p>
          <a:p>
            <a:pPr>
              <a:lnSpc>
                <a:spcPct val="115000"/>
              </a:lnSpc>
              <a:spcBef>
                <a:spcPts val="400"/>
              </a:spcBef>
              <a:spcAft>
                <a:spcPts val="0"/>
              </a:spcAft>
            </a:pPr>
            <a:r>
              <a:rPr sz="1200" b="0" dirty="0">
                <a:solidFill>
                  <a:srgbClr val="4A5A66"/>
                </a:solidFill>
                <a:latin typeface="Calibri"/>
              </a:rPr>
              <a:t>No feedforward — SAC outputs total voltage V directly.  Action LPF α=0.9* smooths commands.  Replay buffer 300,000.  Warmup 10,000 steps.  800,000* total training steps.</a:t>
            </a:r>
            <a:endParaRPr lang="th-TH" sz="1200" b="0" dirty="0">
              <a:solidFill>
                <a:srgbClr val="4A5A66"/>
              </a:solidFill>
              <a:latin typeface="Calibri"/>
            </a:endParaRPr>
          </a:p>
          <a:p>
            <a:pPr>
              <a:lnSpc>
                <a:spcPct val="115000"/>
              </a:lnSpc>
              <a:spcBef>
                <a:spcPts val="400"/>
              </a:spcBef>
              <a:spcAft>
                <a:spcPts val="0"/>
              </a:spcAft>
            </a:pPr>
            <a:endParaRPr sz="1200" b="0" dirty="0">
              <a:solidFill>
                <a:srgbClr val="4A5A66"/>
              </a:solidFill>
              <a:latin typeface="Calibri"/>
            </a:endParaRPr>
          </a:p>
          <a:p>
            <a:pPr>
              <a:lnSpc>
                <a:spcPct val="115000"/>
              </a:lnSpc>
              <a:spcBef>
                <a:spcPts val="400"/>
              </a:spcBef>
              <a:spcAft>
                <a:spcPts val="0"/>
              </a:spcAft>
            </a:pPr>
            <a:r>
              <a:rPr sz="2400" b="1" dirty="0">
                <a:solidFill>
                  <a:srgbClr val="1D3557"/>
                </a:solidFill>
                <a:latin typeface="Georgia"/>
              </a:rPr>
              <a:t>Training Signal</a:t>
            </a:r>
          </a:p>
          <a:p>
            <a:pPr>
              <a:lnSpc>
                <a:spcPct val="115000"/>
              </a:lnSpc>
              <a:spcBef>
                <a:spcPts val="400"/>
              </a:spcBef>
              <a:spcAft>
                <a:spcPts val="0"/>
              </a:spcAft>
            </a:pPr>
            <a:r>
              <a:rPr sz="1200" b="0" dirty="0">
                <a:solidFill>
                  <a:srgbClr val="4A5A66"/>
                </a:solidFill>
                <a:latin typeface="Calibri"/>
              </a:rPr>
              <a:t>Reward penalizes 3 terms: tracking error, control effort, action roughness Setpoint changes every 1,000 steps (1 s).  Episode = 3,000* steps.  No prior physics knowledge required.</a:t>
            </a:r>
          </a:p>
        </p:txBody>
      </p:sp>
      <p:sp>
        <p:nvSpPr>
          <p:cNvPr id="7" name="Card 7"/>
          <p:cNvSpPr txBox="1"/>
          <p:nvPr/>
        </p:nvSpPr>
        <p:spPr>
          <a:xfrm>
            <a:off x="901879" y="5480000"/>
            <a:ext cx="5050000" cy="1050000"/>
          </a:xfrm>
          <a:prstGeom prst="roundRect">
            <a:avLst>
              <a:gd name="adj" fmla="val 4000"/>
            </a:avLst>
          </a:prstGeom>
          <a:solidFill>
            <a:srgbClr val="F4F1E9"/>
          </a:solidFill>
          <a:ln w="12700">
            <a:solidFill>
              <a:srgbClr val="D9D2C4"/>
            </a:solidFill>
          </a:ln>
        </p:spPr>
        <p:txBody>
          <a:bodyPr wrap="square" lIns="80000" tIns="60000" rIns="60000" bIns="60000" anchor="ctr"/>
          <a:lstStyle/>
          <a:p>
            <a:pPr>
              <a:lnSpc>
                <a:spcPct val="120000"/>
              </a:lnSpc>
              <a:spcBef>
                <a:spcPts val="200"/>
              </a:spcBef>
              <a:spcAft>
                <a:spcPts val="100"/>
              </a:spcAft>
            </a:pPr>
            <a:r>
              <a:rPr sz="2200" b="1">
                <a:solidFill>
                  <a:srgbClr val="1D3557"/>
                </a:solidFill>
                <a:latin typeface="Georgia"/>
              </a:rPr>
              <a:t>Key Insight</a:t>
            </a:r>
          </a:p>
          <a:p>
            <a:pPr>
              <a:lnSpc>
                <a:spcPct val="120000"/>
              </a:lnSpc>
              <a:spcBef>
                <a:spcPts val="200"/>
              </a:spcBef>
              <a:spcAft>
                <a:spcPts val="100"/>
              </a:spcAft>
            </a:pPr>
            <a:r>
              <a:rPr sz="1100" b="0">
                <a:solidFill>
                  <a:srgbClr val="4A5A66"/>
                </a:solidFill>
                <a:latin typeface="Calibri"/>
              </a:rPr>
              <a:t>SAC requires zero physics knowledge. PI+FFW required manual derivation of gravity torque, inverse motor model, and careful gain tuning. Tradeoff: accuracy vs. engineering effort.</a:t>
            </a:r>
          </a:p>
        </p:txBody>
      </p:sp>
      <p:sp>
        <p:nvSpPr>
          <p:cNvPr id="8" name="Stripe 8"/>
          <p:cNvSpPr/>
          <p:nvPr/>
        </p:nvSpPr>
        <p:spPr>
          <a:xfrm>
            <a:off x="882829" y="5480000"/>
            <a:ext cx="38100" cy="1050000"/>
          </a:xfrm>
          <a:prstGeom prst="rect">
            <a:avLst/>
          </a:prstGeom>
          <a:solidFill>
            <a:srgbClr val="1D3557"/>
          </a:solidFill>
          <a:ln>
            <a:noFill/>
          </a:ln>
        </p:spPr>
        <p:txBody>
          <a:bodyPr rtlCol="0" anchor="ctr"/>
          <a:lstStyle/>
          <a:p>
            <a:pPr algn="ctr"/>
            <a:endParaRPr/>
          </a:p>
        </p:txBody>
      </p:sp>
      <p:sp>
        <p:nvSpPr>
          <p:cNvPr id="24" name="Lbl24"/>
          <p:cNvSpPr txBox="1"/>
          <p:nvPr/>
        </p:nvSpPr>
        <p:spPr>
          <a:xfrm>
            <a:off x="6250000" y="2580000"/>
            <a:ext cx="5400000" cy="170000"/>
          </a:xfrm>
          <a:prstGeom prst="rect">
            <a:avLst/>
          </a:prstGeom>
          <a:noFill/>
        </p:spPr>
        <p:txBody>
          <a:bodyPr wrap="square" lIns="0" tIns="0" rIns="0" bIns="0" anchor="ctr">
            <a:spAutoFit/>
          </a:bodyPr>
          <a:lstStyle/>
          <a:p>
            <a:pPr algn="l"/>
            <a:r>
              <a:rPr sz="1000" b="1">
                <a:solidFill>
                  <a:srgbClr val="1D3557"/>
                </a:solidFill>
                <a:latin typeface="Georgia"/>
              </a:rPr>
              <a:t>SAC Learns (Bellman Target)</a:t>
            </a:r>
          </a:p>
        </p:txBody>
      </p:sp>
      <p:sp>
        <p:nvSpPr>
          <p:cNvPr id="25" name="RewardLbl"/>
          <p:cNvSpPr txBox="1"/>
          <p:nvPr/>
        </p:nvSpPr>
        <p:spPr>
          <a:xfrm>
            <a:off x="6250000" y="1480000"/>
            <a:ext cx="5400000" cy="170000"/>
          </a:xfrm>
          <a:prstGeom prst="rect">
            <a:avLst/>
          </a:prstGeom>
          <a:noFill/>
        </p:spPr>
        <p:txBody>
          <a:bodyPr wrap="square" lIns="0" tIns="0" rIns="0" bIns="0" anchor="ctr">
            <a:spAutoFit/>
          </a:bodyPr>
          <a:lstStyle/>
          <a:p>
            <a:pPr algn="l"/>
            <a:r>
              <a:rPr sz="1000" b="1">
                <a:solidFill>
                  <a:srgbClr val="1D3557"/>
                </a:solidFill>
                <a:latin typeface="Georgia"/>
              </a:rPr>
              <a:t>Reward Function</a:t>
            </a:r>
          </a:p>
        </p:txBody>
      </p:sp>
      <mc:AlternateContent xmlns:mc="http://schemas.openxmlformats.org/markup-compatibility/2006">
        <mc:Choice xmlns:a14="http://schemas.microsoft.com/office/drawing/2010/main" Requires="a14">
          <p:sp>
            <p:nvSpPr>
              <p:cNvPr id="21" name="Eq Reward"/>
              <p:cNvSpPr txBox="1"/>
              <p:nvPr/>
            </p:nvSpPr>
            <p:spPr>
              <a:xfrm>
                <a:off x="6202652" y="1650000"/>
                <a:ext cx="5447348" cy="900000"/>
              </a:xfrm>
              <a:prstGeom prst="rect">
                <a:avLst/>
              </a:prstGeom>
              <a:solidFill>
                <a:srgbClr val="F4F1E9"/>
              </a:solidFill>
            </p:spPr>
            <p:txBody>
              <a:bodyPr wrap="square" lIns="60960" tIns="45720" rIns="60960" bIns="45720" anchor="ctr"/>
              <a:lstStyle/>
              <a:p>
                <a:pPr algn="ctr">
                  <a:buNone/>
                </a:pPr>
                <a14:m>
                  <m:oMathPara xmlns:m="http://schemas.openxmlformats.org/officeDocument/2006/math">
                    <m:oMathParaPr>
                      <m:jc m:val="center"/>
                    </m:oMathParaPr>
                    <m:oMath xmlns:m="http://schemas.openxmlformats.org/officeDocument/2006/math">
                      <m:sSub>
                        <m:sSubPr>
                          <m:ctrlPr>
                            <a:rPr>
                              <a:latin typeface="Cambria Math" panose="02040503050406030204" pitchFamily="18" charset="0"/>
                            </a:rPr>
                          </m:ctrlPr>
                        </m:sSubPr>
                        <m:e>
                          <m:r>
                            <a:rPr>
                              <a:latin typeface="Cambria Math" panose="02040503050406030204" pitchFamily="18" charset="0"/>
                            </a:rPr>
                            <m:t>𝑟</m:t>
                          </m:r>
                        </m:e>
                        <m:sub>
                          <m:r>
                            <a:rPr>
                              <a:latin typeface="Cambria Math" panose="02040503050406030204" pitchFamily="18" charset="0"/>
                            </a:rPr>
                            <m:t>𝑡</m:t>
                          </m:r>
                        </m:sub>
                      </m:sSub>
                      <m:r>
                        <a:rPr>
                          <a:latin typeface="Cambria Math" panose="02040503050406030204" pitchFamily="18" charset="0"/>
                        </a:rPr>
                        <m:t>=−</m:t>
                      </m:r>
                      <m:sSubSup>
                        <m:sSubSupPr>
                          <m:ctrlPr>
                            <a:rPr i="1">
                              <a:latin typeface="Cambria Math" panose="02040503050406030204" pitchFamily="18" charset="0"/>
                            </a:rPr>
                          </m:ctrlPr>
                        </m:sSubSupPr>
                        <m:e>
                          <m:r>
                            <a:rPr>
                              <a:latin typeface="Cambria Math" panose="02040503050406030204" pitchFamily="18" charset="0"/>
                            </a:rPr>
                            <m:t>𝑒</m:t>
                          </m:r>
                        </m:e>
                        <m:sub>
                          <m:r>
                            <a:rPr>
                              <a:latin typeface="Cambria Math" panose="02040503050406030204" pitchFamily="18" charset="0"/>
                            </a:rPr>
                            <m:t>𝑡</m:t>
                          </m:r>
                        </m:sub>
                        <m:sup>
                          <m:r>
                            <a:rPr>
                              <a:latin typeface="Cambria Math" panose="02040503050406030204" pitchFamily="18" charset="0"/>
                            </a:rPr>
                            <m:t>2</m:t>
                          </m:r>
                        </m:sup>
                      </m:sSubSup>
                      <m:r>
                        <a:rPr>
                          <a:latin typeface="Cambria Math" panose="02040503050406030204" pitchFamily="18" charset="0"/>
                        </a:rPr>
                        <m:t>−0.01 </m:t>
                      </m:r>
                      <m:sSup>
                        <m:sSupPr>
                          <m:ctrlPr>
                            <a:rPr i="1">
                              <a:latin typeface="Cambria Math" panose="02040503050406030204" pitchFamily="18" charset="0"/>
                            </a:rPr>
                          </m:ctrlPr>
                        </m:sSupPr>
                        <m:e>
                          <m:r>
                            <a:rPr>
                              <a:latin typeface="Cambria Math" panose="02040503050406030204" pitchFamily="18" charset="0"/>
                            </a:rPr>
                            <m:t>𝑉</m:t>
                          </m:r>
                        </m:e>
                        <m:sup>
                          <m:r>
                            <a:rPr>
                              <a:latin typeface="Cambria Math" panose="02040503050406030204" pitchFamily="18" charset="0"/>
                            </a:rPr>
                            <m:t>2</m:t>
                          </m:r>
                        </m:sup>
                      </m:sSup>
                      <m:r>
                        <a:rPr>
                          <a:latin typeface="Cambria Math" panose="02040503050406030204" pitchFamily="18" charset="0"/>
                        </a:rPr>
                        <m:t>−1.0 (</m:t>
                      </m:r>
                      <m:r>
                        <m:rPr>
                          <m:sty m:val="p"/>
                        </m:rPr>
                        <a:rPr>
                          <a:latin typeface="Cambria Math" panose="02040503050406030204" pitchFamily="18" charset="0"/>
                        </a:rPr>
                        <m:t>Δ</m:t>
                      </m:r>
                      <m:r>
                        <a:rPr>
                          <a:latin typeface="Cambria Math" panose="02040503050406030204" pitchFamily="18" charset="0"/>
                        </a:rPr>
                        <m:t>𝑎</m:t>
                      </m:r>
                      <m:sSup>
                        <m:sSupPr>
                          <m:ctrlPr>
                            <a:rPr i="1">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2</m:t>
                          </m:r>
                        </m:sup>
                      </m:sSup>
                    </m:oMath>
                  </m:oMathPara>
                </a14:m>
                <a:endParaRPr dirty="0"/>
              </a:p>
            </p:txBody>
          </p:sp>
        </mc:Choice>
        <mc:Fallback>
          <p:sp>
            <p:nvSpPr>
              <p:cNvPr id="21" name="Eq Reward"/>
              <p:cNvSpPr txBox="1">
                <a:spLocks noRot="1" noChangeAspect="1" noMove="1" noResize="1" noEditPoints="1" noAdjustHandles="1" noChangeArrowheads="1" noChangeShapeType="1" noTextEdit="1"/>
              </p:cNvSpPr>
              <p:nvPr/>
            </p:nvSpPr>
            <p:spPr>
              <a:xfrm>
                <a:off x="6202652" y="1650000"/>
                <a:ext cx="5447348" cy="900000"/>
              </a:xfrm>
              <a:prstGeom prst="rect">
                <a:avLst/>
              </a:prstGeom>
              <a:blipFill>
                <a:blip r:embed="rId3"/>
                <a:stretch>
                  <a:fillRect/>
                </a:stretch>
              </a:blipFill>
            </p:spPr>
            <p:txBody>
              <a:bodyPr/>
              <a:lstStyle/>
              <a:p>
                <a:r>
                  <a:rPr lang="th-TH">
                    <a:noFill/>
                  </a:rPr>
                  <a:t> </a:t>
                </a:r>
              </a:p>
            </p:txBody>
          </p:sp>
        </mc:Fallback>
      </mc:AlternateContent>
      <mc:AlternateContent xmlns:mc="http://schemas.openxmlformats.org/markup-compatibility/2006">
        <mc:Choice xmlns:a14="http://schemas.microsoft.com/office/drawing/2010/main" Requires="a14">
          <p:sp>
            <p:nvSpPr>
              <p:cNvPr id="22" name="SAC Learns (Bellman Target)"/>
              <p:cNvSpPr txBox="1"/>
              <p:nvPr/>
            </p:nvSpPr>
            <p:spPr>
              <a:xfrm>
                <a:off x="6202650" y="2750000"/>
                <a:ext cx="5447350" cy="900000"/>
              </a:xfrm>
              <a:prstGeom prst="rect">
                <a:avLst/>
              </a:prstGeom>
              <a:solidFill>
                <a:srgbClr val="F4F1E9"/>
              </a:solidFill>
            </p:spPr>
            <p:txBody>
              <a:bodyPr wrap="square" lIns="60960" tIns="45720" rIns="60960" bIns="45720" anchor="ctr"/>
              <a:lstStyle/>
              <a:p>
                <a:pPr algn="ctr">
                  <a:buNone/>
                </a:pPr>
                <a14:m>
                  <m:oMathPara xmlns:m="http://schemas.openxmlformats.org/officeDocument/2006/math">
                    <m:oMathParaPr>
                      <m:jc m:val="center"/>
                    </m:oMathParaPr>
                    <m:oMath xmlns:m="http://schemas.openxmlformats.org/officeDocument/2006/math">
                      <m:sSub>
                        <m:sSubPr>
                          <m:ctrlPr>
                            <a:rPr sz="1600">
                              <a:latin typeface="Cambria Math" panose="02040503050406030204" pitchFamily="18" charset="0"/>
                            </a:rPr>
                          </m:ctrlPr>
                        </m:sSubPr>
                        <m:e>
                          <m:r>
                            <a:rPr sz="1600">
                              <a:latin typeface="Cambria Math" panose="02040503050406030204" pitchFamily="18" charset="0"/>
                            </a:rPr>
                            <m:t>𝑦</m:t>
                          </m:r>
                        </m:e>
                        <m:sub>
                          <m:r>
                            <a:rPr sz="1600">
                              <a:latin typeface="Cambria Math" panose="02040503050406030204" pitchFamily="18" charset="0"/>
                            </a:rPr>
                            <m:t>𝑡</m:t>
                          </m:r>
                        </m:sub>
                      </m:sSub>
                      <m:r>
                        <a:rPr sz="1600">
                          <a:latin typeface="Cambria Math" panose="02040503050406030204" pitchFamily="18" charset="0"/>
                        </a:rPr>
                        <m:t>=</m:t>
                      </m:r>
                      <m:sSub>
                        <m:sSubPr>
                          <m:ctrlPr>
                            <a:rPr sz="1600" i="1">
                              <a:latin typeface="Cambria Math" panose="02040503050406030204" pitchFamily="18" charset="0"/>
                            </a:rPr>
                          </m:ctrlPr>
                        </m:sSubPr>
                        <m:e>
                          <m:r>
                            <a:rPr sz="1600">
                              <a:latin typeface="Cambria Math" panose="02040503050406030204" pitchFamily="18" charset="0"/>
                            </a:rPr>
                            <m:t>𝑟</m:t>
                          </m:r>
                        </m:e>
                        <m:sub>
                          <m:r>
                            <a:rPr sz="1600">
                              <a:latin typeface="Cambria Math" panose="02040503050406030204" pitchFamily="18" charset="0"/>
                            </a:rPr>
                            <m:t>𝑡</m:t>
                          </m:r>
                        </m:sub>
                      </m:sSub>
                      <m:r>
                        <a:rPr sz="1600">
                          <a:latin typeface="Cambria Math" panose="02040503050406030204" pitchFamily="18" charset="0"/>
                        </a:rPr>
                        <m:t>+</m:t>
                      </m:r>
                      <m:r>
                        <a:rPr sz="1600">
                          <a:latin typeface="Cambria Math" panose="02040503050406030204" pitchFamily="18" charset="0"/>
                        </a:rPr>
                        <m:t>𝛾</m:t>
                      </m:r>
                      <m:d>
                        <m:dPr>
                          <m:ctrlPr>
                            <a:rPr sz="1600" i="1">
                              <a:latin typeface="Cambria Math" panose="02040503050406030204" pitchFamily="18" charset="0"/>
                            </a:rPr>
                          </m:ctrlPr>
                        </m:dPr>
                        <m:e>
                          <m:sSub>
                            <m:sSubPr>
                              <m:ctrlPr>
                                <a:rPr sz="1600" i="1">
                                  <a:latin typeface="Cambria Math" panose="02040503050406030204" pitchFamily="18" charset="0"/>
                                </a:rPr>
                              </m:ctrlPr>
                            </m:sSubPr>
                            <m:e>
                              <m:r>
                                <m:rPr>
                                  <m:sty m:val="p"/>
                                </m:rPr>
                                <a:rPr sz="1600">
                                  <a:latin typeface="Cambria Math" panose="02040503050406030204" pitchFamily="18" charset="0"/>
                                </a:rPr>
                                <m:t>min</m:t>
                              </m:r>
                            </m:e>
                            <m:sub>
                              <m:r>
                                <a:rPr sz="1600">
                                  <a:latin typeface="Cambria Math" panose="02040503050406030204" pitchFamily="18" charset="0"/>
                                </a:rPr>
                                <m:t>𝑗</m:t>
                              </m:r>
                              <m:r>
                                <a:rPr sz="1600">
                                  <a:latin typeface="Cambria Math" panose="02040503050406030204" pitchFamily="18" charset="0"/>
                                </a:rPr>
                                <m:t>=1,2</m:t>
                              </m:r>
                            </m:sub>
                          </m:sSub>
                          <m:sSub>
                            <m:sSubPr>
                              <m:ctrlPr>
                                <a:rPr sz="1600" i="1">
                                  <a:latin typeface="Cambria Math" panose="02040503050406030204" pitchFamily="18" charset="0"/>
                                </a:rPr>
                              </m:ctrlPr>
                            </m:sSubPr>
                            <m:e>
                              <m:r>
                                <a:rPr sz="1600">
                                  <a:latin typeface="Cambria Math" panose="02040503050406030204" pitchFamily="18" charset="0"/>
                                </a:rPr>
                                <m:t>𝑄</m:t>
                              </m:r>
                            </m:e>
                            <m:sub>
                              <m:sSubSup>
                                <m:sSubSupPr>
                                  <m:ctrlPr>
                                    <a:rPr sz="1600" i="1">
                                      <a:latin typeface="Cambria Math" panose="02040503050406030204" pitchFamily="18" charset="0"/>
                                    </a:rPr>
                                  </m:ctrlPr>
                                </m:sSubSupPr>
                                <m:e>
                                  <m:r>
                                    <a:rPr sz="1600">
                                      <a:latin typeface="Cambria Math" panose="02040503050406030204" pitchFamily="18" charset="0"/>
                                    </a:rPr>
                                    <m:t>𝜃</m:t>
                                  </m:r>
                                </m:e>
                                <m:sub>
                                  <m:r>
                                    <a:rPr sz="1600">
                                      <a:latin typeface="Cambria Math" panose="02040503050406030204" pitchFamily="18" charset="0"/>
                                    </a:rPr>
                                    <m:t>𝑗</m:t>
                                  </m:r>
                                </m:sub>
                                <m:sup>
                                  <m:r>
                                    <a:rPr sz="1600">
                                      <a:latin typeface="Cambria Math" panose="02040503050406030204" pitchFamily="18" charset="0"/>
                                    </a:rPr>
                                    <m:t>′</m:t>
                                  </m:r>
                                </m:sup>
                              </m:sSubSup>
                            </m:sub>
                          </m:sSub>
                          <m:r>
                            <a:rPr sz="1600">
                              <a:latin typeface="Cambria Math" panose="02040503050406030204" pitchFamily="18" charset="0"/>
                            </a:rPr>
                            <m:t>(</m:t>
                          </m:r>
                          <m:sSub>
                            <m:sSubPr>
                              <m:ctrlPr>
                                <a:rPr sz="1600" i="1">
                                  <a:latin typeface="Cambria Math" panose="02040503050406030204" pitchFamily="18" charset="0"/>
                                </a:rPr>
                              </m:ctrlPr>
                            </m:sSubPr>
                            <m:e>
                              <m:r>
                                <a:rPr sz="1600">
                                  <a:latin typeface="Cambria Math" panose="02040503050406030204" pitchFamily="18" charset="0"/>
                                </a:rPr>
                                <m:t>𝑠</m:t>
                              </m:r>
                            </m:e>
                            <m:sub>
                              <m:r>
                                <a:rPr sz="1600">
                                  <a:latin typeface="Cambria Math" panose="02040503050406030204" pitchFamily="18" charset="0"/>
                                </a:rPr>
                                <m:t>𝑡</m:t>
                              </m:r>
                              <m:r>
                                <a:rPr sz="1600">
                                  <a:latin typeface="Cambria Math" panose="02040503050406030204" pitchFamily="18" charset="0"/>
                                </a:rPr>
                                <m:t>+1</m:t>
                              </m:r>
                            </m:sub>
                          </m:sSub>
                          <m:r>
                            <a:rPr sz="1600">
                              <a:latin typeface="Cambria Math" panose="02040503050406030204" pitchFamily="18" charset="0"/>
                            </a:rPr>
                            <m:t>, </m:t>
                          </m:r>
                          <m:sSub>
                            <m:sSubPr>
                              <m:ctrlPr>
                                <a:rPr sz="1600" i="1">
                                  <a:latin typeface="Cambria Math" panose="02040503050406030204" pitchFamily="18" charset="0"/>
                                </a:rPr>
                              </m:ctrlPr>
                            </m:sSubPr>
                            <m:e>
                              <m:acc>
                                <m:accPr>
                                  <m:chr m:val="̃"/>
                                  <m:ctrlPr>
                                    <a:rPr sz="1600" i="1">
                                      <a:latin typeface="Cambria Math" panose="02040503050406030204" pitchFamily="18" charset="0"/>
                                    </a:rPr>
                                  </m:ctrlPr>
                                </m:accPr>
                                <m:e>
                                  <m:r>
                                    <a:rPr sz="1600">
                                      <a:latin typeface="Cambria Math" panose="02040503050406030204" pitchFamily="18" charset="0"/>
                                    </a:rPr>
                                    <m:t>𝑎</m:t>
                                  </m:r>
                                </m:e>
                              </m:acc>
                            </m:e>
                            <m:sub>
                              <m:r>
                                <a:rPr sz="1600">
                                  <a:latin typeface="Cambria Math" panose="02040503050406030204" pitchFamily="18" charset="0"/>
                                </a:rPr>
                                <m:t>𝑡</m:t>
                              </m:r>
                              <m:r>
                                <a:rPr sz="1600">
                                  <a:latin typeface="Cambria Math" panose="02040503050406030204" pitchFamily="18" charset="0"/>
                                </a:rPr>
                                <m:t>+1</m:t>
                              </m:r>
                            </m:sub>
                          </m:sSub>
                          <m:r>
                            <a:rPr sz="1600">
                              <a:latin typeface="Cambria Math" panose="02040503050406030204" pitchFamily="18" charset="0"/>
                            </a:rPr>
                            <m:t>)−</m:t>
                          </m:r>
                          <m:r>
                            <a:rPr sz="1600">
                              <a:latin typeface="Cambria Math" panose="02040503050406030204" pitchFamily="18" charset="0"/>
                            </a:rPr>
                            <m:t>𝛼</m:t>
                          </m:r>
                          <m:r>
                            <a:rPr sz="1600">
                              <a:latin typeface="Cambria Math" panose="02040503050406030204" pitchFamily="18" charset="0"/>
                            </a:rPr>
                            <m:t> </m:t>
                          </m:r>
                          <m:r>
                            <m:rPr>
                              <m:sty m:val="p"/>
                            </m:rPr>
                            <a:rPr sz="1600">
                              <a:latin typeface="Cambria Math" panose="02040503050406030204" pitchFamily="18" charset="0"/>
                            </a:rPr>
                            <m:t>log</m:t>
                          </m:r>
                          <m:r>
                            <a:rPr sz="1600">
                              <a:latin typeface="Cambria Math" panose="02040503050406030204" pitchFamily="18" charset="0"/>
                            </a:rPr>
                            <m:t> </m:t>
                          </m:r>
                          <m:sSub>
                            <m:sSubPr>
                              <m:ctrlPr>
                                <a:rPr sz="1600" i="1">
                                  <a:latin typeface="Cambria Math" panose="02040503050406030204" pitchFamily="18" charset="0"/>
                                </a:rPr>
                              </m:ctrlPr>
                            </m:sSubPr>
                            <m:e>
                              <m:r>
                                <a:rPr sz="1600">
                                  <a:latin typeface="Cambria Math" panose="02040503050406030204" pitchFamily="18" charset="0"/>
                                </a:rPr>
                                <m:t>𝜋</m:t>
                              </m:r>
                            </m:e>
                            <m:sub>
                              <m:r>
                                <a:rPr sz="1600">
                                  <a:latin typeface="Cambria Math" panose="02040503050406030204" pitchFamily="18" charset="0"/>
                                </a:rPr>
                                <m:t>𝜑</m:t>
                              </m:r>
                            </m:sub>
                          </m:sSub>
                          <m:r>
                            <a:rPr sz="1600">
                              <a:latin typeface="Cambria Math" panose="02040503050406030204" pitchFamily="18" charset="0"/>
                            </a:rPr>
                            <m:t>(</m:t>
                          </m:r>
                          <m:sSub>
                            <m:sSubPr>
                              <m:ctrlPr>
                                <a:rPr sz="1600" i="1">
                                  <a:latin typeface="Cambria Math" panose="02040503050406030204" pitchFamily="18" charset="0"/>
                                </a:rPr>
                              </m:ctrlPr>
                            </m:sSubPr>
                            <m:e>
                              <m:acc>
                                <m:accPr>
                                  <m:chr m:val="̃"/>
                                  <m:ctrlPr>
                                    <a:rPr sz="1600" i="1">
                                      <a:latin typeface="Cambria Math" panose="02040503050406030204" pitchFamily="18" charset="0"/>
                                    </a:rPr>
                                  </m:ctrlPr>
                                </m:accPr>
                                <m:e>
                                  <m:r>
                                    <a:rPr sz="1600">
                                      <a:latin typeface="Cambria Math" panose="02040503050406030204" pitchFamily="18" charset="0"/>
                                    </a:rPr>
                                    <m:t>𝑎</m:t>
                                  </m:r>
                                </m:e>
                              </m:acc>
                            </m:e>
                            <m:sub>
                              <m:r>
                                <a:rPr sz="1600">
                                  <a:latin typeface="Cambria Math" panose="02040503050406030204" pitchFamily="18" charset="0"/>
                                </a:rPr>
                                <m:t>𝑡</m:t>
                              </m:r>
                              <m:r>
                                <a:rPr sz="1600">
                                  <a:latin typeface="Cambria Math" panose="02040503050406030204" pitchFamily="18" charset="0"/>
                                </a:rPr>
                                <m:t>+1</m:t>
                              </m:r>
                            </m:sub>
                          </m:sSub>
                          <m:r>
                            <a:rPr sz="1600">
                              <a:latin typeface="Cambria Math" panose="02040503050406030204" pitchFamily="18" charset="0"/>
                            </a:rPr>
                            <m:t>|</m:t>
                          </m:r>
                          <m:sSub>
                            <m:sSubPr>
                              <m:ctrlPr>
                                <a:rPr sz="1600" i="1">
                                  <a:latin typeface="Cambria Math" panose="02040503050406030204" pitchFamily="18" charset="0"/>
                                </a:rPr>
                              </m:ctrlPr>
                            </m:sSubPr>
                            <m:e>
                              <m:r>
                                <a:rPr sz="1600">
                                  <a:latin typeface="Cambria Math" panose="02040503050406030204" pitchFamily="18" charset="0"/>
                                </a:rPr>
                                <m:t>𝑠</m:t>
                              </m:r>
                            </m:e>
                            <m:sub>
                              <m:r>
                                <a:rPr sz="1600">
                                  <a:latin typeface="Cambria Math" panose="02040503050406030204" pitchFamily="18" charset="0"/>
                                </a:rPr>
                                <m:t>𝑡</m:t>
                              </m:r>
                              <m:r>
                                <a:rPr sz="1600">
                                  <a:latin typeface="Cambria Math" panose="02040503050406030204" pitchFamily="18" charset="0"/>
                                </a:rPr>
                                <m:t>+1</m:t>
                              </m:r>
                            </m:sub>
                          </m:sSub>
                          <m:r>
                            <a:rPr sz="1600">
                              <a:latin typeface="Cambria Math" panose="02040503050406030204" pitchFamily="18" charset="0"/>
                            </a:rPr>
                            <m:t>)</m:t>
                          </m:r>
                        </m:e>
                      </m:d>
                    </m:oMath>
                  </m:oMathPara>
                </a14:m>
                <a:endParaRPr sz="1600" dirty="0"/>
              </a:p>
            </p:txBody>
          </p:sp>
        </mc:Choice>
        <mc:Fallback>
          <p:sp>
            <p:nvSpPr>
              <p:cNvPr id="22" name="SAC Learns (Bellman Target)"/>
              <p:cNvSpPr txBox="1">
                <a:spLocks noRot="1" noChangeAspect="1" noMove="1" noResize="1" noEditPoints="1" noAdjustHandles="1" noChangeArrowheads="1" noChangeShapeType="1" noTextEdit="1"/>
              </p:cNvSpPr>
              <p:nvPr/>
            </p:nvSpPr>
            <p:spPr>
              <a:xfrm>
                <a:off x="6202650" y="2750000"/>
                <a:ext cx="5447350" cy="900000"/>
              </a:xfrm>
              <a:prstGeom prst="rect">
                <a:avLst/>
              </a:prstGeom>
              <a:blipFill>
                <a:blip r:embed="rId4"/>
                <a:stretch>
                  <a:fillRect/>
                </a:stretch>
              </a:blipFill>
            </p:spPr>
            <p:txBody>
              <a:bodyPr/>
              <a:lstStyle/>
              <a:p>
                <a:r>
                  <a:rPr lang="th-TH">
                    <a:noFill/>
                  </a:rPr>
                  <a:t> </a:t>
                </a:r>
              </a:p>
            </p:txBody>
          </p:sp>
        </mc:Fallback>
      </mc:AlternateContent>
      <p:sp>
        <p:nvSpPr>
          <p:cNvPr id="200" name="VT_SecA"/>
          <p:cNvSpPr/>
          <p:nvPr/>
        </p:nvSpPr>
        <p:spPr>
          <a:xfrm>
            <a:off x="6250000" y="3750000"/>
            <a:ext cx="5300000" cy="240000"/>
          </a:xfrm>
          <a:prstGeom prst="rect">
            <a:avLst/>
          </a:prstGeom>
          <a:noFill/>
          <a:ln>
            <a:solidFill>
              <a:srgbClr val="1D3557"/>
            </a:solidFill>
          </a:ln>
        </p:spPr>
        <p:txBody>
          <a:bodyPr wrap="square" lIns="60960" tIns="30000" rIns="30000" bIns="30000" anchor="ctr"/>
          <a:lstStyle/>
          <a:p>
            <a:pPr algn="l"/>
            <a:r>
              <a:rPr sz="950" b="1" dirty="0">
                <a:solidFill>
                  <a:schemeClr val="tx2">
                    <a:lumMod val="75000"/>
                  </a:schemeClr>
                </a:solidFill>
                <a:latin typeface="Calibri"/>
              </a:rPr>
              <a:t>Reward Function Variables</a:t>
            </a:r>
          </a:p>
        </p:txBody>
      </p:sp>
      <p:sp>
        <p:nvSpPr>
          <p:cNvPr id="201" name="VT_A_H1"/>
          <p:cNvSpPr/>
          <p:nvPr/>
        </p:nvSpPr>
        <p:spPr>
          <a:xfrm>
            <a:off x="6250000" y="3990000"/>
            <a:ext cx="1600000" cy="220000"/>
          </a:xfrm>
          <a:prstGeom prst="rect">
            <a:avLst/>
          </a:prstGeom>
          <a:solidFill>
            <a:srgbClr val="1D3557"/>
          </a:solidFill>
          <a:ln w="9525">
            <a:solidFill>
              <a:srgbClr val="D9D2C4"/>
            </a:solidFill>
          </a:ln>
        </p:spPr>
        <p:txBody>
          <a:bodyPr wrap="square" lIns="45720" tIns="20000" rIns="20000" bIns="20000" anchor="ctr"/>
          <a:lstStyle/>
          <a:p>
            <a:pPr algn="l"/>
            <a:r>
              <a:rPr sz="850" b="1">
                <a:solidFill>
                  <a:srgbClr val="FFFFFF"/>
                </a:solidFill>
                <a:latin typeface="Calibri"/>
              </a:rPr>
              <a:t>Variable</a:t>
            </a:r>
          </a:p>
        </p:txBody>
      </p:sp>
      <p:sp>
        <p:nvSpPr>
          <p:cNvPr id="202" name="VT_A_H2"/>
          <p:cNvSpPr/>
          <p:nvPr/>
        </p:nvSpPr>
        <p:spPr>
          <a:xfrm>
            <a:off x="7850000" y="3990000"/>
            <a:ext cx="3700000" cy="220000"/>
          </a:xfrm>
          <a:prstGeom prst="rect">
            <a:avLst/>
          </a:prstGeom>
          <a:solidFill>
            <a:srgbClr val="1D3557"/>
          </a:solidFill>
          <a:ln w="9525">
            <a:solidFill>
              <a:srgbClr val="D9D2C4"/>
            </a:solidFill>
          </a:ln>
        </p:spPr>
        <p:txBody>
          <a:bodyPr wrap="square" lIns="45720" tIns="20000" rIns="20000" bIns="20000" anchor="ctr"/>
          <a:lstStyle/>
          <a:p>
            <a:pPr algn="l"/>
            <a:r>
              <a:rPr sz="850" b="1">
                <a:solidFill>
                  <a:srgbClr val="FFFFFF"/>
                </a:solidFill>
                <a:latin typeface="Calibri"/>
              </a:rPr>
              <a:t>Description</a:t>
            </a:r>
          </a:p>
        </p:txBody>
      </p:sp>
      <p:sp>
        <p:nvSpPr>
          <p:cNvPr id="203" name="VT_A1a"/>
          <p:cNvSpPr/>
          <p:nvPr/>
        </p:nvSpPr>
        <p:spPr>
          <a:xfrm>
            <a:off x="6250000" y="4210000"/>
            <a:ext cx="1600000" cy="185000"/>
          </a:xfrm>
          <a:prstGeom prst="rect">
            <a:avLst/>
          </a:prstGeom>
          <a:solidFill>
            <a:srgbClr val="FBFAF6"/>
          </a:solidFill>
          <a:ln w="9525">
            <a:solidFill>
              <a:srgbClr val="D9D2C4"/>
            </a:solidFill>
          </a:ln>
        </p:spPr>
        <p:txBody>
          <a:bodyPr wrap="square" lIns="45720" tIns="15000" rIns="20000" bIns="15000" anchor="ctr"/>
          <a:lstStyle/>
          <a:p>
            <a:pPr algn="l"/>
            <a:r>
              <a:rPr sz="800" b="1">
                <a:solidFill>
                  <a:srgbClr val="1D3557"/>
                </a:solidFill>
                <a:latin typeface="Calibri"/>
              </a:rPr>
              <a:t>r_t</a:t>
            </a:r>
          </a:p>
        </p:txBody>
      </p:sp>
      <p:sp>
        <p:nvSpPr>
          <p:cNvPr id="204" name="VT_A1b"/>
          <p:cNvSpPr/>
          <p:nvPr/>
        </p:nvSpPr>
        <p:spPr>
          <a:xfrm>
            <a:off x="7850000" y="4210000"/>
            <a:ext cx="3700000" cy="185000"/>
          </a:xfrm>
          <a:prstGeom prst="rect">
            <a:avLst/>
          </a:prstGeom>
          <a:solidFill>
            <a:srgbClr val="FBFAF6"/>
          </a:solidFill>
          <a:ln w="9525">
            <a:solidFill>
              <a:srgbClr val="D9D2C4"/>
            </a:solidFill>
          </a:ln>
        </p:spPr>
        <p:txBody>
          <a:bodyPr wrap="square" lIns="45720" tIns="15000" rIns="20000" bIns="15000" anchor="ctr"/>
          <a:lstStyle/>
          <a:p>
            <a:pPr algn="l"/>
            <a:r>
              <a:rPr sz="800" b="0">
                <a:solidFill>
                  <a:srgbClr val="4A5A66"/>
                </a:solidFill>
                <a:latin typeface="Calibri"/>
              </a:rPr>
              <a:t>Reward at time step t</a:t>
            </a:r>
          </a:p>
        </p:txBody>
      </p:sp>
      <p:sp>
        <p:nvSpPr>
          <p:cNvPr id="205" name="VT_A2a"/>
          <p:cNvSpPr/>
          <p:nvPr/>
        </p:nvSpPr>
        <p:spPr>
          <a:xfrm>
            <a:off x="6250000" y="4395000"/>
            <a:ext cx="1600000" cy="185000"/>
          </a:xfrm>
          <a:prstGeom prst="rect">
            <a:avLst/>
          </a:prstGeom>
          <a:solidFill>
            <a:srgbClr val="F4F1E9"/>
          </a:solidFill>
          <a:ln w="9525">
            <a:solidFill>
              <a:srgbClr val="D9D2C4"/>
            </a:solidFill>
          </a:ln>
        </p:spPr>
        <p:txBody>
          <a:bodyPr wrap="square" lIns="45720" tIns="15000" rIns="20000" bIns="15000" anchor="ctr"/>
          <a:lstStyle/>
          <a:p>
            <a:pPr algn="l"/>
            <a:r>
              <a:rPr sz="800" b="1">
                <a:solidFill>
                  <a:srgbClr val="1D3557"/>
                </a:solidFill>
                <a:latin typeface="Calibri"/>
              </a:rPr>
              <a:t>e(t) = ωref − ω</a:t>
            </a:r>
          </a:p>
        </p:txBody>
      </p:sp>
      <p:sp>
        <p:nvSpPr>
          <p:cNvPr id="206" name="VT_A2b"/>
          <p:cNvSpPr/>
          <p:nvPr/>
        </p:nvSpPr>
        <p:spPr>
          <a:xfrm>
            <a:off x="7850000" y="4395000"/>
            <a:ext cx="3700000" cy="185000"/>
          </a:xfrm>
          <a:prstGeom prst="rect">
            <a:avLst/>
          </a:prstGeom>
          <a:solidFill>
            <a:srgbClr val="F4F1E9"/>
          </a:solidFill>
          <a:ln w="9525">
            <a:solidFill>
              <a:srgbClr val="D9D2C4"/>
            </a:solidFill>
          </a:ln>
        </p:spPr>
        <p:txBody>
          <a:bodyPr wrap="square" lIns="45720" tIns="15000" rIns="20000" bIns="15000" anchor="ctr"/>
          <a:lstStyle/>
          <a:p>
            <a:pPr algn="l"/>
            <a:r>
              <a:rPr sz="800" b="0">
                <a:solidFill>
                  <a:srgbClr val="4A5A66"/>
                </a:solidFill>
                <a:latin typeface="Calibri"/>
              </a:rPr>
              <a:t>Speed tracking error</a:t>
            </a:r>
          </a:p>
        </p:txBody>
      </p:sp>
      <p:sp>
        <p:nvSpPr>
          <p:cNvPr id="207" name="VT_A3a"/>
          <p:cNvSpPr/>
          <p:nvPr/>
        </p:nvSpPr>
        <p:spPr>
          <a:xfrm>
            <a:off x="6250000" y="4580000"/>
            <a:ext cx="1600000" cy="185000"/>
          </a:xfrm>
          <a:prstGeom prst="rect">
            <a:avLst/>
          </a:prstGeom>
          <a:solidFill>
            <a:srgbClr val="FBFAF6"/>
          </a:solidFill>
          <a:ln w="9525">
            <a:solidFill>
              <a:srgbClr val="D9D2C4"/>
            </a:solidFill>
          </a:ln>
        </p:spPr>
        <p:txBody>
          <a:bodyPr wrap="square" lIns="45720" tIns="15000" rIns="20000" bIns="15000" anchor="ctr"/>
          <a:lstStyle/>
          <a:p>
            <a:pPr algn="l"/>
            <a:r>
              <a:rPr sz="800" b="1">
                <a:solidFill>
                  <a:srgbClr val="1D3557"/>
                </a:solidFill>
                <a:latin typeface="Calibri"/>
              </a:rPr>
              <a:t>ė(t)</a:t>
            </a:r>
          </a:p>
        </p:txBody>
      </p:sp>
      <p:sp>
        <p:nvSpPr>
          <p:cNvPr id="208" name="VT_A3b"/>
          <p:cNvSpPr/>
          <p:nvPr/>
        </p:nvSpPr>
        <p:spPr>
          <a:xfrm>
            <a:off x="7850000" y="4580000"/>
            <a:ext cx="3700000" cy="185000"/>
          </a:xfrm>
          <a:prstGeom prst="rect">
            <a:avLst/>
          </a:prstGeom>
          <a:solidFill>
            <a:srgbClr val="FBFAF6"/>
          </a:solidFill>
          <a:ln w="9525">
            <a:solidFill>
              <a:srgbClr val="D9D2C4"/>
            </a:solidFill>
          </a:ln>
        </p:spPr>
        <p:txBody>
          <a:bodyPr wrap="square" lIns="45720" tIns="15000" rIns="20000" bIns="15000" anchor="ctr"/>
          <a:lstStyle/>
          <a:p>
            <a:pPr algn="l"/>
            <a:r>
              <a:rPr sz="800" b="0">
                <a:solidFill>
                  <a:srgbClr val="4A5A66"/>
                </a:solidFill>
                <a:latin typeface="Calibri"/>
              </a:rPr>
              <a:t>Rate of change of error (derivative)</a:t>
            </a:r>
          </a:p>
        </p:txBody>
      </p:sp>
      <p:sp>
        <p:nvSpPr>
          <p:cNvPr id="209" name="VT_A4a"/>
          <p:cNvSpPr/>
          <p:nvPr/>
        </p:nvSpPr>
        <p:spPr>
          <a:xfrm>
            <a:off x="6250000" y="4765000"/>
            <a:ext cx="1600000" cy="185000"/>
          </a:xfrm>
          <a:prstGeom prst="rect">
            <a:avLst/>
          </a:prstGeom>
          <a:solidFill>
            <a:srgbClr val="F4F1E9"/>
          </a:solidFill>
          <a:ln w="9525">
            <a:solidFill>
              <a:srgbClr val="D9D2C4"/>
            </a:solidFill>
          </a:ln>
        </p:spPr>
        <p:txBody>
          <a:bodyPr wrap="square" lIns="45720" tIns="15000" rIns="20000" bIns="15000" anchor="ctr"/>
          <a:lstStyle/>
          <a:p>
            <a:pPr algn="l"/>
            <a:r>
              <a:rPr sz="800" b="1">
                <a:solidFill>
                  <a:srgbClr val="1D3557"/>
                </a:solidFill>
                <a:latin typeface="Calibri"/>
              </a:rPr>
              <a:t>u(t)</a:t>
            </a:r>
          </a:p>
        </p:txBody>
      </p:sp>
      <p:sp>
        <p:nvSpPr>
          <p:cNvPr id="210" name="VT_A4b"/>
          <p:cNvSpPr/>
          <p:nvPr/>
        </p:nvSpPr>
        <p:spPr>
          <a:xfrm>
            <a:off x="7850000" y="4765000"/>
            <a:ext cx="3700000" cy="185000"/>
          </a:xfrm>
          <a:prstGeom prst="rect">
            <a:avLst/>
          </a:prstGeom>
          <a:solidFill>
            <a:srgbClr val="F4F1E9"/>
          </a:solidFill>
          <a:ln w="9525">
            <a:solidFill>
              <a:srgbClr val="D9D2C4"/>
            </a:solidFill>
          </a:ln>
        </p:spPr>
        <p:txBody>
          <a:bodyPr wrap="square" lIns="45720" tIns="15000" rIns="20000" bIns="15000" anchor="ctr"/>
          <a:lstStyle/>
          <a:p>
            <a:pPr algn="l"/>
            <a:r>
              <a:rPr sz="800" b="0">
                <a:solidFill>
                  <a:srgbClr val="4A5A66"/>
                </a:solidFill>
                <a:latin typeface="Calibri"/>
              </a:rPr>
              <a:t>Control output / voltage command</a:t>
            </a:r>
          </a:p>
        </p:txBody>
      </p:sp>
      <p:sp>
        <p:nvSpPr>
          <p:cNvPr id="211" name="VT_A5a"/>
          <p:cNvSpPr/>
          <p:nvPr/>
        </p:nvSpPr>
        <p:spPr>
          <a:xfrm>
            <a:off x="6250000" y="4950000"/>
            <a:ext cx="1600000" cy="185000"/>
          </a:xfrm>
          <a:prstGeom prst="rect">
            <a:avLst/>
          </a:prstGeom>
          <a:solidFill>
            <a:srgbClr val="FBFAF6"/>
          </a:solidFill>
          <a:ln w="9525">
            <a:solidFill>
              <a:srgbClr val="D9D2C4"/>
            </a:solidFill>
          </a:ln>
        </p:spPr>
        <p:txBody>
          <a:bodyPr wrap="square" lIns="45720" tIns="15000" rIns="20000" bIns="15000" anchor="ctr"/>
          <a:lstStyle/>
          <a:p>
            <a:pPr algn="l"/>
            <a:r>
              <a:rPr sz="800" b="1">
                <a:solidFill>
                  <a:srgbClr val="1D3557"/>
                </a:solidFill>
                <a:latin typeface="Calibri"/>
              </a:rPr>
              <a:t>we, wė, wu</a:t>
            </a:r>
          </a:p>
        </p:txBody>
      </p:sp>
      <p:sp>
        <p:nvSpPr>
          <p:cNvPr id="212" name="VT_A5b"/>
          <p:cNvSpPr/>
          <p:nvPr/>
        </p:nvSpPr>
        <p:spPr>
          <a:xfrm>
            <a:off x="7850000" y="4950000"/>
            <a:ext cx="3700000" cy="185000"/>
          </a:xfrm>
          <a:prstGeom prst="rect">
            <a:avLst/>
          </a:prstGeom>
          <a:solidFill>
            <a:srgbClr val="FBFAF6"/>
          </a:solidFill>
          <a:ln w="9525">
            <a:solidFill>
              <a:srgbClr val="D9D2C4"/>
            </a:solidFill>
          </a:ln>
        </p:spPr>
        <p:txBody>
          <a:bodyPr wrap="square" lIns="45720" tIns="15000" rIns="20000" bIns="15000" anchor="ctr"/>
          <a:lstStyle/>
          <a:p>
            <a:pPr algn="l"/>
            <a:r>
              <a:rPr sz="800" b="0">
                <a:solidFill>
                  <a:srgbClr val="4A5A66"/>
                </a:solidFill>
                <a:latin typeface="Calibri"/>
              </a:rPr>
              <a:t>Penalty weighting coefficients (1.0, 0, 0.01)</a:t>
            </a:r>
          </a:p>
        </p:txBody>
      </p:sp>
      <p:sp>
        <p:nvSpPr>
          <p:cNvPr id="220" name="VT_SecB"/>
          <p:cNvSpPr/>
          <p:nvPr/>
        </p:nvSpPr>
        <p:spPr>
          <a:xfrm>
            <a:off x="6250000" y="5175000"/>
            <a:ext cx="5300000" cy="240000"/>
          </a:xfrm>
          <a:prstGeom prst="rect">
            <a:avLst/>
          </a:prstGeom>
          <a:noFill/>
          <a:ln>
            <a:solidFill>
              <a:srgbClr val="2A6080"/>
            </a:solidFill>
          </a:ln>
        </p:spPr>
        <p:txBody>
          <a:bodyPr wrap="square" lIns="60960" tIns="30000" rIns="30000" bIns="30000" anchor="ctr"/>
          <a:lstStyle/>
          <a:p>
            <a:pPr algn="l"/>
            <a:r>
              <a:rPr sz="950" b="1" dirty="0">
                <a:solidFill>
                  <a:schemeClr val="tx2">
                    <a:lumMod val="75000"/>
                  </a:schemeClr>
                </a:solidFill>
                <a:latin typeface="Calibri"/>
              </a:rPr>
              <a:t>Bellman Target Variables</a:t>
            </a:r>
          </a:p>
        </p:txBody>
      </p:sp>
      <p:sp>
        <p:nvSpPr>
          <p:cNvPr id="221" name="VT_B_H1"/>
          <p:cNvSpPr/>
          <p:nvPr/>
        </p:nvSpPr>
        <p:spPr>
          <a:xfrm>
            <a:off x="6250000" y="5415000"/>
            <a:ext cx="1600000" cy="220000"/>
          </a:xfrm>
          <a:prstGeom prst="rect">
            <a:avLst/>
          </a:prstGeom>
          <a:solidFill>
            <a:srgbClr val="2A6080"/>
          </a:solidFill>
          <a:ln w="9525">
            <a:solidFill>
              <a:srgbClr val="D9D2C4"/>
            </a:solidFill>
          </a:ln>
        </p:spPr>
        <p:txBody>
          <a:bodyPr wrap="square" lIns="45720" tIns="20000" rIns="20000" bIns="20000" anchor="ctr"/>
          <a:lstStyle/>
          <a:p>
            <a:pPr algn="l"/>
            <a:r>
              <a:rPr sz="850" b="1">
                <a:solidFill>
                  <a:srgbClr val="FFFFFF"/>
                </a:solidFill>
                <a:latin typeface="Calibri"/>
              </a:rPr>
              <a:t>Variable</a:t>
            </a:r>
          </a:p>
        </p:txBody>
      </p:sp>
      <p:sp>
        <p:nvSpPr>
          <p:cNvPr id="222" name="VT_B_H2"/>
          <p:cNvSpPr/>
          <p:nvPr/>
        </p:nvSpPr>
        <p:spPr>
          <a:xfrm>
            <a:off x="7850000" y="5415000"/>
            <a:ext cx="3700000" cy="220000"/>
          </a:xfrm>
          <a:prstGeom prst="rect">
            <a:avLst/>
          </a:prstGeom>
          <a:solidFill>
            <a:srgbClr val="2A6080"/>
          </a:solidFill>
          <a:ln w="9525">
            <a:solidFill>
              <a:srgbClr val="D9D2C4"/>
            </a:solidFill>
          </a:ln>
        </p:spPr>
        <p:txBody>
          <a:bodyPr wrap="square" lIns="45720" tIns="20000" rIns="20000" bIns="20000" anchor="ctr"/>
          <a:lstStyle/>
          <a:p>
            <a:pPr algn="l"/>
            <a:r>
              <a:rPr sz="850" b="1">
                <a:solidFill>
                  <a:srgbClr val="FFFFFF"/>
                </a:solidFill>
                <a:latin typeface="Calibri"/>
              </a:rPr>
              <a:t>Description</a:t>
            </a:r>
          </a:p>
        </p:txBody>
      </p:sp>
      <p:sp>
        <p:nvSpPr>
          <p:cNvPr id="223" name="VT_B1a"/>
          <p:cNvSpPr/>
          <p:nvPr/>
        </p:nvSpPr>
        <p:spPr>
          <a:xfrm>
            <a:off x="6250000" y="5635000"/>
            <a:ext cx="1600000" cy="185000"/>
          </a:xfrm>
          <a:prstGeom prst="rect">
            <a:avLst/>
          </a:prstGeom>
          <a:solidFill>
            <a:srgbClr val="FBFAF6"/>
          </a:solidFill>
          <a:ln w="9525">
            <a:solidFill>
              <a:srgbClr val="D9D2C4"/>
            </a:solidFill>
          </a:ln>
        </p:spPr>
        <p:txBody>
          <a:bodyPr wrap="square" lIns="45720" tIns="15000" rIns="20000" bIns="15000" anchor="ctr"/>
          <a:lstStyle/>
          <a:p>
            <a:pPr algn="l"/>
            <a:r>
              <a:rPr sz="800" b="1">
                <a:solidFill>
                  <a:srgbClr val="1D3557"/>
                </a:solidFill>
                <a:latin typeface="Calibri"/>
              </a:rPr>
              <a:t>y_t</a:t>
            </a:r>
          </a:p>
        </p:txBody>
      </p:sp>
      <p:sp>
        <p:nvSpPr>
          <p:cNvPr id="224" name="VT_B1b"/>
          <p:cNvSpPr/>
          <p:nvPr/>
        </p:nvSpPr>
        <p:spPr>
          <a:xfrm>
            <a:off x="7850000" y="5635000"/>
            <a:ext cx="3700000" cy="185000"/>
          </a:xfrm>
          <a:prstGeom prst="rect">
            <a:avLst/>
          </a:prstGeom>
          <a:solidFill>
            <a:srgbClr val="FBFAF6"/>
          </a:solidFill>
          <a:ln w="9525">
            <a:solidFill>
              <a:srgbClr val="D9D2C4"/>
            </a:solidFill>
          </a:ln>
        </p:spPr>
        <p:txBody>
          <a:bodyPr wrap="square" lIns="45720" tIns="15000" rIns="20000" bIns="15000" anchor="ctr"/>
          <a:lstStyle/>
          <a:p>
            <a:pPr algn="l"/>
            <a:r>
              <a:rPr sz="800" b="0">
                <a:solidFill>
                  <a:srgbClr val="4A5A66"/>
                </a:solidFill>
                <a:latin typeface="Calibri"/>
              </a:rPr>
              <a:t>Bellman target — supervised label for critic update</a:t>
            </a:r>
          </a:p>
        </p:txBody>
      </p:sp>
      <p:sp>
        <p:nvSpPr>
          <p:cNvPr id="225" name="VT_B2a"/>
          <p:cNvSpPr/>
          <p:nvPr/>
        </p:nvSpPr>
        <p:spPr>
          <a:xfrm>
            <a:off x="6250000" y="5820000"/>
            <a:ext cx="1600000" cy="185000"/>
          </a:xfrm>
          <a:prstGeom prst="rect">
            <a:avLst/>
          </a:prstGeom>
          <a:solidFill>
            <a:srgbClr val="F4F1E9"/>
          </a:solidFill>
          <a:ln w="9525">
            <a:solidFill>
              <a:srgbClr val="D9D2C4"/>
            </a:solidFill>
          </a:ln>
        </p:spPr>
        <p:txBody>
          <a:bodyPr wrap="square" lIns="45720" tIns="15000" rIns="20000" bIns="15000" anchor="ctr"/>
          <a:lstStyle/>
          <a:p>
            <a:pPr algn="l"/>
            <a:r>
              <a:rPr sz="800" b="1">
                <a:solidFill>
                  <a:srgbClr val="1D3557"/>
                </a:solidFill>
                <a:latin typeface="Calibri"/>
              </a:rPr>
              <a:t>γ ∈ (0,1)</a:t>
            </a:r>
          </a:p>
        </p:txBody>
      </p:sp>
      <p:sp>
        <p:nvSpPr>
          <p:cNvPr id="226" name="VT_B2b"/>
          <p:cNvSpPr/>
          <p:nvPr/>
        </p:nvSpPr>
        <p:spPr>
          <a:xfrm>
            <a:off x="7850000" y="5820000"/>
            <a:ext cx="3700000" cy="185000"/>
          </a:xfrm>
          <a:prstGeom prst="rect">
            <a:avLst/>
          </a:prstGeom>
          <a:solidFill>
            <a:srgbClr val="F4F1E9"/>
          </a:solidFill>
          <a:ln w="9525">
            <a:solidFill>
              <a:srgbClr val="D9D2C4"/>
            </a:solidFill>
          </a:ln>
        </p:spPr>
        <p:txBody>
          <a:bodyPr wrap="square" lIns="45720" tIns="15000" rIns="20000" bIns="15000" anchor="ctr"/>
          <a:lstStyle/>
          <a:p>
            <a:pPr algn="l"/>
            <a:r>
              <a:rPr sz="800" b="0">
                <a:solidFill>
                  <a:srgbClr val="4A5A66"/>
                </a:solidFill>
                <a:latin typeface="Calibri"/>
              </a:rPr>
              <a:t>Discount factor — weights future vs. immediate reward</a:t>
            </a:r>
          </a:p>
        </p:txBody>
      </p:sp>
      <p:sp>
        <p:nvSpPr>
          <p:cNvPr id="227" name="VT_B3a"/>
          <p:cNvSpPr/>
          <p:nvPr/>
        </p:nvSpPr>
        <p:spPr>
          <a:xfrm>
            <a:off x="6250000" y="6005000"/>
            <a:ext cx="1600000" cy="185000"/>
          </a:xfrm>
          <a:prstGeom prst="rect">
            <a:avLst/>
          </a:prstGeom>
          <a:solidFill>
            <a:srgbClr val="FBFAF6"/>
          </a:solidFill>
          <a:ln w="9525">
            <a:solidFill>
              <a:srgbClr val="D9D2C4"/>
            </a:solidFill>
          </a:ln>
        </p:spPr>
        <p:txBody>
          <a:bodyPr wrap="square" lIns="45720" tIns="15000" rIns="20000" bIns="15000" anchor="ctr"/>
          <a:lstStyle/>
          <a:p>
            <a:pPr algn="l"/>
            <a:r>
              <a:rPr sz="800" b="1">
                <a:solidFill>
                  <a:srgbClr val="1D3557"/>
                </a:solidFill>
                <a:latin typeface="Calibri"/>
              </a:rPr>
              <a:t>Q_θ'j</a:t>
            </a:r>
          </a:p>
        </p:txBody>
      </p:sp>
      <p:sp>
        <p:nvSpPr>
          <p:cNvPr id="228" name="VT_B3b"/>
          <p:cNvSpPr/>
          <p:nvPr/>
        </p:nvSpPr>
        <p:spPr>
          <a:xfrm>
            <a:off x="7850000" y="6005000"/>
            <a:ext cx="3700000" cy="185000"/>
          </a:xfrm>
          <a:prstGeom prst="rect">
            <a:avLst/>
          </a:prstGeom>
          <a:solidFill>
            <a:srgbClr val="FBFAF6"/>
          </a:solidFill>
          <a:ln w="9525">
            <a:solidFill>
              <a:srgbClr val="D9D2C4"/>
            </a:solidFill>
          </a:ln>
        </p:spPr>
        <p:txBody>
          <a:bodyPr wrap="square" lIns="45720" tIns="15000" rIns="20000" bIns="15000" anchor="ctr"/>
          <a:lstStyle/>
          <a:p>
            <a:pPr algn="l"/>
            <a:r>
              <a:rPr sz="800" b="0">
                <a:solidFill>
                  <a:srgbClr val="4A5A66"/>
                </a:solidFill>
                <a:latin typeface="Calibri"/>
              </a:rPr>
              <a:t>Target Q-network j (slow-updated copy, stabilises training)</a:t>
            </a:r>
          </a:p>
        </p:txBody>
      </p:sp>
      <p:sp>
        <p:nvSpPr>
          <p:cNvPr id="229" name="VT_B4a"/>
          <p:cNvSpPr/>
          <p:nvPr/>
        </p:nvSpPr>
        <p:spPr>
          <a:xfrm>
            <a:off x="6250000" y="6190000"/>
            <a:ext cx="1600000" cy="185000"/>
          </a:xfrm>
          <a:prstGeom prst="rect">
            <a:avLst/>
          </a:prstGeom>
          <a:solidFill>
            <a:srgbClr val="F4F1E9"/>
          </a:solidFill>
          <a:ln w="9525">
            <a:solidFill>
              <a:srgbClr val="D9D2C4"/>
            </a:solidFill>
          </a:ln>
        </p:spPr>
        <p:txBody>
          <a:bodyPr wrap="square" lIns="45720" tIns="15000" rIns="20000" bIns="15000" anchor="ctr"/>
          <a:lstStyle/>
          <a:p>
            <a:pPr algn="l"/>
            <a:r>
              <a:rPr sz="800" b="1">
                <a:solidFill>
                  <a:srgbClr val="1D3557"/>
                </a:solidFill>
                <a:latin typeface="Calibri"/>
              </a:rPr>
              <a:t>α</a:t>
            </a:r>
          </a:p>
        </p:txBody>
      </p:sp>
      <p:sp>
        <p:nvSpPr>
          <p:cNvPr id="230" name="VT_B4b"/>
          <p:cNvSpPr/>
          <p:nvPr/>
        </p:nvSpPr>
        <p:spPr>
          <a:xfrm>
            <a:off x="7850000" y="6190000"/>
            <a:ext cx="3700000" cy="185000"/>
          </a:xfrm>
          <a:prstGeom prst="rect">
            <a:avLst/>
          </a:prstGeom>
          <a:solidFill>
            <a:srgbClr val="F4F1E9"/>
          </a:solidFill>
          <a:ln w="9525">
            <a:solidFill>
              <a:srgbClr val="D9D2C4"/>
            </a:solidFill>
          </a:ln>
        </p:spPr>
        <p:txBody>
          <a:bodyPr wrap="square" lIns="45720" tIns="15000" rIns="20000" bIns="15000" anchor="ctr"/>
          <a:lstStyle/>
          <a:p>
            <a:pPr algn="l"/>
            <a:r>
              <a:rPr sz="800" b="0">
                <a:solidFill>
                  <a:srgbClr val="4A5A66"/>
                </a:solidFill>
                <a:latin typeface="Calibri"/>
              </a:rPr>
              <a:t>Temperature — controls entropy / exploration strength</a:t>
            </a:r>
          </a:p>
        </p:txBody>
      </p:sp>
      <p:sp>
        <p:nvSpPr>
          <p:cNvPr id="231" name="VT_B5a"/>
          <p:cNvSpPr/>
          <p:nvPr/>
        </p:nvSpPr>
        <p:spPr>
          <a:xfrm>
            <a:off x="6250000" y="6375000"/>
            <a:ext cx="1600000" cy="185000"/>
          </a:xfrm>
          <a:prstGeom prst="rect">
            <a:avLst/>
          </a:prstGeom>
          <a:solidFill>
            <a:srgbClr val="FBFAF6"/>
          </a:solidFill>
          <a:ln w="9525">
            <a:solidFill>
              <a:srgbClr val="D9D2C4"/>
            </a:solidFill>
          </a:ln>
        </p:spPr>
        <p:txBody>
          <a:bodyPr wrap="square" lIns="45720" tIns="15000" rIns="20000" bIns="15000" anchor="ctr"/>
          <a:lstStyle/>
          <a:p>
            <a:pPr algn="l"/>
            <a:r>
              <a:rPr sz="800" b="1">
                <a:solidFill>
                  <a:srgbClr val="1D3557"/>
                </a:solidFill>
                <a:latin typeface="Calibri"/>
              </a:rPr>
              <a:t>log π_φ(ã|s)</a:t>
            </a:r>
          </a:p>
        </p:txBody>
      </p:sp>
      <p:sp>
        <p:nvSpPr>
          <p:cNvPr id="232" name="VT_B5b"/>
          <p:cNvSpPr/>
          <p:nvPr/>
        </p:nvSpPr>
        <p:spPr>
          <a:xfrm>
            <a:off x="7850000" y="6375000"/>
            <a:ext cx="3700000" cy="185000"/>
          </a:xfrm>
          <a:prstGeom prst="rect">
            <a:avLst/>
          </a:prstGeom>
          <a:solidFill>
            <a:srgbClr val="FBFAF6"/>
          </a:solidFill>
          <a:ln w="9525">
            <a:solidFill>
              <a:srgbClr val="D9D2C4"/>
            </a:solidFill>
          </a:ln>
        </p:spPr>
        <p:txBody>
          <a:bodyPr wrap="square" lIns="45720" tIns="15000" rIns="20000" bIns="15000" anchor="ctr"/>
          <a:lstStyle/>
          <a:p>
            <a:pPr algn="l"/>
            <a:r>
              <a:rPr sz="800" b="0">
                <a:solidFill>
                  <a:srgbClr val="4A5A66"/>
                </a:solidFill>
                <a:latin typeface="Calibri"/>
              </a:rPr>
              <a:t>Log-prob of sampled action — entropy bonus</a:t>
            </a:r>
          </a:p>
        </p:txBody>
      </p:sp>
      <p:sp>
        <p:nvSpPr>
          <p:cNvPr id="233" name="VT_B6a"/>
          <p:cNvSpPr/>
          <p:nvPr/>
        </p:nvSpPr>
        <p:spPr>
          <a:xfrm>
            <a:off x="6250000" y="6560000"/>
            <a:ext cx="1600000" cy="185000"/>
          </a:xfrm>
          <a:prstGeom prst="rect">
            <a:avLst/>
          </a:prstGeom>
          <a:solidFill>
            <a:srgbClr val="F4F1E9"/>
          </a:solidFill>
          <a:ln w="9525">
            <a:solidFill>
              <a:srgbClr val="D9D2C4"/>
            </a:solidFill>
          </a:ln>
        </p:spPr>
        <p:txBody>
          <a:bodyPr wrap="square" lIns="45720" tIns="15000" rIns="20000" bIns="15000" anchor="ctr"/>
          <a:lstStyle/>
          <a:p>
            <a:pPr algn="l"/>
            <a:r>
              <a:rPr sz="800" b="1">
                <a:solidFill>
                  <a:srgbClr val="1D3557"/>
                </a:solidFill>
                <a:latin typeface="Calibri"/>
              </a:rPr>
              <a:t>ã_{t+1}, s_{t+1}</a:t>
            </a:r>
          </a:p>
        </p:txBody>
      </p:sp>
      <p:sp>
        <p:nvSpPr>
          <p:cNvPr id="234" name="VT_B6b"/>
          <p:cNvSpPr/>
          <p:nvPr/>
        </p:nvSpPr>
        <p:spPr>
          <a:xfrm>
            <a:off x="7850000" y="6560000"/>
            <a:ext cx="3700000" cy="185000"/>
          </a:xfrm>
          <a:prstGeom prst="rect">
            <a:avLst/>
          </a:prstGeom>
          <a:solidFill>
            <a:srgbClr val="F4F1E9"/>
          </a:solidFill>
          <a:ln w="9525">
            <a:solidFill>
              <a:srgbClr val="D9D2C4"/>
            </a:solidFill>
          </a:ln>
        </p:spPr>
        <p:txBody>
          <a:bodyPr wrap="square" lIns="45720" tIns="15000" rIns="20000" bIns="15000" anchor="ctr"/>
          <a:lstStyle/>
          <a:p>
            <a:pPr algn="l"/>
            <a:r>
              <a:rPr sz="800" b="0">
                <a:solidFill>
                  <a:srgbClr val="4A5A66"/>
                </a:solidFill>
                <a:latin typeface="Calibri"/>
              </a:rPr>
              <a:t>Re-sampled action and next state (t+1 step)</a:t>
            </a:r>
          </a:p>
        </p:txBody>
      </p:sp>
      <p:sp>
        <p:nvSpPr>
          <p:cNvPr id="41" name="TextBox 40">
            <a:extLst>
              <a:ext uri="{FF2B5EF4-FFF2-40B4-BE49-F238E27FC236}">
                <a16:creationId xmlns:a16="http://schemas.microsoft.com/office/drawing/2014/main" id="{78D7B719-3577-4E35-8B38-ACA7C3D17041}"/>
              </a:ext>
            </a:extLst>
          </p:cNvPr>
          <p:cNvSpPr txBox="1"/>
          <p:nvPr/>
        </p:nvSpPr>
        <p:spPr>
          <a:xfrm>
            <a:off x="868680" y="548640"/>
            <a:ext cx="10607040" cy="169277"/>
          </a:xfrm>
          <a:prstGeom prst="rect">
            <a:avLst/>
          </a:prstGeom>
          <a:noFill/>
        </p:spPr>
        <p:txBody>
          <a:bodyPr wrap="square" lIns="0" tIns="0" rIns="0" bIns="0" anchor="t">
            <a:spAutoFit/>
          </a:bodyPr>
          <a:lstStyle/>
          <a:p>
            <a:pPr>
              <a:lnSpc>
                <a:spcPct val="100000"/>
              </a:lnSpc>
            </a:pPr>
            <a:r>
              <a:rPr lang="en-US" altLang="zh-CN" sz="1100" b="1" dirty="0">
                <a:solidFill>
                  <a:srgbClr val="E07A5F"/>
                </a:solidFill>
                <a:latin typeface="Consolas"/>
              </a:rPr>
              <a:t>C2</a:t>
            </a:r>
            <a:r>
              <a:rPr sz="1100" b="1" dirty="0">
                <a:solidFill>
                  <a:srgbClr val="E07A5F"/>
                </a:solidFill>
                <a:latin typeface="Consolas"/>
              </a:rPr>
              <a:t>  </a:t>
            </a:r>
            <a:r>
              <a:rPr lang="en-US" sz="1100" dirty="0">
                <a:solidFill>
                  <a:srgbClr val="2A9D8F"/>
                </a:solidFill>
                <a:latin typeface="Consolas"/>
              </a:rPr>
              <a:t>SAC-RL Controller Design</a:t>
            </a:r>
            <a:endParaRPr sz="1100" dirty="0">
              <a:solidFill>
                <a:srgbClr val="2A9D8F"/>
              </a:solidFill>
              <a:latin typeface="Consolas"/>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r"/>
          <p:cNvSpPr/>
          <p:nvPr/>
        </p:nvSpPr>
        <p:spPr>
          <a:xfrm>
            <a:off x="566928" y="502920"/>
            <a:ext cx="17780" cy="5852160"/>
          </a:xfrm>
          <a:prstGeom prst="rect">
            <a:avLst/>
          </a:prstGeom>
          <a:solidFill>
            <a:srgbClr val="D9D2C4"/>
          </a:solidFill>
          <a:ln>
            <a:noFill/>
          </a:ln>
        </p:spPr>
        <p:txBody>
          <a:bodyPr rtlCol="0" anchor="ctr"/>
          <a:lstStyle/>
          <a:p>
            <a:pPr algn="ctr"/>
            <a:endParaRPr/>
          </a:p>
        </p:txBody>
      </p:sp>
      <p:sp>
        <p:nvSpPr>
          <p:cNvPr id="3" name="Accent"/>
          <p:cNvSpPr/>
          <p:nvPr/>
        </p:nvSpPr>
        <p:spPr>
          <a:xfrm>
            <a:off x="566928" y="502920"/>
            <a:ext cx="30480" cy="566928"/>
          </a:xfrm>
          <a:prstGeom prst="rect">
            <a:avLst/>
          </a:prstGeom>
          <a:solidFill>
            <a:srgbClr val="2A9D8F"/>
          </a:solidFill>
          <a:ln>
            <a:noFill/>
          </a:ln>
        </p:spPr>
        <p:txBody>
          <a:bodyPr rtlCol="0" anchor="ctr"/>
          <a:lstStyle/>
          <a:p>
            <a:pPr algn="ctr"/>
            <a:endParaRPr/>
          </a:p>
        </p:txBody>
      </p:sp>
      <p:sp>
        <p:nvSpPr>
          <p:cNvPr id="5" name="Title"/>
          <p:cNvSpPr txBox="1"/>
          <p:nvPr/>
        </p:nvSpPr>
        <p:spPr>
          <a:xfrm>
            <a:off x="868680" y="819295"/>
            <a:ext cx="10607040" cy="580000"/>
          </a:xfrm>
          <a:prstGeom prst="rect">
            <a:avLst/>
          </a:prstGeom>
          <a:noFill/>
        </p:spPr>
        <p:txBody>
          <a:bodyPr wrap="square" lIns="0" tIns="0" rIns="0" bIns="0" anchor="t">
            <a:spAutoFit/>
          </a:bodyPr>
          <a:lstStyle/>
          <a:p>
            <a:pPr algn="l">
              <a:lnSpc>
                <a:spcPct val="102000"/>
              </a:lnSpc>
              <a:spcBef>
                <a:spcPts val="0"/>
              </a:spcBef>
              <a:spcAft>
                <a:spcPts val="600"/>
              </a:spcAft>
            </a:pPr>
            <a:r>
              <a:rPr sz="2800" b="1" dirty="0">
                <a:solidFill>
                  <a:srgbClr val="1D3557"/>
                </a:solidFill>
                <a:latin typeface="Georgia"/>
              </a:rPr>
              <a:t>SAC Policy: INPUT → PARAMETER → OUTPUT</a:t>
            </a:r>
          </a:p>
        </p:txBody>
      </p:sp>
      <p:sp>
        <p:nvSpPr>
          <p:cNvPr id="10" name="ColHdr10"/>
          <p:cNvSpPr/>
          <p:nvPr/>
        </p:nvSpPr>
        <p:spPr>
          <a:xfrm>
            <a:off x="884680" y="1324383"/>
            <a:ext cx="3200000" cy="244460"/>
          </a:xfrm>
          <a:prstGeom prst="roundRect">
            <a:avLst>
              <a:gd name="adj" fmla="val 4000"/>
            </a:avLst>
          </a:prstGeom>
          <a:solidFill>
            <a:srgbClr val="2A9D8F"/>
          </a:solidFill>
          <a:ln>
            <a:noFill/>
          </a:ln>
        </p:spPr>
        <p:txBody>
          <a:bodyPr wrap="square" lIns="60960" tIns="45720" rIns="60960" bIns="45720" anchor="ctr"/>
          <a:lstStyle/>
          <a:p>
            <a:pPr algn="ctr"/>
            <a:r>
              <a:rPr sz="1400" b="1" dirty="0">
                <a:solidFill>
                  <a:srgbClr val="FFFFFF"/>
                </a:solidFill>
                <a:latin typeface="Georgia"/>
              </a:rPr>
              <a:t>INPUT</a:t>
            </a:r>
          </a:p>
        </p:txBody>
      </p:sp>
      <p:sp>
        <p:nvSpPr>
          <p:cNvPr id="11" name="ColHdr11"/>
          <p:cNvSpPr/>
          <p:nvPr/>
        </p:nvSpPr>
        <p:spPr>
          <a:xfrm>
            <a:off x="4284680" y="1324383"/>
            <a:ext cx="3200000" cy="244460"/>
          </a:xfrm>
          <a:prstGeom prst="roundRect">
            <a:avLst>
              <a:gd name="adj" fmla="val 4000"/>
            </a:avLst>
          </a:prstGeom>
          <a:solidFill>
            <a:srgbClr val="1D3557"/>
          </a:solidFill>
          <a:ln>
            <a:noFill/>
          </a:ln>
        </p:spPr>
        <p:txBody>
          <a:bodyPr wrap="square" lIns="60960" tIns="45720" rIns="60960" bIns="45720" anchor="ctr"/>
          <a:lstStyle/>
          <a:p>
            <a:pPr algn="ctr"/>
            <a:r>
              <a:rPr sz="1400" b="1">
                <a:solidFill>
                  <a:srgbClr val="FFFFFF"/>
                </a:solidFill>
                <a:latin typeface="Georgia"/>
              </a:rPr>
              <a:t>PARAMETER</a:t>
            </a:r>
          </a:p>
        </p:txBody>
      </p:sp>
      <p:sp>
        <p:nvSpPr>
          <p:cNvPr id="12" name="ColHdr12"/>
          <p:cNvSpPr/>
          <p:nvPr/>
        </p:nvSpPr>
        <p:spPr>
          <a:xfrm>
            <a:off x="7684680" y="1324383"/>
            <a:ext cx="3200000" cy="244460"/>
          </a:xfrm>
          <a:prstGeom prst="roundRect">
            <a:avLst>
              <a:gd name="adj" fmla="val 4000"/>
            </a:avLst>
          </a:prstGeom>
          <a:solidFill>
            <a:srgbClr val="E07A5F"/>
          </a:solidFill>
          <a:ln>
            <a:noFill/>
          </a:ln>
        </p:spPr>
        <p:txBody>
          <a:bodyPr wrap="square" lIns="60960" tIns="45720" rIns="60960" bIns="45720" anchor="ctr"/>
          <a:lstStyle/>
          <a:p>
            <a:pPr algn="ctr"/>
            <a:r>
              <a:rPr sz="1400" b="1">
                <a:solidFill>
                  <a:srgbClr val="FFFFFF"/>
                </a:solidFill>
                <a:latin typeface="Georgia"/>
              </a:rPr>
              <a:t>OUTPUT</a:t>
            </a:r>
          </a:p>
        </p:txBody>
      </p:sp>
      <p:sp>
        <p:nvSpPr>
          <p:cNvPr id="20" name="TC20"/>
          <p:cNvSpPr/>
          <p:nvPr/>
        </p:nvSpPr>
        <p:spPr>
          <a:xfrm>
            <a:off x="884680" y="1571323"/>
            <a:ext cx="1216000" cy="370000"/>
          </a:xfrm>
          <a:prstGeom prst="rect">
            <a:avLst/>
          </a:prstGeom>
          <a:solidFill>
            <a:srgbClr val="1D3557"/>
          </a:solidFill>
          <a:ln w="9525">
            <a:solidFill>
              <a:srgbClr val="D9D2C4"/>
            </a:solidFill>
          </a:ln>
        </p:spPr>
        <p:txBody>
          <a:bodyPr wrap="square" lIns="45720" tIns="30000" rIns="30000" bIns="30000" anchor="ctr"/>
          <a:lstStyle/>
          <a:p>
            <a:pPr algn="l"/>
            <a:r>
              <a:rPr sz="1000" b="1">
                <a:solidFill>
                  <a:srgbClr val="FFFFFF"/>
                </a:solidFill>
                <a:latin typeface="Calibri"/>
              </a:rPr>
              <a:t>Variable</a:t>
            </a:r>
          </a:p>
        </p:txBody>
      </p:sp>
      <p:sp>
        <p:nvSpPr>
          <p:cNvPr id="21" name="TC21"/>
          <p:cNvSpPr/>
          <p:nvPr/>
        </p:nvSpPr>
        <p:spPr>
          <a:xfrm>
            <a:off x="2100680" y="1571323"/>
            <a:ext cx="704000" cy="370000"/>
          </a:xfrm>
          <a:prstGeom prst="rect">
            <a:avLst/>
          </a:prstGeom>
          <a:solidFill>
            <a:srgbClr val="1D3557"/>
          </a:solidFill>
          <a:ln w="9525">
            <a:solidFill>
              <a:srgbClr val="D9D2C4"/>
            </a:solidFill>
          </a:ln>
        </p:spPr>
        <p:txBody>
          <a:bodyPr wrap="square" lIns="45720" tIns="30000" rIns="30000" bIns="30000" anchor="ctr"/>
          <a:lstStyle/>
          <a:p>
            <a:pPr algn="ctr"/>
            <a:r>
              <a:rPr sz="1000" b="0">
                <a:solidFill>
                  <a:srgbClr val="FFFFFF"/>
                </a:solidFill>
                <a:latin typeface="Calibri"/>
              </a:rPr>
              <a:t>Norm.</a:t>
            </a:r>
          </a:p>
        </p:txBody>
      </p:sp>
      <p:sp>
        <p:nvSpPr>
          <p:cNvPr id="22" name="TC22"/>
          <p:cNvSpPr/>
          <p:nvPr/>
        </p:nvSpPr>
        <p:spPr>
          <a:xfrm>
            <a:off x="2804680" y="1571323"/>
            <a:ext cx="1280000" cy="370000"/>
          </a:xfrm>
          <a:prstGeom prst="rect">
            <a:avLst/>
          </a:prstGeom>
          <a:solidFill>
            <a:srgbClr val="1D3557"/>
          </a:solidFill>
          <a:ln w="9525">
            <a:solidFill>
              <a:srgbClr val="D9D2C4"/>
            </a:solidFill>
          </a:ln>
        </p:spPr>
        <p:txBody>
          <a:bodyPr wrap="square" lIns="45720" tIns="30000" rIns="30000" bIns="30000" anchor="ctr"/>
          <a:lstStyle/>
          <a:p>
            <a:pPr algn="ctr"/>
            <a:r>
              <a:rPr sz="950" b="0">
                <a:solidFill>
                  <a:srgbClr val="FFFFFF"/>
                </a:solidFill>
                <a:latin typeface="Calibri"/>
              </a:rPr>
              <a:t>Purpose</a:t>
            </a:r>
          </a:p>
        </p:txBody>
      </p:sp>
      <p:sp>
        <p:nvSpPr>
          <p:cNvPr id="30" name="TC30"/>
          <p:cNvSpPr/>
          <p:nvPr/>
        </p:nvSpPr>
        <p:spPr>
          <a:xfrm>
            <a:off x="884680" y="1941323"/>
            <a:ext cx="1216000" cy="370000"/>
          </a:xfrm>
          <a:prstGeom prst="rect">
            <a:avLst/>
          </a:prstGeom>
          <a:solidFill>
            <a:srgbClr val="FBFAF6"/>
          </a:solidFill>
          <a:ln w="9525">
            <a:solidFill>
              <a:srgbClr val="D9D2C4"/>
            </a:solidFill>
          </a:ln>
        </p:spPr>
        <p:txBody>
          <a:bodyPr wrap="square" lIns="45720" tIns="30000" rIns="30000" bIns="30000" anchor="ctr"/>
          <a:lstStyle/>
          <a:p>
            <a:pPr algn="l"/>
            <a:r>
              <a:rPr sz="1000" b="1">
                <a:solidFill>
                  <a:srgbClr val="1D3557"/>
                </a:solidFill>
                <a:latin typeface="Calibri"/>
              </a:rPr>
              <a:t>e = ωref−ω</a:t>
            </a:r>
          </a:p>
        </p:txBody>
      </p:sp>
      <p:sp>
        <p:nvSpPr>
          <p:cNvPr id="31" name="TC31"/>
          <p:cNvSpPr/>
          <p:nvPr/>
        </p:nvSpPr>
        <p:spPr>
          <a:xfrm>
            <a:off x="2100680" y="1941323"/>
            <a:ext cx="704000" cy="370000"/>
          </a:xfrm>
          <a:prstGeom prst="rect">
            <a:avLst/>
          </a:prstGeom>
          <a:solidFill>
            <a:srgbClr val="FBFAF6"/>
          </a:solidFill>
          <a:ln w="9525">
            <a:solidFill>
              <a:srgbClr val="D9D2C4"/>
            </a:solidFill>
          </a:ln>
        </p:spPr>
        <p:txBody>
          <a:bodyPr wrap="square" lIns="45720" tIns="30000" rIns="30000" bIns="30000" anchor="ctr"/>
          <a:lstStyle/>
          <a:p>
            <a:pPr algn="ctr"/>
            <a:r>
              <a:rPr sz="1000" b="0">
                <a:solidFill>
                  <a:srgbClr val="2A9D8F"/>
                </a:solidFill>
                <a:latin typeface="Calibri"/>
              </a:rPr>
              <a:t>÷15</a:t>
            </a:r>
          </a:p>
        </p:txBody>
      </p:sp>
      <p:sp>
        <p:nvSpPr>
          <p:cNvPr id="32" name="TC32"/>
          <p:cNvSpPr/>
          <p:nvPr/>
        </p:nvSpPr>
        <p:spPr>
          <a:xfrm>
            <a:off x="2804680" y="1941323"/>
            <a:ext cx="1280000" cy="370000"/>
          </a:xfrm>
          <a:prstGeom prst="rect">
            <a:avLst/>
          </a:prstGeom>
          <a:solidFill>
            <a:srgbClr val="FBFAF6"/>
          </a:solidFill>
          <a:ln w="9525">
            <a:solidFill>
              <a:srgbClr val="D9D2C4"/>
            </a:solidFill>
          </a:ln>
        </p:spPr>
        <p:txBody>
          <a:bodyPr wrap="square" lIns="45720" tIns="30000" rIns="30000" bIns="30000" anchor="ctr"/>
          <a:lstStyle/>
          <a:p>
            <a:r>
              <a:rPr sz="950" b="0">
                <a:solidFill>
                  <a:srgbClr val="4A5A66"/>
                </a:solidFill>
                <a:latin typeface="Calibri"/>
              </a:rPr>
              <a:t>Tracking error</a:t>
            </a:r>
          </a:p>
        </p:txBody>
      </p:sp>
      <p:sp>
        <p:nvSpPr>
          <p:cNvPr id="40" name="TC40"/>
          <p:cNvSpPr/>
          <p:nvPr/>
        </p:nvSpPr>
        <p:spPr>
          <a:xfrm>
            <a:off x="884680" y="2311323"/>
            <a:ext cx="1216000" cy="370000"/>
          </a:xfrm>
          <a:prstGeom prst="rect">
            <a:avLst/>
          </a:prstGeom>
          <a:solidFill>
            <a:srgbClr val="FBFAF6"/>
          </a:solidFill>
          <a:ln w="9525">
            <a:solidFill>
              <a:srgbClr val="D9D2C4"/>
            </a:solidFill>
          </a:ln>
        </p:spPr>
        <p:txBody>
          <a:bodyPr wrap="square" lIns="45720" tIns="30000" rIns="30000" bIns="30000" anchor="ctr"/>
          <a:lstStyle/>
          <a:p>
            <a:pPr algn="l"/>
            <a:r>
              <a:rPr sz="1000" b="1">
                <a:solidFill>
                  <a:srgbClr val="1D3557"/>
                </a:solidFill>
                <a:latin typeface="Calibri"/>
              </a:rPr>
              <a:t>∫e dt</a:t>
            </a:r>
          </a:p>
        </p:txBody>
      </p:sp>
      <p:sp>
        <p:nvSpPr>
          <p:cNvPr id="41" name="TC41"/>
          <p:cNvSpPr/>
          <p:nvPr/>
        </p:nvSpPr>
        <p:spPr>
          <a:xfrm>
            <a:off x="2100680" y="2311323"/>
            <a:ext cx="704000" cy="370000"/>
          </a:xfrm>
          <a:prstGeom prst="rect">
            <a:avLst/>
          </a:prstGeom>
          <a:solidFill>
            <a:srgbClr val="FBFAF6"/>
          </a:solidFill>
          <a:ln w="9525">
            <a:solidFill>
              <a:srgbClr val="D9D2C4"/>
            </a:solidFill>
          </a:ln>
        </p:spPr>
        <p:txBody>
          <a:bodyPr wrap="square" lIns="45720" tIns="30000" rIns="30000" bIns="30000" anchor="ctr"/>
          <a:lstStyle/>
          <a:p>
            <a:pPr algn="ctr"/>
            <a:r>
              <a:rPr sz="1000" b="0">
                <a:solidFill>
                  <a:srgbClr val="2A9D8F"/>
                </a:solidFill>
                <a:latin typeface="Calibri"/>
              </a:rPr>
              <a:t>÷30</a:t>
            </a:r>
          </a:p>
        </p:txBody>
      </p:sp>
      <p:sp>
        <p:nvSpPr>
          <p:cNvPr id="42" name="TC42"/>
          <p:cNvSpPr/>
          <p:nvPr/>
        </p:nvSpPr>
        <p:spPr>
          <a:xfrm>
            <a:off x="2804680" y="2311323"/>
            <a:ext cx="1280000" cy="370000"/>
          </a:xfrm>
          <a:prstGeom prst="rect">
            <a:avLst/>
          </a:prstGeom>
          <a:solidFill>
            <a:srgbClr val="FBFAF6"/>
          </a:solidFill>
          <a:ln w="9525">
            <a:solidFill>
              <a:srgbClr val="D9D2C4"/>
            </a:solidFill>
          </a:ln>
        </p:spPr>
        <p:txBody>
          <a:bodyPr wrap="square" lIns="45720" tIns="30000" rIns="30000" bIns="30000" anchor="ctr"/>
          <a:lstStyle/>
          <a:p>
            <a:r>
              <a:rPr sz="950" b="0">
                <a:solidFill>
                  <a:srgbClr val="4A5A66"/>
                </a:solidFill>
                <a:latin typeface="Calibri"/>
              </a:rPr>
              <a:t>Error trend (anti-windup ±30)</a:t>
            </a:r>
          </a:p>
        </p:txBody>
      </p:sp>
      <p:sp>
        <p:nvSpPr>
          <p:cNvPr id="50" name="TC50"/>
          <p:cNvSpPr/>
          <p:nvPr/>
        </p:nvSpPr>
        <p:spPr>
          <a:xfrm>
            <a:off x="884680" y="2681323"/>
            <a:ext cx="1216000" cy="370000"/>
          </a:xfrm>
          <a:prstGeom prst="rect">
            <a:avLst/>
          </a:prstGeom>
          <a:solidFill>
            <a:srgbClr val="FBFAF6"/>
          </a:solidFill>
          <a:ln w="9525">
            <a:solidFill>
              <a:srgbClr val="D9D2C4"/>
            </a:solidFill>
          </a:ln>
        </p:spPr>
        <p:txBody>
          <a:bodyPr wrap="square" lIns="45720" tIns="30000" rIns="30000" bIns="30000" anchor="ctr"/>
          <a:lstStyle/>
          <a:p>
            <a:pPr algn="l"/>
            <a:r>
              <a:rPr sz="1000" b="1">
                <a:solidFill>
                  <a:srgbClr val="1D3557"/>
                </a:solidFill>
                <a:latin typeface="Calibri"/>
              </a:rPr>
              <a:t>sin(θ)</a:t>
            </a:r>
          </a:p>
        </p:txBody>
      </p:sp>
      <p:sp>
        <p:nvSpPr>
          <p:cNvPr id="51" name="TC51"/>
          <p:cNvSpPr/>
          <p:nvPr/>
        </p:nvSpPr>
        <p:spPr>
          <a:xfrm>
            <a:off x="2100680" y="2681323"/>
            <a:ext cx="704000" cy="370000"/>
          </a:xfrm>
          <a:prstGeom prst="rect">
            <a:avLst/>
          </a:prstGeom>
          <a:solidFill>
            <a:srgbClr val="FBFAF6"/>
          </a:solidFill>
          <a:ln w="9525">
            <a:solidFill>
              <a:srgbClr val="D9D2C4"/>
            </a:solidFill>
          </a:ln>
        </p:spPr>
        <p:txBody>
          <a:bodyPr wrap="square" lIns="45720" tIns="30000" rIns="30000" bIns="30000" anchor="ctr"/>
          <a:lstStyle/>
          <a:p>
            <a:pPr algn="ctr"/>
            <a:r>
              <a:rPr sz="1000" b="0">
                <a:solidFill>
                  <a:srgbClr val="2A9D8F"/>
                </a:solidFill>
                <a:latin typeface="Calibri"/>
              </a:rPr>
              <a:t>raw</a:t>
            </a:r>
          </a:p>
        </p:txBody>
      </p:sp>
      <p:sp>
        <p:nvSpPr>
          <p:cNvPr id="52" name="TC52"/>
          <p:cNvSpPr/>
          <p:nvPr/>
        </p:nvSpPr>
        <p:spPr>
          <a:xfrm>
            <a:off x="2804680" y="2681323"/>
            <a:ext cx="1280000" cy="370000"/>
          </a:xfrm>
          <a:prstGeom prst="rect">
            <a:avLst/>
          </a:prstGeom>
          <a:solidFill>
            <a:srgbClr val="FBFAF6"/>
          </a:solidFill>
          <a:ln w="9525">
            <a:solidFill>
              <a:srgbClr val="D9D2C4"/>
            </a:solidFill>
          </a:ln>
        </p:spPr>
        <p:txBody>
          <a:bodyPr wrap="square" lIns="45720" tIns="30000" rIns="30000" bIns="30000" anchor="ctr"/>
          <a:lstStyle/>
          <a:p>
            <a:r>
              <a:rPr sz="950" b="0">
                <a:solidFill>
                  <a:srgbClr val="4A5A66"/>
                </a:solidFill>
                <a:latin typeface="Calibri"/>
              </a:rPr>
              <a:t>Gravity disturbance</a:t>
            </a:r>
          </a:p>
        </p:txBody>
      </p:sp>
      <p:sp>
        <p:nvSpPr>
          <p:cNvPr id="60" name="TC60"/>
          <p:cNvSpPr/>
          <p:nvPr/>
        </p:nvSpPr>
        <p:spPr>
          <a:xfrm>
            <a:off x="884680" y="3051323"/>
            <a:ext cx="1216000" cy="370000"/>
          </a:xfrm>
          <a:prstGeom prst="rect">
            <a:avLst/>
          </a:prstGeom>
          <a:solidFill>
            <a:srgbClr val="FBFAF6"/>
          </a:solidFill>
          <a:ln w="9525">
            <a:solidFill>
              <a:srgbClr val="D9D2C4"/>
            </a:solidFill>
          </a:ln>
        </p:spPr>
        <p:txBody>
          <a:bodyPr wrap="square" lIns="45720" tIns="30000" rIns="30000" bIns="30000" anchor="ctr"/>
          <a:lstStyle/>
          <a:p>
            <a:pPr algn="l"/>
            <a:r>
              <a:rPr sz="1000" b="1">
                <a:solidFill>
                  <a:srgbClr val="1D3557"/>
                </a:solidFill>
                <a:latin typeface="Calibri"/>
              </a:rPr>
              <a:t>ω (speed)</a:t>
            </a:r>
          </a:p>
        </p:txBody>
      </p:sp>
      <p:sp>
        <p:nvSpPr>
          <p:cNvPr id="61" name="TC61"/>
          <p:cNvSpPr/>
          <p:nvPr/>
        </p:nvSpPr>
        <p:spPr>
          <a:xfrm>
            <a:off x="2100680" y="3051323"/>
            <a:ext cx="704000" cy="370000"/>
          </a:xfrm>
          <a:prstGeom prst="rect">
            <a:avLst/>
          </a:prstGeom>
          <a:solidFill>
            <a:srgbClr val="FBFAF6"/>
          </a:solidFill>
          <a:ln w="9525">
            <a:solidFill>
              <a:srgbClr val="D9D2C4"/>
            </a:solidFill>
          </a:ln>
        </p:spPr>
        <p:txBody>
          <a:bodyPr wrap="square" lIns="45720" tIns="30000" rIns="30000" bIns="30000" anchor="ctr"/>
          <a:lstStyle/>
          <a:p>
            <a:pPr algn="ctr"/>
            <a:r>
              <a:rPr sz="1000" b="0">
                <a:solidFill>
                  <a:srgbClr val="2A9D8F"/>
                </a:solidFill>
                <a:latin typeface="Calibri"/>
              </a:rPr>
              <a:t>÷15</a:t>
            </a:r>
          </a:p>
        </p:txBody>
      </p:sp>
      <p:sp>
        <p:nvSpPr>
          <p:cNvPr id="62" name="TC62"/>
          <p:cNvSpPr/>
          <p:nvPr/>
        </p:nvSpPr>
        <p:spPr>
          <a:xfrm>
            <a:off x="2804680" y="3051323"/>
            <a:ext cx="1280000" cy="370000"/>
          </a:xfrm>
          <a:prstGeom prst="rect">
            <a:avLst/>
          </a:prstGeom>
          <a:solidFill>
            <a:srgbClr val="FBFAF6"/>
          </a:solidFill>
          <a:ln w="9525">
            <a:solidFill>
              <a:srgbClr val="D9D2C4"/>
            </a:solidFill>
          </a:ln>
        </p:spPr>
        <p:txBody>
          <a:bodyPr wrap="square" lIns="45720" tIns="30000" rIns="30000" bIns="30000" anchor="ctr"/>
          <a:lstStyle/>
          <a:p>
            <a:r>
              <a:rPr sz="950" b="0">
                <a:solidFill>
                  <a:srgbClr val="4A5A66"/>
                </a:solidFill>
                <a:latin typeface="Calibri"/>
              </a:rPr>
              <a:t>Current motor speed</a:t>
            </a:r>
          </a:p>
        </p:txBody>
      </p:sp>
      <p:sp>
        <p:nvSpPr>
          <p:cNvPr id="70" name="TC70"/>
          <p:cNvSpPr/>
          <p:nvPr/>
        </p:nvSpPr>
        <p:spPr>
          <a:xfrm>
            <a:off x="884680" y="3421323"/>
            <a:ext cx="1216000" cy="370000"/>
          </a:xfrm>
          <a:prstGeom prst="rect">
            <a:avLst/>
          </a:prstGeom>
          <a:solidFill>
            <a:srgbClr val="FBFAF6"/>
          </a:solidFill>
          <a:ln w="9525">
            <a:solidFill>
              <a:srgbClr val="D9D2C4"/>
            </a:solidFill>
          </a:ln>
        </p:spPr>
        <p:txBody>
          <a:bodyPr wrap="square" lIns="45720" tIns="30000" rIns="30000" bIns="30000" anchor="ctr"/>
          <a:lstStyle/>
          <a:p>
            <a:pPr algn="l"/>
            <a:r>
              <a:rPr sz="1000" b="1">
                <a:solidFill>
                  <a:srgbClr val="1D3557"/>
                </a:solidFill>
                <a:latin typeface="Calibri"/>
              </a:rPr>
              <a:t>ωref (target)</a:t>
            </a:r>
          </a:p>
        </p:txBody>
      </p:sp>
      <p:sp>
        <p:nvSpPr>
          <p:cNvPr id="71" name="TC71"/>
          <p:cNvSpPr/>
          <p:nvPr/>
        </p:nvSpPr>
        <p:spPr>
          <a:xfrm>
            <a:off x="2100680" y="3421323"/>
            <a:ext cx="704000" cy="370000"/>
          </a:xfrm>
          <a:prstGeom prst="rect">
            <a:avLst/>
          </a:prstGeom>
          <a:solidFill>
            <a:srgbClr val="FBFAF6"/>
          </a:solidFill>
          <a:ln w="9525">
            <a:solidFill>
              <a:srgbClr val="D9D2C4"/>
            </a:solidFill>
          </a:ln>
        </p:spPr>
        <p:txBody>
          <a:bodyPr wrap="square" lIns="45720" tIns="30000" rIns="30000" bIns="30000" anchor="ctr"/>
          <a:lstStyle/>
          <a:p>
            <a:pPr algn="ctr"/>
            <a:r>
              <a:rPr sz="1000" b="0">
                <a:solidFill>
                  <a:srgbClr val="2A9D8F"/>
                </a:solidFill>
                <a:latin typeface="Calibri"/>
              </a:rPr>
              <a:t>÷15</a:t>
            </a:r>
          </a:p>
        </p:txBody>
      </p:sp>
      <p:sp>
        <p:nvSpPr>
          <p:cNvPr id="72" name="TC72"/>
          <p:cNvSpPr/>
          <p:nvPr/>
        </p:nvSpPr>
        <p:spPr>
          <a:xfrm>
            <a:off x="2804680" y="3421323"/>
            <a:ext cx="1280000" cy="370000"/>
          </a:xfrm>
          <a:prstGeom prst="rect">
            <a:avLst/>
          </a:prstGeom>
          <a:solidFill>
            <a:srgbClr val="FBFAF6"/>
          </a:solidFill>
          <a:ln w="9525">
            <a:solidFill>
              <a:srgbClr val="D9D2C4"/>
            </a:solidFill>
          </a:ln>
        </p:spPr>
        <p:txBody>
          <a:bodyPr wrap="square" lIns="45720" tIns="30000" rIns="30000" bIns="30000" anchor="ctr"/>
          <a:lstStyle/>
          <a:p>
            <a:r>
              <a:rPr sz="950" b="0">
                <a:solidFill>
                  <a:srgbClr val="4A5A66"/>
                </a:solidFill>
                <a:latin typeface="Calibri"/>
              </a:rPr>
              <a:t>Speed setpoint</a:t>
            </a:r>
          </a:p>
        </p:txBody>
      </p:sp>
      <mc:AlternateContent xmlns:mc="http://schemas.openxmlformats.org/markup-compatibility/2006">
        <mc:Choice xmlns:a14="http://schemas.microsoft.com/office/drawing/2010/main" Requires="a14">
          <p:sp>
            <p:nvSpPr>
              <p:cNvPr id="80" name="Eq_st"/>
              <p:cNvSpPr txBox="1"/>
              <p:nvPr/>
            </p:nvSpPr>
            <p:spPr>
              <a:xfrm>
                <a:off x="884680" y="3841323"/>
                <a:ext cx="3200000" cy="357146"/>
              </a:xfrm>
              <a:prstGeom prst="rect">
                <a:avLst/>
              </a:prstGeom>
              <a:solidFill>
                <a:srgbClr val="F4F1E9"/>
              </a:solidFill>
            </p:spPr>
            <p:txBody>
              <a:bodyPr wrap="square" lIns="60960" tIns="45720" rIns="60960" bIns="45720" anchor="ctr"/>
              <a:lstStyle/>
              <a:p>
                <a:pPr algn="ctr">
                  <a:buNone/>
                </a:pPr>
                <a14:m>
                  <m:oMathPara xmlns:m="http://schemas.openxmlformats.org/officeDocument/2006/math">
                    <m:oMathParaPr>
                      <m:jc m:val="center"/>
                    </m:oMathParaPr>
                    <m:oMath xmlns:m="http://schemas.openxmlformats.org/officeDocument/2006/math">
                      <m:sSub>
                        <m:sSubPr>
                          <m:ctrlPr>
                            <a:rPr sz="1100">
                              <a:latin typeface="Cambria Math" panose="02040503050406030204" pitchFamily="18" charset="0"/>
                            </a:rPr>
                          </m:ctrlPr>
                        </m:sSubPr>
                        <m:e>
                          <m:r>
                            <a:rPr sz="1100">
                              <a:latin typeface="Cambria Math" panose="02040503050406030204" pitchFamily="18" charset="0"/>
                            </a:rPr>
                            <m:t>𝑠</m:t>
                          </m:r>
                        </m:e>
                        <m:sub>
                          <m:r>
                            <a:rPr sz="1100">
                              <a:latin typeface="Cambria Math" panose="02040503050406030204" pitchFamily="18" charset="0"/>
                            </a:rPr>
                            <m:t>𝑡</m:t>
                          </m:r>
                        </m:sub>
                      </m:sSub>
                      <m:r>
                        <a:rPr sz="1100">
                          <a:latin typeface="Cambria Math" panose="02040503050406030204" pitchFamily="18" charset="0"/>
                        </a:rPr>
                        <m:t>=</m:t>
                      </m:r>
                      <m:d>
                        <m:dPr>
                          <m:begChr m:val="["/>
                          <m:endChr m:val="]"/>
                          <m:ctrlPr>
                            <a:rPr sz="1100" i="1">
                              <a:latin typeface="Cambria Math" panose="02040503050406030204" pitchFamily="18" charset="0"/>
                            </a:rPr>
                          </m:ctrlPr>
                        </m:dPr>
                        <m:e>
                          <m:f>
                            <m:fPr>
                              <m:ctrlPr>
                                <a:rPr sz="1100" i="1">
                                  <a:latin typeface="Cambria Math" panose="02040503050406030204" pitchFamily="18" charset="0"/>
                                </a:rPr>
                              </m:ctrlPr>
                            </m:fPr>
                            <m:num>
                              <m:r>
                                <a:rPr sz="1100">
                                  <a:latin typeface="Cambria Math" panose="02040503050406030204" pitchFamily="18" charset="0"/>
                                </a:rPr>
                                <m:t>𝑒</m:t>
                              </m:r>
                            </m:num>
                            <m:den>
                              <m:r>
                                <a:rPr sz="1100">
                                  <a:latin typeface="Cambria Math" panose="02040503050406030204" pitchFamily="18" charset="0"/>
                                </a:rPr>
                                <m:t>15</m:t>
                              </m:r>
                            </m:den>
                          </m:f>
                          <m:r>
                            <a:rPr sz="1100">
                              <a:latin typeface="Cambria Math" panose="02040503050406030204" pitchFamily="18" charset="0"/>
                            </a:rPr>
                            <m:t>, </m:t>
                          </m:r>
                          <m:f>
                            <m:fPr>
                              <m:ctrlPr>
                                <a:rPr sz="1100" i="1">
                                  <a:latin typeface="Cambria Math" panose="02040503050406030204" pitchFamily="18" charset="0"/>
                                </a:rPr>
                              </m:ctrlPr>
                            </m:fPr>
                            <m:num>
                              <m:r>
                                <a:rPr sz="1100">
                                  <a:latin typeface="Cambria Math" panose="02040503050406030204" pitchFamily="18" charset="0"/>
                                </a:rPr>
                                <m:t>∫</m:t>
                              </m:r>
                              <m:r>
                                <a:rPr sz="1100">
                                  <a:latin typeface="Cambria Math" panose="02040503050406030204" pitchFamily="18" charset="0"/>
                                </a:rPr>
                                <m:t>𝑒</m:t>
                              </m:r>
                              <m:r>
                                <a:rPr sz="1100">
                                  <a:latin typeface="Cambria Math" panose="02040503050406030204" pitchFamily="18" charset="0"/>
                                </a:rPr>
                                <m:t> </m:t>
                              </m:r>
                              <m:r>
                                <a:rPr sz="1100">
                                  <a:latin typeface="Cambria Math" panose="02040503050406030204" pitchFamily="18" charset="0"/>
                                </a:rPr>
                                <m:t>𝑑𝑡</m:t>
                              </m:r>
                            </m:num>
                            <m:den>
                              <m:r>
                                <a:rPr sz="1100">
                                  <a:latin typeface="Cambria Math" panose="02040503050406030204" pitchFamily="18" charset="0"/>
                                </a:rPr>
                                <m:t>30</m:t>
                              </m:r>
                            </m:den>
                          </m:f>
                          <m:r>
                            <a:rPr sz="1100">
                              <a:latin typeface="Cambria Math" panose="02040503050406030204" pitchFamily="18" charset="0"/>
                            </a:rPr>
                            <m:t>, </m:t>
                          </m:r>
                          <m:r>
                            <m:rPr>
                              <m:sty m:val="p"/>
                            </m:rPr>
                            <a:rPr sz="1100">
                              <a:latin typeface="Cambria Math" panose="02040503050406030204" pitchFamily="18" charset="0"/>
                            </a:rPr>
                            <m:t>sin</m:t>
                          </m:r>
                          <m:r>
                            <a:rPr sz="1100">
                              <a:latin typeface="Cambria Math" panose="02040503050406030204" pitchFamily="18" charset="0"/>
                            </a:rPr>
                            <m:t>𝜃</m:t>
                          </m:r>
                          <m:r>
                            <a:rPr sz="1100">
                              <a:latin typeface="Cambria Math" panose="02040503050406030204" pitchFamily="18" charset="0"/>
                            </a:rPr>
                            <m:t>, </m:t>
                          </m:r>
                          <m:f>
                            <m:fPr>
                              <m:ctrlPr>
                                <a:rPr sz="1100" i="1">
                                  <a:latin typeface="Cambria Math" panose="02040503050406030204" pitchFamily="18" charset="0"/>
                                </a:rPr>
                              </m:ctrlPr>
                            </m:fPr>
                            <m:num>
                              <m:sSub>
                                <m:sSubPr>
                                  <m:ctrlPr>
                                    <a:rPr sz="1100" i="1">
                                      <a:latin typeface="Cambria Math" panose="02040503050406030204" pitchFamily="18" charset="0"/>
                                    </a:rPr>
                                  </m:ctrlPr>
                                </m:sSubPr>
                                <m:e>
                                  <m:r>
                                    <a:rPr sz="1100">
                                      <a:latin typeface="Cambria Math" panose="02040503050406030204" pitchFamily="18" charset="0"/>
                                    </a:rPr>
                                    <m:t>𝜔</m:t>
                                  </m:r>
                                </m:e>
                                <m:sub>
                                  <m:r>
                                    <m:rPr>
                                      <m:sty m:val="p"/>
                                    </m:rPr>
                                    <a:rPr sz="1100">
                                      <a:latin typeface="Cambria Math" panose="02040503050406030204" pitchFamily="18" charset="0"/>
                                    </a:rPr>
                                    <m:t>meas</m:t>
                                  </m:r>
                                </m:sub>
                              </m:sSub>
                            </m:num>
                            <m:den>
                              <m:r>
                                <a:rPr sz="1100">
                                  <a:latin typeface="Cambria Math" panose="02040503050406030204" pitchFamily="18" charset="0"/>
                                </a:rPr>
                                <m:t>15</m:t>
                              </m:r>
                            </m:den>
                          </m:f>
                          <m:r>
                            <a:rPr sz="1100">
                              <a:latin typeface="Cambria Math" panose="02040503050406030204" pitchFamily="18" charset="0"/>
                            </a:rPr>
                            <m:t>, </m:t>
                          </m:r>
                          <m:f>
                            <m:fPr>
                              <m:ctrlPr>
                                <a:rPr sz="1100" i="1">
                                  <a:latin typeface="Cambria Math" panose="02040503050406030204" pitchFamily="18" charset="0"/>
                                </a:rPr>
                              </m:ctrlPr>
                            </m:fPr>
                            <m:num>
                              <m:sSub>
                                <m:sSubPr>
                                  <m:ctrlPr>
                                    <a:rPr sz="1100" i="1">
                                      <a:latin typeface="Cambria Math" panose="02040503050406030204" pitchFamily="18" charset="0"/>
                                    </a:rPr>
                                  </m:ctrlPr>
                                </m:sSubPr>
                                <m:e>
                                  <m:r>
                                    <a:rPr sz="1100">
                                      <a:latin typeface="Cambria Math" panose="02040503050406030204" pitchFamily="18" charset="0"/>
                                    </a:rPr>
                                    <m:t>𝜔</m:t>
                                  </m:r>
                                </m:e>
                                <m:sub>
                                  <m:r>
                                    <m:rPr>
                                      <m:sty m:val="p"/>
                                    </m:rPr>
                                    <a:rPr sz="1100">
                                      <a:latin typeface="Cambria Math" panose="02040503050406030204" pitchFamily="18" charset="0"/>
                                    </a:rPr>
                                    <m:t>ref</m:t>
                                  </m:r>
                                </m:sub>
                              </m:sSub>
                            </m:num>
                            <m:den>
                              <m:r>
                                <a:rPr sz="1100">
                                  <a:latin typeface="Cambria Math" panose="02040503050406030204" pitchFamily="18" charset="0"/>
                                </a:rPr>
                                <m:t>15</m:t>
                              </m:r>
                            </m:den>
                          </m:f>
                        </m:e>
                      </m:d>
                    </m:oMath>
                  </m:oMathPara>
                </a14:m>
                <a:endParaRPr sz="1100" dirty="0"/>
              </a:p>
            </p:txBody>
          </p:sp>
        </mc:Choice>
        <mc:Fallback>
          <p:sp>
            <p:nvSpPr>
              <p:cNvPr id="80" name="Eq_st"/>
              <p:cNvSpPr txBox="1">
                <a:spLocks noRot="1" noChangeAspect="1" noMove="1" noResize="1" noEditPoints="1" noAdjustHandles="1" noChangeArrowheads="1" noChangeShapeType="1" noTextEdit="1"/>
              </p:cNvSpPr>
              <p:nvPr/>
            </p:nvSpPr>
            <p:spPr>
              <a:xfrm>
                <a:off x="884680" y="3841323"/>
                <a:ext cx="3200000" cy="357146"/>
              </a:xfrm>
              <a:prstGeom prst="rect">
                <a:avLst/>
              </a:prstGeom>
              <a:blipFill>
                <a:blip r:embed="rId3"/>
                <a:stretch>
                  <a:fillRect t="-8475" b="-5085"/>
                </a:stretch>
              </a:blipFill>
            </p:spPr>
            <p:txBody>
              <a:bodyPr/>
              <a:lstStyle/>
              <a:p>
                <a:r>
                  <a:rPr lang="th-TH">
                    <a:noFill/>
                  </a:rPr>
                  <a:t> </a:t>
                </a:r>
              </a:p>
            </p:txBody>
          </p:sp>
        </mc:Fallback>
      </mc:AlternateContent>
      <p:sp>
        <p:nvSpPr>
          <p:cNvPr id="90" name="Card90"/>
          <p:cNvSpPr txBox="1"/>
          <p:nvPr/>
        </p:nvSpPr>
        <p:spPr>
          <a:xfrm>
            <a:off x="4284680" y="1571323"/>
            <a:ext cx="3200000" cy="2573295"/>
          </a:xfrm>
          <a:prstGeom prst="roundRect">
            <a:avLst>
              <a:gd name="adj" fmla="val 3000"/>
            </a:avLst>
          </a:prstGeom>
          <a:solidFill>
            <a:srgbClr val="FFFFFF"/>
          </a:solidFill>
          <a:ln w="12700">
            <a:solidFill>
              <a:srgbClr val="D9D2C4"/>
            </a:solidFill>
          </a:ln>
        </p:spPr>
        <p:txBody>
          <a:bodyPr wrap="square" lIns="91440" tIns="60960" rIns="60960" bIns="45720" anchor="t">
            <a:spAutoFit/>
          </a:bodyPr>
          <a:lstStyle/>
          <a:p>
            <a:pPr>
              <a:lnSpc>
                <a:spcPct val="118000"/>
              </a:lnSpc>
              <a:spcBef>
                <a:spcPts val="200"/>
              </a:spcBef>
              <a:spcAft>
                <a:spcPts val="0"/>
              </a:spcAft>
            </a:pPr>
            <a:r>
              <a:rPr sz="1100" b="1" dirty="0">
                <a:solidFill>
                  <a:srgbClr val="1D3557"/>
                </a:solidFill>
                <a:latin typeface="Georgia"/>
              </a:rPr>
              <a:t>Reward Function</a:t>
            </a:r>
          </a:p>
          <a:p>
            <a:pPr>
              <a:lnSpc>
                <a:spcPct val="118000"/>
              </a:lnSpc>
              <a:spcBef>
                <a:spcPts val="200"/>
              </a:spcBef>
              <a:spcAft>
                <a:spcPts val="0"/>
              </a:spcAft>
            </a:pPr>
            <a:r>
              <a:rPr sz="1100" b="1" dirty="0">
                <a:solidFill>
                  <a:srgbClr val="4A5A66"/>
                </a:solidFill>
                <a:latin typeface="Calibri"/>
              </a:rPr>
              <a:t>− e²</a:t>
            </a:r>
            <a:r>
              <a:rPr lang="th-TH" sz="1100" b="1" dirty="0">
                <a:solidFill>
                  <a:srgbClr val="4A5A66"/>
                </a:solidFill>
                <a:latin typeface="Calibri"/>
              </a:rPr>
              <a:t>		</a:t>
            </a:r>
            <a:r>
              <a:rPr sz="1100" b="1" dirty="0">
                <a:solidFill>
                  <a:srgbClr val="4A5A66"/>
                </a:solidFill>
                <a:latin typeface="Calibri"/>
              </a:rPr>
              <a:t> </a:t>
            </a:r>
            <a:r>
              <a:rPr lang="zh-CN" altLang="en-US" sz="1100" b="1" dirty="0">
                <a:solidFill>
                  <a:srgbClr val="4A5A66"/>
                </a:solidFill>
                <a:latin typeface="Calibri"/>
              </a:rPr>
              <a:t>：</a:t>
            </a:r>
            <a:r>
              <a:rPr sz="1100" b="1" dirty="0" err="1">
                <a:solidFill>
                  <a:srgbClr val="4A5A66"/>
                </a:solidFill>
                <a:latin typeface="Calibri"/>
              </a:rPr>
              <a:t>Penalise</a:t>
            </a:r>
            <a:r>
              <a:rPr sz="1100" b="1" dirty="0">
                <a:solidFill>
                  <a:srgbClr val="4A5A66"/>
                </a:solidFill>
                <a:latin typeface="Calibri"/>
              </a:rPr>
              <a:t> tracking error</a:t>
            </a:r>
          </a:p>
          <a:p>
            <a:pPr>
              <a:lnSpc>
                <a:spcPct val="118000"/>
              </a:lnSpc>
              <a:spcBef>
                <a:spcPts val="200"/>
              </a:spcBef>
              <a:spcAft>
                <a:spcPts val="0"/>
              </a:spcAft>
            </a:pPr>
            <a:r>
              <a:rPr sz="1100" b="1" dirty="0">
                <a:solidFill>
                  <a:srgbClr val="4A5A66"/>
                </a:solidFill>
                <a:latin typeface="Calibri"/>
              </a:rPr>
              <a:t>− 0.0</a:t>
            </a:r>
            <a:r>
              <a:rPr lang="en-US" sz="1100" b="1" dirty="0">
                <a:solidFill>
                  <a:srgbClr val="4A5A66"/>
                </a:solidFill>
                <a:latin typeface="Calibri"/>
              </a:rPr>
              <a:t>5</a:t>
            </a:r>
            <a:r>
              <a:rPr sz="1100" b="1" dirty="0">
                <a:solidFill>
                  <a:srgbClr val="4A5A66"/>
                </a:solidFill>
                <a:latin typeface="Calibri"/>
              </a:rPr>
              <a:t> V²</a:t>
            </a:r>
            <a:r>
              <a:rPr lang="en-US" sz="1100" b="1" dirty="0">
                <a:solidFill>
                  <a:srgbClr val="4A5A66"/>
                </a:solidFill>
                <a:latin typeface="Calibri"/>
              </a:rPr>
              <a:t>	</a:t>
            </a:r>
            <a:r>
              <a:rPr lang="zh-CN" altLang="en-US" sz="1100" b="1" dirty="0">
                <a:solidFill>
                  <a:srgbClr val="4A5A66"/>
                </a:solidFill>
                <a:latin typeface="Calibri"/>
              </a:rPr>
              <a:t>： </a:t>
            </a:r>
            <a:r>
              <a:rPr sz="1100" b="1" dirty="0">
                <a:solidFill>
                  <a:srgbClr val="4A5A66"/>
                </a:solidFill>
                <a:latin typeface="Calibri"/>
              </a:rPr>
              <a:t>Control effort (no saturation)</a:t>
            </a:r>
          </a:p>
          <a:p>
            <a:pPr>
              <a:lnSpc>
                <a:spcPct val="118000"/>
              </a:lnSpc>
              <a:spcBef>
                <a:spcPts val="200"/>
              </a:spcBef>
              <a:spcAft>
                <a:spcPts val="0"/>
              </a:spcAft>
            </a:pPr>
            <a:r>
              <a:rPr sz="1100" b="1" dirty="0">
                <a:solidFill>
                  <a:srgbClr val="4A5A66"/>
                </a:solidFill>
                <a:latin typeface="Calibri"/>
              </a:rPr>
              <a:t>− 1.</a:t>
            </a:r>
            <a:r>
              <a:rPr lang="en-US" sz="1100" b="1" dirty="0">
                <a:solidFill>
                  <a:srgbClr val="4A5A66"/>
                </a:solidFill>
                <a:latin typeface="Calibri"/>
              </a:rPr>
              <a:t>5</a:t>
            </a:r>
            <a:r>
              <a:rPr sz="1100" b="1" dirty="0">
                <a:solidFill>
                  <a:srgbClr val="4A5A66"/>
                </a:solidFill>
                <a:latin typeface="Calibri"/>
              </a:rPr>
              <a:t> (</a:t>
            </a:r>
            <a:r>
              <a:rPr sz="1100" b="1" dirty="0" err="1">
                <a:solidFill>
                  <a:srgbClr val="4A5A66"/>
                </a:solidFill>
                <a:latin typeface="Calibri"/>
              </a:rPr>
              <a:t>Δa</a:t>
            </a:r>
            <a:r>
              <a:rPr sz="1100" b="1" dirty="0">
                <a:solidFill>
                  <a:srgbClr val="4A5A66"/>
                </a:solidFill>
                <a:latin typeface="Calibri"/>
              </a:rPr>
              <a:t>)²</a:t>
            </a:r>
            <a:r>
              <a:rPr lang="th-TH" sz="1100" b="1" dirty="0">
                <a:solidFill>
                  <a:srgbClr val="4A5A66"/>
                </a:solidFill>
                <a:latin typeface="Calibri"/>
              </a:rPr>
              <a:t>	</a:t>
            </a:r>
            <a:r>
              <a:rPr lang="zh-CN" altLang="en-US" sz="1100" b="1" dirty="0">
                <a:solidFill>
                  <a:srgbClr val="4A5A66"/>
                </a:solidFill>
                <a:latin typeface="Calibri"/>
              </a:rPr>
              <a:t>：</a:t>
            </a:r>
            <a:r>
              <a:rPr sz="1100" b="1" dirty="0">
                <a:solidFill>
                  <a:srgbClr val="4A5A66"/>
                </a:solidFill>
                <a:latin typeface="Calibri"/>
              </a:rPr>
              <a:t>Smooth voltage changes</a:t>
            </a:r>
          </a:p>
          <a:p>
            <a:pPr>
              <a:lnSpc>
                <a:spcPct val="118000"/>
              </a:lnSpc>
              <a:spcBef>
                <a:spcPts val="200"/>
              </a:spcBef>
              <a:spcAft>
                <a:spcPts val="0"/>
              </a:spcAft>
            </a:pPr>
            <a:r>
              <a:rPr sz="1100" b="1" dirty="0">
                <a:solidFill>
                  <a:srgbClr val="1D3557"/>
                </a:solidFill>
                <a:latin typeface="Georgia"/>
              </a:rPr>
              <a:t>Training Setup</a:t>
            </a:r>
          </a:p>
          <a:p>
            <a:pPr>
              <a:lnSpc>
                <a:spcPct val="118000"/>
              </a:lnSpc>
              <a:spcBef>
                <a:spcPts val="200"/>
              </a:spcBef>
              <a:spcAft>
                <a:spcPts val="0"/>
              </a:spcAft>
            </a:pPr>
            <a:r>
              <a:rPr sz="1100" b="0" dirty="0">
                <a:solidFill>
                  <a:srgbClr val="4A5A66"/>
                </a:solidFill>
                <a:latin typeface="+mj-lt"/>
              </a:rPr>
              <a:t>LPF coefficient  α </a:t>
            </a:r>
            <a:r>
              <a:rPr lang="en-US" sz="1100" dirty="0">
                <a:solidFill>
                  <a:srgbClr val="4A5A66"/>
                </a:solidFill>
                <a:latin typeface="+mj-lt"/>
              </a:rPr>
              <a:t>= 0.85</a:t>
            </a:r>
            <a:endParaRPr lang="th-TH" sz="1100" dirty="0">
              <a:solidFill>
                <a:srgbClr val="4A5A66"/>
              </a:solidFill>
              <a:latin typeface="+mj-lt"/>
            </a:endParaRPr>
          </a:p>
          <a:p>
            <a:pPr>
              <a:lnSpc>
                <a:spcPct val="118000"/>
              </a:lnSpc>
              <a:spcBef>
                <a:spcPts val="200"/>
              </a:spcBef>
              <a:spcAft>
                <a:spcPts val="0"/>
              </a:spcAft>
            </a:pPr>
            <a:r>
              <a:rPr sz="1100" b="0" dirty="0">
                <a:solidFill>
                  <a:srgbClr val="4A5A66"/>
                </a:solidFill>
                <a:latin typeface="Calibri"/>
              </a:rPr>
              <a:t>Total steps  </a:t>
            </a:r>
            <a:r>
              <a:rPr lang="en-US" sz="1100" b="0" dirty="0">
                <a:solidFill>
                  <a:srgbClr val="4A5A66"/>
                </a:solidFill>
                <a:latin typeface="Calibri"/>
              </a:rPr>
              <a:t>500,000</a:t>
            </a:r>
            <a:endParaRPr lang="th-TH" sz="1100" b="0" dirty="0">
              <a:solidFill>
                <a:srgbClr val="4A5A66"/>
              </a:solidFill>
              <a:latin typeface="Calibri"/>
            </a:endParaRPr>
          </a:p>
          <a:p>
            <a:pPr>
              <a:lnSpc>
                <a:spcPct val="118000"/>
              </a:lnSpc>
              <a:spcBef>
                <a:spcPts val="200"/>
              </a:spcBef>
              <a:spcAft>
                <a:spcPts val="0"/>
              </a:spcAft>
            </a:pPr>
            <a:r>
              <a:rPr lang="en-US" sz="1100" b="0" dirty="0">
                <a:solidFill>
                  <a:srgbClr val="4A5A66"/>
                </a:solidFill>
                <a:latin typeface="Calibri"/>
              </a:rPr>
              <a:t>Episode length  3,000 steps </a:t>
            </a:r>
            <a:endParaRPr lang="th-TH" sz="1100" b="0" dirty="0">
              <a:solidFill>
                <a:srgbClr val="4A5A66"/>
              </a:solidFill>
              <a:latin typeface="Calibri"/>
            </a:endParaRPr>
          </a:p>
          <a:p>
            <a:pPr>
              <a:lnSpc>
                <a:spcPct val="118000"/>
              </a:lnSpc>
              <a:spcBef>
                <a:spcPts val="200"/>
              </a:spcBef>
              <a:spcAft>
                <a:spcPts val="0"/>
              </a:spcAft>
            </a:pPr>
            <a:r>
              <a:rPr sz="1100" b="0" dirty="0">
                <a:solidFill>
                  <a:srgbClr val="4A5A66"/>
                </a:solidFill>
                <a:latin typeface="Calibri"/>
              </a:rPr>
              <a:t>Setpoint period  1,000 steps </a:t>
            </a:r>
          </a:p>
          <a:p>
            <a:pPr>
              <a:lnSpc>
                <a:spcPct val="118000"/>
              </a:lnSpc>
              <a:spcBef>
                <a:spcPts val="200"/>
              </a:spcBef>
              <a:spcAft>
                <a:spcPts val="0"/>
              </a:spcAft>
            </a:pPr>
            <a:r>
              <a:rPr sz="1100" b="0" dirty="0">
                <a:solidFill>
                  <a:srgbClr val="4A5A66"/>
                </a:solidFill>
                <a:latin typeface="Calibri"/>
              </a:rPr>
              <a:t>Replay buffer  300,000</a:t>
            </a:r>
          </a:p>
          <a:p>
            <a:pPr>
              <a:lnSpc>
                <a:spcPct val="118000"/>
              </a:lnSpc>
              <a:spcBef>
                <a:spcPts val="200"/>
              </a:spcBef>
              <a:spcAft>
                <a:spcPts val="0"/>
              </a:spcAft>
            </a:pPr>
            <a:r>
              <a:rPr sz="1100" b="0" dirty="0">
                <a:solidFill>
                  <a:srgbClr val="4A5A66"/>
                </a:solidFill>
                <a:latin typeface="Calibri"/>
              </a:rPr>
              <a:t>Warmup  </a:t>
            </a:r>
            <a:r>
              <a:rPr lang="en-US" sz="1100" b="0" dirty="0">
                <a:solidFill>
                  <a:srgbClr val="4A5A66"/>
                </a:solidFill>
                <a:latin typeface="Calibri"/>
              </a:rPr>
              <a:t>5</a:t>
            </a:r>
            <a:r>
              <a:rPr sz="1100" b="0" dirty="0">
                <a:solidFill>
                  <a:srgbClr val="4A5A66"/>
                </a:solidFill>
                <a:latin typeface="Calibri"/>
              </a:rPr>
              <a:t>,000 steps</a:t>
            </a:r>
          </a:p>
        </p:txBody>
      </p:sp>
      <p:sp>
        <p:nvSpPr>
          <p:cNvPr id="190" name="Stripe90"/>
          <p:cNvSpPr/>
          <p:nvPr/>
        </p:nvSpPr>
        <p:spPr>
          <a:xfrm>
            <a:off x="4284679" y="1571322"/>
            <a:ext cx="45719" cy="2545119"/>
          </a:xfrm>
          <a:prstGeom prst="rect">
            <a:avLst/>
          </a:prstGeom>
          <a:solidFill>
            <a:srgbClr val="1D3557"/>
          </a:solidFill>
          <a:ln>
            <a:noFill/>
          </a:ln>
        </p:spPr>
        <p:txBody>
          <a:bodyPr rtlCol="0" anchor="ctr"/>
          <a:lstStyle/>
          <a:p>
            <a:pPr algn="ctr"/>
            <a:endParaRPr/>
          </a:p>
        </p:txBody>
      </p:sp>
      <p:sp>
        <p:nvSpPr>
          <p:cNvPr id="91" name="Card91"/>
          <p:cNvSpPr txBox="1"/>
          <p:nvPr/>
        </p:nvSpPr>
        <p:spPr>
          <a:xfrm>
            <a:off x="7684680" y="1571323"/>
            <a:ext cx="3200000" cy="1200000"/>
          </a:xfrm>
          <a:prstGeom prst="roundRect">
            <a:avLst>
              <a:gd name="adj" fmla="val 3000"/>
            </a:avLst>
          </a:prstGeom>
          <a:solidFill>
            <a:srgbClr val="FFFFFF"/>
          </a:solidFill>
          <a:ln w="12700">
            <a:solidFill>
              <a:srgbClr val="D9D2C4"/>
            </a:solidFill>
          </a:ln>
        </p:spPr>
        <p:txBody>
          <a:bodyPr wrap="square" lIns="91440" tIns="60960" rIns="60960" bIns="45720" anchor="t">
            <a:spAutoFit/>
          </a:bodyPr>
          <a:lstStyle/>
          <a:p>
            <a:pPr>
              <a:lnSpc>
                <a:spcPct val="118000"/>
              </a:lnSpc>
              <a:spcBef>
                <a:spcPts val="200"/>
              </a:spcBef>
              <a:spcAft>
                <a:spcPts val="0"/>
              </a:spcAft>
            </a:pPr>
            <a:r>
              <a:rPr sz="1100" b="0">
                <a:solidFill>
                  <a:srgbClr val="1D3557"/>
                </a:solidFill>
                <a:latin typeface="Calibri"/>
              </a:rPr>
              <a:t>Action  a = V ∈ [−V_max, V_max]</a:t>
            </a:r>
          </a:p>
          <a:p>
            <a:pPr>
              <a:lnSpc>
                <a:spcPct val="118000"/>
              </a:lnSpc>
              <a:spcBef>
                <a:spcPts val="200"/>
              </a:spcBef>
              <a:spcAft>
                <a:spcPts val="0"/>
              </a:spcAft>
            </a:pPr>
            <a:r>
              <a:rPr sz="1050" b="0">
                <a:solidFill>
                  <a:srgbClr val="4A5A66"/>
                </a:solidFill>
                <a:latin typeface="Calibri"/>
              </a:rPr>
              <a:t>No feedforward added</a:t>
            </a:r>
          </a:p>
        </p:txBody>
      </p:sp>
      <p:sp>
        <p:nvSpPr>
          <p:cNvPr id="191" name="Stripe91"/>
          <p:cNvSpPr/>
          <p:nvPr/>
        </p:nvSpPr>
        <p:spPr>
          <a:xfrm>
            <a:off x="7684680" y="1571323"/>
            <a:ext cx="32000" cy="1200000"/>
          </a:xfrm>
          <a:prstGeom prst="rect">
            <a:avLst/>
          </a:prstGeom>
          <a:solidFill>
            <a:srgbClr val="E07A5F"/>
          </a:solidFill>
          <a:ln>
            <a:noFill/>
          </a:ln>
        </p:spPr>
        <p:txBody>
          <a:bodyPr rtlCol="0" anchor="ctr"/>
          <a:lstStyle/>
          <a:p>
            <a:pPr algn="ctr"/>
            <a:endParaRPr/>
          </a:p>
        </p:txBody>
      </p:sp>
      <mc:AlternateContent xmlns:mc="http://schemas.openxmlformats.org/markup-compatibility/2006">
        <mc:Choice xmlns:a14="http://schemas.microsoft.com/office/drawing/2010/main" Requires="a14">
          <p:sp>
            <p:nvSpPr>
              <p:cNvPr id="92" name="Eq_LPF"/>
              <p:cNvSpPr txBox="1"/>
              <p:nvPr/>
            </p:nvSpPr>
            <p:spPr>
              <a:xfrm>
                <a:off x="7684680" y="2821323"/>
                <a:ext cx="3200000" cy="469650"/>
              </a:xfrm>
              <a:prstGeom prst="rect">
                <a:avLst/>
              </a:prstGeom>
              <a:solidFill>
                <a:srgbClr val="F4F1E9"/>
              </a:solidFill>
            </p:spPr>
            <p:txBody>
              <a:bodyPr wrap="square" lIns="60960" tIns="45720" rIns="60960" bIns="45720" anchor="ctr"/>
              <a:lstStyle/>
              <a:p>
                <a:pPr algn="ctr">
                  <a:buNone/>
                </a:pPr>
                <a14:m>
                  <m:oMathPara xmlns:m="http://schemas.openxmlformats.org/officeDocument/2006/math">
                    <m:oMathParaPr>
                      <m:jc m:val="center"/>
                    </m:oMathParaPr>
                    <m:oMath xmlns:m="http://schemas.openxmlformats.org/officeDocument/2006/math">
                      <m:acc>
                        <m:accPr>
                          <m:chr m:val="̂"/>
                          <m:ctrlPr>
                            <a:rPr sz="1400">
                              <a:latin typeface="Cambria Math" panose="02040503050406030204" pitchFamily="18" charset="0"/>
                            </a:rPr>
                          </m:ctrlPr>
                        </m:accPr>
                        <m:e>
                          <m:r>
                            <a:rPr sz="1400">
                              <a:latin typeface="Cambria Math" panose="02040503050406030204" pitchFamily="18" charset="0"/>
                            </a:rPr>
                            <m:t>𝑉</m:t>
                          </m:r>
                        </m:e>
                      </m:acc>
                      <m:r>
                        <a:rPr sz="1400">
                          <a:latin typeface="Cambria Math" panose="02040503050406030204" pitchFamily="18" charset="0"/>
                        </a:rPr>
                        <m:t>[</m:t>
                      </m:r>
                      <m:r>
                        <a:rPr sz="1400">
                          <a:latin typeface="Cambria Math" panose="02040503050406030204" pitchFamily="18" charset="0"/>
                        </a:rPr>
                        <m:t>𝑘</m:t>
                      </m:r>
                      <m:r>
                        <a:rPr sz="1400">
                          <a:latin typeface="Cambria Math" panose="02040503050406030204" pitchFamily="18" charset="0"/>
                        </a:rPr>
                        <m:t>]=0.9 </m:t>
                      </m:r>
                      <m:acc>
                        <m:accPr>
                          <m:chr m:val="̂"/>
                          <m:ctrlPr>
                            <a:rPr sz="1400" i="1">
                              <a:latin typeface="Cambria Math" panose="02040503050406030204" pitchFamily="18" charset="0"/>
                            </a:rPr>
                          </m:ctrlPr>
                        </m:accPr>
                        <m:e>
                          <m:r>
                            <a:rPr sz="1400">
                              <a:latin typeface="Cambria Math" panose="02040503050406030204" pitchFamily="18" charset="0"/>
                            </a:rPr>
                            <m:t>𝑉</m:t>
                          </m:r>
                        </m:e>
                      </m:acc>
                      <m:r>
                        <a:rPr sz="1400">
                          <a:latin typeface="Cambria Math" panose="02040503050406030204" pitchFamily="18" charset="0"/>
                        </a:rPr>
                        <m:t>[</m:t>
                      </m:r>
                      <m:r>
                        <a:rPr sz="1400">
                          <a:latin typeface="Cambria Math" panose="02040503050406030204" pitchFamily="18" charset="0"/>
                        </a:rPr>
                        <m:t>𝑘</m:t>
                      </m:r>
                      <m:r>
                        <a:rPr sz="1400">
                          <a:latin typeface="Cambria Math" panose="02040503050406030204" pitchFamily="18" charset="0"/>
                        </a:rPr>
                        <m:t>−1]+0.1 </m:t>
                      </m:r>
                      <m:r>
                        <a:rPr sz="1400">
                          <a:latin typeface="Cambria Math" panose="02040503050406030204" pitchFamily="18" charset="0"/>
                        </a:rPr>
                        <m:t>𝑎</m:t>
                      </m:r>
                      <m:r>
                        <a:rPr sz="1400">
                          <a:latin typeface="Cambria Math" panose="02040503050406030204" pitchFamily="18" charset="0"/>
                        </a:rPr>
                        <m:t>[</m:t>
                      </m:r>
                      <m:r>
                        <a:rPr sz="1400">
                          <a:latin typeface="Cambria Math" panose="02040503050406030204" pitchFamily="18" charset="0"/>
                        </a:rPr>
                        <m:t>𝑘</m:t>
                      </m:r>
                      <m:r>
                        <a:rPr sz="1400">
                          <a:latin typeface="Cambria Math" panose="02040503050406030204" pitchFamily="18" charset="0"/>
                        </a:rPr>
                        <m:t>]</m:t>
                      </m:r>
                    </m:oMath>
                  </m:oMathPara>
                </a14:m>
                <a:endParaRPr sz="1400" dirty="0"/>
              </a:p>
            </p:txBody>
          </p:sp>
        </mc:Choice>
        <mc:Fallback>
          <p:sp>
            <p:nvSpPr>
              <p:cNvPr id="92" name="Eq_LPF"/>
              <p:cNvSpPr txBox="1">
                <a:spLocks noRot="1" noChangeAspect="1" noMove="1" noResize="1" noEditPoints="1" noAdjustHandles="1" noChangeArrowheads="1" noChangeShapeType="1" noTextEdit="1"/>
              </p:cNvSpPr>
              <p:nvPr/>
            </p:nvSpPr>
            <p:spPr>
              <a:xfrm>
                <a:off x="7684680" y="2821323"/>
                <a:ext cx="3200000" cy="469650"/>
              </a:xfrm>
              <a:prstGeom prst="rect">
                <a:avLst/>
              </a:prstGeom>
              <a:blipFill>
                <a:blip r:embed="rId4"/>
                <a:stretch>
                  <a:fillRect/>
                </a:stretch>
              </a:blipFill>
            </p:spPr>
            <p:txBody>
              <a:bodyPr/>
              <a:lstStyle/>
              <a:p>
                <a:r>
                  <a:rPr lang="th-TH">
                    <a:noFill/>
                  </a:rPr>
                  <a:t> </a:t>
                </a:r>
              </a:p>
            </p:txBody>
          </p:sp>
        </mc:Fallback>
      </mc:AlternateContent>
      <p:sp>
        <p:nvSpPr>
          <p:cNvPr id="93" name="Lbl93"/>
          <p:cNvSpPr txBox="1"/>
          <p:nvPr/>
        </p:nvSpPr>
        <p:spPr>
          <a:xfrm>
            <a:off x="7700680" y="3346001"/>
            <a:ext cx="3200000" cy="161583"/>
          </a:xfrm>
          <a:prstGeom prst="rect">
            <a:avLst/>
          </a:prstGeom>
          <a:noFill/>
        </p:spPr>
        <p:txBody>
          <a:bodyPr wrap="square" lIns="0" tIns="0" rIns="0" bIns="0" anchor="ctr">
            <a:spAutoFit/>
          </a:bodyPr>
          <a:lstStyle/>
          <a:p>
            <a:pPr algn="l"/>
            <a:r>
              <a:rPr sz="1050" b="0" dirty="0" err="1">
                <a:solidFill>
                  <a:srgbClr val="2A9D8F"/>
                </a:solidFill>
                <a:latin typeface="Calibri"/>
              </a:rPr>
              <a:t>V_out</a:t>
            </a:r>
            <a:r>
              <a:rPr sz="1050" b="0" dirty="0">
                <a:solidFill>
                  <a:srgbClr val="2A9D8F"/>
                </a:solidFill>
                <a:latin typeface="Calibri"/>
              </a:rPr>
              <a:t> = clip( V, −</a:t>
            </a:r>
            <a:r>
              <a:rPr sz="1050" b="0" dirty="0" err="1">
                <a:solidFill>
                  <a:srgbClr val="2A9D8F"/>
                </a:solidFill>
                <a:latin typeface="Calibri"/>
              </a:rPr>
              <a:t>V_max</a:t>
            </a:r>
            <a:r>
              <a:rPr sz="1050" b="0" dirty="0">
                <a:solidFill>
                  <a:srgbClr val="2A9D8F"/>
                </a:solidFill>
                <a:latin typeface="Calibri"/>
              </a:rPr>
              <a:t>, +</a:t>
            </a:r>
            <a:r>
              <a:rPr sz="1050" b="0" dirty="0" err="1">
                <a:solidFill>
                  <a:srgbClr val="2A9D8F"/>
                </a:solidFill>
                <a:latin typeface="Calibri"/>
              </a:rPr>
              <a:t>V_max</a:t>
            </a:r>
            <a:r>
              <a:rPr sz="1050" b="0" dirty="0">
                <a:solidFill>
                  <a:srgbClr val="2A9D8F"/>
                </a:solidFill>
                <a:latin typeface="Calibri"/>
              </a:rPr>
              <a:t> )</a:t>
            </a:r>
          </a:p>
        </p:txBody>
      </p:sp>
      <p:sp>
        <p:nvSpPr>
          <p:cNvPr id="300" name="DS_Header"/>
          <p:cNvSpPr/>
          <p:nvPr/>
        </p:nvSpPr>
        <p:spPr>
          <a:xfrm>
            <a:off x="868680" y="4298737"/>
            <a:ext cx="10000000" cy="260000"/>
          </a:xfrm>
          <a:prstGeom prst="rect">
            <a:avLst/>
          </a:prstGeom>
          <a:solidFill>
            <a:srgbClr val="1D3557"/>
          </a:solidFill>
          <a:ln>
            <a:noFill/>
          </a:ln>
        </p:spPr>
        <p:txBody>
          <a:bodyPr wrap="square" lIns="91440" tIns="40000" rIns="60960" bIns="40000" anchor="ctr"/>
          <a:lstStyle/>
          <a:p>
            <a:pPr algn="l"/>
            <a:r>
              <a:rPr sz="1600" b="1" dirty="0">
                <a:solidFill>
                  <a:srgbClr val="FFFFFF"/>
                </a:solidFill>
                <a:latin typeface="Georgia"/>
              </a:rPr>
              <a:t>Dataset: Training &amp; Testing</a:t>
            </a:r>
          </a:p>
        </p:txBody>
      </p:sp>
      <p:sp>
        <p:nvSpPr>
          <p:cNvPr id="301" name="DS_TrainHdr"/>
          <p:cNvSpPr/>
          <p:nvPr/>
        </p:nvSpPr>
        <p:spPr>
          <a:xfrm>
            <a:off x="868680" y="4662217"/>
            <a:ext cx="4900000" cy="230000"/>
          </a:xfrm>
          <a:prstGeom prst="rect">
            <a:avLst/>
          </a:prstGeom>
          <a:noFill/>
          <a:ln>
            <a:solidFill>
              <a:srgbClr val="1D3557"/>
            </a:solidFill>
          </a:ln>
        </p:spPr>
        <p:txBody>
          <a:bodyPr wrap="square" lIns="60960" tIns="30000" rIns="30000" bIns="30000" anchor="ctr"/>
          <a:lstStyle/>
          <a:p>
            <a:pPr algn="l"/>
            <a:r>
              <a:rPr sz="1600" b="1" dirty="0">
                <a:solidFill>
                  <a:srgbClr val="1D3557"/>
                </a:solidFill>
                <a:latin typeface="Calibri"/>
              </a:rPr>
              <a:t>TRAIN DATA</a:t>
            </a:r>
          </a:p>
        </p:txBody>
      </p:sp>
      <p:sp>
        <p:nvSpPr>
          <p:cNvPr id="302" name="DS_TrainBody"/>
          <p:cNvSpPr txBox="1"/>
          <p:nvPr/>
        </p:nvSpPr>
        <p:spPr>
          <a:xfrm>
            <a:off x="868680" y="4907594"/>
            <a:ext cx="4900000" cy="1559606"/>
          </a:xfrm>
          <a:prstGeom prst="rect">
            <a:avLst/>
          </a:prstGeom>
          <a:solidFill>
            <a:srgbClr val="F4F1E9"/>
          </a:solidFill>
          <a:ln w="9525">
            <a:solidFill>
              <a:srgbClr val="D9D2C4"/>
            </a:solidFill>
          </a:ln>
        </p:spPr>
        <p:txBody>
          <a:bodyPr wrap="square" lIns="60960" tIns="45720" rIns="45720" bIns="45720" anchor="t"/>
          <a:lstStyle/>
          <a:p>
            <a:pPr>
              <a:lnSpc>
                <a:spcPct val="110000"/>
              </a:lnSpc>
              <a:spcBef>
                <a:spcPts val="0"/>
              </a:spcBef>
              <a:spcAft>
                <a:spcPts val="100"/>
              </a:spcAft>
            </a:pPr>
            <a:r>
              <a:rPr sz="1400" b="1" dirty="0">
                <a:solidFill>
                  <a:srgbClr val="4A5A66"/>
                </a:solidFill>
                <a:latin typeface="Calibri"/>
              </a:rPr>
              <a:t>Source: Simulation only (BDC Motor + pendulum)</a:t>
            </a:r>
          </a:p>
          <a:p>
            <a:pPr>
              <a:lnSpc>
                <a:spcPct val="110000"/>
              </a:lnSpc>
              <a:spcBef>
                <a:spcPts val="0"/>
              </a:spcBef>
              <a:spcAft>
                <a:spcPts val="100"/>
              </a:spcAft>
            </a:pPr>
            <a:r>
              <a:rPr sz="1400" b="0" dirty="0">
                <a:solidFill>
                  <a:srgbClr val="4A5A66"/>
                </a:solidFill>
                <a:latin typeface="Calibri"/>
              </a:rPr>
              <a:t>Pre-fill: 30 eps × 3,000 steps = 90,000 transitions (PI+FF)</a:t>
            </a:r>
          </a:p>
          <a:p>
            <a:pPr>
              <a:lnSpc>
                <a:spcPct val="110000"/>
              </a:lnSpc>
              <a:spcBef>
                <a:spcPts val="0"/>
              </a:spcBef>
              <a:spcAft>
                <a:spcPts val="100"/>
              </a:spcAft>
            </a:pPr>
            <a:r>
              <a:rPr sz="1400" b="0" dirty="0">
                <a:solidFill>
                  <a:srgbClr val="4A5A66"/>
                </a:solidFill>
                <a:latin typeface="Calibri"/>
              </a:rPr>
              <a:t>RL exploration: 600,000 steps SAC self-play (same simulator)</a:t>
            </a:r>
          </a:p>
          <a:p>
            <a:pPr>
              <a:lnSpc>
                <a:spcPct val="110000"/>
              </a:lnSpc>
              <a:spcBef>
                <a:spcPts val="0"/>
              </a:spcBef>
              <a:spcAft>
                <a:spcPts val="100"/>
              </a:spcAft>
            </a:pPr>
            <a:r>
              <a:rPr sz="1400" b="0" dirty="0" err="1">
                <a:solidFill>
                  <a:srgbClr val="4A5A66"/>
                </a:solidFill>
                <a:latin typeface="Calibri"/>
              </a:rPr>
              <a:t>ωref</a:t>
            </a:r>
            <a:r>
              <a:rPr sz="1400" b="0" dirty="0">
                <a:solidFill>
                  <a:srgbClr val="4A5A66"/>
                </a:solidFill>
                <a:latin typeface="Calibri"/>
              </a:rPr>
              <a:t>: random constant ∈ [2, 15] rad/s per episode</a:t>
            </a:r>
          </a:p>
          <a:p>
            <a:pPr>
              <a:lnSpc>
                <a:spcPct val="110000"/>
              </a:lnSpc>
              <a:spcBef>
                <a:spcPts val="0"/>
              </a:spcBef>
              <a:spcAft>
                <a:spcPts val="100"/>
              </a:spcAft>
            </a:pPr>
            <a:r>
              <a:rPr sz="1400" b="0" dirty="0">
                <a:solidFill>
                  <a:srgbClr val="4A5A66"/>
                </a:solidFill>
                <a:latin typeface="Calibri"/>
              </a:rPr>
              <a:t>Init: ω₀ ∈ [−15,15] rad/s, θ₀ ∈ [−45°,45°]</a:t>
            </a:r>
          </a:p>
          <a:p>
            <a:pPr>
              <a:lnSpc>
                <a:spcPct val="110000"/>
              </a:lnSpc>
              <a:spcBef>
                <a:spcPts val="0"/>
              </a:spcBef>
              <a:spcAft>
                <a:spcPts val="100"/>
              </a:spcAft>
            </a:pPr>
            <a:r>
              <a:rPr sz="1400" b="0" dirty="0">
                <a:solidFill>
                  <a:srgbClr val="4A5A66"/>
                </a:solidFill>
                <a:latin typeface="Calibri"/>
              </a:rPr>
              <a:t>Sensor noise: σ = 0.2 rad/s (Gaussian)</a:t>
            </a:r>
          </a:p>
        </p:txBody>
      </p:sp>
      <p:sp>
        <p:nvSpPr>
          <p:cNvPr id="303" name="DS_TestHdr"/>
          <p:cNvSpPr/>
          <p:nvPr/>
        </p:nvSpPr>
        <p:spPr>
          <a:xfrm>
            <a:off x="6632294" y="4655091"/>
            <a:ext cx="5150786" cy="253679"/>
          </a:xfrm>
          <a:prstGeom prst="rect">
            <a:avLst/>
          </a:prstGeom>
          <a:noFill/>
          <a:ln>
            <a:solidFill>
              <a:schemeClr val="accent6">
                <a:lumMod val="75000"/>
              </a:schemeClr>
            </a:solidFill>
          </a:ln>
        </p:spPr>
        <p:txBody>
          <a:bodyPr wrap="square" lIns="60960" tIns="30000" rIns="30000" bIns="30000" anchor="ctr"/>
          <a:lstStyle/>
          <a:p>
            <a:pPr algn="l"/>
            <a:r>
              <a:rPr sz="1600" b="1" dirty="0">
                <a:solidFill>
                  <a:schemeClr val="accent6">
                    <a:lumMod val="75000"/>
                  </a:schemeClr>
                </a:solidFill>
                <a:latin typeface="Calibri"/>
              </a:rPr>
              <a:t>TEST DATA</a:t>
            </a:r>
          </a:p>
        </p:txBody>
      </p:sp>
      <p:sp>
        <p:nvSpPr>
          <p:cNvPr id="304" name="DS_TestBody"/>
          <p:cNvSpPr txBox="1"/>
          <p:nvPr/>
        </p:nvSpPr>
        <p:spPr>
          <a:xfrm>
            <a:off x="6632294" y="4890631"/>
            <a:ext cx="5150786" cy="1299783"/>
          </a:xfrm>
          <a:prstGeom prst="rect">
            <a:avLst/>
          </a:prstGeom>
          <a:solidFill>
            <a:srgbClr val="FFF5F2"/>
          </a:solidFill>
          <a:ln w="9525">
            <a:solidFill>
              <a:srgbClr val="D9D2C4"/>
            </a:solidFill>
          </a:ln>
        </p:spPr>
        <p:txBody>
          <a:bodyPr wrap="square" lIns="60960" tIns="45720" rIns="45720" bIns="45720" anchor="t"/>
          <a:lstStyle/>
          <a:p>
            <a:pPr>
              <a:lnSpc>
                <a:spcPct val="110000"/>
              </a:lnSpc>
              <a:spcBef>
                <a:spcPts val="0"/>
              </a:spcBef>
              <a:spcAft>
                <a:spcPts val="100"/>
              </a:spcAft>
            </a:pPr>
            <a:r>
              <a:rPr sz="1400" b="1" dirty="0">
                <a:solidFill>
                  <a:srgbClr val="4A5A66"/>
                </a:solidFill>
                <a:latin typeface="Calibri"/>
              </a:rPr>
              <a:t>Source: Same simulator, noise-free (σ = 0)</a:t>
            </a:r>
          </a:p>
          <a:p>
            <a:pPr>
              <a:lnSpc>
                <a:spcPct val="110000"/>
              </a:lnSpc>
              <a:spcBef>
                <a:spcPts val="0"/>
              </a:spcBef>
              <a:spcAft>
                <a:spcPts val="100"/>
              </a:spcAft>
            </a:pPr>
            <a:r>
              <a:rPr sz="1400" b="1" dirty="0">
                <a:solidFill>
                  <a:srgbClr val="1D3557"/>
                </a:solidFill>
                <a:latin typeface="Calibri"/>
              </a:rPr>
              <a:t>T1: </a:t>
            </a:r>
            <a:r>
              <a:rPr sz="1400" b="0" dirty="0">
                <a:solidFill>
                  <a:srgbClr val="4A5A66"/>
                </a:solidFill>
                <a:latin typeface="Calibri"/>
              </a:rPr>
              <a:t>0 → 10 → 0 rad/s  |  5 s  |  ramp 0.5 s</a:t>
            </a:r>
          </a:p>
          <a:p>
            <a:pPr>
              <a:lnSpc>
                <a:spcPct val="110000"/>
              </a:lnSpc>
              <a:spcBef>
                <a:spcPts val="0"/>
              </a:spcBef>
              <a:spcAft>
                <a:spcPts val="100"/>
              </a:spcAft>
            </a:pPr>
            <a:r>
              <a:rPr sz="1400" b="1" dirty="0">
                <a:solidFill>
                  <a:srgbClr val="1D3557"/>
                </a:solidFill>
                <a:latin typeface="Calibri"/>
              </a:rPr>
              <a:t>T2: </a:t>
            </a:r>
            <a:r>
              <a:rPr sz="1400" b="0" dirty="0">
                <a:solidFill>
                  <a:srgbClr val="4A5A66"/>
                </a:solidFill>
                <a:latin typeface="Calibri"/>
              </a:rPr>
              <a:t>5 → 12 → 5 rad/s  |  6 s  |  ramp 0.5 s</a:t>
            </a:r>
          </a:p>
          <a:p>
            <a:pPr>
              <a:lnSpc>
                <a:spcPct val="110000"/>
              </a:lnSpc>
              <a:spcBef>
                <a:spcPts val="0"/>
              </a:spcBef>
              <a:spcAft>
                <a:spcPts val="100"/>
              </a:spcAft>
            </a:pPr>
            <a:r>
              <a:rPr sz="1400" b="0" dirty="0">
                <a:solidFill>
                  <a:srgbClr val="4A5A66"/>
                </a:solidFill>
                <a:latin typeface="Calibri"/>
              </a:rPr>
              <a:t>Profiles unseen during training (trapezoidal)</a:t>
            </a:r>
          </a:p>
          <a:p>
            <a:pPr>
              <a:lnSpc>
                <a:spcPct val="110000"/>
              </a:lnSpc>
              <a:spcBef>
                <a:spcPts val="0"/>
              </a:spcBef>
              <a:spcAft>
                <a:spcPts val="100"/>
              </a:spcAft>
            </a:pPr>
            <a:r>
              <a:rPr sz="1400" b="0" dirty="0">
                <a:solidFill>
                  <a:srgbClr val="4A5A66"/>
                </a:solidFill>
                <a:latin typeface="Calibri"/>
              </a:rPr>
              <a:t>Metric: RMSE vs </a:t>
            </a:r>
            <a:r>
              <a:rPr sz="1400" b="0" dirty="0" err="1">
                <a:solidFill>
                  <a:srgbClr val="4A5A66"/>
                </a:solidFill>
                <a:latin typeface="Calibri"/>
              </a:rPr>
              <a:t>PI+gravity</a:t>
            </a:r>
            <a:r>
              <a:rPr sz="1400" b="0" dirty="0">
                <a:solidFill>
                  <a:srgbClr val="4A5A66"/>
                </a:solidFill>
                <a:latin typeface="Calibri"/>
              </a:rPr>
              <a:t> FF baseline</a:t>
            </a:r>
          </a:p>
        </p:txBody>
      </p:sp>
      <p:sp>
        <p:nvSpPr>
          <p:cNvPr id="305" name="DS_KeyPoint"/>
          <p:cNvSpPr txBox="1"/>
          <p:nvPr/>
        </p:nvSpPr>
        <p:spPr>
          <a:xfrm>
            <a:off x="868680" y="6550763"/>
            <a:ext cx="10000000" cy="184666"/>
          </a:xfrm>
          <a:prstGeom prst="rect">
            <a:avLst/>
          </a:prstGeom>
          <a:noFill/>
        </p:spPr>
        <p:txBody>
          <a:bodyPr wrap="square" lIns="0" tIns="0" rIns="0" bIns="0" anchor="t">
            <a:spAutoFit/>
          </a:bodyPr>
          <a:lstStyle/>
          <a:p>
            <a:pPr algn="l"/>
            <a:r>
              <a:rPr sz="1200" b="1" i="1" dirty="0">
                <a:solidFill>
                  <a:srgbClr val="2A9D8F"/>
                </a:solidFill>
                <a:latin typeface="Calibri"/>
              </a:rPr>
              <a:t>Key Point: </a:t>
            </a:r>
            <a:r>
              <a:rPr sz="1200" b="0" i="1" dirty="0">
                <a:solidFill>
                  <a:srgbClr val="4A5A66"/>
                </a:solidFill>
                <a:latin typeface="Calibri"/>
              </a:rPr>
              <a:t>Training uses random step references — Testing uses trapezoidal profiles (different shape, tests generalization)</a:t>
            </a:r>
          </a:p>
        </p:txBody>
      </p:sp>
      <p:sp>
        <p:nvSpPr>
          <p:cNvPr id="53" name="TextBox 52">
            <a:extLst>
              <a:ext uri="{FF2B5EF4-FFF2-40B4-BE49-F238E27FC236}">
                <a16:creationId xmlns:a16="http://schemas.microsoft.com/office/drawing/2014/main" id="{900D75B7-08D2-484F-9B13-176C0CD05BD3}"/>
              </a:ext>
            </a:extLst>
          </p:cNvPr>
          <p:cNvSpPr txBox="1"/>
          <p:nvPr/>
        </p:nvSpPr>
        <p:spPr>
          <a:xfrm>
            <a:off x="868680" y="548640"/>
            <a:ext cx="10607040" cy="169277"/>
          </a:xfrm>
          <a:prstGeom prst="rect">
            <a:avLst/>
          </a:prstGeom>
          <a:noFill/>
        </p:spPr>
        <p:txBody>
          <a:bodyPr wrap="square" lIns="0" tIns="0" rIns="0" bIns="0" anchor="t">
            <a:spAutoFit/>
          </a:bodyPr>
          <a:lstStyle/>
          <a:p>
            <a:pPr>
              <a:lnSpc>
                <a:spcPct val="100000"/>
              </a:lnSpc>
            </a:pPr>
            <a:r>
              <a:rPr lang="en-US" altLang="zh-CN" sz="1100" b="1" dirty="0">
                <a:solidFill>
                  <a:srgbClr val="E07A5F"/>
                </a:solidFill>
                <a:latin typeface="Consolas"/>
              </a:rPr>
              <a:t>C3</a:t>
            </a:r>
            <a:r>
              <a:rPr sz="1100" b="1" dirty="0">
                <a:solidFill>
                  <a:srgbClr val="E07A5F"/>
                </a:solidFill>
                <a:latin typeface="Consolas"/>
              </a:rPr>
              <a:t>  </a:t>
            </a:r>
            <a:r>
              <a:rPr lang="en-US" sz="1100" dirty="0">
                <a:solidFill>
                  <a:srgbClr val="2A9D8F"/>
                </a:solidFill>
                <a:latin typeface="Consolas"/>
              </a:rPr>
              <a:t>SAC-RL Controller Design</a:t>
            </a:r>
            <a:endParaRPr sz="1100" dirty="0">
              <a:solidFill>
                <a:srgbClr val="2A9D8F"/>
              </a:solidFill>
              <a:latin typeface="Consolas"/>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descr="A screenshot of a graph&#10;&#10;AI-generated content may be incorrect.">
            <a:extLst>
              <a:ext uri="{FF2B5EF4-FFF2-40B4-BE49-F238E27FC236}">
                <a16:creationId xmlns:a16="http://schemas.microsoft.com/office/drawing/2014/main" id="{A38F9140-E8E2-465B-AE3A-A89A6DD4B87E}"/>
              </a:ext>
            </a:extLst>
          </p:cNvPr>
          <p:cNvPicPr>
            <a:picLocks noChangeAspect="1"/>
          </p:cNvPicPr>
          <p:nvPr/>
        </p:nvPicPr>
        <p:blipFill>
          <a:blip r:embed="rId3"/>
          <a:stretch>
            <a:fillRect/>
          </a:stretch>
        </p:blipFill>
        <p:spPr>
          <a:xfrm>
            <a:off x="5630643" y="1195916"/>
            <a:ext cx="6523257" cy="5151717"/>
          </a:xfrm>
          <a:prstGeom prst="rect">
            <a:avLst/>
          </a:prstGeom>
        </p:spPr>
      </p:pic>
      <p:sp>
        <p:nvSpPr>
          <p:cNvPr id="2" name="Rectangle 1"/>
          <p:cNvSpPr/>
          <p:nvPr/>
        </p:nvSpPr>
        <p:spPr>
          <a:xfrm>
            <a:off x="566928" y="502920"/>
            <a:ext cx="17780" cy="5852160"/>
          </a:xfrm>
          <a:prstGeom prst="rect">
            <a:avLst/>
          </a:prstGeom>
          <a:solidFill>
            <a:srgbClr val="D9D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66928" y="502920"/>
            <a:ext cx="30480" cy="56692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86432" y="931231"/>
            <a:ext cx="10607040" cy="412805"/>
          </a:xfrm>
          <a:prstGeom prst="rect">
            <a:avLst/>
          </a:prstGeom>
          <a:noFill/>
        </p:spPr>
        <p:txBody>
          <a:bodyPr wrap="square" lIns="0" tIns="0" rIns="0" bIns="0" anchor="t">
            <a:spAutoFit/>
          </a:bodyPr>
          <a:lstStyle/>
          <a:p>
            <a:pPr algn="l">
              <a:lnSpc>
                <a:spcPct val="102000"/>
              </a:lnSpc>
              <a:spcBef>
                <a:spcPts val="0"/>
              </a:spcBef>
              <a:spcAft>
                <a:spcPts val="600"/>
              </a:spcAft>
            </a:pPr>
            <a:r>
              <a:rPr lang="en-US" sz="2800" b="1" dirty="0">
                <a:solidFill>
                  <a:srgbClr val="1D3557"/>
                </a:solidFill>
                <a:latin typeface="Georgia"/>
              </a:rPr>
              <a:t>Train Performance - Results</a:t>
            </a:r>
            <a:endParaRPr sz="2800" b="1" dirty="0">
              <a:solidFill>
                <a:srgbClr val="1D3557"/>
              </a:solidFill>
              <a:latin typeface="Georgia"/>
            </a:endParaRPr>
          </a:p>
        </p:txBody>
      </p:sp>
      <p:graphicFrame>
        <p:nvGraphicFramePr>
          <p:cNvPr id="9" name="Table 9">
            <a:extLst>
              <a:ext uri="{FF2B5EF4-FFF2-40B4-BE49-F238E27FC236}">
                <a16:creationId xmlns:a16="http://schemas.microsoft.com/office/drawing/2014/main" id="{744F472D-782F-41D9-81ED-3C0AA7AA2F8E}"/>
              </a:ext>
            </a:extLst>
          </p:cNvPr>
          <p:cNvGraphicFramePr>
            <a:graphicFrameLocks noGrp="1"/>
          </p:cNvGraphicFramePr>
          <p:nvPr>
            <p:extLst>
              <p:ext uri="{D42A27DB-BD31-4B8C-83A1-F6EECF244321}">
                <p14:modId xmlns:p14="http://schemas.microsoft.com/office/powerpoint/2010/main" val="2768671965"/>
              </p:ext>
            </p:extLst>
          </p:nvPr>
        </p:nvGraphicFramePr>
        <p:xfrm>
          <a:off x="684948" y="2310726"/>
          <a:ext cx="4816318" cy="1280160"/>
        </p:xfrm>
        <a:graphic>
          <a:graphicData uri="http://schemas.openxmlformats.org/drawingml/2006/table">
            <a:tbl>
              <a:tblPr firstRow="1" bandRow="1">
                <a:tableStyleId>{91EBBBCC-DAD2-459C-BE2E-F6DE35CF9A28}</a:tableStyleId>
              </a:tblPr>
              <a:tblGrid>
                <a:gridCol w="1865613">
                  <a:extLst>
                    <a:ext uri="{9D8B030D-6E8A-4147-A177-3AD203B41FA5}">
                      <a16:colId xmlns:a16="http://schemas.microsoft.com/office/drawing/2014/main" val="2474559643"/>
                    </a:ext>
                  </a:extLst>
                </a:gridCol>
                <a:gridCol w="1835264">
                  <a:extLst>
                    <a:ext uri="{9D8B030D-6E8A-4147-A177-3AD203B41FA5}">
                      <a16:colId xmlns:a16="http://schemas.microsoft.com/office/drawing/2014/main" val="3894074684"/>
                    </a:ext>
                  </a:extLst>
                </a:gridCol>
                <a:gridCol w="1115441">
                  <a:extLst>
                    <a:ext uri="{9D8B030D-6E8A-4147-A177-3AD203B41FA5}">
                      <a16:colId xmlns:a16="http://schemas.microsoft.com/office/drawing/2014/main" val="3677171887"/>
                    </a:ext>
                  </a:extLst>
                </a:gridCol>
              </a:tblGrid>
              <a:tr h="296218">
                <a:tc rowSpan="2">
                  <a:txBody>
                    <a:bodyPr/>
                    <a:lstStyle/>
                    <a:p>
                      <a:pPr algn="ctr"/>
                      <a:r>
                        <a:rPr lang="en-US" sz="1600" b="0" dirty="0">
                          <a:solidFill>
                            <a:srgbClr val="FFFFFF"/>
                          </a:solidFill>
                        </a:rPr>
                        <a:t>Controller</a:t>
                      </a:r>
                      <a:endParaRPr lang="th-TH" sz="1600" b="0" dirty="0">
                        <a:latin typeface="+mj-lt"/>
                      </a:endParaRPr>
                    </a:p>
                  </a:txBody>
                  <a:tcPr anchor="ctr">
                    <a:lnL w="6350" cap="flat" cmpd="sng" algn="ctr">
                      <a:solidFill>
                        <a:schemeClr val="bg1">
                          <a:lumMod val="65000"/>
                        </a:schemeClr>
                      </a:solidFill>
                      <a:prstDash val="solid"/>
                      <a:round/>
                      <a:headEnd type="none" w="med" len="med"/>
                      <a:tailEnd type="none" w="med" len="med"/>
                    </a:lnL>
                    <a:lnR w="6350" cap="flat" cmpd="sng" algn="ctr">
                      <a:solidFill>
                        <a:schemeClr val="bg1">
                          <a:lumMod val="65000"/>
                        </a:schemeClr>
                      </a:solid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rgbClr val="A6DCF4"/>
                      </a:solidFill>
                      <a:prstDash val="solid"/>
                      <a:round/>
                      <a:headEnd type="none" w="med" len="med"/>
                      <a:tailEnd type="none" w="med" len="med"/>
                    </a:lnB>
                    <a:solidFill>
                      <a:srgbClr val="2A6080"/>
                    </a:solidFill>
                  </a:tcPr>
                </a:tc>
                <a:tc gridSpan="2">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600" b="0" dirty="0">
                          <a:solidFill>
                            <a:srgbClr val="FFFFFF"/>
                          </a:solidFill>
                        </a:rPr>
                        <a:t>RMSE (rad/s)</a:t>
                      </a:r>
                      <a:endParaRPr lang="en-US" sz="1600" b="0" dirty="0">
                        <a:solidFill>
                          <a:srgbClr val="FFFFFF"/>
                        </a:solidFill>
                        <a:latin typeface="+mj-lt"/>
                      </a:endParaRPr>
                    </a:p>
                  </a:txBody>
                  <a:tcPr anchor="ctr">
                    <a:lnL w="6350" cap="flat" cmpd="sng" algn="ctr">
                      <a:solidFill>
                        <a:schemeClr val="bg1">
                          <a:lumMod val="65000"/>
                        </a:schemeClr>
                      </a:solidFill>
                      <a:prstDash val="solid"/>
                      <a:round/>
                      <a:headEnd type="none" w="med" len="med"/>
                      <a:tailEnd type="none" w="med" len="med"/>
                    </a:lnL>
                    <a:lnR w="6350" cap="flat" cmpd="sng" algn="ctr">
                      <a:solidFill>
                        <a:schemeClr val="bg1">
                          <a:lumMod val="65000"/>
                        </a:schemeClr>
                      </a:solid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solidFill>
                      <a:srgbClr val="2A6080"/>
                    </a:solidFill>
                  </a:tcPr>
                </a:tc>
                <a:tc hMerge="1">
                  <a:txBody>
                    <a:bodyPr/>
                    <a:lstStyle/>
                    <a:p>
                      <a:pPr algn="ctr"/>
                      <a:endParaRPr lang="th-TH" dirty="0"/>
                    </a:p>
                  </a:txBody>
                  <a:tcPr/>
                </a:tc>
                <a:extLst>
                  <a:ext uri="{0D108BD9-81ED-4DB2-BD59-A6C34878D82A}">
                    <a16:rowId xmlns:a16="http://schemas.microsoft.com/office/drawing/2014/main" val="557922264"/>
                  </a:ext>
                </a:extLst>
              </a:tr>
              <a:tr h="296218">
                <a:tc vMerge="1">
                  <a:txBody>
                    <a:bodyPr/>
                    <a:lstStyle/>
                    <a:p>
                      <a:endParaRPr lang="th-TH" dirty="0"/>
                    </a:p>
                  </a:txBody>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b="0" dirty="0">
                          <a:solidFill>
                            <a:schemeClr val="bg1"/>
                          </a:solidFill>
                        </a:rPr>
                        <a:t>Constant Reference</a:t>
                      </a:r>
                      <a:endParaRPr lang="th-TH" sz="1600" b="0" dirty="0">
                        <a:solidFill>
                          <a:schemeClr val="bg1"/>
                        </a:solidFill>
                        <a:latin typeface="+mj-lt"/>
                      </a:endParaRPr>
                    </a:p>
                  </a:txBody>
                  <a:tcPr anchor="ctr">
                    <a:lnL w="6350" cap="flat" cmpd="sng" algn="ctr">
                      <a:solidFill>
                        <a:schemeClr val="bg1">
                          <a:lumMod val="65000"/>
                        </a:schemeClr>
                      </a:solidFill>
                      <a:prstDash val="solid"/>
                      <a:round/>
                      <a:headEnd type="none" w="med" len="med"/>
                      <a:tailEnd type="none" w="med" len="med"/>
                    </a:lnL>
                    <a:lnR w="6350" cap="flat" cmpd="sng" algn="ctr">
                      <a:solidFill>
                        <a:schemeClr val="bg1">
                          <a:lumMod val="65000"/>
                        </a:schemeClr>
                      </a:solid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rgbClr val="A6DCF4"/>
                      </a:solidFill>
                      <a:prstDash val="solid"/>
                      <a:round/>
                      <a:headEnd type="none" w="med" len="med"/>
                      <a:tailEnd type="none" w="med" len="med"/>
                    </a:lnB>
                    <a:solidFill>
                      <a:srgbClr val="2A6080"/>
                    </a:solidFill>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600" b="0" dirty="0">
                          <a:solidFill>
                            <a:schemeClr val="bg1"/>
                          </a:solidFill>
                        </a:rPr>
                        <a:t>Trajectory</a:t>
                      </a:r>
                      <a:endParaRPr lang="th-TH" sz="1600" b="0" dirty="0">
                        <a:solidFill>
                          <a:schemeClr val="bg1"/>
                        </a:solidFill>
                        <a:latin typeface="+mj-lt"/>
                      </a:endParaRPr>
                    </a:p>
                  </a:txBody>
                  <a:tcPr anchor="ctr">
                    <a:lnL w="6350" cap="flat" cmpd="sng" algn="ctr">
                      <a:solidFill>
                        <a:schemeClr val="bg1">
                          <a:lumMod val="65000"/>
                        </a:schemeClr>
                      </a:solidFill>
                      <a:prstDash val="solid"/>
                      <a:round/>
                      <a:headEnd type="none" w="med" len="med"/>
                      <a:tailEnd type="none" w="med" len="med"/>
                    </a:lnL>
                    <a:lnR w="6350" cap="flat" cmpd="sng" algn="ctr">
                      <a:solidFill>
                        <a:schemeClr val="bg1">
                          <a:lumMod val="65000"/>
                        </a:schemeClr>
                      </a:solid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rgbClr val="A6DCF4"/>
                      </a:solidFill>
                      <a:prstDash val="solid"/>
                      <a:round/>
                      <a:headEnd type="none" w="med" len="med"/>
                      <a:tailEnd type="none" w="med" len="med"/>
                    </a:lnB>
                    <a:solidFill>
                      <a:srgbClr val="2A6080"/>
                    </a:solidFill>
                  </a:tcPr>
                </a:tc>
                <a:extLst>
                  <a:ext uri="{0D108BD9-81ED-4DB2-BD59-A6C34878D82A}">
                    <a16:rowId xmlns:a16="http://schemas.microsoft.com/office/drawing/2014/main" val="2059586777"/>
                  </a:ext>
                </a:extLst>
              </a:tr>
              <a:tr h="269289">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400" b="1">
                          <a:solidFill>
                            <a:srgbClr val="1D3557"/>
                          </a:solidFill>
                        </a:rPr>
                        <a:t>PI+FF Controller</a:t>
                      </a:r>
                      <a:endParaRPr lang="en-US" sz="1400" b="1" dirty="0">
                        <a:solidFill>
                          <a:srgbClr val="1D3557"/>
                        </a:solidFill>
                        <a:latin typeface="+mj-lt"/>
                      </a:endParaRPr>
                    </a:p>
                  </a:txBody>
                  <a:tcPr anchor="ctr">
                    <a:lnL w="6350" cap="flat" cmpd="sng" algn="ctr">
                      <a:solidFill>
                        <a:srgbClr val="A6DCF4"/>
                      </a:solidFill>
                      <a:prstDash val="solid"/>
                      <a:round/>
                      <a:headEnd type="none" w="med" len="med"/>
                      <a:tailEnd type="none" w="med" len="med"/>
                    </a:lnL>
                    <a:lnR w="6350" cap="flat" cmpd="sng" algn="ctr">
                      <a:solidFill>
                        <a:srgbClr val="A6DCF4"/>
                      </a:solidFill>
                      <a:prstDash val="solid"/>
                      <a:round/>
                      <a:headEnd type="none" w="med" len="med"/>
                      <a:tailEnd type="none" w="med" len="med"/>
                    </a:lnR>
                    <a:lnT w="6350" cap="flat" cmpd="sng" algn="ctr">
                      <a:solidFill>
                        <a:srgbClr val="A6DCF4"/>
                      </a:solidFill>
                      <a:prstDash val="solid"/>
                      <a:round/>
                      <a:headEnd type="none" w="med" len="med"/>
                      <a:tailEnd type="none" w="med" len="med"/>
                    </a:lnT>
                    <a:lnB w="6350" cap="flat" cmpd="sng" algn="ctr">
                      <a:solidFill>
                        <a:srgbClr val="A6DCF4"/>
                      </a:solidFill>
                      <a:prstDash val="solid"/>
                      <a:round/>
                      <a:headEnd type="none" w="med" len="med"/>
                      <a:tailEnd type="none" w="med" len="med"/>
                    </a:lnB>
                    <a:solidFill>
                      <a:srgbClr val="DDF2FB"/>
                    </a:solidFill>
                  </a:tcPr>
                </a:tc>
                <a:tc>
                  <a:txBody>
                    <a:bodyPr/>
                    <a:lstStyle/>
                    <a:p>
                      <a:pPr algn="ctr"/>
                      <a:r>
                        <a:rPr lang="en-US" sz="1400" b="1" dirty="0"/>
                        <a:t>0.318</a:t>
                      </a:r>
                      <a:endParaRPr lang="th-TH" sz="1400" b="1" dirty="0">
                        <a:latin typeface="+mj-lt"/>
                      </a:endParaRPr>
                    </a:p>
                  </a:txBody>
                  <a:tcPr anchor="ctr">
                    <a:lnL w="6350" cap="flat" cmpd="sng" algn="ctr">
                      <a:solidFill>
                        <a:srgbClr val="A6DCF4"/>
                      </a:solidFill>
                      <a:prstDash val="solid"/>
                      <a:round/>
                      <a:headEnd type="none" w="med" len="med"/>
                      <a:tailEnd type="none" w="med" len="med"/>
                    </a:lnL>
                    <a:lnR w="6350" cap="flat" cmpd="sng" algn="ctr">
                      <a:solidFill>
                        <a:srgbClr val="A6DCF4"/>
                      </a:solidFill>
                      <a:prstDash val="solid"/>
                      <a:round/>
                      <a:headEnd type="none" w="med" len="med"/>
                      <a:tailEnd type="none" w="med" len="med"/>
                    </a:lnR>
                    <a:lnT w="6350" cap="flat" cmpd="sng" algn="ctr">
                      <a:solidFill>
                        <a:srgbClr val="A6DCF4"/>
                      </a:solidFill>
                      <a:prstDash val="solid"/>
                      <a:round/>
                      <a:headEnd type="none" w="med" len="med"/>
                      <a:tailEnd type="none" w="med" len="med"/>
                    </a:lnT>
                    <a:lnB w="6350" cap="flat" cmpd="sng" algn="ctr">
                      <a:solidFill>
                        <a:srgbClr val="A6DCF4"/>
                      </a:solidFill>
                      <a:prstDash val="solid"/>
                      <a:round/>
                      <a:headEnd type="none" w="med" len="med"/>
                      <a:tailEnd type="none" w="med" len="med"/>
                    </a:lnB>
                    <a:solidFill>
                      <a:srgbClr val="DDF2FB"/>
                    </a:solidFill>
                  </a:tcPr>
                </a:tc>
                <a:tc>
                  <a:txBody>
                    <a:bodyPr/>
                    <a:lstStyle/>
                    <a:p>
                      <a:pPr algn="ctr"/>
                      <a:r>
                        <a:rPr lang="en-US" sz="1400" b="1" dirty="0"/>
                        <a:t>0.0053</a:t>
                      </a:r>
                      <a:endParaRPr lang="th-TH" sz="1400" b="1" dirty="0">
                        <a:latin typeface="+mj-lt"/>
                      </a:endParaRPr>
                    </a:p>
                  </a:txBody>
                  <a:tcPr anchor="ctr">
                    <a:lnL w="6350" cap="flat" cmpd="sng" algn="ctr">
                      <a:solidFill>
                        <a:srgbClr val="A6DCF4"/>
                      </a:solidFill>
                      <a:prstDash val="solid"/>
                      <a:round/>
                      <a:headEnd type="none" w="med" len="med"/>
                      <a:tailEnd type="none" w="med" len="med"/>
                    </a:lnL>
                    <a:lnR w="6350" cap="flat" cmpd="sng" algn="ctr">
                      <a:solidFill>
                        <a:srgbClr val="A6DCF4"/>
                      </a:solidFill>
                      <a:prstDash val="solid"/>
                      <a:round/>
                      <a:headEnd type="none" w="med" len="med"/>
                      <a:tailEnd type="none" w="med" len="med"/>
                    </a:lnR>
                    <a:lnT w="6350" cap="flat" cmpd="sng" algn="ctr">
                      <a:solidFill>
                        <a:srgbClr val="A6DCF4"/>
                      </a:solidFill>
                      <a:prstDash val="solid"/>
                      <a:round/>
                      <a:headEnd type="none" w="med" len="med"/>
                      <a:tailEnd type="none" w="med" len="med"/>
                    </a:lnT>
                    <a:lnB w="6350" cap="flat" cmpd="sng" algn="ctr">
                      <a:solidFill>
                        <a:srgbClr val="A6DCF4"/>
                      </a:solidFill>
                      <a:prstDash val="solid"/>
                      <a:round/>
                      <a:headEnd type="none" w="med" len="med"/>
                      <a:tailEnd type="none" w="med" len="med"/>
                    </a:lnB>
                    <a:solidFill>
                      <a:srgbClr val="DDF2FB"/>
                    </a:solidFill>
                  </a:tcPr>
                </a:tc>
                <a:extLst>
                  <a:ext uri="{0D108BD9-81ED-4DB2-BD59-A6C34878D82A}">
                    <a16:rowId xmlns:a16="http://schemas.microsoft.com/office/drawing/2014/main" val="3836002673"/>
                  </a:ext>
                </a:extLst>
              </a:tr>
              <a:tr h="269289">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400" b="1" dirty="0">
                          <a:solidFill>
                            <a:srgbClr val="1D3557"/>
                          </a:solidFill>
                        </a:rPr>
                        <a:t>SAC-RL</a:t>
                      </a:r>
                      <a:r>
                        <a:rPr lang="en-US" sz="1400" b="1" dirty="0">
                          <a:solidFill>
                            <a:srgbClr val="1D3557"/>
                          </a:solidFill>
                        </a:rPr>
                        <a:t> Controller</a:t>
                      </a:r>
                      <a:endParaRPr lang="th-TH" sz="1400" b="1" dirty="0">
                        <a:solidFill>
                          <a:srgbClr val="1D3557"/>
                        </a:solidFill>
                      </a:endParaRPr>
                    </a:p>
                  </a:txBody>
                  <a:tcPr anchor="ctr">
                    <a:lnL w="6350" cap="flat" cmpd="sng" algn="ctr">
                      <a:solidFill>
                        <a:srgbClr val="A6DCF4"/>
                      </a:solidFill>
                      <a:prstDash val="solid"/>
                      <a:round/>
                      <a:headEnd type="none" w="med" len="med"/>
                      <a:tailEnd type="none" w="med" len="med"/>
                    </a:lnL>
                    <a:lnR w="6350" cap="flat" cmpd="sng" algn="ctr">
                      <a:solidFill>
                        <a:srgbClr val="A6DCF4"/>
                      </a:solidFill>
                      <a:prstDash val="solid"/>
                      <a:round/>
                      <a:headEnd type="none" w="med" len="med"/>
                      <a:tailEnd type="none" w="med" len="med"/>
                    </a:lnR>
                    <a:lnT w="6350" cap="flat" cmpd="sng" algn="ctr">
                      <a:solidFill>
                        <a:srgbClr val="A6DCF4"/>
                      </a:solidFill>
                      <a:prstDash val="solid"/>
                      <a:round/>
                      <a:headEnd type="none" w="med" len="med"/>
                      <a:tailEnd type="none" w="med" len="med"/>
                    </a:lnT>
                    <a:lnB w="6350" cap="flat" cmpd="sng" algn="ctr">
                      <a:solidFill>
                        <a:srgbClr val="A6DCF4"/>
                      </a:solidFill>
                      <a:prstDash val="solid"/>
                      <a:round/>
                      <a:headEnd type="none" w="med" len="med"/>
                      <a:tailEnd type="none" w="med" len="med"/>
                    </a:lnB>
                    <a:solidFill>
                      <a:srgbClr val="C8E9F8"/>
                    </a:solidFill>
                  </a:tcPr>
                </a:tc>
                <a:tc>
                  <a:txBody>
                    <a:bodyPr/>
                    <a:lstStyle/>
                    <a:p>
                      <a:pPr algn="ctr"/>
                      <a:r>
                        <a:rPr lang="en-US" sz="1400" b="1" dirty="0"/>
                        <a:t>0.5094</a:t>
                      </a:r>
                      <a:endParaRPr lang="th-TH" sz="1400" b="1" dirty="0">
                        <a:latin typeface="+mj-lt"/>
                      </a:endParaRPr>
                    </a:p>
                  </a:txBody>
                  <a:tcPr anchor="ctr">
                    <a:lnL w="6350" cap="flat" cmpd="sng" algn="ctr">
                      <a:solidFill>
                        <a:srgbClr val="A6DCF4"/>
                      </a:solidFill>
                      <a:prstDash val="solid"/>
                      <a:round/>
                      <a:headEnd type="none" w="med" len="med"/>
                      <a:tailEnd type="none" w="med" len="med"/>
                    </a:lnL>
                    <a:lnR w="6350" cap="flat" cmpd="sng" algn="ctr">
                      <a:solidFill>
                        <a:srgbClr val="A6DCF4"/>
                      </a:solidFill>
                      <a:prstDash val="solid"/>
                      <a:round/>
                      <a:headEnd type="none" w="med" len="med"/>
                      <a:tailEnd type="none" w="med" len="med"/>
                    </a:lnR>
                    <a:lnT w="6350" cap="flat" cmpd="sng" algn="ctr">
                      <a:solidFill>
                        <a:srgbClr val="A6DCF4"/>
                      </a:solidFill>
                      <a:prstDash val="solid"/>
                      <a:round/>
                      <a:headEnd type="none" w="med" len="med"/>
                      <a:tailEnd type="none" w="med" len="med"/>
                    </a:lnT>
                    <a:lnB w="6350" cap="flat" cmpd="sng" algn="ctr">
                      <a:solidFill>
                        <a:srgbClr val="A6DCF4"/>
                      </a:solidFill>
                      <a:prstDash val="solid"/>
                      <a:round/>
                      <a:headEnd type="none" w="med" len="med"/>
                      <a:tailEnd type="none" w="med" len="med"/>
                    </a:lnB>
                    <a:solidFill>
                      <a:srgbClr val="C8E9F8"/>
                    </a:solidFill>
                  </a:tcPr>
                </a:tc>
                <a:tc>
                  <a:txBody>
                    <a:bodyPr/>
                    <a:lstStyle/>
                    <a:p>
                      <a:pPr algn="ctr"/>
                      <a:r>
                        <a:rPr lang="en-US" sz="1400" b="1" dirty="0"/>
                        <a:t>0.2815</a:t>
                      </a:r>
                      <a:endParaRPr lang="th-TH" sz="1400" b="1" dirty="0">
                        <a:latin typeface="+mj-lt"/>
                      </a:endParaRPr>
                    </a:p>
                  </a:txBody>
                  <a:tcPr anchor="ctr">
                    <a:lnL w="6350" cap="flat" cmpd="sng" algn="ctr">
                      <a:solidFill>
                        <a:srgbClr val="A6DCF4"/>
                      </a:solidFill>
                      <a:prstDash val="solid"/>
                      <a:round/>
                      <a:headEnd type="none" w="med" len="med"/>
                      <a:tailEnd type="none" w="med" len="med"/>
                    </a:lnL>
                    <a:lnR w="6350" cap="flat" cmpd="sng" algn="ctr">
                      <a:solidFill>
                        <a:srgbClr val="A6DCF4"/>
                      </a:solidFill>
                      <a:prstDash val="solid"/>
                      <a:round/>
                      <a:headEnd type="none" w="med" len="med"/>
                      <a:tailEnd type="none" w="med" len="med"/>
                    </a:lnR>
                    <a:lnT w="6350" cap="flat" cmpd="sng" algn="ctr">
                      <a:solidFill>
                        <a:srgbClr val="A6DCF4"/>
                      </a:solidFill>
                      <a:prstDash val="solid"/>
                      <a:round/>
                      <a:headEnd type="none" w="med" len="med"/>
                      <a:tailEnd type="none" w="med" len="med"/>
                    </a:lnT>
                    <a:lnB w="6350" cap="flat" cmpd="sng" algn="ctr">
                      <a:solidFill>
                        <a:srgbClr val="A6DCF4"/>
                      </a:solidFill>
                      <a:prstDash val="solid"/>
                      <a:round/>
                      <a:headEnd type="none" w="med" len="med"/>
                      <a:tailEnd type="none" w="med" len="med"/>
                    </a:lnB>
                    <a:solidFill>
                      <a:srgbClr val="C8E9F8"/>
                    </a:solidFill>
                  </a:tcPr>
                </a:tc>
                <a:extLst>
                  <a:ext uri="{0D108BD9-81ED-4DB2-BD59-A6C34878D82A}">
                    <a16:rowId xmlns:a16="http://schemas.microsoft.com/office/drawing/2014/main" val="3175069898"/>
                  </a:ext>
                </a:extLst>
              </a:tr>
            </a:tbl>
          </a:graphicData>
        </a:graphic>
      </p:graphicFrame>
      <p:grpSp>
        <p:nvGrpSpPr>
          <p:cNvPr id="11" name="Group 10">
            <a:extLst>
              <a:ext uri="{FF2B5EF4-FFF2-40B4-BE49-F238E27FC236}">
                <a16:creationId xmlns:a16="http://schemas.microsoft.com/office/drawing/2014/main" id="{FC81E3A2-DDD1-4A8B-8BB4-3F20AB2B5D04}"/>
              </a:ext>
            </a:extLst>
          </p:cNvPr>
          <p:cNvGrpSpPr/>
          <p:nvPr/>
        </p:nvGrpSpPr>
        <p:grpSpPr>
          <a:xfrm>
            <a:off x="699516" y="4369090"/>
            <a:ext cx="4816318" cy="1292994"/>
            <a:chOff x="680451" y="5020525"/>
            <a:chExt cx="5385595" cy="1385989"/>
          </a:xfrm>
        </p:grpSpPr>
        <p:sp>
          <p:nvSpPr>
            <p:cNvPr id="40" name="Card 40"/>
            <p:cNvSpPr txBox="1"/>
            <p:nvPr/>
          </p:nvSpPr>
          <p:spPr>
            <a:xfrm>
              <a:off x="699500" y="5020525"/>
              <a:ext cx="5350257" cy="1385989"/>
            </a:xfrm>
            <a:prstGeom prst="roundRect">
              <a:avLst>
                <a:gd name="adj" fmla="val 4000"/>
              </a:avLst>
            </a:prstGeom>
            <a:solidFill>
              <a:srgbClr val="F4F1E9"/>
            </a:solidFill>
            <a:ln w="12700">
              <a:solidFill>
                <a:srgbClr val="D9D2C4"/>
              </a:solidFill>
            </a:ln>
          </p:spPr>
          <p:txBody>
            <a:bodyPr wrap="square" lIns="80000" tIns="60000" rIns="60000" bIns="60000" anchor="ctr"/>
            <a:lstStyle/>
            <a:p>
              <a:pPr>
                <a:lnSpc>
                  <a:spcPct val="120000"/>
                </a:lnSpc>
                <a:spcBef>
                  <a:spcPts val="200"/>
                </a:spcBef>
                <a:spcAft>
                  <a:spcPts val="100"/>
                </a:spcAft>
              </a:pPr>
              <a:endParaRPr sz="1200" b="0" dirty="0">
                <a:solidFill>
                  <a:srgbClr val="4A5A66"/>
                </a:solidFill>
                <a:latin typeface="Calibri"/>
              </a:endParaRPr>
            </a:p>
          </p:txBody>
        </p:sp>
        <p:sp>
          <p:nvSpPr>
            <p:cNvPr id="41" name="Stripe 41"/>
            <p:cNvSpPr/>
            <p:nvPr/>
          </p:nvSpPr>
          <p:spPr>
            <a:xfrm>
              <a:off x="680451" y="5113519"/>
              <a:ext cx="38100" cy="1200000"/>
            </a:xfrm>
            <a:prstGeom prst="rect">
              <a:avLst/>
            </a:prstGeom>
            <a:solidFill>
              <a:schemeClr val="accent1">
                <a:lumMod val="75000"/>
              </a:schemeClr>
            </a:solidFill>
            <a:ln>
              <a:noFill/>
            </a:ln>
          </p:spPr>
          <p:txBody>
            <a:bodyPr rtlCol="0" anchor="ctr"/>
            <a:lstStyle/>
            <a:p>
              <a:pPr algn="ctr"/>
              <a:endParaRPr/>
            </a:p>
          </p:txBody>
        </p:sp>
        <p:sp>
          <p:nvSpPr>
            <p:cNvPr id="20" name="TextBox 19">
              <a:extLst>
                <a:ext uri="{FF2B5EF4-FFF2-40B4-BE49-F238E27FC236}">
                  <a16:creationId xmlns:a16="http://schemas.microsoft.com/office/drawing/2014/main" id="{7FCE3E8D-3899-477A-9B8B-A75275A01165}"/>
                </a:ext>
              </a:extLst>
            </p:cNvPr>
            <p:cNvSpPr txBox="1"/>
            <p:nvPr/>
          </p:nvSpPr>
          <p:spPr>
            <a:xfrm>
              <a:off x="699502" y="5083076"/>
              <a:ext cx="5366544" cy="1169551"/>
            </a:xfrm>
            <a:prstGeom prst="rect">
              <a:avLst/>
            </a:prstGeom>
            <a:noFill/>
          </p:spPr>
          <p:txBody>
            <a:bodyPr wrap="square">
              <a:spAutoFit/>
            </a:bodyPr>
            <a:lstStyle/>
            <a:p>
              <a:pPr marL="285750" indent="-285750">
                <a:buFont typeface="Arial" panose="020B0604020202020204" pitchFamily="34" charset="0"/>
                <a:buChar char="•"/>
              </a:pPr>
              <a:r>
                <a:rPr lang="en-US" sz="1400" b="0" i="0" dirty="0">
                  <a:solidFill>
                    <a:srgbClr val="353535"/>
                  </a:solidFill>
                  <a:effectLst/>
                  <a:latin typeface="+mj-lt"/>
                </a:rPr>
                <a:t>PI+FF uses exact model → lower RMSE expected</a:t>
              </a:r>
            </a:p>
            <a:p>
              <a:pPr marL="285750" indent="-285750">
                <a:buFont typeface="Arial" panose="020B0604020202020204" pitchFamily="34" charset="0"/>
                <a:buChar char="•"/>
              </a:pPr>
              <a:r>
                <a:rPr lang="en-US" sz="1400" b="0" i="0" dirty="0">
                  <a:solidFill>
                    <a:srgbClr val="353535"/>
                  </a:solidFill>
                  <a:effectLst/>
                  <a:latin typeface="+mj-lt"/>
                </a:rPr>
                <a:t>SAC uses zero model knowledge, learns from reward only</a:t>
              </a:r>
            </a:p>
            <a:p>
              <a:pPr marL="285750" indent="-285750">
                <a:buFont typeface="Arial" panose="020B0604020202020204" pitchFamily="34" charset="0"/>
                <a:buChar char="•"/>
              </a:pPr>
              <a:r>
                <a:rPr lang="en-US" sz="1400" b="0" i="0" dirty="0">
                  <a:solidFill>
                    <a:srgbClr val="353535"/>
                  </a:solidFill>
                  <a:effectLst/>
                  <a:latin typeface="+mj-lt"/>
                </a:rPr>
                <a:t>SAC </a:t>
              </a:r>
              <a:r>
                <a:rPr lang="en-US" sz="1400" b="0" i="0" dirty="0" err="1">
                  <a:solidFill>
                    <a:srgbClr val="353535"/>
                  </a:solidFill>
                  <a:effectLst/>
                  <a:latin typeface="+mj-lt"/>
                </a:rPr>
                <a:t>generalises</a:t>
              </a:r>
              <a:r>
                <a:rPr lang="en-US" sz="1400" b="0" i="0" dirty="0">
                  <a:solidFill>
                    <a:srgbClr val="353535"/>
                  </a:solidFill>
                  <a:effectLst/>
                  <a:latin typeface="+mj-lt"/>
                </a:rPr>
                <a:t> to unseen trajectory shapes</a:t>
              </a:r>
            </a:p>
            <a:p>
              <a:pPr marL="285750" indent="-285750">
                <a:buFont typeface="Arial" panose="020B0604020202020204" pitchFamily="34" charset="0"/>
                <a:buChar char="•"/>
              </a:pPr>
              <a:r>
                <a:rPr lang="en-US" sz="1400" b="0" i="0" dirty="0">
                  <a:solidFill>
                    <a:srgbClr val="353535"/>
                  </a:solidFill>
                  <a:effectLst/>
                  <a:latin typeface="+mj-lt"/>
                </a:rPr>
                <a:t>Trade-off: model accuracy vs model independence</a:t>
              </a:r>
            </a:p>
            <a:p>
              <a:pPr marL="285750" indent="-285750">
                <a:buFont typeface="Arial" panose="020B0604020202020204" pitchFamily="34" charset="0"/>
                <a:buChar char="•"/>
              </a:pPr>
              <a:r>
                <a:rPr lang="en-US" sz="1400" b="0" i="0" dirty="0">
                  <a:solidFill>
                    <a:srgbClr val="353535"/>
                  </a:solidFill>
                  <a:effectLst/>
                  <a:latin typeface="+mj-lt"/>
                </a:rPr>
                <a:t>Future work: more training steps, real hardware adaptation</a:t>
              </a:r>
              <a:endParaRPr lang="th-TH" sz="1400" dirty="0">
                <a:latin typeface="+mj-lt"/>
              </a:endParaRPr>
            </a:p>
          </p:txBody>
        </p:sp>
      </p:grpSp>
      <p:sp>
        <p:nvSpPr>
          <p:cNvPr id="22" name="TextBox 21">
            <a:extLst>
              <a:ext uri="{FF2B5EF4-FFF2-40B4-BE49-F238E27FC236}">
                <a16:creationId xmlns:a16="http://schemas.microsoft.com/office/drawing/2014/main" id="{7E4859A4-0162-481D-A719-6999FE73D84D}"/>
              </a:ext>
            </a:extLst>
          </p:cNvPr>
          <p:cNvSpPr txBox="1"/>
          <p:nvPr/>
        </p:nvSpPr>
        <p:spPr>
          <a:xfrm>
            <a:off x="868680" y="548640"/>
            <a:ext cx="10607040" cy="169277"/>
          </a:xfrm>
          <a:prstGeom prst="rect">
            <a:avLst/>
          </a:prstGeom>
          <a:noFill/>
        </p:spPr>
        <p:txBody>
          <a:bodyPr wrap="square" lIns="0" tIns="0" rIns="0" bIns="0" anchor="t">
            <a:spAutoFit/>
          </a:bodyPr>
          <a:lstStyle/>
          <a:p>
            <a:pPr>
              <a:lnSpc>
                <a:spcPct val="100000"/>
              </a:lnSpc>
            </a:pPr>
            <a:r>
              <a:rPr lang="en-US" altLang="zh-CN" sz="1100" b="1" dirty="0">
                <a:solidFill>
                  <a:srgbClr val="E07A5F"/>
                </a:solidFill>
                <a:latin typeface="Consolas"/>
              </a:rPr>
              <a:t>C4</a:t>
            </a:r>
            <a:r>
              <a:rPr sz="1100" b="1" dirty="0">
                <a:solidFill>
                  <a:srgbClr val="E07A5F"/>
                </a:solidFill>
                <a:latin typeface="Consolas"/>
              </a:rPr>
              <a:t>  </a:t>
            </a:r>
            <a:r>
              <a:rPr lang="en-US" sz="1100" dirty="0">
                <a:solidFill>
                  <a:srgbClr val="2A9D8F"/>
                </a:solidFill>
                <a:latin typeface="Consolas"/>
              </a:rPr>
              <a:t>SAC-RL Controller Design</a:t>
            </a:r>
            <a:endParaRPr sz="1100" dirty="0">
              <a:solidFill>
                <a:srgbClr val="2A9D8F"/>
              </a:solidFill>
              <a:latin typeface="Consolas"/>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66928" y="502920"/>
            <a:ext cx="17780" cy="5852160"/>
          </a:xfrm>
          <a:prstGeom prst="rect">
            <a:avLst/>
          </a:prstGeom>
          <a:solidFill>
            <a:srgbClr val="D9D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66928" y="502920"/>
            <a:ext cx="30480" cy="56692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960120"/>
            <a:ext cx="10607040" cy="412805"/>
          </a:xfrm>
          <a:prstGeom prst="rect">
            <a:avLst/>
          </a:prstGeom>
          <a:noFill/>
        </p:spPr>
        <p:txBody>
          <a:bodyPr wrap="square" lIns="0" tIns="0" rIns="0" bIns="0" anchor="t">
            <a:spAutoFit/>
          </a:bodyPr>
          <a:lstStyle/>
          <a:p>
            <a:pPr algn="l">
              <a:lnSpc>
                <a:spcPct val="102000"/>
              </a:lnSpc>
              <a:spcBef>
                <a:spcPts val="0"/>
              </a:spcBef>
              <a:spcAft>
                <a:spcPts val="600"/>
              </a:spcAft>
            </a:pPr>
            <a:r>
              <a:rPr lang="en-US" sz="2800" b="1" dirty="0">
                <a:solidFill>
                  <a:srgbClr val="1D3557"/>
                </a:solidFill>
                <a:latin typeface="Georgia"/>
              </a:rPr>
              <a:t>Test Performance - Results</a:t>
            </a:r>
          </a:p>
        </p:txBody>
      </p:sp>
      <p:pic>
        <p:nvPicPr>
          <p:cNvPr id="8" name="Picture 7" descr="A screenshot of a graph&#10;&#10;AI-generated content may be incorrect.">
            <a:extLst>
              <a:ext uri="{FF2B5EF4-FFF2-40B4-BE49-F238E27FC236}">
                <a16:creationId xmlns:a16="http://schemas.microsoft.com/office/drawing/2014/main" id="{5F5454C4-1FC4-4017-AD04-E1FD33B7CE3C}"/>
              </a:ext>
            </a:extLst>
          </p:cNvPr>
          <p:cNvPicPr>
            <a:picLocks noChangeAspect="1"/>
          </p:cNvPicPr>
          <p:nvPr/>
        </p:nvPicPr>
        <p:blipFill>
          <a:blip r:embed="rId3"/>
          <a:stretch>
            <a:fillRect/>
          </a:stretch>
        </p:blipFill>
        <p:spPr>
          <a:xfrm>
            <a:off x="5505051" y="1372925"/>
            <a:ext cx="6640439" cy="5219694"/>
          </a:xfrm>
          <a:prstGeom prst="rect">
            <a:avLst/>
          </a:prstGeom>
        </p:spPr>
      </p:pic>
      <p:graphicFrame>
        <p:nvGraphicFramePr>
          <p:cNvPr id="19" name="Table 9">
            <a:extLst>
              <a:ext uri="{FF2B5EF4-FFF2-40B4-BE49-F238E27FC236}">
                <a16:creationId xmlns:a16="http://schemas.microsoft.com/office/drawing/2014/main" id="{0872624B-DDF7-4804-93D3-2E374788784F}"/>
              </a:ext>
            </a:extLst>
          </p:cNvPr>
          <p:cNvGraphicFramePr>
            <a:graphicFrameLocks noGrp="1"/>
          </p:cNvGraphicFramePr>
          <p:nvPr>
            <p:extLst>
              <p:ext uri="{D42A27DB-BD31-4B8C-83A1-F6EECF244321}">
                <p14:modId xmlns:p14="http://schemas.microsoft.com/office/powerpoint/2010/main" val="3823293257"/>
              </p:ext>
            </p:extLst>
          </p:nvPr>
        </p:nvGraphicFramePr>
        <p:xfrm>
          <a:off x="707644" y="2375058"/>
          <a:ext cx="4674470" cy="1440180"/>
        </p:xfrm>
        <a:graphic>
          <a:graphicData uri="http://schemas.openxmlformats.org/drawingml/2006/table">
            <a:tbl>
              <a:tblPr firstRow="1" bandRow="1">
                <a:tableStyleId>{91EBBBCC-DAD2-459C-BE2E-F6DE35CF9A28}</a:tableStyleId>
              </a:tblPr>
              <a:tblGrid>
                <a:gridCol w="1618681">
                  <a:extLst>
                    <a:ext uri="{9D8B030D-6E8A-4147-A177-3AD203B41FA5}">
                      <a16:colId xmlns:a16="http://schemas.microsoft.com/office/drawing/2014/main" val="2474559643"/>
                    </a:ext>
                  </a:extLst>
                </a:gridCol>
                <a:gridCol w="1540997">
                  <a:extLst>
                    <a:ext uri="{9D8B030D-6E8A-4147-A177-3AD203B41FA5}">
                      <a16:colId xmlns:a16="http://schemas.microsoft.com/office/drawing/2014/main" val="3894074684"/>
                    </a:ext>
                  </a:extLst>
                </a:gridCol>
                <a:gridCol w="1514792">
                  <a:extLst>
                    <a:ext uri="{9D8B030D-6E8A-4147-A177-3AD203B41FA5}">
                      <a16:colId xmlns:a16="http://schemas.microsoft.com/office/drawing/2014/main" val="3677171887"/>
                    </a:ext>
                  </a:extLst>
                </a:gridCol>
              </a:tblGrid>
              <a:tr h="323980">
                <a:tc rowSpan="2">
                  <a:txBody>
                    <a:bodyPr/>
                    <a:lstStyle/>
                    <a:p>
                      <a:pPr algn="ctr"/>
                      <a:r>
                        <a:rPr lang="en-US" sz="1600" b="0" dirty="0">
                          <a:solidFill>
                            <a:srgbClr val="FFFFFF"/>
                          </a:solidFill>
                        </a:rPr>
                        <a:t>Controller</a:t>
                      </a:r>
                      <a:endParaRPr lang="th-TH" sz="1600" b="0" dirty="0">
                        <a:latin typeface="+mj-lt"/>
                      </a:endParaRPr>
                    </a:p>
                  </a:txBody>
                  <a:tcPr anchor="ctr">
                    <a:lnL w="6350" cap="flat" cmpd="sng" algn="ctr">
                      <a:solidFill>
                        <a:schemeClr val="bg1">
                          <a:lumMod val="65000"/>
                        </a:schemeClr>
                      </a:solidFill>
                      <a:prstDash val="solid"/>
                      <a:round/>
                      <a:headEnd type="none" w="med" len="med"/>
                      <a:tailEnd type="none" w="med" len="med"/>
                    </a:lnL>
                    <a:lnR w="6350" cap="flat" cmpd="sng" algn="ctr">
                      <a:solidFill>
                        <a:schemeClr val="bg1">
                          <a:lumMod val="65000"/>
                        </a:schemeClr>
                      </a:solid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rgbClr val="A6DCF4"/>
                      </a:solidFill>
                      <a:prstDash val="solid"/>
                      <a:round/>
                      <a:headEnd type="none" w="med" len="med"/>
                      <a:tailEnd type="none" w="med" len="med"/>
                    </a:lnB>
                    <a:solidFill>
                      <a:srgbClr val="2A6080"/>
                    </a:solidFill>
                  </a:tcPr>
                </a:tc>
                <a:tc gridSpan="2">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600" b="0" dirty="0">
                          <a:solidFill>
                            <a:srgbClr val="FFFFFF"/>
                          </a:solidFill>
                        </a:rPr>
                        <a:t>RMSE (rad/s)</a:t>
                      </a:r>
                      <a:endParaRPr lang="en-US" sz="1600" b="0" dirty="0">
                        <a:solidFill>
                          <a:srgbClr val="FFFFFF"/>
                        </a:solidFill>
                        <a:latin typeface="+mj-lt"/>
                      </a:endParaRPr>
                    </a:p>
                  </a:txBody>
                  <a:tcPr anchor="ctr">
                    <a:lnL w="6350" cap="flat" cmpd="sng" algn="ctr">
                      <a:solidFill>
                        <a:schemeClr val="bg1">
                          <a:lumMod val="65000"/>
                        </a:schemeClr>
                      </a:solidFill>
                      <a:prstDash val="solid"/>
                      <a:round/>
                      <a:headEnd type="none" w="med" len="med"/>
                      <a:tailEnd type="none" w="med" len="med"/>
                    </a:lnL>
                    <a:lnR w="6350" cap="flat" cmpd="sng" algn="ctr">
                      <a:solidFill>
                        <a:schemeClr val="bg1">
                          <a:lumMod val="65000"/>
                        </a:schemeClr>
                      </a:solid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solidFill>
                      <a:srgbClr val="2A6080"/>
                    </a:solidFill>
                  </a:tcPr>
                </a:tc>
                <a:tc hMerge="1">
                  <a:txBody>
                    <a:bodyPr/>
                    <a:lstStyle/>
                    <a:p>
                      <a:pPr algn="ctr"/>
                      <a:endParaRPr lang="th-TH" dirty="0"/>
                    </a:p>
                  </a:txBody>
                  <a:tcPr/>
                </a:tc>
                <a:extLst>
                  <a:ext uri="{0D108BD9-81ED-4DB2-BD59-A6C34878D82A}">
                    <a16:rowId xmlns:a16="http://schemas.microsoft.com/office/drawing/2014/main" val="557922264"/>
                  </a:ext>
                </a:extLst>
              </a:tr>
              <a:tr h="388384">
                <a:tc vMerge="1">
                  <a:txBody>
                    <a:bodyPr/>
                    <a:lstStyle/>
                    <a:p>
                      <a:endParaRPr lang="th-TH" dirty="0"/>
                    </a:p>
                  </a:txBody>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b="0" dirty="0">
                          <a:solidFill>
                            <a:schemeClr val="bg1"/>
                          </a:solidFill>
                        </a:rPr>
                        <a:t>T1</a:t>
                      </a:r>
                    </a:p>
                    <a:p>
                      <a:pPr marL="0" marR="0" lvl="0" indent="0" algn="ctr" defTabSz="457200" rtl="0" eaLnBrk="1" fontAlgn="auto" latinLnBrk="0" hangingPunct="1">
                        <a:lnSpc>
                          <a:spcPct val="100000"/>
                        </a:lnSpc>
                        <a:spcBef>
                          <a:spcPts val="0"/>
                        </a:spcBef>
                        <a:spcAft>
                          <a:spcPts val="0"/>
                        </a:spcAft>
                        <a:buClrTx/>
                        <a:buSzTx/>
                        <a:buFontTx/>
                        <a:buNone/>
                        <a:tabLst/>
                        <a:defRPr/>
                      </a:pPr>
                      <a:r>
                        <a:rPr lang="nn-NO" sz="1050" b="0" i="0" kern="1200" dirty="0">
                          <a:solidFill>
                            <a:schemeClr val="bg1"/>
                          </a:solidFill>
                          <a:effectLst/>
                          <a:latin typeface="+mn-lt"/>
                          <a:ea typeface="+mn-ea"/>
                          <a:cs typeface="+mn-cs"/>
                        </a:rPr>
                        <a:t>(0 → 10 → 0 rad/s | 5 s)</a:t>
                      </a:r>
                      <a:endParaRPr lang="th-TH" sz="1600" b="0" dirty="0">
                        <a:solidFill>
                          <a:schemeClr val="bg1"/>
                        </a:solidFill>
                        <a:latin typeface="+mj-lt"/>
                      </a:endParaRPr>
                    </a:p>
                  </a:txBody>
                  <a:tcPr anchor="ctr">
                    <a:lnL w="6350" cap="flat" cmpd="sng" algn="ctr">
                      <a:solidFill>
                        <a:schemeClr val="bg1">
                          <a:lumMod val="65000"/>
                        </a:schemeClr>
                      </a:solidFill>
                      <a:prstDash val="solid"/>
                      <a:round/>
                      <a:headEnd type="none" w="med" len="med"/>
                      <a:tailEnd type="none" w="med" len="med"/>
                    </a:lnL>
                    <a:lnR w="6350" cap="flat" cmpd="sng" algn="ctr">
                      <a:solidFill>
                        <a:schemeClr val="bg1">
                          <a:lumMod val="65000"/>
                        </a:schemeClr>
                      </a:solid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rgbClr val="A6DCF4"/>
                      </a:solidFill>
                      <a:prstDash val="solid"/>
                      <a:round/>
                      <a:headEnd type="none" w="med" len="med"/>
                      <a:tailEnd type="none" w="med" len="med"/>
                    </a:lnB>
                    <a:solidFill>
                      <a:srgbClr val="2A6080"/>
                    </a:solidFill>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600" b="0" dirty="0">
                          <a:solidFill>
                            <a:schemeClr val="bg1"/>
                          </a:solidFill>
                        </a:rPr>
                        <a:t>T2</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sz="1050" b="0" i="0" kern="1200" dirty="0">
                          <a:solidFill>
                            <a:schemeClr val="bg1"/>
                          </a:solidFill>
                          <a:effectLst/>
                          <a:latin typeface="+mn-lt"/>
                          <a:ea typeface="+mn-ea"/>
                          <a:cs typeface="+mn-cs"/>
                        </a:rPr>
                        <a:t>(</a:t>
                      </a:r>
                      <a:r>
                        <a:rPr lang="pl-PL" sz="1050" b="0" i="0" kern="1200" dirty="0">
                          <a:solidFill>
                            <a:schemeClr val="bg1"/>
                          </a:solidFill>
                          <a:effectLst/>
                          <a:latin typeface="+mn-lt"/>
                          <a:ea typeface="+mn-ea"/>
                          <a:cs typeface="+mn-cs"/>
                        </a:rPr>
                        <a:t>5 → 12 → 5 rad/s</a:t>
                      </a:r>
                      <a:r>
                        <a:rPr lang="en-US" sz="1050" b="0" i="0" kern="1200" dirty="0">
                          <a:solidFill>
                            <a:schemeClr val="bg1"/>
                          </a:solidFill>
                          <a:effectLst/>
                          <a:latin typeface="+mn-lt"/>
                          <a:ea typeface="+mn-ea"/>
                          <a:cs typeface="+mn-cs"/>
                        </a:rPr>
                        <a:t> |</a:t>
                      </a:r>
                      <a:r>
                        <a:rPr lang="pl-PL" sz="1050" b="0" i="0" kern="1200" dirty="0">
                          <a:solidFill>
                            <a:schemeClr val="bg1"/>
                          </a:solidFill>
                          <a:effectLst/>
                          <a:latin typeface="+mn-lt"/>
                          <a:ea typeface="+mn-ea"/>
                          <a:cs typeface="+mn-cs"/>
                        </a:rPr>
                        <a:t> 6 s</a:t>
                      </a:r>
                      <a:r>
                        <a:rPr lang="en-US" sz="1050" b="0" i="0" kern="1200" dirty="0">
                          <a:solidFill>
                            <a:schemeClr val="bg1"/>
                          </a:solidFill>
                          <a:effectLst/>
                          <a:latin typeface="+mn-lt"/>
                          <a:ea typeface="+mn-ea"/>
                          <a:cs typeface="+mn-cs"/>
                        </a:rPr>
                        <a:t>)</a:t>
                      </a:r>
                      <a:endParaRPr lang="th-TH" sz="1050" b="0" dirty="0">
                        <a:solidFill>
                          <a:schemeClr val="bg1"/>
                        </a:solidFill>
                        <a:latin typeface="+mj-lt"/>
                      </a:endParaRPr>
                    </a:p>
                  </a:txBody>
                  <a:tcPr anchor="ctr">
                    <a:lnL w="6350" cap="flat" cmpd="sng" algn="ctr">
                      <a:solidFill>
                        <a:schemeClr val="bg1">
                          <a:lumMod val="65000"/>
                        </a:schemeClr>
                      </a:solidFill>
                      <a:prstDash val="solid"/>
                      <a:round/>
                      <a:headEnd type="none" w="med" len="med"/>
                      <a:tailEnd type="none" w="med" len="med"/>
                    </a:lnL>
                    <a:lnR w="6350" cap="flat" cmpd="sng" algn="ctr">
                      <a:solidFill>
                        <a:schemeClr val="bg1">
                          <a:lumMod val="65000"/>
                        </a:schemeClr>
                      </a:solid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rgbClr val="A6DCF4"/>
                      </a:solidFill>
                      <a:prstDash val="solid"/>
                      <a:round/>
                      <a:headEnd type="none" w="med" len="med"/>
                      <a:tailEnd type="none" w="med" len="med"/>
                    </a:lnB>
                    <a:solidFill>
                      <a:srgbClr val="2A6080"/>
                    </a:solidFill>
                  </a:tcPr>
                </a:tc>
                <a:extLst>
                  <a:ext uri="{0D108BD9-81ED-4DB2-BD59-A6C34878D82A}">
                    <a16:rowId xmlns:a16="http://schemas.microsoft.com/office/drawing/2014/main" val="2059586777"/>
                  </a:ext>
                </a:extLst>
              </a:tr>
              <a:tr h="208102">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400" b="1">
                          <a:solidFill>
                            <a:srgbClr val="1D3557"/>
                          </a:solidFill>
                        </a:rPr>
                        <a:t>PI+FF Controller</a:t>
                      </a:r>
                      <a:endParaRPr lang="en-US" sz="1400" b="1" dirty="0">
                        <a:solidFill>
                          <a:srgbClr val="1D3557"/>
                        </a:solidFill>
                        <a:latin typeface="+mj-lt"/>
                      </a:endParaRPr>
                    </a:p>
                  </a:txBody>
                  <a:tcPr anchor="ctr">
                    <a:lnL w="6350" cap="flat" cmpd="sng" algn="ctr">
                      <a:solidFill>
                        <a:srgbClr val="A6DCF4"/>
                      </a:solidFill>
                      <a:prstDash val="solid"/>
                      <a:round/>
                      <a:headEnd type="none" w="med" len="med"/>
                      <a:tailEnd type="none" w="med" len="med"/>
                    </a:lnL>
                    <a:lnR w="6350" cap="flat" cmpd="sng" algn="ctr">
                      <a:solidFill>
                        <a:srgbClr val="A6DCF4"/>
                      </a:solidFill>
                      <a:prstDash val="solid"/>
                      <a:round/>
                      <a:headEnd type="none" w="med" len="med"/>
                      <a:tailEnd type="none" w="med" len="med"/>
                    </a:lnR>
                    <a:lnT w="6350" cap="flat" cmpd="sng" algn="ctr">
                      <a:solidFill>
                        <a:srgbClr val="A6DCF4"/>
                      </a:solidFill>
                      <a:prstDash val="solid"/>
                      <a:round/>
                      <a:headEnd type="none" w="med" len="med"/>
                      <a:tailEnd type="none" w="med" len="med"/>
                    </a:lnT>
                    <a:lnB w="6350" cap="flat" cmpd="sng" algn="ctr">
                      <a:solidFill>
                        <a:srgbClr val="A6DCF4"/>
                      </a:solidFill>
                      <a:prstDash val="solid"/>
                      <a:round/>
                      <a:headEnd type="none" w="med" len="med"/>
                      <a:tailEnd type="none" w="med" len="med"/>
                    </a:lnB>
                    <a:solidFill>
                      <a:srgbClr val="DDF2FB"/>
                    </a:solidFill>
                  </a:tcPr>
                </a:tc>
                <a:tc>
                  <a:txBody>
                    <a:bodyPr/>
                    <a:lstStyle/>
                    <a:p>
                      <a:pPr algn="ctr"/>
                      <a:r>
                        <a:rPr lang="en-US" sz="1400" b="1" dirty="0"/>
                        <a:t>0.0165</a:t>
                      </a:r>
                      <a:endParaRPr lang="th-TH" sz="1400" b="1" dirty="0">
                        <a:latin typeface="+mj-lt"/>
                      </a:endParaRPr>
                    </a:p>
                  </a:txBody>
                  <a:tcPr anchor="ctr">
                    <a:lnL w="6350" cap="flat" cmpd="sng" algn="ctr">
                      <a:solidFill>
                        <a:srgbClr val="A6DCF4"/>
                      </a:solidFill>
                      <a:prstDash val="solid"/>
                      <a:round/>
                      <a:headEnd type="none" w="med" len="med"/>
                      <a:tailEnd type="none" w="med" len="med"/>
                    </a:lnL>
                    <a:lnR w="6350" cap="flat" cmpd="sng" algn="ctr">
                      <a:solidFill>
                        <a:srgbClr val="A6DCF4"/>
                      </a:solidFill>
                      <a:prstDash val="solid"/>
                      <a:round/>
                      <a:headEnd type="none" w="med" len="med"/>
                      <a:tailEnd type="none" w="med" len="med"/>
                    </a:lnR>
                    <a:lnT w="6350" cap="flat" cmpd="sng" algn="ctr">
                      <a:solidFill>
                        <a:srgbClr val="A6DCF4"/>
                      </a:solidFill>
                      <a:prstDash val="solid"/>
                      <a:round/>
                      <a:headEnd type="none" w="med" len="med"/>
                      <a:tailEnd type="none" w="med" len="med"/>
                    </a:lnT>
                    <a:lnB w="6350" cap="flat" cmpd="sng" algn="ctr">
                      <a:solidFill>
                        <a:srgbClr val="A6DCF4"/>
                      </a:solidFill>
                      <a:prstDash val="solid"/>
                      <a:round/>
                      <a:headEnd type="none" w="med" len="med"/>
                      <a:tailEnd type="none" w="med" len="med"/>
                    </a:lnB>
                    <a:solidFill>
                      <a:srgbClr val="DDF2FB"/>
                    </a:solidFill>
                  </a:tcPr>
                </a:tc>
                <a:tc>
                  <a:txBody>
                    <a:bodyPr/>
                    <a:lstStyle/>
                    <a:p>
                      <a:pPr algn="ctr"/>
                      <a:r>
                        <a:rPr lang="en-US" sz="1400" b="1" dirty="0"/>
                        <a:t>0.1066</a:t>
                      </a:r>
                      <a:endParaRPr lang="th-TH" sz="1400" b="1" dirty="0">
                        <a:latin typeface="+mj-lt"/>
                      </a:endParaRPr>
                    </a:p>
                  </a:txBody>
                  <a:tcPr anchor="ctr">
                    <a:lnL w="6350" cap="flat" cmpd="sng" algn="ctr">
                      <a:solidFill>
                        <a:srgbClr val="A6DCF4"/>
                      </a:solidFill>
                      <a:prstDash val="solid"/>
                      <a:round/>
                      <a:headEnd type="none" w="med" len="med"/>
                      <a:tailEnd type="none" w="med" len="med"/>
                    </a:lnL>
                    <a:lnR w="6350" cap="flat" cmpd="sng" algn="ctr">
                      <a:solidFill>
                        <a:srgbClr val="A6DCF4"/>
                      </a:solidFill>
                      <a:prstDash val="solid"/>
                      <a:round/>
                      <a:headEnd type="none" w="med" len="med"/>
                      <a:tailEnd type="none" w="med" len="med"/>
                    </a:lnR>
                    <a:lnT w="6350" cap="flat" cmpd="sng" algn="ctr">
                      <a:solidFill>
                        <a:srgbClr val="A6DCF4"/>
                      </a:solidFill>
                      <a:prstDash val="solid"/>
                      <a:round/>
                      <a:headEnd type="none" w="med" len="med"/>
                      <a:tailEnd type="none" w="med" len="med"/>
                    </a:lnT>
                    <a:lnB w="6350" cap="flat" cmpd="sng" algn="ctr">
                      <a:solidFill>
                        <a:srgbClr val="A6DCF4"/>
                      </a:solidFill>
                      <a:prstDash val="solid"/>
                      <a:round/>
                      <a:headEnd type="none" w="med" len="med"/>
                      <a:tailEnd type="none" w="med" len="med"/>
                    </a:lnB>
                    <a:solidFill>
                      <a:srgbClr val="DDF2FB"/>
                    </a:solidFill>
                  </a:tcPr>
                </a:tc>
                <a:extLst>
                  <a:ext uri="{0D108BD9-81ED-4DB2-BD59-A6C34878D82A}">
                    <a16:rowId xmlns:a16="http://schemas.microsoft.com/office/drawing/2014/main" val="3836002673"/>
                  </a:ext>
                </a:extLst>
              </a:tr>
              <a:tr h="0">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400" b="1" dirty="0">
                          <a:solidFill>
                            <a:srgbClr val="1D3557"/>
                          </a:solidFill>
                        </a:rPr>
                        <a:t>SAC-RL</a:t>
                      </a:r>
                      <a:r>
                        <a:rPr lang="en-US" sz="1400" b="1" dirty="0">
                          <a:solidFill>
                            <a:srgbClr val="1D3557"/>
                          </a:solidFill>
                        </a:rPr>
                        <a:t> Controller</a:t>
                      </a:r>
                      <a:endParaRPr lang="th-TH" sz="1400" b="1" dirty="0">
                        <a:solidFill>
                          <a:srgbClr val="1D3557"/>
                        </a:solidFill>
                      </a:endParaRPr>
                    </a:p>
                  </a:txBody>
                  <a:tcPr anchor="ctr">
                    <a:lnL w="6350" cap="flat" cmpd="sng" algn="ctr">
                      <a:solidFill>
                        <a:srgbClr val="A6DCF4"/>
                      </a:solidFill>
                      <a:prstDash val="solid"/>
                      <a:round/>
                      <a:headEnd type="none" w="med" len="med"/>
                      <a:tailEnd type="none" w="med" len="med"/>
                    </a:lnL>
                    <a:lnR w="6350" cap="flat" cmpd="sng" algn="ctr">
                      <a:solidFill>
                        <a:srgbClr val="A6DCF4"/>
                      </a:solidFill>
                      <a:prstDash val="solid"/>
                      <a:round/>
                      <a:headEnd type="none" w="med" len="med"/>
                      <a:tailEnd type="none" w="med" len="med"/>
                    </a:lnR>
                    <a:lnT w="6350" cap="flat" cmpd="sng" algn="ctr">
                      <a:solidFill>
                        <a:srgbClr val="A6DCF4"/>
                      </a:solidFill>
                      <a:prstDash val="solid"/>
                      <a:round/>
                      <a:headEnd type="none" w="med" len="med"/>
                      <a:tailEnd type="none" w="med" len="med"/>
                    </a:lnT>
                    <a:lnB w="6350" cap="flat" cmpd="sng" algn="ctr">
                      <a:solidFill>
                        <a:srgbClr val="A6DCF4"/>
                      </a:solidFill>
                      <a:prstDash val="solid"/>
                      <a:round/>
                      <a:headEnd type="none" w="med" len="med"/>
                      <a:tailEnd type="none" w="med" len="med"/>
                    </a:lnB>
                    <a:solidFill>
                      <a:srgbClr val="C8E9F8"/>
                    </a:solidFill>
                  </a:tcPr>
                </a:tc>
                <a:tc>
                  <a:txBody>
                    <a:bodyPr/>
                    <a:lstStyle/>
                    <a:p>
                      <a:pPr algn="ctr"/>
                      <a:r>
                        <a:rPr lang="en-US" sz="1400" b="1" dirty="0"/>
                        <a:t>0.3284</a:t>
                      </a:r>
                      <a:endParaRPr lang="th-TH" sz="1400" b="1" dirty="0">
                        <a:latin typeface="+mj-lt"/>
                      </a:endParaRPr>
                    </a:p>
                  </a:txBody>
                  <a:tcPr anchor="ctr">
                    <a:lnL w="6350" cap="flat" cmpd="sng" algn="ctr">
                      <a:solidFill>
                        <a:srgbClr val="A6DCF4"/>
                      </a:solidFill>
                      <a:prstDash val="solid"/>
                      <a:round/>
                      <a:headEnd type="none" w="med" len="med"/>
                      <a:tailEnd type="none" w="med" len="med"/>
                    </a:lnL>
                    <a:lnR w="6350" cap="flat" cmpd="sng" algn="ctr">
                      <a:solidFill>
                        <a:srgbClr val="A6DCF4"/>
                      </a:solidFill>
                      <a:prstDash val="solid"/>
                      <a:round/>
                      <a:headEnd type="none" w="med" len="med"/>
                      <a:tailEnd type="none" w="med" len="med"/>
                    </a:lnR>
                    <a:lnT w="6350" cap="flat" cmpd="sng" algn="ctr">
                      <a:solidFill>
                        <a:srgbClr val="A6DCF4"/>
                      </a:solidFill>
                      <a:prstDash val="solid"/>
                      <a:round/>
                      <a:headEnd type="none" w="med" len="med"/>
                      <a:tailEnd type="none" w="med" len="med"/>
                    </a:lnT>
                    <a:lnB w="6350" cap="flat" cmpd="sng" algn="ctr">
                      <a:solidFill>
                        <a:srgbClr val="A6DCF4"/>
                      </a:solidFill>
                      <a:prstDash val="solid"/>
                      <a:round/>
                      <a:headEnd type="none" w="med" len="med"/>
                      <a:tailEnd type="none" w="med" len="med"/>
                    </a:lnB>
                    <a:solidFill>
                      <a:srgbClr val="C8E9F8"/>
                    </a:solidFill>
                  </a:tcPr>
                </a:tc>
                <a:tc>
                  <a:txBody>
                    <a:bodyPr/>
                    <a:lstStyle/>
                    <a:p>
                      <a:pPr algn="ctr"/>
                      <a:r>
                        <a:rPr lang="en-US" sz="1400" b="1" dirty="0"/>
                        <a:t>0.3750</a:t>
                      </a:r>
                      <a:endParaRPr lang="th-TH" sz="1400" b="1" dirty="0">
                        <a:latin typeface="+mj-lt"/>
                      </a:endParaRPr>
                    </a:p>
                  </a:txBody>
                  <a:tcPr anchor="ctr">
                    <a:lnL w="6350" cap="flat" cmpd="sng" algn="ctr">
                      <a:solidFill>
                        <a:srgbClr val="A6DCF4"/>
                      </a:solidFill>
                      <a:prstDash val="solid"/>
                      <a:round/>
                      <a:headEnd type="none" w="med" len="med"/>
                      <a:tailEnd type="none" w="med" len="med"/>
                    </a:lnL>
                    <a:lnR w="6350" cap="flat" cmpd="sng" algn="ctr">
                      <a:solidFill>
                        <a:srgbClr val="A6DCF4"/>
                      </a:solidFill>
                      <a:prstDash val="solid"/>
                      <a:round/>
                      <a:headEnd type="none" w="med" len="med"/>
                      <a:tailEnd type="none" w="med" len="med"/>
                    </a:lnR>
                    <a:lnT w="6350" cap="flat" cmpd="sng" algn="ctr">
                      <a:solidFill>
                        <a:srgbClr val="A6DCF4"/>
                      </a:solidFill>
                      <a:prstDash val="solid"/>
                      <a:round/>
                      <a:headEnd type="none" w="med" len="med"/>
                      <a:tailEnd type="none" w="med" len="med"/>
                    </a:lnT>
                    <a:lnB w="6350" cap="flat" cmpd="sng" algn="ctr">
                      <a:solidFill>
                        <a:srgbClr val="A6DCF4"/>
                      </a:solidFill>
                      <a:prstDash val="solid"/>
                      <a:round/>
                      <a:headEnd type="none" w="med" len="med"/>
                      <a:tailEnd type="none" w="med" len="med"/>
                    </a:lnB>
                    <a:solidFill>
                      <a:srgbClr val="C8E9F8"/>
                    </a:solidFill>
                  </a:tcPr>
                </a:tc>
                <a:extLst>
                  <a:ext uri="{0D108BD9-81ED-4DB2-BD59-A6C34878D82A}">
                    <a16:rowId xmlns:a16="http://schemas.microsoft.com/office/drawing/2014/main" val="3175069898"/>
                  </a:ext>
                </a:extLst>
              </a:tr>
            </a:tbl>
          </a:graphicData>
        </a:graphic>
      </p:graphicFrame>
      <p:sp>
        <p:nvSpPr>
          <p:cNvPr id="24" name="Card 40">
            <a:extLst>
              <a:ext uri="{FF2B5EF4-FFF2-40B4-BE49-F238E27FC236}">
                <a16:creationId xmlns:a16="http://schemas.microsoft.com/office/drawing/2014/main" id="{57944D67-3E1C-49EA-9BCC-494BFA4E2ACD}"/>
              </a:ext>
            </a:extLst>
          </p:cNvPr>
          <p:cNvSpPr txBox="1"/>
          <p:nvPr/>
        </p:nvSpPr>
        <p:spPr>
          <a:xfrm>
            <a:off x="734772" y="4697879"/>
            <a:ext cx="4486307" cy="1200001"/>
          </a:xfrm>
          <a:prstGeom prst="roundRect">
            <a:avLst>
              <a:gd name="adj" fmla="val 4000"/>
            </a:avLst>
          </a:prstGeom>
          <a:solidFill>
            <a:srgbClr val="F4F1E9"/>
          </a:solidFill>
          <a:ln w="12700">
            <a:solidFill>
              <a:srgbClr val="D9D2C4"/>
            </a:solidFill>
          </a:ln>
        </p:spPr>
        <p:txBody>
          <a:bodyPr wrap="square" lIns="80000" tIns="60000" rIns="60000" bIns="60000" anchor="ctr"/>
          <a:lstStyle/>
          <a:p>
            <a:pPr>
              <a:lnSpc>
                <a:spcPct val="120000"/>
              </a:lnSpc>
              <a:spcBef>
                <a:spcPts val="200"/>
              </a:spcBef>
              <a:spcAft>
                <a:spcPts val="100"/>
              </a:spcAft>
            </a:pPr>
            <a:endParaRPr sz="1200" b="0" dirty="0">
              <a:solidFill>
                <a:srgbClr val="4A5A66"/>
              </a:solidFill>
              <a:latin typeface="Calibri"/>
            </a:endParaRPr>
          </a:p>
        </p:txBody>
      </p:sp>
      <p:sp>
        <p:nvSpPr>
          <p:cNvPr id="21" name="TextBox 20">
            <a:extLst>
              <a:ext uri="{FF2B5EF4-FFF2-40B4-BE49-F238E27FC236}">
                <a16:creationId xmlns:a16="http://schemas.microsoft.com/office/drawing/2014/main" id="{F1443325-EF84-4871-AA7E-4EF661BF527F}"/>
              </a:ext>
            </a:extLst>
          </p:cNvPr>
          <p:cNvSpPr txBox="1"/>
          <p:nvPr/>
        </p:nvSpPr>
        <p:spPr>
          <a:xfrm>
            <a:off x="772872" y="4820825"/>
            <a:ext cx="5116589" cy="954107"/>
          </a:xfrm>
          <a:prstGeom prst="rect">
            <a:avLst/>
          </a:prstGeom>
          <a:noFill/>
        </p:spPr>
        <p:txBody>
          <a:bodyPr wrap="square">
            <a:spAutoFit/>
          </a:bodyPr>
          <a:lstStyle/>
          <a:p>
            <a:pPr marL="285750" indent="-285750">
              <a:buFont typeface="Arial" panose="020B0604020202020204" pitchFamily="34" charset="0"/>
              <a:buChar char="•"/>
            </a:pPr>
            <a:r>
              <a:rPr lang="en-US" sz="1400" b="0" i="0" dirty="0">
                <a:solidFill>
                  <a:srgbClr val="353535"/>
                </a:solidFill>
                <a:effectLst/>
                <a:latin typeface="+mj-lt"/>
              </a:rPr>
              <a:t>Ramp tracking: SAC ≈ PI ✓</a:t>
            </a:r>
          </a:p>
          <a:p>
            <a:pPr marL="285750" indent="-285750">
              <a:buFont typeface="Arial" panose="020B0604020202020204" pitchFamily="34" charset="0"/>
              <a:buChar char="•"/>
            </a:pPr>
            <a:r>
              <a:rPr lang="en-US" sz="1400" b="0" i="0" dirty="0">
                <a:solidFill>
                  <a:srgbClr val="353535"/>
                </a:solidFill>
                <a:effectLst/>
                <a:latin typeface="+mj-lt"/>
              </a:rPr>
              <a:t>Steady-state: SAC oscillates, PI smooth ✗</a:t>
            </a:r>
          </a:p>
          <a:p>
            <a:pPr marL="285750" indent="-285750">
              <a:buFont typeface="Arial" panose="020B0604020202020204" pitchFamily="34" charset="0"/>
              <a:buChar char="•"/>
            </a:pPr>
            <a:r>
              <a:rPr lang="en-US" sz="1400" b="0" i="0" dirty="0">
                <a:solidFill>
                  <a:srgbClr val="353535"/>
                </a:solidFill>
                <a:effectLst/>
                <a:latin typeface="+mj-lt"/>
              </a:rPr>
              <a:t>Return-to-zero: partial failure (out of training range</a:t>
            </a:r>
          </a:p>
          <a:p>
            <a:pPr marL="285750" indent="-285750">
              <a:buFont typeface="Arial" panose="020B0604020202020204" pitchFamily="34" charset="0"/>
              <a:buChar char="•"/>
            </a:pPr>
            <a:r>
              <a:rPr lang="en-US" sz="1400" b="0" i="0" dirty="0">
                <a:solidFill>
                  <a:srgbClr val="353535"/>
                </a:solidFill>
                <a:effectLst/>
                <a:latin typeface="+mj-lt"/>
              </a:rPr>
              <a:t>RMSE gap: 0.33 vs 0.017 — mostly from flat-top chatter</a:t>
            </a:r>
            <a:endParaRPr lang="th-TH" sz="1400" dirty="0">
              <a:latin typeface="+mj-lt"/>
            </a:endParaRPr>
          </a:p>
        </p:txBody>
      </p:sp>
      <p:sp>
        <p:nvSpPr>
          <p:cNvPr id="22" name="Stripe 41">
            <a:extLst>
              <a:ext uri="{FF2B5EF4-FFF2-40B4-BE49-F238E27FC236}">
                <a16:creationId xmlns:a16="http://schemas.microsoft.com/office/drawing/2014/main" id="{D4C127D8-54FD-4A12-BD9A-E4251C5E9A79}"/>
              </a:ext>
            </a:extLst>
          </p:cNvPr>
          <p:cNvSpPr/>
          <p:nvPr/>
        </p:nvSpPr>
        <p:spPr>
          <a:xfrm>
            <a:off x="708103" y="4759350"/>
            <a:ext cx="45719" cy="1077055"/>
          </a:xfrm>
          <a:prstGeom prst="rect">
            <a:avLst/>
          </a:prstGeom>
          <a:solidFill>
            <a:schemeClr val="accent1">
              <a:lumMod val="75000"/>
            </a:schemeClr>
          </a:solidFill>
          <a:ln>
            <a:noFill/>
          </a:ln>
        </p:spPr>
        <p:txBody>
          <a:bodyPr rtlCol="0" anchor="ctr"/>
          <a:lstStyle/>
          <a:p>
            <a:pPr algn="ctr"/>
            <a:endParaRPr/>
          </a:p>
        </p:txBody>
      </p:sp>
      <p:sp>
        <p:nvSpPr>
          <p:cNvPr id="25" name="TextBox 24">
            <a:extLst>
              <a:ext uri="{FF2B5EF4-FFF2-40B4-BE49-F238E27FC236}">
                <a16:creationId xmlns:a16="http://schemas.microsoft.com/office/drawing/2014/main" id="{6E087B41-5944-471A-98F7-00A44C9AD481}"/>
              </a:ext>
            </a:extLst>
          </p:cNvPr>
          <p:cNvSpPr txBox="1"/>
          <p:nvPr/>
        </p:nvSpPr>
        <p:spPr>
          <a:xfrm>
            <a:off x="868680" y="548640"/>
            <a:ext cx="10607040" cy="169277"/>
          </a:xfrm>
          <a:prstGeom prst="rect">
            <a:avLst/>
          </a:prstGeom>
          <a:noFill/>
        </p:spPr>
        <p:txBody>
          <a:bodyPr wrap="square" lIns="0" tIns="0" rIns="0" bIns="0" anchor="t">
            <a:spAutoFit/>
          </a:bodyPr>
          <a:lstStyle/>
          <a:p>
            <a:pPr>
              <a:lnSpc>
                <a:spcPct val="100000"/>
              </a:lnSpc>
            </a:pPr>
            <a:r>
              <a:rPr lang="en-US" altLang="zh-CN" sz="1100" b="1" dirty="0">
                <a:solidFill>
                  <a:srgbClr val="E07A5F"/>
                </a:solidFill>
                <a:latin typeface="Consolas"/>
              </a:rPr>
              <a:t>C5</a:t>
            </a:r>
            <a:r>
              <a:rPr sz="1100" b="1" dirty="0">
                <a:solidFill>
                  <a:srgbClr val="E07A5F"/>
                </a:solidFill>
                <a:latin typeface="Consolas"/>
              </a:rPr>
              <a:t>  </a:t>
            </a:r>
            <a:r>
              <a:rPr lang="en-US" sz="1100" dirty="0">
                <a:solidFill>
                  <a:srgbClr val="2A9D8F"/>
                </a:solidFill>
                <a:latin typeface="Consolas"/>
              </a:rPr>
              <a:t>SAC-RL Controller Design</a:t>
            </a:r>
            <a:endParaRPr sz="1100" dirty="0">
              <a:solidFill>
                <a:srgbClr val="2A9D8F"/>
              </a:solidFill>
              <a:latin typeface="Consolas"/>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66928" y="502920"/>
            <a:ext cx="17780" cy="5852160"/>
          </a:xfrm>
          <a:prstGeom prst="rect">
            <a:avLst/>
          </a:prstGeom>
          <a:solidFill>
            <a:srgbClr val="D9D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66928" y="502920"/>
            <a:ext cx="30480" cy="56692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itle">
            <a:extLst>
              <a:ext uri="{FF2B5EF4-FFF2-40B4-BE49-F238E27FC236}">
                <a16:creationId xmlns:a16="http://schemas.microsoft.com/office/drawing/2014/main" id="{B3B9DA84-77D3-45B5-AEDE-16A870977989}"/>
              </a:ext>
            </a:extLst>
          </p:cNvPr>
          <p:cNvSpPr txBox="1"/>
          <p:nvPr/>
        </p:nvSpPr>
        <p:spPr>
          <a:xfrm>
            <a:off x="868680" y="960120"/>
            <a:ext cx="10607040" cy="439479"/>
          </a:xfrm>
          <a:prstGeom prst="rect">
            <a:avLst/>
          </a:prstGeom>
          <a:noFill/>
        </p:spPr>
        <p:txBody>
          <a:bodyPr wrap="square" lIns="0" tIns="0" rIns="0" bIns="0" anchor="t">
            <a:spAutoFit/>
          </a:bodyPr>
          <a:lstStyle/>
          <a:p>
            <a:pPr algn="l">
              <a:lnSpc>
                <a:spcPct val="102000"/>
              </a:lnSpc>
              <a:spcBef>
                <a:spcPts val="0"/>
              </a:spcBef>
              <a:spcAft>
                <a:spcPts val="0"/>
              </a:spcAft>
            </a:pPr>
            <a:r>
              <a:rPr sz="2800" b="1" dirty="0">
                <a:solidFill>
                  <a:srgbClr val="1D3557"/>
                </a:solidFill>
                <a:latin typeface="Georgia"/>
              </a:rPr>
              <a:t>Conclusion &amp; Future Work</a:t>
            </a:r>
            <a:r>
              <a:rPr lang="th-TH" sz="2800" b="1" dirty="0">
                <a:solidFill>
                  <a:srgbClr val="1D3557"/>
                </a:solidFill>
                <a:latin typeface="Georgia"/>
              </a:rPr>
              <a:t> </a:t>
            </a:r>
            <a:r>
              <a:rPr lang="en-US" sz="2800" b="1" dirty="0">
                <a:solidFill>
                  <a:srgbClr val="1D3557"/>
                </a:solidFill>
                <a:latin typeface="Georgia"/>
              </a:rPr>
              <a:t>of SAC-RL Controller Design</a:t>
            </a:r>
            <a:endParaRPr sz="2800" b="1" dirty="0">
              <a:solidFill>
                <a:srgbClr val="1D3557"/>
              </a:solidFill>
              <a:latin typeface="Georgia"/>
            </a:endParaRPr>
          </a:p>
        </p:txBody>
      </p:sp>
      <p:cxnSp>
        <p:nvCxnSpPr>
          <p:cNvPr id="14" name="Divider">
            <a:extLst>
              <a:ext uri="{FF2B5EF4-FFF2-40B4-BE49-F238E27FC236}">
                <a16:creationId xmlns:a16="http://schemas.microsoft.com/office/drawing/2014/main" id="{AAC9806A-BCE8-40B4-9D60-29F4FB3532BD}"/>
              </a:ext>
            </a:extLst>
          </p:cNvPr>
          <p:cNvCxnSpPr/>
          <p:nvPr/>
        </p:nvCxnSpPr>
        <p:spPr>
          <a:xfrm>
            <a:off x="6098053" y="1560000"/>
            <a:ext cx="1" cy="3850000"/>
          </a:xfrm>
          <a:prstGeom prst="line">
            <a:avLst/>
          </a:prstGeom>
          <a:ln w="18000" cap="flat">
            <a:solidFill>
              <a:srgbClr val="D9D2C4"/>
            </a:solidFill>
          </a:ln>
        </p:spPr>
      </p:cxnSp>
      <p:sp>
        <p:nvSpPr>
          <p:cNvPr id="15" name="ColTitle_L">
            <a:extLst>
              <a:ext uri="{FF2B5EF4-FFF2-40B4-BE49-F238E27FC236}">
                <a16:creationId xmlns:a16="http://schemas.microsoft.com/office/drawing/2014/main" id="{1E8E4881-4A30-4C74-B57C-9DBC5A85A5C9}"/>
              </a:ext>
            </a:extLst>
          </p:cNvPr>
          <p:cNvSpPr/>
          <p:nvPr/>
        </p:nvSpPr>
        <p:spPr>
          <a:xfrm>
            <a:off x="868680" y="1580000"/>
            <a:ext cx="5000000" cy="260000"/>
          </a:xfrm>
          <a:prstGeom prst="roundRect">
            <a:avLst>
              <a:gd name="adj" fmla="val 5000"/>
            </a:avLst>
          </a:prstGeom>
          <a:solidFill>
            <a:srgbClr val="2A9D8F"/>
          </a:solidFill>
          <a:ln>
            <a:noFill/>
          </a:ln>
        </p:spPr>
        <p:txBody>
          <a:bodyPr lIns="91440" tIns="0" rIns="91440" bIns="0" anchor="ctr"/>
          <a:lstStyle/>
          <a:p>
            <a:pPr algn="l"/>
            <a:r>
              <a:rPr b="1">
                <a:solidFill>
                  <a:srgbClr val="FFFFFF"/>
                </a:solidFill>
                <a:latin typeface="Calibri"/>
              </a:rPr>
              <a:t>Key Findings</a:t>
            </a:r>
          </a:p>
        </p:txBody>
      </p:sp>
      <p:sp>
        <p:nvSpPr>
          <p:cNvPr id="16" name="FindingsCard">
            <a:extLst>
              <a:ext uri="{FF2B5EF4-FFF2-40B4-BE49-F238E27FC236}">
                <a16:creationId xmlns:a16="http://schemas.microsoft.com/office/drawing/2014/main" id="{D9C154C1-8385-4641-ACA0-C158A6B3A8A8}"/>
              </a:ext>
            </a:extLst>
          </p:cNvPr>
          <p:cNvSpPr txBox="1"/>
          <p:nvPr/>
        </p:nvSpPr>
        <p:spPr>
          <a:xfrm>
            <a:off x="868680" y="1860000"/>
            <a:ext cx="5000000" cy="2490000"/>
          </a:xfrm>
          <a:prstGeom prst="roundRect">
            <a:avLst>
              <a:gd name="adj" fmla="val 5000"/>
            </a:avLst>
          </a:prstGeom>
          <a:solidFill>
            <a:srgbClr val="E8F8F7"/>
          </a:solidFill>
          <a:ln w="12700">
            <a:solidFill>
              <a:srgbClr val="2A9D8F"/>
            </a:solidFill>
          </a:ln>
        </p:spPr>
        <p:txBody>
          <a:bodyPr wrap="square" lIns="114300" tIns="114300" rIns="114300" bIns="91440" anchor="t"/>
          <a:lstStyle/>
          <a:p>
            <a:pPr algn="l">
              <a:lnSpc>
                <a:spcPct val="120000"/>
              </a:lnSpc>
              <a:spcBef>
                <a:spcPts val="0"/>
              </a:spcBef>
              <a:spcAft>
                <a:spcPts val="280"/>
              </a:spcAft>
            </a:pPr>
            <a:r>
              <a:rPr sz="1400" b="1" dirty="0">
                <a:solidFill>
                  <a:srgbClr val="2A9D8F"/>
                </a:solidFill>
                <a:latin typeface="Calibri"/>
              </a:rPr>
              <a:t>✓  </a:t>
            </a:r>
            <a:r>
              <a:rPr sz="1400" dirty="0">
                <a:solidFill>
                  <a:srgbClr val="1D3557"/>
                </a:solidFill>
                <a:latin typeface="Calibri"/>
              </a:rPr>
              <a:t>SAC tracks trajectory without model knowledge</a:t>
            </a:r>
          </a:p>
          <a:p>
            <a:pPr algn="l">
              <a:lnSpc>
                <a:spcPct val="120000"/>
              </a:lnSpc>
              <a:spcBef>
                <a:spcPts val="0"/>
              </a:spcBef>
              <a:spcAft>
                <a:spcPts val="280"/>
              </a:spcAft>
            </a:pPr>
            <a:r>
              <a:rPr sz="1400" b="1" dirty="0">
                <a:solidFill>
                  <a:srgbClr val="2A9D8F"/>
                </a:solidFill>
                <a:latin typeface="Calibri"/>
              </a:rPr>
              <a:t>✓  </a:t>
            </a:r>
            <a:r>
              <a:rPr sz="1400" dirty="0">
                <a:solidFill>
                  <a:srgbClr val="1D3557"/>
                </a:solidFill>
                <a:latin typeface="Calibri"/>
              </a:rPr>
              <a:t>PI+FF outperforms at steady-state — expected, uses exact physics</a:t>
            </a:r>
          </a:p>
          <a:p>
            <a:pPr algn="l">
              <a:lnSpc>
                <a:spcPct val="120000"/>
              </a:lnSpc>
              <a:spcBef>
                <a:spcPts val="0"/>
              </a:spcBef>
              <a:spcAft>
                <a:spcPts val="280"/>
              </a:spcAft>
            </a:pPr>
            <a:r>
              <a:rPr sz="1400" b="1" dirty="0">
                <a:solidFill>
                  <a:srgbClr val="2A9D8F"/>
                </a:solidFill>
                <a:latin typeface="Calibri"/>
              </a:rPr>
              <a:t>✓  </a:t>
            </a:r>
            <a:r>
              <a:rPr sz="1400" dirty="0">
                <a:solidFill>
                  <a:srgbClr val="1D3557"/>
                </a:solidFill>
                <a:latin typeface="Calibri"/>
              </a:rPr>
              <a:t>SAC </a:t>
            </a:r>
            <a:r>
              <a:rPr sz="1400" dirty="0" err="1">
                <a:solidFill>
                  <a:srgbClr val="1D3557"/>
                </a:solidFill>
                <a:latin typeface="Calibri"/>
              </a:rPr>
              <a:t>generalises</a:t>
            </a:r>
            <a:r>
              <a:rPr sz="1400" dirty="0">
                <a:solidFill>
                  <a:srgbClr val="1D3557"/>
                </a:solidFill>
                <a:latin typeface="Calibri"/>
              </a:rPr>
              <a:t> to unseen trapezoidal profile</a:t>
            </a:r>
          </a:p>
          <a:p>
            <a:pPr algn="l">
              <a:lnSpc>
                <a:spcPct val="120000"/>
              </a:lnSpc>
              <a:spcBef>
                <a:spcPts val="0"/>
              </a:spcBef>
              <a:spcAft>
                <a:spcPts val="280"/>
              </a:spcAft>
            </a:pPr>
            <a:r>
              <a:rPr sz="1400" b="1" dirty="0">
                <a:solidFill>
                  <a:srgbClr val="E07A5F"/>
                </a:solidFill>
                <a:latin typeface="Calibri"/>
              </a:rPr>
              <a:t>✗  </a:t>
            </a:r>
            <a:r>
              <a:rPr sz="1400" dirty="0">
                <a:solidFill>
                  <a:srgbClr val="4A5A66"/>
                </a:solidFill>
                <a:latin typeface="Calibri"/>
              </a:rPr>
              <a:t>Main limitation: steady-state oscillation (chatter)</a:t>
            </a:r>
          </a:p>
          <a:p>
            <a:pPr algn="l">
              <a:lnSpc>
                <a:spcPct val="120000"/>
              </a:lnSpc>
              <a:spcBef>
                <a:spcPts val="0"/>
              </a:spcBef>
              <a:spcAft>
                <a:spcPts val="0"/>
              </a:spcAft>
            </a:pPr>
            <a:r>
              <a:rPr sz="1400" b="1" dirty="0">
                <a:solidFill>
                  <a:srgbClr val="4A5A66"/>
                </a:solidFill>
                <a:latin typeface="Calibri"/>
              </a:rPr>
              <a:t>⇄  </a:t>
            </a:r>
            <a:r>
              <a:rPr sz="1400" dirty="0">
                <a:solidFill>
                  <a:srgbClr val="4A5A66"/>
                </a:solidFill>
                <a:latin typeface="Calibri"/>
              </a:rPr>
              <a:t>Trade-off: model precision vs model-free adaptability</a:t>
            </a:r>
          </a:p>
        </p:txBody>
      </p:sp>
      <p:sp>
        <p:nvSpPr>
          <p:cNvPr id="17" name="BadgeL">
            <a:extLst>
              <a:ext uri="{FF2B5EF4-FFF2-40B4-BE49-F238E27FC236}">
                <a16:creationId xmlns:a16="http://schemas.microsoft.com/office/drawing/2014/main" id="{BE527983-70FD-4DE8-A883-F581BD925CD4}"/>
              </a:ext>
            </a:extLst>
          </p:cNvPr>
          <p:cNvSpPr/>
          <p:nvPr/>
        </p:nvSpPr>
        <p:spPr>
          <a:xfrm>
            <a:off x="868680" y="4420000"/>
            <a:ext cx="5000000" cy="280000"/>
          </a:xfrm>
          <a:prstGeom prst="roundRect">
            <a:avLst>
              <a:gd name="adj" fmla="val 25000"/>
            </a:avLst>
          </a:prstGeom>
          <a:solidFill>
            <a:srgbClr val="E07A5F"/>
          </a:solidFill>
          <a:ln>
            <a:noFill/>
          </a:ln>
        </p:spPr>
        <p:txBody>
          <a:bodyPr lIns="91440" tIns="0" rIns="91440" bIns="0" anchor="ctr"/>
          <a:lstStyle/>
          <a:p>
            <a:pPr algn="ctr"/>
            <a:r>
              <a:rPr sz="1400" b="1" dirty="0">
                <a:solidFill>
                  <a:srgbClr val="FFFFFF"/>
                </a:solidFill>
                <a:latin typeface="Calibri"/>
              </a:rPr>
              <a:t>Model-free RL can replace manually-designed controllers</a:t>
            </a:r>
          </a:p>
        </p:txBody>
      </p:sp>
      <p:sp>
        <p:nvSpPr>
          <p:cNvPr id="18" name="TradeoffHdr">
            <a:extLst>
              <a:ext uri="{FF2B5EF4-FFF2-40B4-BE49-F238E27FC236}">
                <a16:creationId xmlns:a16="http://schemas.microsoft.com/office/drawing/2014/main" id="{5B0BB865-DBA1-485C-86C2-71DFEC03C593}"/>
              </a:ext>
            </a:extLst>
          </p:cNvPr>
          <p:cNvSpPr/>
          <p:nvPr/>
        </p:nvSpPr>
        <p:spPr>
          <a:xfrm>
            <a:off x="6350000" y="1580000"/>
            <a:ext cx="5450000" cy="260000"/>
          </a:xfrm>
          <a:prstGeom prst="roundRect">
            <a:avLst>
              <a:gd name="adj" fmla="val 5000"/>
            </a:avLst>
          </a:prstGeom>
          <a:solidFill>
            <a:srgbClr val="E07A5F"/>
          </a:solidFill>
          <a:ln>
            <a:noFill/>
          </a:ln>
        </p:spPr>
        <p:txBody>
          <a:bodyPr lIns="91440" tIns="0" rIns="91440" bIns="0" anchor="ctr"/>
          <a:lstStyle/>
          <a:p>
            <a:pPr algn="l"/>
            <a:r>
              <a:rPr sz="1400" b="1">
                <a:solidFill>
                  <a:srgbClr val="FFFFFF"/>
                </a:solidFill>
                <a:latin typeface="Calibri"/>
              </a:rPr>
              <a:t>Trade-off</a:t>
            </a:r>
          </a:p>
        </p:txBody>
      </p:sp>
      <p:sp>
        <p:nvSpPr>
          <p:cNvPr id="20" name="TradeoffCard">
            <a:extLst>
              <a:ext uri="{FF2B5EF4-FFF2-40B4-BE49-F238E27FC236}">
                <a16:creationId xmlns:a16="http://schemas.microsoft.com/office/drawing/2014/main" id="{1AD9E5B1-7C5F-4C12-BB3E-0571255823C2}"/>
              </a:ext>
            </a:extLst>
          </p:cNvPr>
          <p:cNvSpPr txBox="1"/>
          <p:nvPr/>
        </p:nvSpPr>
        <p:spPr>
          <a:xfrm>
            <a:off x="6350000" y="1860000"/>
            <a:ext cx="5450000" cy="1300000"/>
          </a:xfrm>
          <a:prstGeom prst="roundRect">
            <a:avLst>
              <a:gd name="adj" fmla="val 5000"/>
            </a:avLst>
          </a:prstGeom>
          <a:solidFill>
            <a:srgbClr val="F4F1E9"/>
          </a:solidFill>
          <a:ln w="12700">
            <a:solidFill>
              <a:srgbClr val="E07A5F"/>
            </a:solidFill>
          </a:ln>
        </p:spPr>
        <p:txBody>
          <a:bodyPr wrap="square" lIns="114300" tIns="91440" rIns="114300" bIns="91440" anchor="t"/>
          <a:lstStyle/>
          <a:p>
            <a:pPr algn="l">
              <a:lnSpc>
                <a:spcPct val="115000"/>
              </a:lnSpc>
              <a:spcBef>
                <a:spcPts val="0"/>
              </a:spcBef>
              <a:spcAft>
                <a:spcPts val="150"/>
              </a:spcAft>
            </a:pPr>
            <a:r>
              <a:rPr sz="1200" b="1" dirty="0">
                <a:solidFill>
                  <a:srgbClr val="1D3557"/>
                </a:solidFill>
                <a:latin typeface="Calibri"/>
              </a:rPr>
              <a:t>PI + Feedforward  </a:t>
            </a:r>
            <a:r>
              <a:rPr sz="1200" i="1" dirty="0">
                <a:solidFill>
                  <a:srgbClr val="4A5A66"/>
                </a:solidFill>
                <a:latin typeface="Calibri"/>
              </a:rPr>
              <a:t>— precise but model-dependent</a:t>
            </a:r>
          </a:p>
          <a:p>
            <a:pPr marL="228600" algn="l">
              <a:lnSpc>
                <a:spcPct val="115000"/>
              </a:lnSpc>
              <a:spcBef>
                <a:spcPts val="0"/>
              </a:spcBef>
              <a:spcAft>
                <a:spcPts val="200"/>
              </a:spcAft>
            </a:pPr>
            <a:r>
              <a:rPr sz="1200" dirty="0">
                <a:solidFill>
                  <a:srgbClr val="4A5A66"/>
                </a:solidFill>
                <a:latin typeface="Calibri"/>
              </a:rPr>
              <a:t>→ Needs exact motor model; brittle if system changes</a:t>
            </a:r>
          </a:p>
          <a:p>
            <a:pPr algn="l">
              <a:lnSpc>
                <a:spcPct val="115000"/>
              </a:lnSpc>
              <a:spcBef>
                <a:spcPts val="200"/>
              </a:spcBef>
              <a:spcAft>
                <a:spcPts val="150"/>
              </a:spcAft>
            </a:pPr>
            <a:r>
              <a:rPr sz="1200" b="1" dirty="0">
                <a:solidFill>
                  <a:srgbClr val="2A9D8F"/>
                </a:solidFill>
                <a:latin typeface="Calibri"/>
              </a:rPr>
              <a:t>SAC-RL  </a:t>
            </a:r>
            <a:r>
              <a:rPr sz="1200" i="1" dirty="0">
                <a:solidFill>
                  <a:srgbClr val="4A5A66"/>
                </a:solidFill>
                <a:latin typeface="Calibri"/>
              </a:rPr>
              <a:t>— adaptive, no model required</a:t>
            </a:r>
          </a:p>
          <a:p>
            <a:pPr marL="228600" algn="l">
              <a:lnSpc>
                <a:spcPct val="115000"/>
              </a:lnSpc>
              <a:spcBef>
                <a:spcPts val="0"/>
              </a:spcBef>
              <a:spcAft>
                <a:spcPts val="0"/>
              </a:spcAft>
            </a:pPr>
            <a:r>
              <a:rPr sz="1200" dirty="0">
                <a:solidFill>
                  <a:srgbClr val="4A5A66"/>
                </a:solidFill>
                <a:latin typeface="Calibri"/>
              </a:rPr>
              <a:t>→ Learns from reward; potential advantage under parameter drift</a:t>
            </a:r>
          </a:p>
        </p:txBody>
      </p:sp>
      <p:sp>
        <p:nvSpPr>
          <p:cNvPr id="23" name="FutureHdr">
            <a:extLst>
              <a:ext uri="{FF2B5EF4-FFF2-40B4-BE49-F238E27FC236}">
                <a16:creationId xmlns:a16="http://schemas.microsoft.com/office/drawing/2014/main" id="{551EE8B4-4D11-4B3E-BBD8-248B0DD8C06D}"/>
              </a:ext>
            </a:extLst>
          </p:cNvPr>
          <p:cNvSpPr/>
          <p:nvPr/>
        </p:nvSpPr>
        <p:spPr>
          <a:xfrm>
            <a:off x="6350000" y="3240000"/>
            <a:ext cx="5450000" cy="260000"/>
          </a:xfrm>
          <a:prstGeom prst="roundRect">
            <a:avLst>
              <a:gd name="adj" fmla="val 5000"/>
            </a:avLst>
          </a:prstGeom>
          <a:solidFill>
            <a:srgbClr val="1D3557"/>
          </a:solidFill>
          <a:ln>
            <a:noFill/>
          </a:ln>
        </p:spPr>
        <p:txBody>
          <a:bodyPr lIns="91440" tIns="0" rIns="91440" bIns="0" anchor="ctr"/>
          <a:lstStyle/>
          <a:p>
            <a:pPr algn="l"/>
            <a:r>
              <a:rPr sz="1400" b="1">
                <a:solidFill>
                  <a:srgbClr val="FFFFFF"/>
                </a:solidFill>
                <a:latin typeface="Calibri"/>
              </a:rPr>
              <a:t>Future Work</a:t>
            </a:r>
          </a:p>
        </p:txBody>
      </p:sp>
      <p:sp>
        <p:nvSpPr>
          <p:cNvPr id="25" name="FutureCard">
            <a:extLst>
              <a:ext uri="{FF2B5EF4-FFF2-40B4-BE49-F238E27FC236}">
                <a16:creationId xmlns:a16="http://schemas.microsoft.com/office/drawing/2014/main" id="{3EC92DDE-AECA-4F6B-B60F-1686EE476BC7}"/>
              </a:ext>
            </a:extLst>
          </p:cNvPr>
          <p:cNvSpPr txBox="1"/>
          <p:nvPr/>
        </p:nvSpPr>
        <p:spPr>
          <a:xfrm>
            <a:off x="6350000" y="3520000"/>
            <a:ext cx="5450000" cy="1100000"/>
          </a:xfrm>
          <a:prstGeom prst="roundRect">
            <a:avLst>
              <a:gd name="adj" fmla="val 5000"/>
            </a:avLst>
          </a:prstGeom>
          <a:solidFill>
            <a:srgbClr val="F4F1E9"/>
          </a:solidFill>
          <a:ln w="12700">
            <a:solidFill>
              <a:srgbClr val="1D3557"/>
            </a:solidFill>
          </a:ln>
        </p:spPr>
        <p:txBody>
          <a:bodyPr wrap="square" lIns="114300" tIns="114300" rIns="114300" bIns="91440" anchor="t"/>
          <a:lstStyle/>
          <a:p>
            <a:pPr algn="l">
              <a:lnSpc>
                <a:spcPct val="120000"/>
              </a:lnSpc>
              <a:spcBef>
                <a:spcPts val="0"/>
              </a:spcBef>
              <a:spcAft>
                <a:spcPts val="260"/>
              </a:spcAft>
            </a:pPr>
            <a:r>
              <a:rPr sz="1200" dirty="0">
                <a:solidFill>
                  <a:srgbClr val="1D3557"/>
                </a:solidFill>
                <a:latin typeface="Calibri"/>
              </a:rPr>
              <a:t>▶  Longer training (1M+ interaction steps)</a:t>
            </a:r>
          </a:p>
          <a:p>
            <a:pPr algn="l">
              <a:lnSpc>
                <a:spcPct val="120000"/>
              </a:lnSpc>
              <a:spcBef>
                <a:spcPts val="0"/>
              </a:spcBef>
              <a:spcAft>
                <a:spcPts val="260"/>
              </a:spcAft>
            </a:pPr>
            <a:r>
              <a:rPr sz="1200" dirty="0">
                <a:solidFill>
                  <a:srgbClr val="1D3557"/>
                </a:solidFill>
                <a:latin typeface="Calibri"/>
              </a:rPr>
              <a:t>▶  Real hardware deployment &amp; sim-to-real gap analysis</a:t>
            </a:r>
          </a:p>
          <a:p>
            <a:pPr algn="l">
              <a:lnSpc>
                <a:spcPct val="120000"/>
              </a:lnSpc>
              <a:spcBef>
                <a:spcPts val="0"/>
              </a:spcBef>
              <a:spcAft>
                <a:spcPts val="0"/>
              </a:spcAft>
            </a:pPr>
            <a:r>
              <a:rPr sz="1200" dirty="0">
                <a:solidFill>
                  <a:srgbClr val="1D3557"/>
                </a:solidFill>
                <a:latin typeface="Calibri"/>
              </a:rPr>
              <a:t>▶  Hybrid PI + SAC — model precision with RL adaptability</a:t>
            </a:r>
          </a:p>
        </p:txBody>
      </p:sp>
      <p:sp>
        <p:nvSpPr>
          <p:cNvPr id="26" name="BadgeR">
            <a:extLst>
              <a:ext uri="{FF2B5EF4-FFF2-40B4-BE49-F238E27FC236}">
                <a16:creationId xmlns:a16="http://schemas.microsoft.com/office/drawing/2014/main" id="{51FD0FD1-886B-4883-B27F-6009F309B1C7}"/>
              </a:ext>
            </a:extLst>
          </p:cNvPr>
          <p:cNvSpPr/>
          <p:nvPr/>
        </p:nvSpPr>
        <p:spPr>
          <a:xfrm>
            <a:off x="6350000" y="4690000"/>
            <a:ext cx="5450000" cy="280000"/>
          </a:xfrm>
          <a:prstGeom prst="roundRect">
            <a:avLst>
              <a:gd name="adj" fmla="val 25000"/>
            </a:avLst>
          </a:prstGeom>
          <a:solidFill>
            <a:srgbClr val="2A9D8F"/>
          </a:solidFill>
          <a:ln>
            <a:noFill/>
          </a:ln>
        </p:spPr>
        <p:txBody>
          <a:bodyPr lIns="91440" tIns="0" rIns="91440" bIns="0" anchor="ctr"/>
          <a:lstStyle/>
          <a:p>
            <a:pPr algn="ctr"/>
            <a:r>
              <a:rPr sz="1400" b="1" dirty="0">
                <a:solidFill>
                  <a:srgbClr val="FFFFFF"/>
                </a:solidFill>
                <a:latin typeface="Calibri"/>
              </a:rPr>
              <a:t>Next step: test on physical hardware</a:t>
            </a:r>
          </a:p>
        </p:txBody>
      </p:sp>
      <p:sp>
        <p:nvSpPr>
          <p:cNvPr id="27" name="InsightCard">
            <a:extLst>
              <a:ext uri="{FF2B5EF4-FFF2-40B4-BE49-F238E27FC236}">
                <a16:creationId xmlns:a16="http://schemas.microsoft.com/office/drawing/2014/main" id="{F48F4039-0296-45C0-A5CE-D8E0DE93CF27}"/>
              </a:ext>
            </a:extLst>
          </p:cNvPr>
          <p:cNvSpPr txBox="1"/>
          <p:nvPr/>
        </p:nvSpPr>
        <p:spPr>
          <a:xfrm>
            <a:off x="868680" y="5856120"/>
            <a:ext cx="10907040" cy="500000"/>
          </a:xfrm>
          <a:prstGeom prst="roundRect">
            <a:avLst>
              <a:gd name="adj" fmla="val 5000"/>
            </a:avLst>
          </a:prstGeom>
          <a:solidFill>
            <a:srgbClr val="1D3557"/>
          </a:solidFill>
          <a:ln>
            <a:noFill/>
          </a:ln>
        </p:spPr>
        <p:txBody>
          <a:bodyPr wrap="square" lIns="182880" tIns="91440" rIns="182880" bIns="91440" anchor="ctr"/>
          <a:lstStyle/>
          <a:p>
            <a:pPr algn="ctr"/>
            <a:r>
              <a:rPr sz="1150" i="1" dirty="0">
                <a:solidFill>
                  <a:srgbClr val="FFFFFF"/>
                </a:solidFill>
                <a:latin typeface="Georgia"/>
              </a:rPr>
              <a:t>“The agent discovered ramp-following through reward alone</a:t>
            </a:r>
            <a:r>
              <a:rPr lang="en-US" sz="1150" i="1" dirty="0">
                <a:solidFill>
                  <a:srgbClr val="FFFFFF"/>
                </a:solidFill>
                <a:latin typeface="Georgia"/>
              </a:rPr>
              <a:t>. N</a:t>
            </a:r>
            <a:r>
              <a:rPr sz="1150" i="1" dirty="0">
                <a:solidFill>
                  <a:srgbClr val="FFFFFF"/>
                </a:solidFill>
                <a:latin typeface="Georgia"/>
              </a:rPr>
              <a:t>o physics, no feedforward, no manual tuning.”</a:t>
            </a:r>
          </a:p>
        </p:txBody>
      </p:sp>
      <p:sp>
        <p:nvSpPr>
          <p:cNvPr id="28" name="TextBox 27">
            <a:extLst>
              <a:ext uri="{FF2B5EF4-FFF2-40B4-BE49-F238E27FC236}">
                <a16:creationId xmlns:a16="http://schemas.microsoft.com/office/drawing/2014/main" id="{EF18F1D1-1E11-472A-91B6-8D5027A06807}"/>
              </a:ext>
            </a:extLst>
          </p:cNvPr>
          <p:cNvSpPr txBox="1"/>
          <p:nvPr/>
        </p:nvSpPr>
        <p:spPr>
          <a:xfrm>
            <a:off x="868680" y="548640"/>
            <a:ext cx="10607040" cy="169277"/>
          </a:xfrm>
          <a:prstGeom prst="rect">
            <a:avLst/>
          </a:prstGeom>
          <a:noFill/>
        </p:spPr>
        <p:txBody>
          <a:bodyPr wrap="square" lIns="0" tIns="0" rIns="0" bIns="0" anchor="t">
            <a:spAutoFit/>
          </a:bodyPr>
          <a:lstStyle/>
          <a:p>
            <a:pPr>
              <a:lnSpc>
                <a:spcPct val="100000"/>
              </a:lnSpc>
            </a:pPr>
            <a:r>
              <a:rPr lang="en-US" altLang="zh-CN" sz="1100" b="1" dirty="0">
                <a:solidFill>
                  <a:srgbClr val="E07A5F"/>
                </a:solidFill>
                <a:latin typeface="Consolas"/>
              </a:rPr>
              <a:t>C6</a:t>
            </a:r>
            <a:r>
              <a:rPr lang="en-US" sz="1100" b="1" dirty="0">
                <a:solidFill>
                  <a:srgbClr val="E07A5F"/>
                </a:solidFill>
                <a:latin typeface="Consolas"/>
              </a:rPr>
              <a:t>  </a:t>
            </a:r>
            <a:r>
              <a:rPr lang="en-US" sz="1100" dirty="0">
                <a:solidFill>
                  <a:srgbClr val="2A9D8F"/>
                </a:solidFill>
                <a:latin typeface="Consolas"/>
              </a:rPr>
              <a:t>SAC-RL Controller Design</a:t>
            </a:r>
          </a:p>
        </p:txBody>
      </p:sp>
    </p:spTree>
    <p:extLst>
      <p:ext uri="{BB962C8B-B14F-4D97-AF65-F5344CB8AC3E}">
        <p14:creationId xmlns:p14="http://schemas.microsoft.com/office/powerpoint/2010/main" val="292912753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66928" y="502920"/>
            <a:ext cx="17780" cy="5852160"/>
          </a:xfrm>
          <a:prstGeom prst="rect">
            <a:avLst/>
          </a:prstGeom>
          <a:solidFill>
            <a:srgbClr val="D9D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66928" y="502920"/>
            <a:ext cx="30480" cy="56692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548640"/>
            <a:ext cx="10607040" cy="169277"/>
          </a:xfrm>
          <a:prstGeom prst="rect">
            <a:avLst/>
          </a:prstGeom>
          <a:noFill/>
        </p:spPr>
        <p:txBody>
          <a:bodyPr wrap="square" lIns="0" tIns="0" rIns="0" bIns="0" anchor="t">
            <a:spAutoFit/>
          </a:bodyPr>
          <a:lstStyle/>
          <a:p>
            <a:pPr>
              <a:lnSpc>
                <a:spcPct val="100000"/>
              </a:lnSpc>
            </a:pPr>
            <a:r>
              <a:rPr lang="en-US" sz="1100" b="1" dirty="0">
                <a:solidFill>
                  <a:srgbClr val="E07A5F"/>
                </a:solidFill>
                <a:latin typeface="Consolas"/>
              </a:rPr>
              <a:t>D1</a:t>
            </a:r>
            <a:r>
              <a:rPr lang="th-TH" sz="1100" b="1" dirty="0">
                <a:solidFill>
                  <a:srgbClr val="E07A5F"/>
                </a:solidFill>
                <a:latin typeface="Consolas"/>
              </a:rPr>
              <a:t>  </a:t>
            </a:r>
            <a:r>
              <a:rPr sz="1100" dirty="0">
                <a:solidFill>
                  <a:srgbClr val="2A9D8F"/>
                </a:solidFill>
                <a:latin typeface="Consolas"/>
              </a:rPr>
              <a:t>ML2 — SPEED FILTER: TASK &amp; DATA</a:t>
            </a:r>
          </a:p>
        </p:txBody>
      </p:sp>
      <p:sp>
        <p:nvSpPr>
          <p:cNvPr id="5" name="TextBox 4"/>
          <p:cNvSpPr txBox="1"/>
          <p:nvPr/>
        </p:nvSpPr>
        <p:spPr>
          <a:xfrm>
            <a:off x="868680" y="960120"/>
            <a:ext cx="10607040" cy="1280160"/>
          </a:xfrm>
          <a:prstGeom prst="rect">
            <a:avLst/>
          </a:prstGeom>
          <a:noFill/>
        </p:spPr>
        <p:txBody>
          <a:bodyPr wrap="square" lIns="0" tIns="0" rIns="0" bIns="0" anchor="t">
            <a:spAutoFit/>
          </a:bodyPr>
          <a:lstStyle/>
          <a:p>
            <a:pPr algn="l">
              <a:lnSpc>
                <a:spcPct val="102000"/>
              </a:lnSpc>
              <a:spcBef>
                <a:spcPts val="0"/>
              </a:spcBef>
              <a:spcAft>
                <a:spcPts val="600"/>
              </a:spcAft>
            </a:pPr>
            <a:r>
              <a:rPr sz="2800" b="1" dirty="0">
                <a:solidFill>
                  <a:srgbClr val="1D3557"/>
                </a:solidFill>
                <a:latin typeface="Georgia"/>
              </a:rPr>
              <a:t>Denoise the speed of a nonlinear plant.</a:t>
            </a:r>
          </a:p>
        </p:txBody>
      </p:sp>
      <p:sp>
        <p:nvSpPr>
          <p:cNvPr id="6" name="TextBox 5"/>
          <p:cNvSpPr txBox="1"/>
          <p:nvPr/>
        </p:nvSpPr>
        <p:spPr>
          <a:xfrm>
            <a:off x="868680" y="1828800"/>
            <a:ext cx="10607040" cy="658368"/>
          </a:xfrm>
          <a:prstGeom prst="rect">
            <a:avLst/>
          </a:prstGeom>
          <a:noFill/>
        </p:spPr>
        <p:txBody>
          <a:bodyPr wrap="square" lIns="0" tIns="0" rIns="0" bIns="0" anchor="t">
            <a:spAutoFit/>
          </a:bodyPr>
          <a:lstStyle/>
          <a:p>
            <a:pPr>
              <a:lnSpc>
                <a:spcPct val="120000"/>
              </a:lnSpc>
            </a:pPr>
            <a:r>
              <a:rPr sz="1500" b="0">
                <a:solidFill>
                  <a:srgbClr val="4A5A66"/>
                </a:solidFill>
                <a:latin typeface="Calibri"/>
              </a:rPr>
              <a:t>Recover the true motor speed from a noisy speed sensor and the known command voltage. The vertical rod adds a gravity torque </a:t>
            </a:r>
            <a:r>
              <a:rPr sz="1500" b="1">
                <a:solidFill>
                  <a:srgbClr val="1C2B36"/>
                </a:solidFill>
                <a:latin typeface="Calibri"/>
              </a:rPr>
              <a:t>∝ sin θ</a:t>
            </a:r>
            <a:r>
              <a:rPr sz="1500" b="0">
                <a:solidFill>
                  <a:srgbClr val="4A5A66"/>
                </a:solidFill>
                <a:latin typeface="Calibri"/>
              </a:rPr>
              <a:t>, making the mechanics </a:t>
            </a:r>
            <a:r>
              <a:rPr sz="1500" b="1">
                <a:solidFill>
                  <a:srgbClr val="1C2B36"/>
                </a:solidFill>
                <a:latin typeface="Calibri"/>
              </a:rPr>
              <a:t>nonlinear and state-dependent</a:t>
            </a:r>
            <a:r>
              <a:rPr sz="1500" b="0">
                <a:solidFill>
                  <a:srgbClr val="4A5A66"/>
                </a:solidFill>
                <a:latin typeface="Calibri"/>
              </a:rPr>
              <a:t> — the property a learned filter can exploit.</a:t>
            </a:r>
          </a:p>
        </p:txBody>
      </p:sp>
      <p:sp>
        <p:nvSpPr>
          <p:cNvPr id="10" name="TextBox 9"/>
          <p:cNvSpPr txBox="1"/>
          <p:nvPr/>
        </p:nvSpPr>
        <p:spPr>
          <a:xfrm>
            <a:off x="868680" y="3150325"/>
            <a:ext cx="10607040" cy="1426160"/>
          </a:xfrm>
          <a:prstGeom prst="rect">
            <a:avLst/>
          </a:prstGeom>
          <a:noFill/>
        </p:spPr>
        <p:txBody>
          <a:bodyPr wrap="square" lIns="0" tIns="0" rIns="0" bIns="0" anchor="t">
            <a:spAutoFit/>
          </a:bodyPr>
          <a:lstStyle/>
          <a:p>
            <a:pPr>
              <a:lnSpc>
                <a:spcPct val="110000"/>
              </a:lnSpc>
              <a:spcBef>
                <a:spcPts val="0"/>
              </a:spcBef>
              <a:spcAft>
                <a:spcPts val="0"/>
              </a:spcAft>
            </a:pPr>
            <a:r>
              <a:rPr sz="1500" b="1">
                <a:solidFill>
                  <a:srgbClr val="2A9D8F"/>
                </a:solidFill>
                <a:latin typeface="Calibri"/>
              </a:rPr>
              <a:t>—  </a:t>
            </a:r>
            <a:r>
              <a:rPr sz="1500" b="1">
                <a:solidFill>
                  <a:srgbClr val="1C2B36"/>
                </a:solidFill>
                <a:latin typeface="Calibri"/>
              </a:rPr>
              <a:t>210 trajectories</a:t>
            </a:r>
            <a:r>
              <a:rPr sz="1500" b="0">
                <a:solidFill>
                  <a:srgbClr val="4A5A66"/>
                </a:solidFill>
                <a:latin typeface="Calibri"/>
              </a:rPr>
              <a:t>, 6 s @ 1 </a:t>
            </a:r>
            <a:r>
              <a:rPr sz="1500" b="0" err="1">
                <a:solidFill>
                  <a:srgbClr val="4A5A66"/>
                </a:solidFill>
                <a:latin typeface="Calibri"/>
              </a:rPr>
              <a:t>ms</a:t>
            </a:r>
            <a:r>
              <a:rPr sz="1500" b="0">
                <a:solidFill>
                  <a:srgbClr val="4A5A66"/>
                </a:solidFill>
                <a:latin typeface="Calibri"/>
              </a:rPr>
              <a:t>, split </a:t>
            </a:r>
            <a:r>
              <a:rPr sz="1500" b="1">
                <a:solidFill>
                  <a:srgbClr val="1C2B36"/>
                </a:solidFill>
                <a:latin typeface="Calibri"/>
              </a:rPr>
              <a:t>70/15/15 by trajectory</a:t>
            </a:r>
            <a:r>
              <a:rPr sz="1500" b="0">
                <a:solidFill>
                  <a:srgbClr val="4A5A66"/>
                </a:solidFill>
                <a:latin typeface="Calibri"/>
              </a:rPr>
              <a:t> — no time-step leaks between train and test.</a:t>
            </a:r>
          </a:p>
          <a:p>
            <a:pPr>
              <a:lnSpc>
                <a:spcPct val="110000"/>
              </a:lnSpc>
              <a:spcBef>
                <a:spcPts val="1100"/>
              </a:spcBef>
            </a:pPr>
            <a:r>
              <a:rPr sz="1500" b="1">
                <a:solidFill>
                  <a:srgbClr val="1D3557"/>
                </a:solidFill>
                <a:latin typeface="Calibri"/>
              </a:rPr>
              <a:t>—  </a:t>
            </a:r>
            <a:r>
              <a:rPr sz="1500" b="0">
                <a:solidFill>
                  <a:srgbClr val="4A5A66"/>
                </a:solidFill>
                <a:latin typeface="Calibri"/>
              </a:rPr>
              <a:t>Excitation cycles </a:t>
            </a:r>
            <a:r>
              <a:rPr sz="1500" b="1">
                <a:solidFill>
                  <a:srgbClr val="1C2B36"/>
                </a:solidFill>
                <a:latin typeface="Calibri"/>
              </a:rPr>
              <a:t>step / ramp / random / mixed</a:t>
            </a:r>
            <a:r>
              <a:rPr sz="1500" b="0">
                <a:solidFill>
                  <a:srgbClr val="4A5A66"/>
                </a:solidFill>
                <a:latin typeface="Calibri"/>
              </a:rPr>
              <a:t> bipolar voltage</a:t>
            </a:r>
            <a:r>
              <a:rPr lang="fr-FR" sz="1500">
                <a:solidFill>
                  <a:srgbClr val="4A5A66"/>
                </a:solidFill>
                <a:latin typeface="Calibri"/>
              </a:rPr>
              <a:t>.</a:t>
            </a:r>
          </a:p>
          <a:p>
            <a:pPr>
              <a:lnSpc>
                <a:spcPct val="110000"/>
              </a:lnSpc>
              <a:spcBef>
                <a:spcPts val="1100"/>
              </a:spcBef>
              <a:spcAft>
                <a:spcPts val="0"/>
              </a:spcAft>
            </a:pPr>
            <a:r>
              <a:rPr lang="fr-FR" sz="1500" b="1">
                <a:solidFill>
                  <a:srgbClr val="E07A5F"/>
                </a:solidFill>
                <a:latin typeface="Calibri"/>
              </a:rPr>
              <a:t>—</a:t>
            </a:r>
            <a:r>
              <a:rPr sz="1500" b="1">
                <a:solidFill>
                  <a:srgbClr val="E07A5F"/>
                </a:solidFill>
                <a:latin typeface="Calibri"/>
              </a:rPr>
              <a:t>  </a:t>
            </a:r>
            <a:r>
              <a:rPr sz="1500" b="0">
                <a:solidFill>
                  <a:srgbClr val="4A5A66"/>
                </a:solidFill>
                <a:latin typeface="Calibri"/>
              </a:rPr>
              <a:t>Sensor noise std 2–4 rad/s on a 21 rad/s swing → </a:t>
            </a:r>
            <a:r>
              <a:rPr sz="1500" b="1">
                <a:solidFill>
                  <a:srgbClr val="1C2B36"/>
                </a:solidFill>
                <a:latin typeface="Calibri"/>
              </a:rPr>
              <a:t>SNR ≈ 7× (14% noise)</a:t>
            </a:r>
            <a:r>
              <a:rPr sz="1500" b="0">
                <a:solidFill>
                  <a:srgbClr val="4A5A66"/>
                </a:solidFill>
                <a:latin typeface="Calibri"/>
              </a:rPr>
              <a:t>.</a:t>
            </a:r>
            <a:endParaRPr/>
          </a:p>
          <a:p>
            <a:pPr>
              <a:lnSpc>
                <a:spcPct val="110000"/>
              </a:lnSpc>
              <a:spcBef>
                <a:spcPts val="1100"/>
              </a:spcBef>
              <a:spcAft>
                <a:spcPts val="0"/>
              </a:spcAft>
            </a:pPr>
            <a:r>
              <a:rPr sz="1500" b="1">
                <a:solidFill>
                  <a:srgbClr val="C99A2E"/>
                </a:solidFill>
                <a:latin typeface="Calibri"/>
              </a:rPr>
              <a:t>—  </a:t>
            </a:r>
            <a:r>
              <a:rPr sz="1500" b="0">
                <a:solidFill>
                  <a:srgbClr val="4A5A66"/>
                </a:solidFill>
                <a:latin typeface="Calibri"/>
              </a:rPr>
              <a:t>A </a:t>
            </a:r>
            <a:r>
              <a:rPr sz="1500" b="1">
                <a:solidFill>
                  <a:srgbClr val="1C2B36"/>
                </a:solidFill>
                <a:latin typeface="Calibri"/>
              </a:rPr>
              <a:t>chirp</a:t>
            </a:r>
            <a:r>
              <a:rPr sz="1500" b="0">
                <a:solidFill>
                  <a:srgbClr val="4A5A66"/>
                </a:solidFill>
                <a:latin typeface="Calibri"/>
              </a:rPr>
              <a:t> excitation is held out entirely for an out-of-distribution </a:t>
            </a:r>
            <a:r>
              <a:rPr sz="1500" b="0" err="1">
                <a:solidFill>
                  <a:srgbClr val="4A5A66"/>
                </a:solidFill>
                <a:latin typeface="Calibri"/>
              </a:rPr>
              <a:t>generalisation</a:t>
            </a:r>
            <a:r>
              <a:rPr sz="1500" b="0">
                <a:solidFill>
                  <a:srgbClr val="4A5A66"/>
                </a:solidFill>
                <a:latin typeface="Calibri"/>
              </a:rPr>
              <a:t> test.</a:t>
            </a:r>
            <a:endParaRPr sz="1500" b="0">
              <a:solidFill>
                <a:srgbClr val="4A5A66"/>
              </a:solidFill>
              <a:latin typeface="Calibri"/>
              <a:ea typeface="Calibri"/>
              <a:cs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66928" y="502920"/>
            <a:ext cx="17780" cy="5852160"/>
          </a:xfrm>
          <a:prstGeom prst="rect">
            <a:avLst/>
          </a:prstGeom>
          <a:solidFill>
            <a:srgbClr val="D9D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66928" y="502920"/>
            <a:ext cx="30480" cy="56692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548640"/>
            <a:ext cx="10607040" cy="169277"/>
          </a:xfrm>
          <a:prstGeom prst="rect">
            <a:avLst/>
          </a:prstGeom>
          <a:noFill/>
        </p:spPr>
        <p:txBody>
          <a:bodyPr wrap="square" lIns="0" tIns="0" rIns="0" bIns="0" anchor="t">
            <a:spAutoFit/>
          </a:bodyPr>
          <a:lstStyle/>
          <a:p>
            <a:pPr>
              <a:lnSpc>
                <a:spcPct val="100000"/>
              </a:lnSpc>
            </a:pPr>
            <a:r>
              <a:rPr lang="en-US" sz="1100" b="1" dirty="0">
                <a:solidFill>
                  <a:srgbClr val="E07A5F"/>
                </a:solidFill>
                <a:latin typeface="Consolas"/>
              </a:rPr>
              <a:t>D2 </a:t>
            </a:r>
            <a:r>
              <a:rPr sz="1100" dirty="0">
                <a:solidFill>
                  <a:srgbClr val="2A9D8F"/>
                </a:solidFill>
                <a:latin typeface="Consolas"/>
              </a:rPr>
              <a:t>ML2 — METHODS</a:t>
            </a:r>
          </a:p>
        </p:txBody>
      </p:sp>
      <p:sp>
        <p:nvSpPr>
          <p:cNvPr id="5" name="TextBox 4"/>
          <p:cNvSpPr txBox="1"/>
          <p:nvPr/>
        </p:nvSpPr>
        <p:spPr>
          <a:xfrm>
            <a:off x="868680" y="960120"/>
            <a:ext cx="10607040" cy="1280160"/>
          </a:xfrm>
          <a:prstGeom prst="rect">
            <a:avLst/>
          </a:prstGeom>
          <a:noFill/>
        </p:spPr>
        <p:txBody>
          <a:bodyPr wrap="square" lIns="0" tIns="0" rIns="0" bIns="0" anchor="t">
            <a:spAutoFit/>
          </a:bodyPr>
          <a:lstStyle/>
          <a:p>
            <a:pPr algn="l">
              <a:lnSpc>
                <a:spcPct val="102000"/>
              </a:lnSpc>
              <a:spcBef>
                <a:spcPts val="0"/>
              </a:spcBef>
              <a:spcAft>
                <a:spcPts val="600"/>
              </a:spcAft>
            </a:pPr>
            <a:r>
              <a:rPr sz="2800" b="1">
                <a:solidFill>
                  <a:srgbClr val="1D3557"/>
                </a:solidFill>
                <a:latin typeface="Georgia"/>
              </a:rPr>
              <a:t>Classical baselines vs learned filters.</a:t>
            </a:r>
          </a:p>
        </p:txBody>
      </p:sp>
      <p:sp>
        <p:nvSpPr>
          <p:cNvPr id="6" name="TextBox 5"/>
          <p:cNvSpPr txBox="1"/>
          <p:nvPr/>
        </p:nvSpPr>
        <p:spPr>
          <a:xfrm>
            <a:off x="868680" y="1828800"/>
            <a:ext cx="10607040" cy="603504"/>
          </a:xfrm>
          <a:prstGeom prst="rect">
            <a:avLst/>
          </a:prstGeom>
          <a:noFill/>
        </p:spPr>
        <p:txBody>
          <a:bodyPr wrap="square" lIns="0" tIns="0" rIns="0" bIns="0" anchor="t">
            <a:spAutoFit/>
          </a:bodyPr>
          <a:lstStyle/>
          <a:p>
            <a:pPr>
              <a:lnSpc>
                <a:spcPct val="120000"/>
              </a:lnSpc>
            </a:pPr>
            <a:r>
              <a:rPr sz="1500" b="0">
                <a:solidFill>
                  <a:srgbClr val="4A5A66"/>
                </a:solidFill>
                <a:latin typeface="Calibri"/>
              </a:rPr>
              <a:t>Baselines tuned on validation, evaluated on test: </a:t>
            </a:r>
            <a:r>
              <a:rPr sz="1500" b="1">
                <a:solidFill>
                  <a:srgbClr val="1C2B36"/>
                </a:solidFill>
                <a:latin typeface="Calibri"/>
              </a:rPr>
              <a:t>EMA</a:t>
            </a:r>
            <a:r>
              <a:rPr sz="1500" b="0">
                <a:solidFill>
                  <a:srgbClr val="4A5A66"/>
                </a:solidFill>
                <a:latin typeface="Calibri"/>
              </a:rPr>
              <a:t> (α tuned) and a steady-state </a:t>
            </a:r>
            <a:r>
              <a:rPr sz="1500" b="1">
                <a:solidFill>
                  <a:srgbClr val="1C2B36"/>
                </a:solidFill>
                <a:latin typeface="Calibri"/>
              </a:rPr>
              <a:t>Kalman</a:t>
            </a:r>
            <a:r>
              <a:rPr sz="1500" b="0">
                <a:solidFill>
                  <a:srgbClr val="4A5A66"/>
                </a:solidFill>
                <a:latin typeface="Calibri"/>
              </a:rPr>
              <a:t> filter on the nominal linear </a:t>
            </a:r>
            <a:r>
              <a:rPr sz="1380" b="0">
                <a:solidFill>
                  <a:srgbClr val="1D3557"/>
                </a:solidFill>
                <a:latin typeface="Consolas"/>
              </a:rPr>
              <a:t>[i, ω]</a:t>
            </a:r>
            <a:r>
              <a:rPr sz="1500" b="0">
                <a:solidFill>
                  <a:srgbClr val="4A5A66"/>
                </a:solidFill>
                <a:latin typeface="Calibri"/>
              </a:rPr>
              <a:t> model — whose model </a:t>
            </a:r>
            <a:r>
              <a:rPr sz="1500" b="1">
                <a:solidFill>
                  <a:srgbClr val="1C2B36"/>
                </a:solidFill>
                <a:latin typeface="Calibri"/>
              </a:rPr>
              <a:t>omits the gravity term</a:t>
            </a:r>
            <a:r>
              <a:rPr sz="1500" b="0">
                <a:solidFill>
                  <a:srgbClr val="4A5A66"/>
                </a:solidFill>
                <a:latin typeface="Calibri"/>
              </a:rPr>
              <a:t>. Three learned filters share the same causal </a:t>
            </a:r>
            <a:r>
              <a:rPr sz="1500" b="1">
                <a:solidFill>
                  <a:srgbClr val="1C2B36"/>
                </a:solidFill>
                <a:latin typeface="Calibri"/>
              </a:rPr>
              <a:t>64 ms</a:t>
            </a:r>
            <a:r>
              <a:rPr sz="1500" b="0">
                <a:solidFill>
                  <a:srgbClr val="4A5A66"/>
                </a:solidFill>
                <a:latin typeface="Calibri"/>
              </a:rPr>
              <a:t> window over [omega_noisy, voltage].</a:t>
            </a:r>
          </a:p>
        </p:txBody>
      </p:sp>
      <p:sp>
        <p:nvSpPr>
          <p:cNvPr id="7" name="Rounded Rectangle 6"/>
          <p:cNvSpPr/>
          <p:nvPr/>
        </p:nvSpPr>
        <p:spPr>
          <a:xfrm>
            <a:off x="868680" y="2697480"/>
            <a:ext cx="3383280" cy="1874519"/>
          </a:xfrm>
          <a:prstGeom prst="roundRect">
            <a:avLst>
              <a:gd name="adj" fmla="val 6000"/>
            </a:avLst>
          </a:prstGeom>
          <a:solidFill>
            <a:srgbClr val="FFFFFF"/>
          </a:solidFill>
          <a:ln w="12700">
            <a:solidFill>
              <a:srgbClr val="D9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868680" y="2697480"/>
            <a:ext cx="38100" cy="1874519"/>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69848" y="2862072"/>
            <a:ext cx="3017520" cy="1600199"/>
          </a:xfrm>
          <a:prstGeom prst="rect">
            <a:avLst/>
          </a:prstGeom>
          <a:noFill/>
        </p:spPr>
        <p:txBody>
          <a:bodyPr wrap="square" lIns="0" tIns="0" rIns="0" bIns="0" anchor="t">
            <a:spAutoFit/>
          </a:bodyPr>
          <a:lstStyle/>
          <a:p>
            <a:pPr algn="l">
              <a:lnSpc>
                <a:spcPct val="112000"/>
              </a:lnSpc>
              <a:spcBef>
                <a:spcPts val="0"/>
              </a:spcBef>
              <a:spcAft>
                <a:spcPts val="400"/>
              </a:spcAft>
            </a:pPr>
            <a:r>
              <a:rPr sz="1000" b="0">
                <a:solidFill>
                  <a:srgbClr val="2A9D8F"/>
                </a:solidFill>
                <a:latin typeface="Consolas"/>
              </a:rPr>
              <a:t>GRU</a:t>
            </a:r>
          </a:p>
          <a:p>
            <a:pPr algn="l">
              <a:lnSpc>
                <a:spcPct val="100000"/>
              </a:lnSpc>
              <a:spcBef>
                <a:spcPts val="0"/>
              </a:spcBef>
              <a:spcAft>
                <a:spcPts val="600"/>
              </a:spcAft>
            </a:pPr>
            <a:r>
              <a:rPr sz="1600" b="1">
                <a:solidFill>
                  <a:srgbClr val="1D3557"/>
                </a:solidFill>
                <a:latin typeface="Georgia"/>
              </a:rPr>
              <a:t>GRU  (3 489 params)</a:t>
            </a:r>
          </a:p>
          <a:p>
            <a:pPr algn="l">
              <a:lnSpc>
                <a:spcPct val="110000"/>
              </a:lnSpc>
              <a:spcBef>
                <a:spcPts val="0"/>
              </a:spcBef>
              <a:spcAft>
                <a:spcPts val="600"/>
              </a:spcAft>
            </a:pPr>
            <a:r>
              <a:rPr sz="1200" b="0">
                <a:solidFill>
                  <a:srgbClr val="4A5A66"/>
                </a:solidFill>
                <a:latin typeface="Calibri"/>
              </a:rPr>
              <a:t>Recurrent hidden state accumulates </a:t>
            </a:r>
            <a:r>
              <a:rPr sz="1200" b="1">
                <a:solidFill>
                  <a:srgbClr val="1C2B36"/>
                </a:solidFill>
                <a:latin typeface="Calibri"/>
              </a:rPr>
              <a:t>64 ms</a:t>
            </a:r>
            <a:r>
              <a:rPr sz="1200" b="0">
                <a:solidFill>
                  <a:srgbClr val="4A5A66"/>
                </a:solidFill>
                <a:latin typeface="Calibri"/>
              </a:rPr>
              <a:t> of context. hidden = 32, 1 layer.</a:t>
            </a:r>
          </a:p>
        </p:txBody>
      </p:sp>
      <p:sp>
        <p:nvSpPr>
          <p:cNvPr id="10" name="Rounded Rectangle 9"/>
          <p:cNvSpPr/>
          <p:nvPr/>
        </p:nvSpPr>
        <p:spPr>
          <a:xfrm>
            <a:off x="4480560" y="2697480"/>
            <a:ext cx="3383280" cy="1874519"/>
          </a:xfrm>
          <a:prstGeom prst="roundRect">
            <a:avLst>
              <a:gd name="adj" fmla="val 6000"/>
            </a:avLst>
          </a:prstGeom>
          <a:solidFill>
            <a:srgbClr val="FFFFFF"/>
          </a:solidFill>
          <a:ln w="12700">
            <a:solidFill>
              <a:srgbClr val="D9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480560" y="2697480"/>
            <a:ext cx="38100" cy="1874519"/>
          </a:xfrm>
          <a:prstGeom prst="rect">
            <a:avLst/>
          </a:prstGeom>
          <a:solidFill>
            <a:srgbClr val="1D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681728" y="2862072"/>
            <a:ext cx="3017520" cy="1600199"/>
          </a:xfrm>
          <a:prstGeom prst="rect">
            <a:avLst/>
          </a:prstGeom>
          <a:noFill/>
        </p:spPr>
        <p:txBody>
          <a:bodyPr wrap="square" lIns="0" tIns="0" rIns="0" bIns="0" anchor="t">
            <a:spAutoFit/>
          </a:bodyPr>
          <a:lstStyle/>
          <a:p>
            <a:pPr algn="l">
              <a:lnSpc>
                <a:spcPct val="112000"/>
              </a:lnSpc>
              <a:spcBef>
                <a:spcPts val="0"/>
              </a:spcBef>
              <a:spcAft>
                <a:spcPts val="400"/>
              </a:spcAft>
            </a:pPr>
            <a:r>
              <a:rPr sz="1000" b="0">
                <a:solidFill>
                  <a:srgbClr val="1D3557"/>
                </a:solidFill>
                <a:latin typeface="Consolas"/>
              </a:rPr>
              <a:t>CNN</a:t>
            </a:r>
          </a:p>
          <a:p>
            <a:pPr algn="l">
              <a:lnSpc>
                <a:spcPct val="100000"/>
              </a:lnSpc>
              <a:spcBef>
                <a:spcPts val="0"/>
              </a:spcBef>
              <a:spcAft>
                <a:spcPts val="600"/>
              </a:spcAft>
            </a:pPr>
            <a:r>
              <a:rPr sz="1600" b="1">
                <a:solidFill>
                  <a:srgbClr val="1D3557"/>
                </a:solidFill>
                <a:latin typeface="Georgia"/>
              </a:rPr>
              <a:t>CNN  (8 801 params)</a:t>
            </a:r>
          </a:p>
          <a:p>
            <a:pPr algn="l">
              <a:lnSpc>
                <a:spcPct val="110000"/>
              </a:lnSpc>
              <a:spcBef>
                <a:spcPts val="0"/>
              </a:spcBef>
              <a:spcAft>
                <a:spcPts val="600"/>
              </a:spcAft>
            </a:pPr>
            <a:r>
              <a:rPr sz="1200" b="0">
                <a:solidFill>
                  <a:srgbClr val="4A5A66"/>
                </a:solidFill>
                <a:latin typeface="Calibri"/>
              </a:rPr>
              <a:t>Stacked causal 1-D convolutions. channels = 32, k = 8, depth = 2.</a:t>
            </a:r>
          </a:p>
        </p:txBody>
      </p:sp>
      <p:sp>
        <p:nvSpPr>
          <p:cNvPr id="13" name="Rounded Rectangle 12"/>
          <p:cNvSpPr/>
          <p:nvPr/>
        </p:nvSpPr>
        <p:spPr>
          <a:xfrm>
            <a:off x="8092440" y="2697480"/>
            <a:ext cx="3383280" cy="1874519"/>
          </a:xfrm>
          <a:prstGeom prst="roundRect">
            <a:avLst>
              <a:gd name="adj" fmla="val 6000"/>
            </a:avLst>
          </a:prstGeom>
          <a:solidFill>
            <a:srgbClr val="FFFFFF"/>
          </a:solidFill>
          <a:ln w="12700">
            <a:solidFill>
              <a:srgbClr val="D9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8092440" y="2697480"/>
            <a:ext cx="38100" cy="1874519"/>
          </a:xfrm>
          <a:prstGeom prst="rect">
            <a:avLst/>
          </a:prstGeom>
          <a:solidFill>
            <a:srgbClr val="E07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93608" y="2862072"/>
            <a:ext cx="3017520" cy="1600199"/>
          </a:xfrm>
          <a:prstGeom prst="rect">
            <a:avLst/>
          </a:prstGeom>
          <a:noFill/>
        </p:spPr>
        <p:txBody>
          <a:bodyPr wrap="square" lIns="0" tIns="0" rIns="0" bIns="0" anchor="t">
            <a:spAutoFit/>
          </a:bodyPr>
          <a:lstStyle/>
          <a:p>
            <a:pPr algn="l">
              <a:lnSpc>
                <a:spcPct val="112000"/>
              </a:lnSpc>
              <a:spcBef>
                <a:spcPts val="0"/>
              </a:spcBef>
              <a:spcAft>
                <a:spcPts val="400"/>
              </a:spcAft>
            </a:pPr>
            <a:r>
              <a:rPr sz="1000" b="0">
                <a:solidFill>
                  <a:srgbClr val="E07A5F"/>
                </a:solidFill>
                <a:latin typeface="Consolas"/>
              </a:rPr>
              <a:t>TCN</a:t>
            </a:r>
          </a:p>
          <a:p>
            <a:pPr algn="l">
              <a:lnSpc>
                <a:spcPct val="100000"/>
              </a:lnSpc>
              <a:spcBef>
                <a:spcPts val="0"/>
              </a:spcBef>
              <a:spcAft>
                <a:spcPts val="600"/>
              </a:spcAft>
            </a:pPr>
            <a:r>
              <a:rPr sz="1600" b="1">
                <a:solidFill>
                  <a:srgbClr val="1D3557"/>
                </a:solidFill>
                <a:latin typeface="Georgia"/>
              </a:rPr>
              <a:t>TCN  (33 153 params)</a:t>
            </a:r>
          </a:p>
          <a:p>
            <a:pPr algn="l">
              <a:lnSpc>
                <a:spcPct val="110000"/>
              </a:lnSpc>
              <a:spcBef>
                <a:spcPts val="0"/>
              </a:spcBef>
              <a:spcAft>
                <a:spcPts val="600"/>
              </a:spcAft>
            </a:pPr>
            <a:r>
              <a:rPr sz="1200" b="0">
                <a:solidFill>
                  <a:srgbClr val="4A5A66"/>
                </a:solidFill>
                <a:latin typeface="Calibri"/>
              </a:rPr>
              <a:t>Dilated causal convolutions. Receptive field = </a:t>
            </a:r>
            <a:r>
              <a:rPr sz="1200" b="1">
                <a:solidFill>
                  <a:srgbClr val="1C2B36"/>
                </a:solidFill>
                <a:latin typeface="Calibri"/>
              </a:rPr>
              <a:t>91 ms</a:t>
            </a:r>
            <a:r>
              <a:rPr sz="1200" b="0">
                <a:solidFill>
                  <a:srgbClr val="4A5A66"/>
                </a:solidFill>
                <a:latin typeface="Calibri"/>
              </a:rPr>
              <a:t>. channels = 32, k = 4, 4 levels.</a:t>
            </a:r>
          </a:p>
        </p:txBody>
      </p:sp>
      <p:sp>
        <p:nvSpPr>
          <p:cNvPr id="16" name="Rounded Rectangle 15"/>
          <p:cNvSpPr/>
          <p:nvPr/>
        </p:nvSpPr>
        <p:spPr>
          <a:xfrm>
            <a:off x="868680" y="4892040"/>
            <a:ext cx="10607040" cy="896112"/>
          </a:xfrm>
          <a:prstGeom prst="roundRect">
            <a:avLst>
              <a:gd name="adj" fmla="val 6000"/>
            </a:avLst>
          </a:prstGeom>
          <a:solidFill>
            <a:srgbClr val="F4F1E9"/>
          </a:solidFill>
          <a:ln w="12700">
            <a:solidFill>
              <a:srgbClr val="D9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868680" y="4892040"/>
            <a:ext cx="38100" cy="896112"/>
          </a:xfrm>
          <a:prstGeom prst="rect">
            <a:avLst/>
          </a:prstGeom>
          <a:solidFill>
            <a:srgbClr val="1D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069848" y="5101390"/>
            <a:ext cx="10241280" cy="513987"/>
          </a:xfrm>
          <a:prstGeom prst="rect">
            <a:avLst/>
          </a:prstGeom>
          <a:noFill/>
        </p:spPr>
        <p:txBody>
          <a:bodyPr wrap="square" lIns="0" tIns="0" rIns="0" bIns="0" anchor="ctr">
            <a:spAutoFit/>
          </a:bodyPr>
          <a:lstStyle/>
          <a:p>
            <a:pPr>
              <a:lnSpc>
                <a:spcPct val="115000"/>
              </a:lnSpc>
            </a:pPr>
            <a:r>
              <a:rPr sz="1350" b="0">
                <a:solidFill>
                  <a:srgbClr val="1D3557"/>
                </a:solidFill>
                <a:latin typeface="Consolas"/>
              </a:rPr>
              <a:t>all </a:t>
            </a:r>
            <a:r>
              <a:rPr sz="1350" b="0" err="1">
                <a:solidFill>
                  <a:srgbClr val="1D3557"/>
                </a:solidFill>
                <a:latin typeface="Consolas"/>
              </a:rPr>
              <a:t>learned</a:t>
            </a:r>
            <a:r>
              <a:rPr sz="1350" b="0">
                <a:solidFill>
                  <a:srgbClr val="1D3557"/>
                </a:solidFill>
                <a:latin typeface="Consolas"/>
              </a:rPr>
              <a:t> </a:t>
            </a:r>
            <a:r>
              <a:rPr sz="1350" b="0" err="1">
                <a:solidFill>
                  <a:srgbClr val="1D3557"/>
                </a:solidFill>
                <a:latin typeface="Consolas"/>
              </a:rPr>
              <a:t>filters</a:t>
            </a:r>
            <a:r>
              <a:rPr sz="1350" b="0">
                <a:solidFill>
                  <a:srgbClr val="1D3557"/>
                </a:solidFill>
                <a:latin typeface="Consolas"/>
              </a:rPr>
              <a:t> →  </a:t>
            </a:r>
            <a:r>
              <a:rPr sz="1350" b="0" err="1">
                <a:solidFill>
                  <a:srgbClr val="1D3557"/>
                </a:solidFill>
                <a:latin typeface="Consolas"/>
              </a:rPr>
              <a:t>scalar</a:t>
            </a:r>
            <a:r>
              <a:rPr sz="1350" b="0">
                <a:solidFill>
                  <a:srgbClr val="1D3557"/>
                </a:solidFill>
                <a:latin typeface="Consolas"/>
              </a:rPr>
              <a:t> </a:t>
            </a:r>
            <a:r>
              <a:rPr sz="1350" b="0" err="1">
                <a:solidFill>
                  <a:srgbClr val="1D3557"/>
                </a:solidFill>
                <a:latin typeface="Consolas"/>
              </a:rPr>
              <a:t>omega_true</a:t>
            </a:r>
            <a:endParaRPr lang="fr-FR" sz="1350" b="0" err="1">
              <a:solidFill>
                <a:srgbClr val="1D3557"/>
              </a:solidFill>
              <a:latin typeface="Consolas"/>
            </a:endParaRPr>
          </a:p>
          <a:p>
            <a:pPr>
              <a:lnSpc>
                <a:spcPct val="115000"/>
              </a:lnSpc>
              <a:spcBef>
                <a:spcPts val="400"/>
              </a:spcBef>
            </a:pPr>
            <a:r>
              <a:rPr sz="1350" b="0">
                <a:solidFill>
                  <a:srgbClr val="1D3557"/>
                </a:solidFill>
                <a:latin typeface="Consolas"/>
              </a:rPr>
              <a:t>loss = </a:t>
            </a:r>
            <a:r>
              <a:rPr lang="fr-FR" sz="1350">
                <a:solidFill>
                  <a:srgbClr val="1D3557"/>
                </a:solidFill>
                <a:latin typeface="Consolas"/>
              </a:rPr>
              <a:t>RMSE</a:t>
            </a:r>
            <a:r>
              <a:rPr sz="1350" b="0">
                <a:solidFill>
                  <a:srgbClr val="1D3557"/>
                </a:solidFill>
                <a:latin typeface="Consolas"/>
              </a:rPr>
              <a:t>        </a:t>
            </a:r>
            <a:r>
              <a:rPr sz="1350" b="0" err="1">
                <a:solidFill>
                  <a:srgbClr val="1D3557"/>
                </a:solidFill>
                <a:latin typeface="Consolas"/>
              </a:rPr>
              <a:t>optimiser</a:t>
            </a:r>
            <a:r>
              <a:rPr sz="1350" b="0">
                <a:solidFill>
                  <a:srgbClr val="1D3557"/>
                </a:solidFill>
                <a:latin typeface="Consolas"/>
              </a:rPr>
              <a:t> = Adam        early stop on </a:t>
            </a:r>
            <a:r>
              <a:rPr sz="1350" b="0" err="1">
                <a:solidFill>
                  <a:srgbClr val="1D3557"/>
                </a:solidFill>
                <a:latin typeface="Consolas"/>
              </a:rPr>
              <a:t>val</a:t>
            </a:r>
            <a:endParaRPr sz="1350" b="0">
              <a:solidFill>
                <a:srgbClr val="1D3557"/>
              </a:solidFill>
              <a:latin typeface="Consolas"/>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66928" y="502920"/>
            <a:ext cx="17780" cy="5852160"/>
          </a:xfrm>
          <a:prstGeom prst="rect">
            <a:avLst/>
          </a:prstGeom>
          <a:solidFill>
            <a:srgbClr val="D9D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66928" y="502920"/>
            <a:ext cx="30480" cy="56692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548640"/>
            <a:ext cx="10607040" cy="169277"/>
          </a:xfrm>
          <a:prstGeom prst="rect">
            <a:avLst/>
          </a:prstGeom>
          <a:noFill/>
        </p:spPr>
        <p:txBody>
          <a:bodyPr wrap="square" lIns="0" tIns="0" rIns="0" bIns="0" anchor="t">
            <a:spAutoFit/>
          </a:bodyPr>
          <a:lstStyle/>
          <a:p>
            <a:pPr>
              <a:lnSpc>
                <a:spcPct val="100000"/>
              </a:lnSpc>
            </a:pPr>
            <a:r>
              <a:rPr lang="en-US" sz="1100" b="1" dirty="0">
                <a:solidFill>
                  <a:srgbClr val="E07A5F"/>
                </a:solidFill>
                <a:latin typeface="Consolas"/>
              </a:rPr>
              <a:t>D3</a:t>
            </a:r>
            <a:r>
              <a:rPr sz="1100" b="1" dirty="0">
                <a:solidFill>
                  <a:srgbClr val="E07A5F"/>
                </a:solidFill>
                <a:latin typeface="Consolas"/>
              </a:rPr>
              <a:t>  </a:t>
            </a:r>
            <a:r>
              <a:rPr sz="1100" dirty="0">
                <a:solidFill>
                  <a:srgbClr val="2A9D8F"/>
                </a:solidFill>
                <a:latin typeface="Consolas"/>
              </a:rPr>
              <a:t>ML2 — RESULTS  (IN-DISTRIBUTION TEST SET)</a:t>
            </a:r>
          </a:p>
        </p:txBody>
      </p:sp>
      <p:sp>
        <p:nvSpPr>
          <p:cNvPr id="5" name="TextBox 4"/>
          <p:cNvSpPr txBox="1"/>
          <p:nvPr/>
        </p:nvSpPr>
        <p:spPr>
          <a:xfrm>
            <a:off x="868680" y="960120"/>
            <a:ext cx="10607040" cy="1280160"/>
          </a:xfrm>
          <a:prstGeom prst="rect">
            <a:avLst/>
          </a:prstGeom>
          <a:noFill/>
        </p:spPr>
        <p:txBody>
          <a:bodyPr wrap="square" lIns="0" tIns="0" rIns="0" bIns="0" anchor="t">
            <a:spAutoFit/>
          </a:bodyPr>
          <a:lstStyle/>
          <a:p>
            <a:pPr algn="l">
              <a:lnSpc>
                <a:spcPct val="102000"/>
              </a:lnSpc>
              <a:spcBef>
                <a:spcPts val="0"/>
              </a:spcBef>
              <a:spcAft>
                <a:spcPts val="600"/>
              </a:spcAft>
            </a:pPr>
            <a:r>
              <a:rPr sz="2700" b="1">
                <a:solidFill>
                  <a:srgbClr val="1D3557"/>
                </a:solidFill>
                <a:latin typeface="Georgia"/>
              </a:rPr>
              <a:t>Learned filters cut error 51% below Kalman.</a:t>
            </a:r>
          </a:p>
        </p:txBody>
      </p:sp>
      <p:graphicFrame>
        <p:nvGraphicFramePr>
          <p:cNvPr id="6" name="Table 5"/>
          <p:cNvGraphicFramePr>
            <a:graphicFrameLocks noGrp="1"/>
          </p:cNvGraphicFramePr>
          <p:nvPr/>
        </p:nvGraphicFramePr>
        <p:xfrm>
          <a:off x="868680" y="2127794"/>
          <a:ext cx="10607040" cy="2057400"/>
        </p:xfrm>
        <a:graphic>
          <a:graphicData uri="http://schemas.openxmlformats.org/drawingml/2006/table">
            <a:tbl>
              <a:tblPr>
                <a:tableStyleId>{5C22544A-7EE6-4342-B048-85BDC9FD1C3A}</a:tableStyleId>
              </a:tblPr>
              <a:tblGrid>
                <a:gridCol w="4454956">
                  <a:extLst>
                    <a:ext uri="{9D8B030D-6E8A-4147-A177-3AD203B41FA5}">
                      <a16:colId xmlns:a16="http://schemas.microsoft.com/office/drawing/2014/main" val="20000"/>
                    </a:ext>
                  </a:extLst>
                </a:gridCol>
                <a:gridCol w="6152084">
                  <a:extLst>
                    <a:ext uri="{9D8B030D-6E8A-4147-A177-3AD203B41FA5}">
                      <a16:colId xmlns:a16="http://schemas.microsoft.com/office/drawing/2014/main" val="20001"/>
                    </a:ext>
                  </a:extLst>
                </a:gridCol>
              </a:tblGrid>
              <a:tr h="411480">
                <a:tc>
                  <a:txBody>
                    <a:bodyPr/>
                    <a:lstStyle/>
                    <a:p>
                      <a:r>
                        <a:rPr sz="1200" b="0">
                          <a:solidFill>
                            <a:srgbClr val="1D3557"/>
                          </a:solidFill>
                          <a:latin typeface="Consolas"/>
                        </a:rPr>
                        <a:t>Raw  —  no filter</a:t>
                      </a:r>
                    </a:p>
                  </a:txBody>
                  <a:tcPr marL="73152" marT="27432" marB="27432" anchor="ctr">
                    <a:solidFill>
                      <a:srgbClr val="FBFAF6"/>
                    </a:solidFill>
                  </a:tcPr>
                </a:tc>
                <a:tc>
                  <a:txBody>
                    <a:bodyPr/>
                    <a:lstStyle/>
                    <a:p>
                      <a:r>
                        <a:rPr sz="1300" b="0">
                          <a:solidFill>
                            <a:srgbClr val="4A5A66"/>
                          </a:solidFill>
                          <a:latin typeface="Calibri"/>
                        </a:rPr>
                        <a:t>RMSE  2.97 rad/s   (28.3 RPM)    —   reference</a:t>
                      </a:r>
                    </a:p>
                  </a:txBody>
                  <a:tcPr marL="73152" marT="27432" marB="27432" anchor="ctr">
                    <a:solidFill>
                      <a:srgbClr val="FBFAF6"/>
                    </a:solidFill>
                  </a:tcPr>
                </a:tc>
                <a:extLst>
                  <a:ext uri="{0D108BD9-81ED-4DB2-BD59-A6C34878D82A}">
                    <a16:rowId xmlns:a16="http://schemas.microsoft.com/office/drawing/2014/main" val="10000"/>
                  </a:ext>
                </a:extLst>
              </a:tr>
              <a:tr h="411480">
                <a:tc>
                  <a:txBody>
                    <a:bodyPr/>
                    <a:lstStyle/>
                    <a:p>
                      <a:r>
                        <a:rPr sz="1200" b="0">
                          <a:solidFill>
                            <a:srgbClr val="1D3557"/>
                          </a:solidFill>
                          <a:latin typeface="Consolas"/>
                        </a:rPr>
                        <a:t>Kalman  —  tuned, linear model</a:t>
                      </a:r>
                    </a:p>
                  </a:txBody>
                  <a:tcPr marL="73152" marT="27432" marB="27432" anchor="ctr">
                    <a:solidFill>
                      <a:srgbClr val="FBFAF6"/>
                    </a:solidFill>
                  </a:tcPr>
                </a:tc>
                <a:tc>
                  <a:txBody>
                    <a:bodyPr/>
                    <a:lstStyle/>
                    <a:p>
                      <a:r>
                        <a:rPr sz="1300" b="0">
                          <a:solidFill>
                            <a:srgbClr val="4A5A66"/>
                          </a:solidFill>
                          <a:latin typeface="Calibri"/>
                        </a:rPr>
                        <a:t>RMSE  1.32 rad/s   (12.6 RPM)   +56 %</a:t>
                      </a:r>
                    </a:p>
                  </a:txBody>
                  <a:tcPr marL="73152" marT="27432" marB="27432" anchor="ctr">
                    <a:solidFill>
                      <a:srgbClr val="FBFAF6"/>
                    </a:solidFill>
                  </a:tcPr>
                </a:tc>
                <a:extLst>
                  <a:ext uri="{0D108BD9-81ED-4DB2-BD59-A6C34878D82A}">
                    <a16:rowId xmlns:a16="http://schemas.microsoft.com/office/drawing/2014/main" val="10002"/>
                  </a:ext>
                </a:extLst>
              </a:tr>
              <a:tr h="411480">
                <a:tc>
                  <a:txBody>
                    <a:bodyPr/>
                    <a:lstStyle/>
                    <a:p>
                      <a:r>
                        <a:rPr sz="1200" b="0">
                          <a:solidFill>
                            <a:srgbClr val="1D3557"/>
                          </a:solidFill>
                          <a:latin typeface="Consolas"/>
                        </a:rPr>
                        <a:t>EMA  —  tuned α</a:t>
                      </a:r>
                    </a:p>
                  </a:txBody>
                  <a:tcPr marL="73152" marT="27432" marB="27432" anchor="ctr">
                    <a:solidFill>
                      <a:srgbClr val="FBFAF6"/>
                    </a:solidFill>
                  </a:tcPr>
                </a:tc>
                <a:tc>
                  <a:txBody>
                    <a:bodyPr/>
                    <a:lstStyle/>
                    <a:p>
                      <a:r>
                        <a:rPr sz="1300" b="0">
                          <a:solidFill>
                            <a:srgbClr val="4A5A66"/>
                          </a:solidFill>
                          <a:latin typeface="Calibri"/>
                        </a:rPr>
                        <a:t>RMSE  1.07 rad/s   (10.2 RPM)   +64 %</a:t>
                      </a:r>
                    </a:p>
                  </a:txBody>
                  <a:tcPr marL="73152" marT="27432" marB="27432" anchor="ctr">
                    <a:solidFill>
                      <a:srgbClr val="FBFAF6"/>
                    </a:solidFill>
                  </a:tcPr>
                </a:tc>
                <a:extLst>
                  <a:ext uri="{0D108BD9-81ED-4DB2-BD59-A6C34878D82A}">
                    <a16:rowId xmlns:a16="http://schemas.microsoft.com/office/drawing/2014/main" val="10003"/>
                  </a:ext>
                </a:extLst>
              </a:tr>
              <a:tr h="411480">
                <a:tc>
                  <a:txBody>
                    <a:bodyPr/>
                    <a:lstStyle/>
                    <a:p>
                      <a:r>
                        <a:rPr sz="1200" b="0">
                          <a:solidFill>
                            <a:srgbClr val="1D3557"/>
                          </a:solidFill>
                          <a:latin typeface="Consolas"/>
                        </a:rPr>
                        <a:t>CNN</a:t>
                      </a:r>
                    </a:p>
                  </a:txBody>
                  <a:tcPr marL="73152" marT="27432" marB="27432" anchor="ctr">
                    <a:solidFill>
                      <a:srgbClr val="FBFAF6"/>
                    </a:solidFill>
                  </a:tcPr>
                </a:tc>
                <a:tc>
                  <a:txBody>
                    <a:bodyPr/>
                    <a:lstStyle/>
                    <a:p>
                      <a:r>
                        <a:rPr sz="1300" b="0">
                          <a:solidFill>
                            <a:srgbClr val="4A5A66"/>
                          </a:solidFill>
                          <a:latin typeface="Calibri"/>
                        </a:rPr>
                        <a:t>RMSE  0.80 rad/s   ( 7.6 RPM)   +73 %</a:t>
                      </a:r>
                    </a:p>
                  </a:txBody>
                  <a:tcPr marL="73152" marT="27432" marB="27432" anchor="ctr">
                    <a:solidFill>
                      <a:srgbClr val="FBFAF6"/>
                    </a:solidFill>
                  </a:tcPr>
                </a:tc>
                <a:extLst>
                  <a:ext uri="{0D108BD9-81ED-4DB2-BD59-A6C34878D82A}">
                    <a16:rowId xmlns:a16="http://schemas.microsoft.com/office/drawing/2014/main" val="10004"/>
                  </a:ext>
                </a:extLst>
              </a:tr>
              <a:tr h="411480">
                <a:tc>
                  <a:txBody>
                    <a:bodyPr/>
                    <a:lstStyle/>
                    <a:p>
                      <a:r>
                        <a:rPr sz="1200" b="1">
                          <a:solidFill>
                            <a:srgbClr val="1C2B36"/>
                          </a:solidFill>
                          <a:latin typeface="Consolas"/>
                        </a:rPr>
                        <a:t>GRU</a:t>
                      </a:r>
                      <a:r>
                        <a:rPr sz="1200" b="0">
                          <a:solidFill>
                            <a:srgbClr val="1D3557"/>
                          </a:solidFill>
                          <a:latin typeface="Consolas"/>
                        </a:rPr>
                        <a:t>  /  </a:t>
                      </a:r>
                      <a:r>
                        <a:rPr sz="1200" b="1">
                          <a:solidFill>
                            <a:srgbClr val="1C2B36"/>
                          </a:solidFill>
                          <a:latin typeface="Consolas"/>
                        </a:rPr>
                        <a:t>TCN</a:t>
                      </a:r>
                    </a:p>
                  </a:txBody>
                  <a:tcPr marL="73152" marT="27432" marB="27432" anchor="ctr">
                    <a:solidFill>
                      <a:srgbClr val="FBFAF6"/>
                    </a:solidFill>
                  </a:tcPr>
                </a:tc>
                <a:tc>
                  <a:txBody>
                    <a:bodyPr/>
                    <a:lstStyle/>
                    <a:p>
                      <a:r>
                        <a:rPr sz="1300" b="0">
                          <a:solidFill>
                            <a:srgbClr val="4A5A66"/>
                          </a:solidFill>
                          <a:latin typeface="Calibri"/>
                        </a:rPr>
                        <a:t>RMSE  </a:t>
                      </a:r>
                      <a:r>
                        <a:rPr sz="1300" b="1">
                          <a:solidFill>
                            <a:srgbClr val="1C2B36"/>
                          </a:solidFill>
                          <a:latin typeface="Calibri"/>
                        </a:rPr>
                        <a:t>0.65 rad/s</a:t>
                      </a:r>
                      <a:r>
                        <a:rPr sz="1300" b="0">
                          <a:solidFill>
                            <a:srgbClr val="4A5A66"/>
                          </a:solidFill>
                          <a:latin typeface="Calibri"/>
                        </a:rPr>
                        <a:t>   ( 6.2 RPM)   </a:t>
                      </a:r>
                      <a:r>
                        <a:rPr sz="1300" b="1">
                          <a:solidFill>
                            <a:srgbClr val="1C2B36"/>
                          </a:solidFill>
                          <a:latin typeface="Calibri"/>
                        </a:rPr>
                        <a:t>+78 %</a:t>
                      </a:r>
                    </a:p>
                  </a:txBody>
                  <a:tcPr marL="73152" marT="27432" marB="27432" anchor="ctr">
                    <a:solidFill>
                      <a:srgbClr val="FBFAF6"/>
                    </a:solidFill>
                  </a:tcPr>
                </a:tc>
                <a:extLst>
                  <a:ext uri="{0D108BD9-81ED-4DB2-BD59-A6C34878D82A}">
                    <a16:rowId xmlns:a16="http://schemas.microsoft.com/office/drawing/2014/main" val="10005"/>
                  </a:ext>
                </a:extLst>
              </a:tr>
            </a:tbl>
          </a:graphicData>
        </a:graphic>
      </p:graphicFrame>
      <p:sp>
        <p:nvSpPr>
          <p:cNvPr id="7" name="Rounded Rectangle 6"/>
          <p:cNvSpPr/>
          <p:nvPr/>
        </p:nvSpPr>
        <p:spPr>
          <a:xfrm>
            <a:off x="868680" y="4892040"/>
            <a:ext cx="10607040" cy="1005840"/>
          </a:xfrm>
          <a:prstGeom prst="roundRect">
            <a:avLst>
              <a:gd name="adj" fmla="val 6000"/>
            </a:avLst>
          </a:prstGeom>
          <a:solidFill>
            <a:srgbClr val="FAECE7"/>
          </a:solidFill>
          <a:ln w="12700">
            <a:solidFill>
              <a:srgbClr val="FAEC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868680" y="4892040"/>
            <a:ext cx="38100" cy="1005840"/>
          </a:xfrm>
          <a:prstGeom prst="rect">
            <a:avLst/>
          </a:prstGeom>
          <a:solidFill>
            <a:srgbClr val="E07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69848" y="4983480"/>
            <a:ext cx="10222992" cy="822960"/>
          </a:xfrm>
          <a:prstGeom prst="rect">
            <a:avLst/>
          </a:prstGeom>
          <a:noFill/>
        </p:spPr>
        <p:txBody>
          <a:bodyPr wrap="square" lIns="0" tIns="0" rIns="0" bIns="0" anchor="ctr">
            <a:spAutoFit/>
          </a:bodyPr>
          <a:lstStyle/>
          <a:p>
            <a:pPr>
              <a:lnSpc>
                <a:spcPct val="112000"/>
              </a:lnSpc>
            </a:pPr>
            <a:r>
              <a:rPr sz="1500" b="1">
                <a:solidFill>
                  <a:srgbClr val="1D3557"/>
                </a:solidFill>
                <a:latin typeface="Georgia"/>
              </a:rPr>
              <a:t>Model-based ≠ better.  </a:t>
            </a:r>
            <a:r>
              <a:rPr sz="1500" b="0">
                <a:solidFill>
                  <a:srgbClr val="4A5A66"/>
                </a:solidFill>
                <a:latin typeface="Calibri"/>
              </a:rPr>
              <a:t>The tuned linear </a:t>
            </a:r>
            <a:r>
              <a:rPr sz="1500" b="1">
                <a:solidFill>
                  <a:srgbClr val="1C2B36"/>
                </a:solidFill>
                <a:latin typeface="Calibri"/>
              </a:rPr>
              <a:t>Kalman (1.32)</a:t>
            </a:r>
            <a:r>
              <a:rPr sz="1500" b="0">
                <a:solidFill>
                  <a:srgbClr val="4A5A66"/>
                </a:solidFill>
                <a:latin typeface="Calibri"/>
              </a:rPr>
              <a:t> actually loses to a plain tuned </a:t>
            </a:r>
            <a:r>
              <a:rPr sz="1500" b="1">
                <a:solidFill>
                  <a:srgbClr val="1C2B36"/>
                </a:solidFill>
                <a:latin typeface="Calibri"/>
              </a:rPr>
              <a:t>EMA (1.07)</a:t>
            </a:r>
            <a:r>
              <a:rPr sz="1500" b="0">
                <a:solidFill>
                  <a:srgbClr val="4A5A66"/>
                </a:solidFill>
                <a:latin typeface="Calibri"/>
              </a:rPr>
              <a:t>: its linear model can't represent the rod's gravity torque, so its model-mismatch outweighs its model-based advantage.</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66928" y="502920"/>
            <a:ext cx="17780" cy="5852160"/>
          </a:xfrm>
          <a:prstGeom prst="rect">
            <a:avLst/>
          </a:prstGeom>
          <a:solidFill>
            <a:srgbClr val="D9D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66928" y="502920"/>
            <a:ext cx="30480" cy="56692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548640"/>
            <a:ext cx="10607040" cy="169277"/>
          </a:xfrm>
          <a:prstGeom prst="rect">
            <a:avLst/>
          </a:prstGeom>
          <a:noFill/>
        </p:spPr>
        <p:txBody>
          <a:bodyPr wrap="square" lIns="0" tIns="0" rIns="0" bIns="0" anchor="t">
            <a:spAutoFit/>
          </a:bodyPr>
          <a:lstStyle/>
          <a:p>
            <a:pPr>
              <a:lnSpc>
                <a:spcPct val="100000"/>
              </a:lnSpc>
            </a:pPr>
            <a:r>
              <a:rPr lang="en-US" sz="1100" b="1" dirty="0">
                <a:solidFill>
                  <a:srgbClr val="E07A5F"/>
                </a:solidFill>
                <a:latin typeface="Consolas"/>
              </a:rPr>
              <a:t>D4</a:t>
            </a:r>
            <a:r>
              <a:rPr lang="th-TH" sz="1100" b="1" dirty="0">
                <a:solidFill>
                  <a:srgbClr val="E07A5F"/>
                </a:solidFill>
                <a:latin typeface="Consolas"/>
              </a:rPr>
              <a:t>  </a:t>
            </a:r>
            <a:r>
              <a:rPr sz="1100" dirty="0">
                <a:solidFill>
                  <a:srgbClr val="2A9D8F"/>
                </a:solidFill>
                <a:latin typeface="Consolas"/>
              </a:rPr>
              <a:t>ML2 — COMPARISON</a:t>
            </a:r>
          </a:p>
        </p:txBody>
      </p:sp>
      <p:sp>
        <p:nvSpPr>
          <p:cNvPr id="5" name="TextBox 4"/>
          <p:cNvSpPr txBox="1"/>
          <p:nvPr/>
        </p:nvSpPr>
        <p:spPr>
          <a:xfrm>
            <a:off x="868680" y="960120"/>
            <a:ext cx="10607040" cy="1280160"/>
          </a:xfrm>
          <a:prstGeom prst="rect">
            <a:avLst/>
          </a:prstGeom>
          <a:noFill/>
        </p:spPr>
        <p:txBody>
          <a:bodyPr wrap="square" lIns="0" tIns="0" rIns="0" bIns="0" anchor="t">
            <a:spAutoFit/>
          </a:bodyPr>
          <a:lstStyle/>
          <a:p>
            <a:pPr algn="l">
              <a:lnSpc>
                <a:spcPct val="102000"/>
              </a:lnSpc>
              <a:spcBef>
                <a:spcPts val="0"/>
              </a:spcBef>
              <a:spcAft>
                <a:spcPts val="600"/>
              </a:spcAft>
            </a:pPr>
            <a:r>
              <a:rPr sz="2600" b="1">
                <a:solidFill>
                  <a:srgbClr val="1D3557"/>
                </a:solidFill>
                <a:latin typeface="Georgia"/>
              </a:rPr>
              <a:t>Every neural filter beats every classical one.</a:t>
            </a:r>
          </a:p>
        </p:txBody>
      </p:sp>
      <p:sp>
        <p:nvSpPr>
          <p:cNvPr id="6" name="TextBox 5"/>
          <p:cNvSpPr txBox="1"/>
          <p:nvPr/>
        </p:nvSpPr>
        <p:spPr>
          <a:xfrm>
            <a:off x="868680" y="2011680"/>
            <a:ext cx="3611880" cy="2743200"/>
          </a:xfrm>
          <a:prstGeom prst="rect">
            <a:avLst/>
          </a:prstGeom>
          <a:noFill/>
        </p:spPr>
        <p:txBody>
          <a:bodyPr wrap="square" lIns="0" tIns="0" rIns="0" bIns="0" anchor="t">
            <a:spAutoFit/>
          </a:bodyPr>
          <a:lstStyle/>
          <a:p>
            <a:pPr>
              <a:lnSpc>
                <a:spcPct val="110000"/>
              </a:lnSpc>
              <a:spcBef>
                <a:spcPts val="0"/>
              </a:spcBef>
              <a:spcAft>
                <a:spcPts val="0"/>
              </a:spcAft>
            </a:pPr>
            <a:r>
              <a:rPr sz="1500" b="1">
                <a:solidFill>
                  <a:srgbClr val="1D3557"/>
                </a:solidFill>
                <a:latin typeface="Calibri"/>
              </a:rPr>
              <a:t>—  </a:t>
            </a:r>
            <a:r>
              <a:rPr sz="1500" b="0">
                <a:solidFill>
                  <a:srgbClr val="4A5A66"/>
                </a:solidFill>
                <a:latin typeface="Calibri"/>
              </a:rPr>
              <a:t>A 64-sample </a:t>
            </a:r>
            <a:r>
              <a:rPr sz="1500" b="1">
                <a:solidFill>
                  <a:srgbClr val="1C2B36"/>
                </a:solidFill>
                <a:latin typeface="Calibri"/>
              </a:rPr>
              <a:t>moving average barely helps</a:t>
            </a:r>
            <a:r>
              <a:rPr sz="1500" b="0">
                <a:solidFill>
                  <a:srgbClr val="4A5A66"/>
                </a:solidFill>
                <a:latin typeface="Calibri"/>
              </a:rPr>
              <a:t> — the rod swings fast enough that its lag cancels its smoothing.</a:t>
            </a:r>
          </a:p>
          <a:p>
            <a:pPr>
              <a:lnSpc>
                <a:spcPct val="110000"/>
              </a:lnSpc>
              <a:spcBef>
                <a:spcPts val="1400"/>
              </a:spcBef>
              <a:spcAft>
                <a:spcPts val="0"/>
              </a:spcAft>
            </a:pPr>
            <a:r>
              <a:rPr sz="1500" b="1">
                <a:solidFill>
                  <a:srgbClr val="E07A5F"/>
                </a:solidFill>
                <a:latin typeface="Calibri"/>
              </a:rPr>
              <a:t>—  </a:t>
            </a:r>
            <a:r>
              <a:rPr sz="1500" b="1">
                <a:solidFill>
                  <a:srgbClr val="1C2B36"/>
                </a:solidFill>
                <a:latin typeface="Calibri"/>
              </a:rPr>
              <a:t>EMA and Kalman</a:t>
            </a:r>
            <a:r>
              <a:rPr sz="1500" b="0">
                <a:solidFill>
                  <a:srgbClr val="4A5A66"/>
                </a:solidFill>
                <a:latin typeface="Calibri"/>
              </a:rPr>
              <a:t> land at 1.1–1.3 rad/s — a useful but limited linear fit.</a:t>
            </a:r>
          </a:p>
          <a:p>
            <a:pPr>
              <a:lnSpc>
                <a:spcPct val="110000"/>
              </a:lnSpc>
              <a:spcBef>
                <a:spcPts val="1400"/>
              </a:spcBef>
              <a:spcAft>
                <a:spcPts val="0"/>
              </a:spcAft>
            </a:pPr>
            <a:r>
              <a:rPr sz="1500" b="1">
                <a:solidFill>
                  <a:srgbClr val="2A9D8F"/>
                </a:solidFill>
                <a:latin typeface="Calibri"/>
              </a:rPr>
              <a:t>—  </a:t>
            </a:r>
            <a:r>
              <a:rPr sz="1500" b="1">
                <a:solidFill>
                  <a:srgbClr val="1C2B36"/>
                </a:solidFill>
                <a:latin typeface="Calibri"/>
              </a:rPr>
              <a:t>GRU / TCN reach 0.65 rad/s</a:t>
            </a:r>
            <a:r>
              <a:rPr sz="1500" b="0">
                <a:solidFill>
                  <a:srgbClr val="4A5A66"/>
                </a:solidFill>
                <a:latin typeface="Calibri"/>
              </a:rPr>
              <a:t> — a 78% cut from the raw sensor and 51% below the tuned Kalman.</a:t>
            </a:r>
          </a:p>
        </p:txBody>
      </p:sp>
      <p:sp>
        <p:nvSpPr>
          <p:cNvPr id="7" name="Rounded Rectangle 6"/>
          <p:cNvSpPr/>
          <p:nvPr/>
        </p:nvSpPr>
        <p:spPr>
          <a:xfrm>
            <a:off x="4709160" y="1783080"/>
            <a:ext cx="6611112" cy="4260088"/>
          </a:xfrm>
          <a:prstGeom prst="roundRect">
            <a:avLst>
              <a:gd name="adj" fmla="val 6000"/>
            </a:avLst>
          </a:prstGeom>
          <a:solidFill>
            <a:srgbClr val="FFFFFF"/>
          </a:solidFill>
          <a:ln w="12700">
            <a:solidFill>
              <a:srgbClr val="D9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 name="Picture 7" descr="comparison_rmse.png"/>
          <p:cNvPicPr>
            <a:picLocks noChangeAspect="1"/>
          </p:cNvPicPr>
          <p:nvPr/>
        </p:nvPicPr>
        <p:blipFill>
          <a:blip r:embed="rId2"/>
          <a:stretch>
            <a:fillRect/>
          </a:stretch>
        </p:blipFill>
        <p:spPr>
          <a:xfrm>
            <a:off x="4855464" y="1929384"/>
            <a:ext cx="6318504" cy="3510280"/>
          </a:xfrm>
          <a:prstGeom prst="rect">
            <a:avLst/>
          </a:prstGeom>
        </p:spPr>
      </p:pic>
      <p:sp>
        <p:nvSpPr>
          <p:cNvPr id="9" name="TextBox 8"/>
          <p:cNvSpPr txBox="1"/>
          <p:nvPr/>
        </p:nvSpPr>
        <p:spPr>
          <a:xfrm>
            <a:off x="4855464" y="5485384"/>
            <a:ext cx="6318504" cy="457200"/>
          </a:xfrm>
          <a:prstGeom prst="rect">
            <a:avLst/>
          </a:prstGeom>
          <a:noFill/>
        </p:spPr>
        <p:txBody>
          <a:bodyPr wrap="square" lIns="0" tIns="0" rIns="0" bIns="0" anchor="t">
            <a:spAutoFit/>
          </a:bodyPr>
          <a:lstStyle/>
          <a:p>
            <a:pPr algn="ctr">
              <a:lnSpc>
                <a:spcPct val="110000"/>
              </a:lnSpc>
              <a:spcBef>
                <a:spcPts val="0"/>
              </a:spcBef>
              <a:spcAft>
                <a:spcPts val="600"/>
              </a:spcAft>
            </a:pPr>
            <a:r>
              <a:rPr sz="1200" b="0">
                <a:solidFill>
                  <a:srgbClr val="4A5A66"/>
                </a:solidFill>
                <a:latin typeface="Consolas"/>
              </a:rPr>
              <a:t>Fig. 1 — test-set RMSE by method (motor + rod, lower is better).</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66928" y="502920"/>
            <a:ext cx="17780" cy="5852160"/>
          </a:xfrm>
          <a:prstGeom prst="rect">
            <a:avLst/>
          </a:prstGeom>
          <a:solidFill>
            <a:srgbClr val="D9D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66928" y="502920"/>
            <a:ext cx="30480" cy="56692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548640"/>
            <a:ext cx="10607040" cy="169277"/>
          </a:xfrm>
          <a:prstGeom prst="rect">
            <a:avLst/>
          </a:prstGeom>
          <a:noFill/>
        </p:spPr>
        <p:txBody>
          <a:bodyPr wrap="square" lIns="0" tIns="0" rIns="0" bIns="0" anchor="t">
            <a:spAutoFit/>
          </a:bodyPr>
          <a:lstStyle/>
          <a:p>
            <a:pPr>
              <a:lnSpc>
                <a:spcPct val="100000"/>
              </a:lnSpc>
            </a:pPr>
            <a:r>
              <a:rPr lang="en-US" sz="1100" b="1" dirty="0">
                <a:solidFill>
                  <a:srgbClr val="E07A5F"/>
                </a:solidFill>
                <a:latin typeface="Consolas"/>
              </a:rPr>
              <a:t>D5</a:t>
            </a:r>
            <a:r>
              <a:rPr sz="1100" b="1" dirty="0">
                <a:solidFill>
                  <a:srgbClr val="E07A5F"/>
                </a:solidFill>
                <a:latin typeface="Consolas"/>
              </a:rPr>
              <a:t>  </a:t>
            </a:r>
            <a:r>
              <a:rPr sz="1100" dirty="0">
                <a:solidFill>
                  <a:srgbClr val="2A9D8F"/>
                </a:solidFill>
                <a:latin typeface="Consolas"/>
              </a:rPr>
              <a:t>ML2 — RESULTS: VARIANCE &amp; DELAY</a:t>
            </a:r>
          </a:p>
        </p:txBody>
      </p:sp>
      <p:sp>
        <p:nvSpPr>
          <p:cNvPr id="5" name="TextBox 4"/>
          <p:cNvSpPr txBox="1"/>
          <p:nvPr/>
        </p:nvSpPr>
        <p:spPr>
          <a:xfrm>
            <a:off x="868680" y="960120"/>
            <a:ext cx="10607040" cy="1280160"/>
          </a:xfrm>
          <a:prstGeom prst="rect">
            <a:avLst/>
          </a:prstGeom>
          <a:noFill/>
        </p:spPr>
        <p:txBody>
          <a:bodyPr wrap="square" lIns="0" tIns="0" rIns="0" bIns="0" anchor="t">
            <a:spAutoFit/>
          </a:bodyPr>
          <a:lstStyle/>
          <a:p>
            <a:pPr algn="l">
              <a:lnSpc>
                <a:spcPct val="102000"/>
              </a:lnSpc>
              <a:spcBef>
                <a:spcPts val="0"/>
              </a:spcBef>
              <a:spcAft>
                <a:spcPts val="600"/>
              </a:spcAft>
            </a:pPr>
            <a:r>
              <a:rPr sz="2800" b="1">
                <a:solidFill>
                  <a:srgbClr val="1D3557"/>
                </a:solidFill>
                <a:latin typeface="Georgia"/>
              </a:rPr>
              <a:t>Neural filters win on both axes.</a:t>
            </a:r>
          </a:p>
        </p:txBody>
      </p:sp>
      <p:sp>
        <p:nvSpPr>
          <p:cNvPr id="6" name="TextBox 5"/>
          <p:cNvSpPr txBox="1"/>
          <p:nvPr/>
        </p:nvSpPr>
        <p:spPr>
          <a:xfrm>
            <a:off x="868680" y="1582057"/>
            <a:ext cx="10607040" cy="502920"/>
          </a:xfrm>
          <a:prstGeom prst="rect">
            <a:avLst/>
          </a:prstGeom>
          <a:noFill/>
        </p:spPr>
        <p:txBody>
          <a:bodyPr wrap="square" lIns="0" tIns="0" rIns="0" bIns="0" anchor="t">
            <a:spAutoFit/>
          </a:bodyPr>
          <a:lstStyle/>
          <a:p>
            <a:pPr>
              <a:lnSpc>
                <a:spcPct val="120000"/>
              </a:lnSpc>
            </a:pPr>
            <a:r>
              <a:rPr sz="1500" b="0">
                <a:solidFill>
                  <a:srgbClr val="4A5A66"/>
                </a:solidFill>
                <a:latin typeface="Calibri"/>
              </a:rPr>
              <a:t>Variance (RMSE) and phase lag (effective delay) are </a:t>
            </a:r>
            <a:r>
              <a:rPr sz="1500" b="1">
                <a:solidFill>
                  <a:srgbClr val="1C2B36"/>
                </a:solidFill>
                <a:latin typeface="Calibri"/>
              </a:rPr>
              <a:t>independent failure modes</a:t>
            </a:r>
            <a:r>
              <a:rPr sz="1500" b="0">
                <a:solidFill>
                  <a:srgbClr val="4A5A66"/>
                </a:solidFill>
                <a:latin typeface="Calibri"/>
              </a:rPr>
              <a:t>. A good filter must minimize both — not just one.</a:t>
            </a:r>
          </a:p>
        </p:txBody>
      </p:sp>
      <p:sp>
        <p:nvSpPr>
          <p:cNvPr id="7" name="Rounded Rectangle 6"/>
          <p:cNvSpPr/>
          <p:nvPr/>
        </p:nvSpPr>
        <p:spPr>
          <a:xfrm>
            <a:off x="868680" y="2122714"/>
            <a:ext cx="5166360" cy="3640101"/>
          </a:xfrm>
          <a:prstGeom prst="roundRect">
            <a:avLst>
              <a:gd name="adj" fmla="val 6000"/>
            </a:avLst>
          </a:prstGeom>
          <a:solidFill>
            <a:srgbClr val="FFFFFF"/>
          </a:solidFill>
          <a:ln w="12700">
            <a:solidFill>
              <a:srgbClr val="D9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 name="Picture 7" descr="metric_variance.png"/>
          <p:cNvPicPr>
            <a:picLocks noChangeAspect="1"/>
          </p:cNvPicPr>
          <p:nvPr/>
        </p:nvPicPr>
        <p:blipFill>
          <a:blip r:embed="rId2"/>
          <a:stretch>
            <a:fillRect/>
          </a:stretch>
        </p:blipFill>
        <p:spPr>
          <a:xfrm>
            <a:off x="1014984" y="2269018"/>
            <a:ext cx="4873752" cy="2890293"/>
          </a:xfrm>
          <a:prstGeom prst="rect">
            <a:avLst/>
          </a:prstGeom>
        </p:spPr>
      </p:pic>
      <p:sp>
        <p:nvSpPr>
          <p:cNvPr id="9" name="TextBox 8"/>
          <p:cNvSpPr txBox="1"/>
          <p:nvPr/>
        </p:nvSpPr>
        <p:spPr>
          <a:xfrm>
            <a:off x="1014984" y="5205031"/>
            <a:ext cx="4873752" cy="457200"/>
          </a:xfrm>
          <a:prstGeom prst="rect">
            <a:avLst/>
          </a:prstGeom>
          <a:noFill/>
        </p:spPr>
        <p:txBody>
          <a:bodyPr wrap="square" lIns="0" tIns="0" rIns="0" bIns="0" anchor="t">
            <a:spAutoFit/>
          </a:bodyPr>
          <a:lstStyle/>
          <a:p>
            <a:pPr algn="ctr">
              <a:lnSpc>
                <a:spcPct val="110000"/>
              </a:lnSpc>
              <a:spcBef>
                <a:spcPts val="0"/>
              </a:spcBef>
              <a:spcAft>
                <a:spcPts val="600"/>
              </a:spcAft>
            </a:pPr>
            <a:r>
              <a:rPr sz="1200" b="0">
                <a:solidFill>
                  <a:srgbClr val="4A5A66"/>
                </a:solidFill>
                <a:latin typeface="Consolas"/>
              </a:rPr>
              <a:t>Error std (RMSE, rad/s) — lower is better</a:t>
            </a:r>
          </a:p>
        </p:txBody>
      </p:sp>
      <p:sp>
        <p:nvSpPr>
          <p:cNvPr id="10" name="Rounded Rectangle 9"/>
          <p:cNvSpPr/>
          <p:nvPr/>
        </p:nvSpPr>
        <p:spPr>
          <a:xfrm>
            <a:off x="6309360" y="2122714"/>
            <a:ext cx="5166360" cy="3640101"/>
          </a:xfrm>
          <a:prstGeom prst="roundRect">
            <a:avLst>
              <a:gd name="adj" fmla="val 6000"/>
            </a:avLst>
          </a:prstGeom>
          <a:solidFill>
            <a:srgbClr val="FFFFFF"/>
          </a:solidFill>
          <a:ln w="12700">
            <a:solidFill>
              <a:srgbClr val="D9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metric_delay.png"/>
          <p:cNvPicPr>
            <a:picLocks noChangeAspect="1"/>
          </p:cNvPicPr>
          <p:nvPr/>
        </p:nvPicPr>
        <p:blipFill>
          <a:blip r:embed="rId3"/>
          <a:stretch>
            <a:fillRect/>
          </a:stretch>
        </p:blipFill>
        <p:spPr>
          <a:xfrm>
            <a:off x="6455664" y="2269018"/>
            <a:ext cx="4873752" cy="2890293"/>
          </a:xfrm>
          <a:prstGeom prst="rect">
            <a:avLst/>
          </a:prstGeom>
        </p:spPr>
      </p:pic>
      <p:sp>
        <p:nvSpPr>
          <p:cNvPr id="12" name="TextBox 11"/>
          <p:cNvSpPr txBox="1"/>
          <p:nvPr/>
        </p:nvSpPr>
        <p:spPr>
          <a:xfrm>
            <a:off x="6455664" y="5205031"/>
            <a:ext cx="4873752" cy="457200"/>
          </a:xfrm>
          <a:prstGeom prst="rect">
            <a:avLst/>
          </a:prstGeom>
          <a:noFill/>
        </p:spPr>
        <p:txBody>
          <a:bodyPr wrap="square" lIns="0" tIns="0" rIns="0" bIns="0" anchor="t">
            <a:spAutoFit/>
          </a:bodyPr>
          <a:lstStyle/>
          <a:p>
            <a:pPr algn="ctr">
              <a:lnSpc>
                <a:spcPct val="110000"/>
              </a:lnSpc>
              <a:spcBef>
                <a:spcPts val="0"/>
              </a:spcBef>
              <a:spcAft>
                <a:spcPts val="600"/>
              </a:spcAft>
            </a:pPr>
            <a:r>
              <a:rPr sz="1200" b="0">
                <a:solidFill>
                  <a:srgbClr val="4A5A66"/>
                </a:solidFill>
                <a:latin typeface="Consolas"/>
              </a:rPr>
              <a:t>Effective phase lag (ms) — lower is better</a:t>
            </a:r>
          </a:p>
        </p:txBody>
      </p:sp>
      <p:sp>
        <p:nvSpPr>
          <p:cNvPr id="13" name="Rounded Rectangle 12"/>
          <p:cNvSpPr/>
          <p:nvPr/>
        </p:nvSpPr>
        <p:spPr>
          <a:xfrm>
            <a:off x="868680" y="5976983"/>
            <a:ext cx="10607040" cy="749808"/>
          </a:xfrm>
          <a:prstGeom prst="roundRect">
            <a:avLst>
              <a:gd name="adj" fmla="val 6000"/>
            </a:avLst>
          </a:prstGeom>
          <a:solidFill>
            <a:srgbClr val="E7F2F0"/>
          </a:solidFill>
          <a:ln w="12700">
            <a:solidFill>
              <a:srgbClr val="E7F2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868680" y="5976983"/>
            <a:ext cx="38100" cy="74980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069848" y="6068423"/>
            <a:ext cx="10222992" cy="566928"/>
          </a:xfrm>
          <a:prstGeom prst="rect">
            <a:avLst/>
          </a:prstGeom>
          <a:noFill/>
        </p:spPr>
        <p:txBody>
          <a:bodyPr wrap="square" lIns="0" tIns="0" rIns="0" bIns="0" anchor="ctr">
            <a:spAutoFit/>
          </a:bodyPr>
          <a:lstStyle/>
          <a:p>
            <a:pPr>
              <a:lnSpc>
                <a:spcPct val="112000"/>
              </a:lnSpc>
            </a:pPr>
            <a:r>
              <a:rPr sz="1500" b="1">
                <a:solidFill>
                  <a:srgbClr val="1D3557"/>
                </a:solidFill>
                <a:latin typeface="Georgia"/>
              </a:rPr>
              <a:t>EMA: 7 ms lag, GRU/TCN: 1 ms.  </a:t>
            </a:r>
            <a:r>
              <a:rPr sz="1500" b="1">
                <a:solidFill>
                  <a:srgbClr val="1C2B36"/>
                </a:solidFill>
                <a:latin typeface="Calibri"/>
              </a:rPr>
              <a:t>EMA halves RMSE vs raw but costs 7 ms of lag</a:t>
            </a:r>
            <a:r>
              <a:rPr sz="1500" b="0">
                <a:solidFill>
                  <a:srgbClr val="4A5A66"/>
                </a:solidFill>
                <a:latin typeface="Calibri"/>
              </a:rPr>
              <a:t> at α = 0.872. Neural filters cut RMSE a further 39 % AND reduce lag to one sample — faster response, less noise.</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66928" y="502920"/>
            <a:ext cx="17780" cy="5852160"/>
          </a:xfrm>
          <a:prstGeom prst="rect">
            <a:avLst/>
          </a:prstGeom>
          <a:solidFill>
            <a:srgbClr val="D9D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66928" y="502920"/>
            <a:ext cx="30480" cy="56692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548640"/>
            <a:ext cx="10607040" cy="169277"/>
          </a:xfrm>
          <a:prstGeom prst="rect">
            <a:avLst/>
          </a:prstGeom>
          <a:noFill/>
        </p:spPr>
        <p:txBody>
          <a:bodyPr wrap="square" lIns="0" tIns="0" rIns="0" bIns="0" anchor="t">
            <a:spAutoFit/>
          </a:bodyPr>
          <a:lstStyle/>
          <a:p>
            <a:pPr>
              <a:lnSpc>
                <a:spcPct val="100000"/>
              </a:lnSpc>
            </a:pPr>
            <a:r>
              <a:rPr lang="en-US" sz="1100" b="1" dirty="0">
                <a:solidFill>
                  <a:srgbClr val="E07A5F"/>
                </a:solidFill>
                <a:latin typeface="Consolas"/>
              </a:rPr>
              <a:t>D6</a:t>
            </a:r>
            <a:r>
              <a:rPr sz="1100" b="1" dirty="0">
                <a:solidFill>
                  <a:srgbClr val="E07A5F"/>
                </a:solidFill>
                <a:latin typeface="Consolas"/>
              </a:rPr>
              <a:t>  </a:t>
            </a:r>
            <a:r>
              <a:rPr sz="1100" dirty="0">
                <a:solidFill>
                  <a:srgbClr val="2A9D8F"/>
                </a:solidFill>
                <a:latin typeface="Consolas"/>
              </a:rPr>
              <a:t>ML2 — GENERALISATION  (UNSEEN EXCITATION)</a:t>
            </a:r>
          </a:p>
        </p:txBody>
      </p:sp>
      <p:sp>
        <p:nvSpPr>
          <p:cNvPr id="5" name="TextBox 4"/>
          <p:cNvSpPr txBox="1"/>
          <p:nvPr/>
        </p:nvSpPr>
        <p:spPr>
          <a:xfrm>
            <a:off x="868680" y="960120"/>
            <a:ext cx="10607040" cy="1280160"/>
          </a:xfrm>
          <a:prstGeom prst="rect">
            <a:avLst/>
          </a:prstGeom>
          <a:noFill/>
        </p:spPr>
        <p:txBody>
          <a:bodyPr wrap="square" lIns="0" tIns="0" rIns="0" bIns="0" anchor="t">
            <a:spAutoFit/>
          </a:bodyPr>
          <a:lstStyle/>
          <a:p>
            <a:pPr algn="l">
              <a:lnSpc>
                <a:spcPct val="102000"/>
              </a:lnSpc>
              <a:spcBef>
                <a:spcPts val="0"/>
              </a:spcBef>
              <a:spcAft>
                <a:spcPts val="600"/>
              </a:spcAft>
            </a:pPr>
            <a:r>
              <a:rPr sz="2600" b="1">
                <a:solidFill>
                  <a:srgbClr val="1D3557"/>
                </a:solidFill>
                <a:latin typeface="Georgia"/>
              </a:rPr>
              <a:t>Classical filters break on unseen inputs.</a:t>
            </a:r>
          </a:p>
        </p:txBody>
      </p:sp>
      <p:graphicFrame>
        <p:nvGraphicFramePr>
          <p:cNvPr id="6" name="Table 5"/>
          <p:cNvGraphicFramePr>
            <a:graphicFrameLocks noGrp="1"/>
          </p:cNvGraphicFramePr>
          <p:nvPr/>
        </p:nvGraphicFramePr>
        <p:xfrm>
          <a:off x="868680" y="2057400"/>
          <a:ext cx="4526280" cy="2468880"/>
        </p:xfrm>
        <a:graphic>
          <a:graphicData uri="http://schemas.openxmlformats.org/drawingml/2006/table">
            <a:tbl>
              <a:tblPr>
                <a:tableStyleId>{5C22544A-7EE6-4342-B048-85BDC9FD1C3A}</a:tableStyleId>
              </a:tblPr>
              <a:tblGrid>
                <a:gridCol w="1901037">
                  <a:extLst>
                    <a:ext uri="{9D8B030D-6E8A-4147-A177-3AD203B41FA5}">
                      <a16:colId xmlns:a16="http://schemas.microsoft.com/office/drawing/2014/main" val="20000"/>
                    </a:ext>
                  </a:extLst>
                </a:gridCol>
                <a:gridCol w="2625243">
                  <a:extLst>
                    <a:ext uri="{9D8B030D-6E8A-4147-A177-3AD203B41FA5}">
                      <a16:colId xmlns:a16="http://schemas.microsoft.com/office/drawing/2014/main" val="20001"/>
                    </a:ext>
                  </a:extLst>
                </a:gridCol>
              </a:tblGrid>
              <a:tr h="411480">
                <a:tc>
                  <a:txBody>
                    <a:bodyPr/>
                    <a:lstStyle/>
                    <a:p>
                      <a:r>
                        <a:rPr sz="1200" b="0">
                          <a:solidFill>
                            <a:srgbClr val="1D3557"/>
                          </a:solidFill>
                          <a:latin typeface="Consolas"/>
                        </a:rPr>
                        <a:t>Raw  —  no filter</a:t>
                      </a:r>
                    </a:p>
                  </a:txBody>
                  <a:tcPr marL="73152" marT="27432" marB="27432" anchor="ctr">
                    <a:solidFill>
                      <a:srgbClr val="FBFAF6"/>
                    </a:solidFill>
                  </a:tcPr>
                </a:tc>
                <a:tc>
                  <a:txBody>
                    <a:bodyPr/>
                    <a:lstStyle/>
                    <a:p>
                      <a:r>
                        <a:rPr sz="1300" b="0">
                          <a:solidFill>
                            <a:srgbClr val="4A5A66"/>
                          </a:solidFill>
                          <a:latin typeface="Calibri"/>
                        </a:rPr>
                        <a:t>3.00 rad/s      —     reference</a:t>
                      </a:r>
                    </a:p>
                  </a:txBody>
                  <a:tcPr marL="73152" marT="27432" marB="27432" anchor="ctr">
                    <a:solidFill>
                      <a:srgbClr val="FBFAF6"/>
                    </a:solidFill>
                  </a:tcPr>
                </a:tc>
                <a:extLst>
                  <a:ext uri="{0D108BD9-81ED-4DB2-BD59-A6C34878D82A}">
                    <a16:rowId xmlns:a16="http://schemas.microsoft.com/office/drawing/2014/main" val="10000"/>
                  </a:ext>
                </a:extLst>
              </a:tr>
              <a:tr h="411480">
                <a:tc>
                  <a:txBody>
                    <a:bodyPr/>
                    <a:lstStyle/>
                    <a:p>
                      <a:r>
                        <a:rPr sz="1200" b="0">
                          <a:solidFill>
                            <a:srgbClr val="1D3557"/>
                          </a:solidFill>
                          <a:latin typeface="Consolas"/>
                        </a:rPr>
                        <a:t>EMA  —  tuned</a:t>
                      </a:r>
                    </a:p>
                  </a:txBody>
                  <a:tcPr marL="73152" marT="27432" marB="27432" anchor="ctr">
                    <a:solidFill>
                      <a:srgbClr val="FBFAF6"/>
                    </a:solidFill>
                  </a:tcPr>
                </a:tc>
                <a:tc>
                  <a:txBody>
                    <a:bodyPr/>
                    <a:lstStyle/>
                    <a:p>
                      <a:r>
                        <a:rPr sz="1300" b="0">
                          <a:solidFill>
                            <a:srgbClr val="4A5A66"/>
                          </a:solidFill>
                          <a:latin typeface="Calibri"/>
                        </a:rPr>
                        <a:t>2.64 rad/s   +12 %   (was +64 %)</a:t>
                      </a:r>
                    </a:p>
                  </a:txBody>
                  <a:tcPr marL="73152" marT="27432" marB="27432" anchor="ctr">
                    <a:solidFill>
                      <a:srgbClr val="FBFAF6"/>
                    </a:solidFill>
                  </a:tcPr>
                </a:tc>
                <a:extLst>
                  <a:ext uri="{0D108BD9-81ED-4DB2-BD59-A6C34878D82A}">
                    <a16:rowId xmlns:a16="http://schemas.microsoft.com/office/drawing/2014/main" val="10001"/>
                  </a:ext>
                </a:extLst>
              </a:tr>
              <a:tr h="411480">
                <a:tc>
                  <a:txBody>
                    <a:bodyPr/>
                    <a:lstStyle/>
                    <a:p>
                      <a:r>
                        <a:rPr sz="1200" b="0">
                          <a:solidFill>
                            <a:srgbClr val="1D3557"/>
                          </a:solidFill>
                          <a:latin typeface="Consolas"/>
                        </a:rPr>
                        <a:t>Kalman  —  tuned</a:t>
                      </a:r>
                    </a:p>
                  </a:txBody>
                  <a:tcPr marL="73152" marT="27432" marB="27432" anchor="ctr">
                    <a:solidFill>
                      <a:srgbClr val="FBFAF6"/>
                    </a:solidFill>
                  </a:tcPr>
                </a:tc>
                <a:tc>
                  <a:txBody>
                    <a:bodyPr/>
                    <a:lstStyle/>
                    <a:p>
                      <a:r>
                        <a:rPr sz="1300" b="0">
                          <a:solidFill>
                            <a:srgbClr val="4A5A66"/>
                          </a:solidFill>
                          <a:latin typeface="Calibri"/>
                        </a:rPr>
                        <a:t>2.29 rad/s   +24 %   (was +56 %)</a:t>
                      </a:r>
                    </a:p>
                  </a:txBody>
                  <a:tcPr marL="73152" marT="27432" marB="27432" anchor="ctr">
                    <a:solidFill>
                      <a:srgbClr val="FBFAF6"/>
                    </a:solidFill>
                  </a:tcPr>
                </a:tc>
                <a:extLst>
                  <a:ext uri="{0D108BD9-81ED-4DB2-BD59-A6C34878D82A}">
                    <a16:rowId xmlns:a16="http://schemas.microsoft.com/office/drawing/2014/main" val="10002"/>
                  </a:ext>
                </a:extLst>
              </a:tr>
              <a:tr h="411480">
                <a:tc>
                  <a:txBody>
                    <a:bodyPr/>
                    <a:lstStyle/>
                    <a:p>
                      <a:r>
                        <a:rPr sz="1200" b="0">
                          <a:solidFill>
                            <a:srgbClr val="1D3557"/>
                          </a:solidFill>
                          <a:latin typeface="Consolas"/>
                        </a:rPr>
                        <a:t>TCN</a:t>
                      </a:r>
                    </a:p>
                  </a:txBody>
                  <a:tcPr marL="73152" marT="27432" marB="27432" anchor="ctr">
                    <a:solidFill>
                      <a:srgbClr val="FBFAF6"/>
                    </a:solidFill>
                  </a:tcPr>
                </a:tc>
                <a:tc>
                  <a:txBody>
                    <a:bodyPr/>
                    <a:lstStyle/>
                    <a:p>
                      <a:r>
                        <a:rPr sz="1300" b="0">
                          <a:solidFill>
                            <a:srgbClr val="4A5A66"/>
                          </a:solidFill>
                          <a:latin typeface="Calibri"/>
                        </a:rPr>
                        <a:t>0.98 rad/s   +67 %   holds</a:t>
                      </a:r>
                    </a:p>
                  </a:txBody>
                  <a:tcPr marL="73152" marT="27432" marB="27432" anchor="ctr">
                    <a:solidFill>
                      <a:srgbClr val="FBFAF6"/>
                    </a:solidFill>
                  </a:tcPr>
                </a:tc>
                <a:extLst>
                  <a:ext uri="{0D108BD9-81ED-4DB2-BD59-A6C34878D82A}">
                    <a16:rowId xmlns:a16="http://schemas.microsoft.com/office/drawing/2014/main" val="10003"/>
                  </a:ext>
                </a:extLst>
              </a:tr>
              <a:tr h="411480">
                <a:tc>
                  <a:txBody>
                    <a:bodyPr/>
                    <a:lstStyle/>
                    <a:p>
                      <a:r>
                        <a:rPr sz="1200" b="0">
                          <a:solidFill>
                            <a:srgbClr val="1D3557"/>
                          </a:solidFill>
                          <a:latin typeface="Consolas"/>
                        </a:rPr>
                        <a:t>GRU</a:t>
                      </a:r>
                    </a:p>
                  </a:txBody>
                  <a:tcPr marL="73152" marT="27432" marB="27432" anchor="ctr">
                    <a:solidFill>
                      <a:srgbClr val="FBFAF6"/>
                    </a:solidFill>
                  </a:tcPr>
                </a:tc>
                <a:tc>
                  <a:txBody>
                    <a:bodyPr/>
                    <a:lstStyle/>
                    <a:p>
                      <a:r>
                        <a:rPr sz="1300" b="0">
                          <a:solidFill>
                            <a:srgbClr val="4A5A66"/>
                          </a:solidFill>
                          <a:latin typeface="Calibri"/>
                        </a:rPr>
                        <a:t>0.93 rad/s   +69 %   holds</a:t>
                      </a:r>
                    </a:p>
                  </a:txBody>
                  <a:tcPr marL="73152" marT="27432" marB="27432" anchor="ctr">
                    <a:solidFill>
                      <a:srgbClr val="FBFAF6"/>
                    </a:solidFill>
                  </a:tcPr>
                </a:tc>
                <a:extLst>
                  <a:ext uri="{0D108BD9-81ED-4DB2-BD59-A6C34878D82A}">
                    <a16:rowId xmlns:a16="http://schemas.microsoft.com/office/drawing/2014/main" val="10004"/>
                  </a:ext>
                </a:extLst>
              </a:tr>
              <a:tr h="411480">
                <a:tc>
                  <a:txBody>
                    <a:bodyPr/>
                    <a:lstStyle/>
                    <a:p>
                      <a:r>
                        <a:rPr sz="1200" b="1">
                          <a:solidFill>
                            <a:srgbClr val="1C2B36"/>
                          </a:solidFill>
                          <a:latin typeface="Consolas"/>
                        </a:rPr>
                        <a:t>CNN</a:t>
                      </a:r>
                    </a:p>
                  </a:txBody>
                  <a:tcPr marL="73152" marT="27432" marB="27432" anchor="ctr">
                    <a:solidFill>
                      <a:srgbClr val="FBFAF6"/>
                    </a:solidFill>
                  </a:tcPr>
                </a:tc>
                <a:tc>
                  <a:txBody>
                    <a:bodyPr/>
                    <a:lstStyle/>
                    <a:p>
                      <a:r>
                        <a:rPr sz="1300" b="1">
                          <a:solidFill>
                            <a:srgbClr val="1C2B36"/>
                          </a:solidFill>
                          <a:latin typeface="Calibri"/>
                        </a:rPr>
                        <a:t>0.81 rad/s</a:t>
                      </a:r>
                      <a:r>
                        <a:rPr sz="1300" b="0">
                          <a:solidFill>
                            <a:srgbClr val="4A5A66"/>
                          </a:solidFill>
                          <a:latin typeface="Calibri"/>
                        </a:rPr>
                        <a:t>   </a:t>
                      </a:r>
                      <a:r>
                        <a:rPr sz="1300" b="1">
                          <a:solidFill>
                            <a:srgbClr val="1C2B36"/>
                          </a:solidFill>
                          <a:latin typeface="Calibri"/>
                        </a:rPr>
                        <a:t>+73 %</a:t>
                      </a:r>
                      <a:r>
                        <a:rPr sz="1300" b="0">
                          <a:solidFill>
                            <a:srgbClr val="4A5A66"/>
                          </a:solidFill>
                          <a:latin typeface="Calibri"/>
                        </a:rPr>
                        <a:t>   holds</a:t>
                      </a:r>
                    </a:p>
                  </a:txBody>
                  <a:tcPr marL="73152" marT="27432" marB="27432" anchor="ctr">
                    <a:solidFill>
                      <a:srgbClr val="FBFAF6"/>
                    </a:solidFill>
                  </a:tcPr>
                </a:tc>
                <a:extLst>
                  <a:ext uri="{0D108BD9-81ED-4DB2-BD59-A6C34878D82A}">
                    <a16:rowId xmlns:a16="http://schemas.microsoft.com/office/drawing/2014/main" val="10005"/>
                  </a:ext>
                </a:extLst>
              </a:tr>
            </a:tbl>
          </a:graphicData>
        </a:graphic>
      </p:graphicFrame>
      <p:sp>
        <p:nvSpPr>
          <p:cNvPr id="7" name="Rounded Rectangle 6"/>
          <p:cNvSpPr/>
          <p:nvPr/>
        </p:nvSpPr>
        <p:spPr>
          <a:xfrm>
            <a:off x="868680" y="4663440"/>
            <a:ext cx="4526280" cy="1554480"/>
          </a:xfrm>
          <a:prstGeom prst="roundRect">
            <a:avLst>
              <a:gd name="adj" fmla="val 6000"/>
            </a:avLst>
          </a:prstGeom>
          <a:solidFill>
            <a:srgbClr val="E7F2F0"/>
          </a:solidFill>
          <a:ln w="12700">
            <a:solidFill>
              <a:srgbClr val="E7F2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868680" y="4663440"/>
            <a:ext cx="38100" cy="1554480"/>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69848" y="4754880"/>
            <a:ext cx="4142232" cy="1371600"/>
          </a:xfrm>
          <a:prstGeom prst="rect">
            <a:avLst/>
          </a:prstGeom>
          <a:noFill/>
        </p:spPr>
        <p:txBody>
          <a:bodyPr wrap="square" lIns="0" tIns="0" rIns="0" bIns="0" anchor="ctr">
            <a:spAutoFit/>
          </a:bodyPr>
          <a:lstStyle/>
          <a:p>
            <a:pPr>
              <a:lnSpc>
                <a:spcPct val="112000"/>
              </a:lnSpc>
            </a:pPr>
            <a:r>
              <a:rPr sz="1500" b="1">
                <a:solidFill>
                  <a:srgbClr val="1D3557"/>
                </a:solidFill>
                <a:latin typeface="Georgia"/>
              </a:rPr>
              <a:t>Generalisation gap.  </a:t>
            </a:r>
            <a:r>
              <a:rPr sz="1500" b="0">
                <a:solidFill>
                  <a:srgbClr val="4A5A66"/>
                </a:solidFill>
                <a:latin typeface="Calibri"/>
              </a:rPr>
              <a:t>On a </a:t>
            </a:r>
            <a:r>
              <a:rPr sz="1500" b="1">
                <a:solidFill>
                  <a:srgbClr val="1C2B36"/>
                </a:solidFill>
                <a:latin typeface="Calibri"/>
              </a:rPr>
              <a:t>chirp</a:t>
            </a:r>
            <a:r>
              <a:rPr sz="1500" b="0">
                <a:solidFill>
                  <a:srgbClr val="4A5A66"/>
                </a:solidFill>
                <a:latin typeface="Calibri"/>
              </a:rPr>
              <a:t> sweep never seen in training, </a:t>
            </a:r>
            <a:r>
              <a:rPr sz="1500" b="1">
                <a:solidFill>
                  <a:srgbClr val="1C2B36"/>
                </a:solidFill>
                <a:latin typeface="Calibri"/>
              </a:rPr>
              <a:t>EMA and Kalman collapse</a:t>
            </a:r>
            <a:r>
              <a:rPr sz="1500" b="0">
                <a:solidFill>
                  <a:srgbClr val="4A5A66"/>
                </a:solidFill>
                <a:latin typeface="Calibri"/>
              </a:rPr>
              <a:t> — implicitly tuned to the training spectrum — while </a:t>
            </a:r>
            <a:r>
              <a:rPr sz="1500" b="1">
                <a:solidFill>
                  <a:srgbClr val="1C2B36"/>
                </a:solidFill>
                <a:latin typeface="Calibri"/>
              </a:rPr>
              <a:t>neural filters hold +67–73 %</a:t>
            </a:r>
            <a:r>
              <a:rPr sz="1500" b="0">
                <a:solidFill>
                  <a:srgbClr val="4A5A66"/>
                </a:solidFill>
                <a:latin typeface="Calibri"/>
              </a:rPr>
              <a:t>, having learned the dynamics, not the excitation.</a:t>
            </a:r>
          </a:p>
        </p:txBody>
      </p:sp>
      <p:sp>
        <p:nvSpPr>
          <p:cNvPr id="10" name="Rounded Rectangle 9"/>
          <p:cNvSpPr/>
          <p:nvPr/>
        </p:nvSpPr>
        <p:spPr>
          <a:xfrm>
            <a:off x="5669280" y="1783080"/>
            <a:ext cx="5650992" cy="3726688"/>
          </a:xfrm>
          <a:prstGeom prst="roundRect">
            <a:avLst>
              <a:gd name="adj" fmla="val 6000"/>
            </a:avLst>
          </a:prstGeom>
          <a:solidFill>
            <a:srgbClr val="FFFFFF"/>
          </a:solidFill>
          <a:ln w="12700">
            <a:solidFill>
              <a:srgbClr val="D9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ood_rmse.png"/>
          <p:cNvPicPr>
            <a:picLocks noChangeAspect="1"/>
          </p:cNvPicPr>
          <p:nvPr/>
        </p:nvPicPr>
        <p:blipFill>
          <a:blip r:embed="rId2"/>
          <a:stretch>
            <a:fillRect/>
          </a:stretch>
        </p:blipFill>
        <p:spPr>
          <a:xfrm>
            <a:off x="5815584" y="1929384"/>
            <a:ext cx="5358384" cy="2976880"/>
          </a:xfrm>
          <a:prstGeom prst="rect">
            <a:avLst/>
          </a:prstGeom>
        </p:spPr>
      </p:pic>
      <p:sp>
        <p:nvSpPr>
          <p:cNvPr id="12" name="TextBox 11"/>
          <p:cNvSpPr txBox="1"/>
          <p:nvPr/>
        </p:nvSpPr>
        <p:spPr>
          <a:xfrm>
            <a:off x="5815584" y="4951984"/>
            <a:ext cx="5358384" cy="457200"/>
          </a:xfrm>
          <a:prstGeom prst="rect">
            <a:avLst/>
          </a:prstGeom>
          <a:noFill/>
        </p:spPr>
        <p:txBody>
          <a:bodyPr wrap="square" lIns="0" tIns="0" rIns="0" bIns="0" anchor="t">
            <a:spAutoFit/>
          </a:bodyPr>
          <a:lstStyle/>
          <a:p>
            <a:pPr algn="ctr">
              <a:lnSpc>
                <a:spcPct val="110000"/>
              </a:lnSpc>
              <a:spcBef>
                <a:spcPts val="0"/>
              </a:spcBef>
              <a:spcAft>
                <a:spcPts val="600"/>
              </a:spcAft>
            </a:pPr>
            <a:r>
              <a:rPr sz="1200" b="0">
                <a:solidFill>
                  <a:srgbClr val="4A5A66"/>
                </a:solidFill>
                <a:latin typeface="Consolas"/>
              </a:rPr>
              <a:t>Fig. 2 — OOD (chirp) RMSE: classical filters collapse, neural hold.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2694</TotalTime>
  <Words>5500</Words>
  <Application>Microsoft Office PowerPoint</Application>
  <PresentationFormat>Widescreen</PresentationFormat>
  <Paragraphs>723</Paragraphs>
  <Slides>32</Slides>
  <Notes>12</Notes>
  <HiddenSlides>0</HiddenSlides>
  <MMClips>2</MMClips>
  <ScaleCrop>false</ScaleCrop>
  <HeadingPairs>
    <vt:vector size="8" baseType="variant">
      <vt:variant>
        <vt:lpstr>Fonts Used</vt:lpstr>
      </vt:variant>
      <vt:variant>
        <vt:i4>8</vt:i4>
      </vt:variant>
      <vt:variant>
        <vt:lpstr>Theme</vt:lpstr>
      </vt:variant>
      <vt:variant>
        <vt:i4>1</vt:i4>
      </vt:variant>
      <vt:variant>
        <vt:lpstr>Embedded OLE Servers</vt:lpstr>
      </vt:variant>
      <vt:variant>
        <vt:i4>1</vt:i4>
      </vt:variant>
      <vt:variant>
        <vt:lpstr>Slide Titles</vt:lpstr>
      </vt:variant>
      <vt:variant>
        <vt:i4>32</vt:i4>
      </vt:variant>
    </vt:vector>
  </HeadingPairs>
  <TitlesOfParts>
    <vt:vector size="42" baseType="lpstr">
      <vt:lpstr>Aptos</vt:lpstr>
      <vt:lpstr>Helvetica Neue</vt:lpstr>
      <vt:lpstr>Arial</vt:lpstr>
      <vt:lpstr>Calibri</vt:lpstr>
      <vt:lpstr>Cambria Math</vt:lpstr>
      <vt:lpstr>Consolas</vt:lpstr>
      <vt:lpstr>Georgia</vt:lpstr>
      <vt:lpstr>Times New Roman</vt:lpstr>
      <vt:lpstr>Office Theme</vt:lpstr>
      <vt:lpstr>Equation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
  <cp:keywords/>
  <dc:description>generated using python-pptx</dc:description>
  <cp:lastModifiedBy>Phanpasorn Laor-iam</cp:lastModifiedBy>
  <cp:revision>117</cp:revision>
  <dcterms:created xsi:type="dcterms:W3CDTF">2013-01-27T09:14:16Z</dcterms:created>
  <dcterms:modified xsi:type="dcterms:W3CDTF">2026-06-29T14:58:22Z</dcterms:modified>
  <cp:category/>
</cp:coreProperties>
</file>