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b="1" sz="3800">
                <a:solidFill>
                  <a:srgbClr val="1D3557"/>
                </a:solidFill>
                <a:latin typeface="Georgia"/>
              </a:rPr>
              <a:t>[Presentation 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sz="1800">
                <a:solidFill>
                  <a:srgbClr val="4A5A66"/>
                </a:solidFill>
                <a:latin typeface="Calibri"/>
              </a:rPr>
              <a:t>[Short subtitle — one sentence describing the project]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b="1" sz="1200">
                <a:solidFill>
                  <a:srgbClr val="1D3557"/>
                </a:solidFill>
                <a:latin typeface="Consolas"/>
              </a:rPr>
              <a:t>[Author 1]  ·  [Author 2]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100">
                <a:solidFill>
                  <a:srgbClr val="4A5A66"/>
                </a:solidFill>
                <a:latin typeface="Consolas"/>
              </a:rPr>
              <a:t>[Author 3]  ·  [Author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40690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b="1" sz="1200">
                <a:solidFill>
                  <a:srgbClr val="1D3557"/>
                </a:solidFill>
                <a:latin typeface="Consolas"/>
              </a:rPr>
              <a:t>Course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100">
                <a:solidFill>
                  <a:srgbClr val="4A5A66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0690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b="1" sz="1200">
                <a:solidFill>
                  <a:srgbClr val="1D3557"/>
                </a:solidFill>
                <a:latin typeface="Consolas"/>
              </a:rPr>
              <a:t>[University]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100">
                <a:solidFill>
                  <a:srgbClr val="4A5A66"/>
                </a:solidFill>
                <a:latin typeface="Consolas"/>
              </a:rPr>
              <a:t>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800">
                <a:solidFill>
                  <a:srgbClr val="1D3557"/>
                </a:solidFill>
                <a:latin typeface="Georgia"/>
              </a:rPr>
              <a:t>Outline.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640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E07A5F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75104"/>
            <a:ext cx="4151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>
                <a:solidFill>
                  <a:srgbClr val="1D3557"/>
                </a:solidFill>
                <a:latin typeface="Georgia"/>
              </a:rPr>
              <a:t>Physical setup &amp; dataset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Brushed DC motor + vertical rod load; excitation &amp; sensor-noise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75104"/>
            <a:ext cx="640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E07A5F"/>
                </a:solidFill>
                <a:latin typeface="Georgia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1975104"/>
            <a:ext cx="4151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>
                <a:solidFill>
                  <a:srgbClr val="1D3557"/>
                </a:solidFill>
                <a:latin typeface="Georgia"/>
              </a:rPr>
              <a:t>ML1 — Motor identification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[Friend's section] Identification of motor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47872"/>
            <a:ext cx="640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E07A5F"/>
                </a:solidFill>
                <a:latin typeface="Georgi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47872"/>
            <a:ext cx="4151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>
                <a:solidFill>
                  <a:srgbClr val="1D3557"/>
                </a:solidFill>
                <a:latin typeface="Georgia"/>
              </a:rPr>
              <a:t>ML2 — Speed filtering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Neural filter (GRU / CNN / TCN) vs EMA &amp; Kalman; nonlinear-plant 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547872"/>
            <a:ext cx="640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E07A5F"/>
                </a:solidFill>
                <a:latin typeface="Georgia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3547872"/>
            <a:ext cx="4151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>
                <a:solidFill>
                  <a:srgbClr val="1D3557"/>
                </a:solidFill>
                <a:latin typeface="Georgia"/>
              </a:rPr>
              <a:t>Conclusion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Key numbers, takeaways, and future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01  </a:t>
            </a:r>
            <a:r>
              <a:rPr sz="1100">
                <a:solidFill>
                  <a:srgbClr val="2A9D8F"/>
                </a:solidFill>
                <a:latin typeface="Consolas"/>
              </a:rPr>
              <a:t>PHYSICAL SETUP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1D3557"/>
                </a:solidFill>
                <a:latin typeface="Georgia"/>
              </a:rPr>
              <a:t>[Physical setup &amp; dataset]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02  </a:t>
            </a:r>
            <a:r>
              <a:rPr sz="1100">
                <a:solidFill>
                  <a:srgbClr val="2A9D8F"/>
                </a:solidFill>
                <a:latin typeface="Consolas"/>
              </a:rPr>
              <a:t>ML1 — MOTOR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1D3557"/>
                </a:solidFill>
                <a:latin typeface="Georgia"/>
              </a:rPr>
              <a:t>[ML1 — motor identification]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02  </a:t>
            </a:r>
            <a:r>
              <a:rPr sz="1100">
                <a:solidFill>
                  <a:srgbClr val="2A9D8F"/>
                </a:solidFill>
                <a:latin typeface="Consolas"/>
              </a:rPr>
              <a:t>ML1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1D3557"/>
                </a:solidFill>
                <a:latin typeface="Georgia"/>
              </a:rPr>
              <a:t>[ML1 — results &amp; validation]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03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SPEED FILTER: TASK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800">
                <a:solidFill>
                  <a:srgbClr val="1D3557"/>
                </a:solidFill>
                <a:latin typeface="Georgia"/>
              </a:rPr>
              <a:t>Denoise the speed of a nonlinear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sz="1500">
                <a:solidFill>
                  <a:srgbClr val="4A5A66"/>
                </a:solidFill>
                <a:latin typeface="Calibri"/>
              </a:rPr>
              <a:t>Recover the true motor speed from a noisy speed sensor and the known command voltage. The vertical rod adds a gravity torque </a:t>
            </a:r>
            <a:r>
              <a:rPr b="1" sz="1500">
                <a:solidFill>
                  <a:srgbClr val="1C2B36"/>
                </a:solidFill>
                <a:latin typeface="Calibri"/>
              </a:rPr>
              <a:t>∝ sin θ</a:t>
            </a:r>
            <a:r>
              <a:rPr b="0" sz="1500">
                <a:solidFill>
                  <a:srgbClr val="4A5A66"/>
                </a:solidFill>
                <a:latin typeface="Calibri"/>
              </a:rPr>
              <a:t>, making the mechanics </a:t>
            </a:r>
            <a:r>
              <a:rPr b="1" sz="1500">
                <a:solidFill>
                  <a:srgbClr val="1C2B36"/>
                </a:solidFill>
                <a:latin typeface="Calibri"/>
              </a:rPr>
              <a:t>nonlinear and state-dependent</a:t>
            </a:r>
            <a:r>
              <a:rPr b="0" sz="1500">
                <a:solidFill>
                  <a:srgbClr val="4A5A66"/>
                </a:solidFill>
                <a:latin typeface="Calibri"/>
              </a:rPr>
              <a:t> — the property a learned filter can exploit.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88920"/>
            <a:ext cx="10607040" cy="896112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788920"/>
            <a:ext cx="38100" cy="896112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898648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1D3557"/>
                </a:solidFill>
                <a:latin typeface="Consolas"/>
              </a:rPr>
              <a:t>(J + I_rod)·dω/dt  =  Kt·i − B·ω − m·g·l_cm·sin(θ)     ← gravity = nonlinearity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b="0" sz="1350">
                <a:solidFill>
                  <a:srgbClr val="1D3557"/>
                </a:solidFill>
                <a:latin typeface="Consolas"/>
              </a:rPr>
              <a:t>input   x = [ omega_noisy , voltage ]        target   y = omega_true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b="1" sz="1500">
                <a:solidFill>
                  <a:srgbClr val="1C2B36"/>
                </a:solidFill>
                <a:latin typeface="Calibri"/>
              </a:rPr>
              <a:t>210 trajectories</a:t>
            </a:r>
            <a:r>
              <a:rPr b="0" sz="1500">
                <a:solidFill>
                  <a:srgbClr val="4A5A66"/>
                </a:solidFill>
                <a:latin typeface="Calibri"/>
              </a:rPr>
              <a:t>, 6 s @ 1 ms, split </a:t>
            </a:r>
            <a:r>
              <a:rPr b="1" sz="1500">
                <a:solidFill>
                  <a:srgbClr val="1C2B36"/>
                </a:solidFill>
                <a:latin typeface="Calibri"/>
              </a:rPr>
              <a:t>70/15/15 by trajectory</a:t>
            </a:r>
            <a:r>
              <a:rPr b="0" sz="1500">
                <a:solidFill>
                  <a:srgbClr val="4A5A66"/>
                </a:solidFill>
                <a:latin typeface="Calibri"/>
              </a:rPr>
              <a:t> — no time-step leaks between train and test.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b="0" sz="1500">
                <a:solidFill>
                  <a:srgbClr val="4A5A66"/>
                </a:solidFill>
                <a:latin typeface="Calibri"/>
              </a:rPr>
              <a:t>Excitation cycles </a:t>
            </a:r>
            <a:r>
              <a:rPr b="1" sz="1500">
                <a:solidFill>
                  <a:srgbClr val="1C2B36"/>
                </a:solidFill>
                <a:latin typeface="Calibri"/>
              </a:rPr>
              <a:t>step / ramp / random / mixed</a:t>
            </a:r>
            <a:r>
              <a:rPr b="0" sz="1500">
                <a:solidFill>
                  <a:srgbClr val="4A5A66"/>
                </a:solidFill>
                <a:latin typeface="Calibri"/>
              </a:rPr>
              <a:t> bipolar voltage; motor R, J, B jittered ±12% per run.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b="0" sz="1500">
                <a:solidFill>
                  <a:srgbClr val="4A5A66"/>
                </a:solidFill>
                <a:latin typeface="Calibri"/>
              </a:rPr>
              <a:t>Sensor noise std 2–4 rad/s on a </a:t>
            </a:r>
            <a:r>
              <a:rPr b="0" sz="1500">
                <a:solidFill>
                  <a:srgbClr val="4A5A66"/>
                </a:solidFill>
                <a:latin typeface="Calibri"/>
              </a:rPr>
              <a:t>21 rad/s swing → </a:t>
            </a:r>
            <a:r>
              <a:rPr b="1" sz="1500">
                <a:solidFill>
                  <a:srgbClr val="1C2B36"/>
                </a:solidFill>
                <a:latin typeface="Calibri"/>
              </a:rPr>
              <a:t>SNR ≈ 7× (14% noise)</a:t>
            </a:r>
            <a:r>
              <a:rPr b="0" sz="1500">
                <a:solidFill>
                  <a:srgbClr val="4A5A66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C99A2E"/>
                </a:solidFill>
                <a:latin typeface="Calibri"/>
              </a:rPr>
              <a:t>—  </a:t>
            </a:r>
            <a:r>
              <a:rPr b="0" sz="1500">
                <a:solidFill>
                  <a:srgbClr val="4A5A66"/>
                </a:solidFill>
                <a:latin typeface="Calibri"/>
              </a:rPr>
              <a:t>A </a:t>
            </a:r>
            <a:r>
              <a:rPr b="1" sz="1500">
                <a:solidFill>
                  <a:srgbClr val="1C2B36"/>
                </a:solidFill>
                <a:latin typeface="Calibri"/>
              </a:rPr>
              <a:t>chirp</a:t>
            </a:r>
            <a:r>
              <a:rPr b="0" sz="1500">
                <a:solidFill>
                  <a:srgbClr val="4A5A66"/>
                </a:solidFill>
                <a:latin typeface="Calibri"/>
              </a:rPr>
              <a:t> excitation is held out entirely for an out-of-distribution generalisation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04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800">
                <a:solidFill>
                  <a:srgbClr val="1D3557"/>
                </a:solidFill>
                <a:latin typeface="Georgia"/>
              </a:rPr>
              <a:t>Classical baselines vs learned filters.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0" sz="1500">
                <a:solidFill>
                  <a:srgbClr val="4A5A66"/>
                </a:solidFill>
                <a:latin typeface="Calibri"/>
              </a:rPr>
              <a:t>Baselines tuned on validation, evaluated on test: </a:t>
            </a:r>
            <a:r>
              <a:rPr b="1" sz="1500">
                <a:solidFill>
                  <a:srgbClr val="1C2B36"/>
                </a:solidFill>
                <a:latin typeface="Calibri"/>
              </a:rPr>
              <a:t>EMA</a:t>
            </a:r>
            <a:r>
              <a:rPr b="0" sz="1500">
                <a:solidFill>
                  <a:srgbClr val="4A5A66"/>
                </a:solidFill>
                <a:latin typeface="Calibri"/>
              </a:rPr>
              <a:t> (α tuned) and a steady-state </a:t>
            </a:r>
            <a:r>
              <a:rPr b="1" sz="1500">
                <a:solidFill>
                  <a:srgbClr val="1C2B36"/>
                </a:solidFill>
                <a:latin typeface="Calibri"/>
              </a:rPr>
              <a:t>Kalman</a:t>
            </a:r>
            <a:r>
              <a:rPr b="0" sz="1500">
                <a:solidFill>
                  <a:srgbClr val="4A5A66"/>
                </a:solidFill>
                <a:latin typeface="Calibri"/>
              </a:rPr>
              <a:t> filter on the nominal linear </a:t>
            </a:r>
            <a:r>
              <a:rPr b="0" sz="1380">
                <a:solidFill>
                  <a:srgbClr val="1D3557"/>
                </a:solidFill>
                <a:latin typeface="Consolas"/>
              </a:rPr>
              <a:t>[i, ω]</a:t>
            </a:r>
            <a:r>
              <a:rPr b="0" sz="1500">
                <a:solidFill>
                  <a:srgbClr val="4A5A66"/>
                </a:solidFill>
                <a:latin typeface="Calibri"/>
              </a:rPr>
              <a:t> model — whose model </a:t>
            </a:r>
            <a:r>
              <a:rPr b="1" sz="1500">
                <a:solidFill>
                  <a:srgbClr val="1C2B36"/>
                </a:solidFill>
                <a:latin typeface="Calibri"/>
              </a:rPr>
              <a:t>omits the gravity term</a:t>
            </a:r>
            <a:r>
              <a:rPr b="0" sz="1500">
                <a:solidFill>
                  <a:srgbClr val="4A5A66"/>
                </a:solidFill>
                <a:latin typeface="Calibri"/>
              </a:rPr>
              <a:t>. Three learned filters share the same causal </a:t>
            </a:r>
            <a:r>
              <a:rPr b="1" sz="1500">
                <a:solidFill>
                  <a:srgbClr val="1C2B36"/>
                </a:solidFill>
                <a:latin typeface="Calibri"/>
              </a:rPr>
              <a:t>64 ms</a:t>
            </a:r>
            <a:r>
              <a:rPr b="0" sz="1500">
                <a:solidFill>
                  <a:srgbClr val="4A5A66"/>
                </a:solidFill>
                <a:latin typeface="Calibri"/>
              </a:rPr>
              <a:t> window over [omega_noisy, voltage].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697480"/>
            <a:ext cx="38100" cy="187451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862072"/>
            <a:ext cx="30175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>
                <a:solidFill>
                  <a:srgbClr val="2A9D8F"/>
                </a:solidFill>
                <a:latin typeface="Consolas"/>
              </a:rPr>
              <a:t>GRU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600">
                <a:solidFill>
                  <a:srgbClr val="1D3557"/>
                </a:solidFill>
                <a:latin typeface="Georgia"/>
              </a:rPr>
              <a:t>GRU  (3 489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Recurrent hidden state accumulates </a:t>
            </a:r>
            <a:r>
              <a:rPr b="1" sz="1200">
                <a:solidFill>
                  <a:srgbClr val="1C2B36"/>
                </a:solidFill>
                <a:latin typeface="Calibri"/>
              </a:rPr>
              <a:t>64 ms</a:t>
            </a:r>
            <a:r>
              <a:rPr b="0" sz="1200">
                <a:solidFill>
                  <a:srgbClr val="4A5A66"/>
                </a:solidFill>
                <a:latin typeface="Calibri"/>
              </a:rPr>
              <a:t> of context. hidden = 32, 1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697480"/>
            <a:ext cx="38100" cy="1874519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862072"/>
            <a:ext cx="30175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>
                <a:solidFill>
                  <a:srgbClr val="1D3557"/>
                </a:solidFill>
                <a:latin typeface="Consolas"/>
              </a:rPr>
              <a:t>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600">
                <a:solidFill>
                  <a:srgbClr val="1D3557"/>
                </a:solidFill>
                <a:latin typeface="Georgia"/>
              </a:rPr>
              <a:t>CNN  (8 801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Stacked causal 1-D convolutions. channels = 32, k = 8, depth =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697480"/>
            <a:ext cx="38100" cy="187451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862072"/>
            <a:ext cx="30175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>
                <a:solidFill>
                  <a:srgbClr val="E07A5F"/>
                </a:solidFill>
                <a:latin typeface="Consolas"/>
              </a:rPr>
              <a:t>TCN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600">
                <a:solidFill>
                  <a:srgbClr val="1D3557"/>
                </a:solidFill>
                <a:latin typeface="Georgia"/>
              </a:rPr>
              <a:t>TCN  (33 153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200">
                <a:solidFill>
                  <a:srgbClr val="4A5A66"/>
                </a:solidFill>
                <a:latin typeface="Calibri"/>
              </a:rPr>
              <a:t>Dilated causal convolutions. Receptive field = </a:t>
            </a:r>
            <a:r>
              <a:rPr b="1" sz="1200">
                <a:solidFill>
                  <a:srgbClr val="1C2B36"/>
                </a:solidFill>
                <a:latin typeface="Calibri"/>
              </a:rPr>
              <a:t>91 ms</a:t>
            </a:r>
            <a:r>
              <a:rPr b="0" sz="1200">
                <a:solidFill>
                  <a:srgbClr val="4A5A66"/>
                </a:solidFill>
                <a:latin typeface="Calibri"/>
              </a:rPr>
              <a:t>. channels = 32, k = 4, 4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92040"/>
            <a:ext cx="10607040" cy="896112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92040"/>
            <a:ext cx="38100" cy="896112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001768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1D3557"/>
                </a:solidFill>
                <a:latin typeface="Consolas"/>
              </a:rPr>
              <a:t>all learned filters:   x = (B, 64, 2)  →  scalar omega_true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b="0" sz="1350">
                <a:solidFill>
                  <a:srgbClr val="1D3557"/>
                </a:solidFill>
                <a:latin typeface="Consolas"/>
              </a:rPr>
              <a:t>loss = MSE        optimiser = Adam (lr 1e-3)        early stop on 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05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RESULTS  (IN-DISTRIBUTION TEST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1D3557"/>
                </a:solidFill>
                <a:latin typeface="Georgia"/>
              </a:rPr>
              <a:t>Learned filters cut error </a:t>
            </a:r>
            <a:r>
              <a:rPr b="1" sz="2700">
                <a:solidFill>
                  <a:srgbClr val="1D3557"/>
                </a:solidFill>
                <a:latin typeface="Georgia"/>
              </a:rPr>
              <a:t>51% below Kalman.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11680"/>
          <a:ext cx="106070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54956"/>
                <a:gridCol w="6152084"/>
              </a:tblGrid>
              <a:tr h="41148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Raw  —  no filter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2.97 rad/s   (28.3 RPM)    —   reference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MA  —  window 64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3.00 rad/s   (28.6 RPM)   −1 %   (just lag)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Kalman  —  tuned, linear model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1.32 rad/s   (12.6 RPM)   +56 %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EMA  —  tuned α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1.07 rad/s   (10.2 RPM)   +64 %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CNN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0.80 rad/s   ( 7.6 RPM)   +73 %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C2B36"/>
                          </a:solidFill>
                          <a:latin typeface="Consolas"/>
                        </a:rPr>
                        <a:t>GRU</a:t>
                      </a:r>
                      <a:r>
                        <a:rPr b="0" sz="1200">
                          <a:solidFill>
                            <a:srgbClr val="1D3557"/>
                          </a:solidFill>
                          <a:latin typeface="Consolas"/>
                        </a:rPr>
                        <a:t>  /  </a:t>
                      </a:r>
                      <a:r>
                        <a:rPr b="1" sz="1200">
                          <a:solidFill>
                            <a:srgbClr val="1C2B36"/>
                          </a:solidFill>
                          <a:latin typeface="Consolas"/>
                        </a:rPr>
                        <a:t>TCN 🏆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RMSE  </a:t>
                      </a:r>
                      <a:r>
                        <a:rPr b="1" sz="1300">
                          <a:solidFill>
                            <a:srgbClr val="1C2B36"/>
                          </a:solidFill>
                          <a:latin typeface="Calibri"/>
                        </a:rPr>
                        <a:t>0.65 rad/s</a:t>
                      </a:r>
                      <a:r>
                        <a:rPr b="0" sz="1300">
                          <a:solidFill>
                            <a:srgbClr val="4A5A66"/>
                          </a:solidFill>
                          <a:latin typeface="Calibri"/>
                        </a:rPr>
                        <a:t>   ( 6.2 RPM)   </a:t>
                      </a:r>
                      <a:r>
                        <a:rPr b="1" sz="1300">
                          <a:solidFill>
                            <a:srgbClr val="1C2B36"/>
                          </a:solidFill>
                          <a:latin typeface="Calibri"/>
                        </a:rPr>
                        <a:t>+78 %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9204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12700">
            <a:solidFill>
              <a:srgbClr val="FA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892040"/>
            <a:ext cx="38100" cy="10058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983480"/>
            <a:ext cx="102229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500">
                <a:solidFill>
                  <a:srgbClr val="1D3557"/>
                </a:solidFill>
                <a:latin typeface="Georgia"/>
              </a:rPr>
              <a:t>Model-based ≠ better.  </a:t>
            </a:r>
            <a:r>
              <a:rPr b="0" sz="1500">
                <a:solidFill>
                  <a:srgbClr val="4A5A66"/>
                </a:solidFill>
                <a:latin typeface="Calibri"/>
              </a:rPr>
              <a:t>The tuned linear </a:t>
            </a:r>
            <a:r>
              <a:rPr b="1" sz="1500">
                <a:solidFill>
                  <a:srgbClr val="1C2B36"/>
                </a:solidFill>
                <a:latin typeface="Calibri"/>
              </a:rPr>
              <a:t>Kalman (1.32)</a:t>
            </a:r>
            <a:r>
              <a:rPr b="0" sz="1500">
                <a:solidFill>
                  <a:srgbClr val="4A5A66"/>
                </a:solidFill>
                <a:latin typeface="Calibri"/>
              </a:rPr>
              <a:t> actually loses to a plain tuned </a:t>
            </a:r>
            <a:r>
              <a:rPr b="1" sz="1500">
                <a:solidFill>
                  <a:srgbClr val="1C2B36"/>
                </a:solidFill>
                <a:latin typeface="Calibri"/>
              </a:rPr>
              <a:t>EMA (1.07)</a:t>
            </a:r>
            <a:r>
              <a:rPr b="0" sz="1500">
                <a:solidFill>
                  <a:srgbClr val="4A5A66"/>
                </a:solidFill>
                <a:latin typeface="Calibri"/>
              </a:rPr>
              <a:t>: its linear model can't represent the rod's gravity torque, so its model-mismatch outweighs its model-based advantage.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06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600">
                <a:solidFill>
                  <a:srgbClr val="1D3557"/>
                </a:solidFill>
                <a:latin typeface="Georgia"/>
              </a:rPr>
              <a:t>Every neural filter beats every classical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b="0" sz="1500">
                <a:solidFill>
                  <a:srgbClr val="4A5A66"/>
                </a:solidFill>
                <a:latin typeface="Calibri"/>
              </a:rPr>
              <a:t>A 64-sample </a:t>
            </a:r>
            <a:r>
              <a:rPr b="1" sz="1500">
                <a:solidFill>
                  <a:srgbClr val="1C2B36"/>
                </a:solidFill>
                <a:latin typeface="Calibri"/>
              </a:rPr>
              <a:t>moving average barely helps</a:t>
            </a:r>
            <a:r>
              <a:rPr b="0" sz="1500">
                <a:solidFill>
                  <a:srgbClr val="4A5A66"/>
                </a:solidFill>
                <a:latin typeface="Calibri"/>
              </a:rPr>
              <a:t> — the rod swings fast enough that its lag cancels its smoothing.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b="1" sz="1500">
                <a:solidFill>
                  <a:srgbClr val="1C2B36"/>
                </a:solidFill>
                <a:latin typeface="Calibri"/>
              </a:rPr>
              <a:t>EMA and Kalman</a:t>
            </a:r>
            <a:r>
              <a:rPr b="0" sz="1500">
                <a:solidFill>
                  <a:srgbClr val="4A5A66"/>
                </a:solidFill>
                <a:latin typeface="Calibri"/>
              </a:rPr>
              <a:t> land at 1.1–1.3 rad/s — a useful but limited linear fit.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b="1" sz="1500">
                <a:solidFill>
                  <a:srgbClr val="1C2B36"/>
                </a:solidFill>
                <a:latin typeface="Calibri"/>
              </a:rPr>
              <a:t>GRU / TCN reach 0.65 rad/s</a:t>
            </a:r>
            <a:r>
              <a:rPr b="0" sz="1500">
                <a:solidFill>
                  <a:srgbClr val="4A5A66"/>
                </a:solidFill>
                <a:latin typeface="Calibri"/>
              </a:rPr>
              <a:t> — a 78% cut from the raw sensor and </a:t>
            </a:r>
            <a:r>
              <a:rPr b="0" sz="1500">
                <a:solidFill>
                  <a:srgbClr val="4A5A66"/>
                </a:solidFill>
                <a:latin typeface="Calibri"/>
              </a:rPr>
              <a:t>51% below the tuned Kalman.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554480"/>
            <a:ext cx="6126480" cy="3990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rison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700784"/>
            <a:ext cx="5833872" cy="3241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58384" y="4987544"/>
            <a:ext cx="5833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100">
                <a:solidFill>
                  <a:srgbClr val="4A5A66"/>
                </a:solidFill>
                <a:latin typeface="Consolas"/>
              </a:rPr>
              <a:t>Fig. 1 — test-set RMSE by method (motor + rod, lower is better).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07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GENERALISATION  (UNSEEN EXCITATION)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2600">
                <a:solidFill>
                  <a:srgbClr val="1D3557"/>
                </a:solidFill>
                <a:latin typeface="Georgia"/>
              </a:rPr>
              <a:t>Classical filters break on unseen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11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b="0" sz="1500">
                <a:solidFill>
                  <a:srgbClr val="4A5A66"/>
                </a:solidFill>
                <a:latin typeface="Calibri"/>
              </a:rPr>
              <a:t>Tested on a </a:t>
            </a:r>
            <a:r>
              <a:rPr b="1" sz="1500">
                <a:solidFill>
                  <a:srgbClr val="1C2B36"/>
                </a:solidFill>
                <a:latin typeface="Calibri"/>
              </a:rPr>
              <a:t>chirp</a:t>
            </a:r>
            <a:r>
              <a:rPr b="0" sz="1500">
                <a:solidFill>
                  <a:srgbClr val="4A5A66"/>
                </a:solidFill>
                <a:latin typeface="Calibri"/>
              </a:rPr>
              <a:t> sweep never seen in training (only step/ramp/random/mixed were).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b="1" sz="1500">
                <a:solidFill>
                  <a:srgbClr val="1C2B36"/>
                </a:solidFill>
                <a:latin typeface="Calibri"/>
              </a:rPr>
              <a:t>EMA collapses</a:t>
            </a:r>
            <a:r>
              <a:rPr b="0" sz="1500">
                <a:solidFill>
                  <a:srgbClr val="4A5A66"/>
                </a:solidFill>
                <a:latin typeface="Calibri"/>
              </a:rPr>
              <a:t> +64% → </a:t>
            </a:r>
            <a:r>
              <a:rPr b="1" sz="1500">
                <a:solidFill>
                  <a:srgbClr val="1C2B36"/>
                </a:solidFill>
                <a:latin typeface="Calibri"/>
              </a:rPr>
              <a:t>+12%</a:t>
            </a:r>
            <a:r>
              <a:rPr b="0" sz="1500">
                <a:solidFill>
                  <a:srgbClr val="4A5A66"/>
                </a:solidFill>
                <a:latin typeface="Calibri"/>
              </a:rPr>
              <a:t>; </a:t>
            </a:r>
            <a:r>
              <a:rPr b="1" sz="1500">
                <a:solidFill>
                  <a:srgbClr val="1C2B36"/>
                </a:solidFill>
                <a:latin typeface="Calibri"/>
              </a:rPr>
              <a:t>Kalman</a:t>
            </a:r>
            <a:r>
              <a:rPr b="0" sz="1500">
                <a:solidFill>
                  <a:srgbClr val="4A5A66"/>
                </a:solidFill>
                <a:latin typeface="Calibri"/>
              </a:rPr>
              <a:t> +56% → </a:t>
            </a:r>
            <a:r>
              <a:rPr b="1" sz="1500">
                <a:solidFill>
                  <a:srgbClr val="1C2B36"/>
                </a:solidFill>
                <a:latin typeface="Calibri"/>
              </a:rPr>
              <a:t>+24%</a:t>
            </a:r>
            <a:r>
              <a:rPr b="0" sz="1500">
                <a:solidFill>
                  <a:srgbClr val="4A5A66"/>
                </a:solidFill>
                <a:latin typeface="Calibri"/>
              </a:rPr>
              <a:t> — they were implicitly tuned to the training spectrum.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b="1" sz="1500">
                <a:solidFill>
                  <a:srgbClr val="1C2B36"/>
                </a:solidFill>
                <a:latin typeface="Calibri"/>
              </a:rPr>
              <a:t>Neural filters hold</a:t>
            </a:r>
            <a:r>
              <a:rPr b="0" sz="1500">
                <a:solidFill>
                  <a:srgbClr val="4A5A66"/>
                </a:solidFill>
                <a:latin typeface="Calibri"/>
              </a:rPr>
              <a:t>: CNN +73%, GRU +69%, TCN +67% — they learned the dynamics, not the excitation.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783080"/>
            <a:ext cx="6126480" cy="29936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od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929384"/>
            <a:ext cx="5833872" cy="2243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58384" y="4218900"/>
            <a:ext cx="5833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0" sz="1100">
                <a:solidFill>
                  <a:srgbClr val="4A5A66"/>
                </a:solidFill>
                <a:latin typeface="Consolas"/>
              </a:rPr>
              <a:t>Fig. 2 — chirp (OOD) trajectory: GRU tracks truth; Kalman lags.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08  </a:t>
            </a:r>
            <a:r>
              <a:rPr sz="1100">
                <a:solidFill>
                  <a:srgbClr val="2A9D8F"/>
                </a:solidFill>
                <a:latin typeface="Consola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b="1" sz="3000">
                <a:solidFill>
                  <a:srgbClr val="1D3557"/>
                </a:solidFill>
                <a:latin typeface="Georgia"/>
              </a:rPr>
              <a:t>[Conclusion]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