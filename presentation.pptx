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02920"/>
            <a:ext cx="17780" cy="585216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02920"/>
            <a:ext cx="30480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82296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>
                <a:solidFill>
                  <a:srgbClr val="2A9D8F"/>
                </a:solidFill>
                <a:latin typeface="Consolas"/>
              </a:rPr>
              <a:t>AI IN ELECTRICAL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28016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b="1" sz="3800">
                <a:solidFill>
                  <a:srgbClr val="1D3557"/>
                </a:solidFill>
                <a:latin typeface="Georgia"/>
              </a:rPr>
              <a:t>[Presentation title]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1752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b="0" sz="1800">
                <a:solidFill>
                  <a:srgbClr val="4A5A66"/>
                </a:solidFill>
                <a:latin typeface="Calibri"/>
              </a:rPr>
              <a:t>[Short subtitle — one sentence describing the project]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069080"/>
            <a:ext cx="2560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b="1" sz="1200">
                <a:solidFill>
                  <a:srgbClr val="1D3557"/>
                </a:solidFill>
                <a:latin typeface="Consolas"/>
              </a:rPr>
              <a:t>[Author 1]  ·  [Author 2]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b="0" sz="1100">
                <a:solidFill>
                  <a:srgbClr val="4A5A66"/>
                </a:solidFill>
                <a:latin typeface="Consolas"/>
              </a:rPr>
              <a:t>[Author 3]  ·  [Author 4]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4069080"/>
            <a:ext cx="2560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b="1" sz="1200">
                <a:solidFill>
                  <a:srgbClr val="1D3557"/>
                </a:solidFill>
                <a:latin typeface="Consolas"/>
              </a:rPr>
              <a:t>Course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b="0" sz="1100">
                <a:solidFill>
                  <a:srgbClr val="4A5A66"/>
                </a:solidFill>
                <a:latin typeface="Consolas"/>
              </a:rPr>
              <a:t>AI in Electrical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4069080"/>
            <a:ext cx="2560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b="1" sz="1200">
                <a:solidFill>
                  <a:srgbClr val="1D3557"/>
                </a:solidFill>
                <a:latin typeface="Consolas"/>
              </a:rPr>
              <a:t>[University]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b="0" sz="1100">
                <a:solidFill>
                  <a:srgbClr val="4A5A66"/>
                </a:solidFill>
                <a:latin typeface="Consolas"/>
              </a:rPr>
              <a:t>[Year]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02920"/>
            <a:ext cx="17780" cy="585216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02920"/>
            <a:ext cx="30480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>
                <a:solidFill>
                  <a:srgbClr val="2A9D8F"/>
                </a:solidFill>
                <a:latin typeface="Consolas"/>
              </a:rPr>
              <a:t>TABLE OF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32688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b="1" sz="2800">
                <a:solidFill>
                  <a:srgbClr val="1D3557"/>
                </a:solidFill>
                <a:latin typeface="Georgia"/>
              </a:rPr>
              <a:t>Outline.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828800"/>
            <a:ext cx="520293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75104"/>
            <a:ext cx="640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b="1" sz="3000">
                <a:solidFill>
                  <a:srgbClr val="E07A5F"/>
                </a:solidFill>
                <a:latin typeface="Georgia"/>
              </a:rPr>
              <a:t>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75104"/>
            <a:ext cx="415137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b="1" sz="1700">
                <a:solidFill>
                  <a:srgbClr val="1D3557"/>
                </a:solidFill>
                <a:latin typeface="Georgia"/>
              </a:rPr>
              <a:t>Physical setup &amp; dataset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b="0" sz="1200">
                <a:solidFill>
                  <a:srgbClr val="4A5A66"/>
                </a:solidFill>
                <a:latin typeface="Calibri"/>
              </a:rPr>
              <a:t>Two-inertia servo ODE, chirp training excitation, multisine test.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2784" y="1828800"/>
            <a:ext cx="520293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975104"/>
            <a:ext cx="640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b="1" sz="3000">
                <a:solidFill>
                  <a:srgbClr val="E07A5F"/>
                </a:solidFill>
                <a:latin typeface="Georgia"/>
              </a:rPr>
              <a:t>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41464" y="1975104"/>
            <a:ext cx="415137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b="1" sz="1700">
                <a:solidFill>
                  <a:srgbClr val="1D3557"/>
                </a:solidFill>
                <a:latin typeface="Georgia"/>
              </a:rPr>
              <a:t>ML1 — Motor identification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b="0" sz="1200">
                <a:solidFill>
                  <a:srgbClr val="4A5A66"/>
                </a:solidFill>
                <a:latin typeface="Calibri"/>
              </a:rPr>
              <a:t>[Friend's section] Sparse identification of motor dynamics.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401568"/>
            <a:ext cx="520293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47872"/>
            <a:ext cx="640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b="1" sz="3000">
                <a:solidFill>
                  <a:srgbClr val="E07A5F"/>
                </a:solidFill>
                <a:latin typeface="Georgia"/>
              </a:rPr>
              <a:t>III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547872"/>
            <a:ext cx="415137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b="1" sz="1700">
                <a:solidFill>
                  <a:srgbClr val="1D3557"/>
                </a:solidFill>
                <a:latin typeface="Georgia"/>
              </a:rPr>
              <a:t>ML2 — Backlash compensation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b="0" sz="1200">
                <a:solidFill>
                  <a:srgbClr val="4A5A66"/>
                </a:solidFill>
                <a:latin typeface="Calibri"/>
              </a:rPr>
              <a:t>GRU, CNN, TCN: per-window normalisation, architectures, results.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4" y="3401568"/>
            <a:ext cx="520293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3547872"/>
            <a:ext cx="640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b="1" sz="3000">
                <a:solidFill>
                  <a:srgbClr val="E07A5F"/>
                </a:solidFill>
                <a:latin typeface="Georgia"/>
              </a:rPr>
              <a:t>IV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41464" y="3547872"/>
            <a:ext cx="415137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b="1" sz="1700">
                <a:solidFill>
                  <a:srgbClr val="1D3557"/>
                </a:solidFill>
                <a:latin typeface="Georgia"/>
              </a:rPr>
              <a:t>Conclusion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b="0" sz="1200">
                <a:solidFill>
                  <a:srgbClr val="4A5A66"/>
                </a:solidFill>
                <a:latin typeface="Calibri"/>
              </a:rPr>
              <a:t>Key numbers, takeaways, and future directions.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02920"/>
            <a:ext cx="17780" cy="585216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02920"/>
            <a:ext cx="30480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E07A5F"/>
                </a:solidFill>
                <a:latin typeface="Consolas"/>
              </a:rPr>
              <a:t>01  </a:t>
            </a:r>
            <a:r>
              <a:rPr sz="1100">
                <a:solidFill>
                  <a:srgbClr val="2A9D8F"/>
                </a:solidFill>
                <a:latin typeface="Consolas"/>
              </a:rPr>
              <a:t>PHYSICAL SETUP &amp;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6012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b="1" sz="3000">
                <a:solidFill>
                  <a:srgbClr val="1D3557"/>
                </a:solidFill>
                <a:latin typeface="Georgia"/>
              </a:rPr>
              <a:t>[Physical setup &amp; dataset]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02920"/>
            <a:ext cx="17780" cy="585216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02920"/>
            <a:ext cx="30480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E07A5F"/>
                </a:solidFill>
                <a:latin typeface="Consolas"/>
              </a:rPr>
              <a:t>02  </a:t>
            </a:r>
            <a:r>
              <a:rPr sz="1100">
                <a:solidFill>
                  <a:srgbClr val="2A9D8F"/>
                </a:solidFill>
                <a:latin typeface="Consolas"/>
              </a:rPr>
              <a:t>ML1 — MOTOR IDENTIFICATION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6012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b="1" sz="3000">
                <a:solidFill>
                  <a:srgbClr val="1D3557"/>
                </a:solidFill>
                <a:latin typeface="Georgia"/>
              </a:rPr>
              <a:t>[ML1 — motor identification]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02920"/>
            <a:ext cx="17780" cy="585216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02920"/>
            <a:ext cx="30480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E07A5F"/>
                </a:solidFill>
                <a:latin typeface="Consolas"/>
              </a:rPr>
              <a:t>02  </a:t>
            </a:r>
            <a:r>
              <a:rPr sz="1100">
                <a:solidFill>
                  <a:srgbClr val="2A9D8F"/>
                </a:solidFill>
                <a:latin typeface="Consolas"/>
              </a:rPr>
              <a:t>ML1 —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6012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b="1" sz="3000">
                <a:solidFill>
                  <a:srgbClr val="1D3557"/>
                </a:solidFill>
                <a:latin typeface="Georgia"/>
              </a:rPr>
              <a:t>[ML1 — results &amp; validation]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02920"/>
            <a:ext cx="17780" cy="585216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02920"/>
            <a:ext cx="30480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E07A5F"/>
                </a:solidFill>
                <a:latin typeface="Consolas"/>
              </a:rPr>
              <a:t>03  </a:t>
            </a:r>
            <a:r>
              <a:rPr sz="1100">
                <a:solidFill>
                  <a:srgbClr val="2A9D8F"/>
                </a:solidFill>
                <a:latin typeface="Consolas"/>
              </a:rPr>
              <a:t>ML2 — FEATURE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6012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b="1" sz="2800">
                <a:solidFill>
                  <a:srgbClr val="1D3557"/>
                </a:solidFill>
                <a:latin typeface="Georgia"/>
              </a:rPr>
              <a:t>Per-window velocity normalisation.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b="0" sz="1500">
                <a:solidFill>
                  <a:srgbClr val="4A5A66"/>
                </a:solidFill>
                <a:latin typeface="Calibri"/>
              </a:rPr>
              <a:t>Backlash error ≈ damper lag ∝ motor velocity. The chirp (train) is 2.4× faster than the multisine (test). A fixed </a:t>
            </a:r>
            <a:r>
              <a:rPr b="0" sz="1380">
                <a:solidFill>
                  <a:srgbClr val="1D3557"/>
                </a:solidFill>
                <a:latin typeface="Consolas"/>
              </a:rPr>
              <a:t>error_std</a:t>
            </a:r>
            <a:r>
              <a:rPr b="0" sz="1500">
                <a:solidFill>
                  <a:srgbClr val="4A5A66"/>
                </a:solidFill>
                <a:latin typeface="Calibri"/>
              </a:rPr>
              <a:t> from training causes 2.3× over-correction on test — all models score </a:t>
            </a:r>
            <a:r>
              <a:rPr b="1" sz="1500">
                <a:solidFill>
                  <a:srgbClr val="1C2B36"/>
                </a:solidFill>
                <a:latin typeface="Calibri"/>
              </a:rPr>
              <a:t>worse than rigid coupling</a:t>
            </a:r>
            <a:r>
              <a:rPr b="0" sz="1500">
                <a:solidFill>
                  <a:srgbClr val="4A5A66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633472"/>
            <a:ext cx="10607040" cy="1463040"/>
          </a:xfrm>
          <a:prstGeom prst="roundRect">
            <a:avLst>
              <a:gd name="adj" fmla="val 6000"/>
            </a:avLst>
          </a:prstGeom>
          <a:solidFill>
            <a:srgbClr val="F4F1E9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633472"/>
            <a:ext cx="38100" cy="146304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2743200"/>
            <a:ext cx="1024128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350">
                <a:solidFill>
                  <a:srgbClr val="1D3557"/>
                </a:solidFill>
                <a:latin typeface="Consolas"/>
              </a:rPr>
              <a:t>local_vel  =  std( diff(enc_m_window) )          ← velocity proxy per window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b="0" sz="1350">
                <a:solidFill>
                  <a:srgbClr val="1D3557"/>
                </a:solidFill>
                <a:latin typeface="Consolas"/>
              </a:rPr>
              <a:t>enc_m_rel[t]  =  (enc_m[t] − enc_m[t₀]) / local_vel   ← input feature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b="0" sz="1350">
                <a:solidFill>
                  <a:srgbClr val="1D3557"/>
                </a:solidFill>
                <a:latin typeface="Consolas"/>
              </a:rPr>
              <a:t>y_norm  =  (θ_l − enc_m/N) / (local_vel / N)            ← target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b="0" sz="1350">
                <a:solidFill>
                  <a:srgbClr val="1D3557"/>
                </a:solidFill>
                <a:latin typeface="Consolas"/>
              </a:rPr>
              <a:t>pred_error  =  model_output × (local_vel / N)            ← denorm at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106070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—  </a:t>
            </a:r>
            <a:r>
              <a:rPr b="0" sz="1500">
                <a:solidFill>
                  <a:srgbClr val="4A5A66"/>
                </a:solidFill>
                <a:latin typeface="Calibri"/>
              </a:rPr>
              <a:t>Both input and target scale with the </a:t>
            </a:r>
            <a:r>
              <a:rPr b="1" sz="1500">
                <a:solidFill>
                  <a:srgbClr val="1C2B36"/>
                </a:solidFill>
                <a:latin typeface="Calibri"/>
              </a:rPr>
              <a:t>same local speed</a:t>
            </a:r>
            <a:r>
              <a:rPr b="0" sz="1500">
                <a:solidFill>
                  <a:srgbClr val="4A5A66"/>
                </a:solidFill>
                <a:latin typeface="Calibri"/>
              </a:rPr>
              <a:t> — the ratio is constant across train and test.</a:t>
            </a:r>
          </a:p>
          <a:p>
            <a:pPr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1">
                <a:solidFill>
                  <a:srgbClr val="1D3557"/>
                </a:solidFill>
                <a:latin typeface="Calibri"/>
              </a:rPr>
              <a:t>—  </a:t>
            </a:r>
            <a:r>
              <a:rPr b="0" sz="1500">
                <a:solidFill>
                  <a:srgbClr val="4A5A66"/>
                </a:solidFill>
                <a:latin typeface="Calibri"/>
              </a:rPr>
              <a:t>After the fix, normalised-target std ratio train vs test: </a:t>
            </a:r>
            <a:r>
              <a:rPr b="1" sz="1500">
                <a:solidFill>
                  <a:srgbClr val="1C2B36"/>
                </a:solidFill>
                <a:latin typeface="Calibri"/>
              </a:rPr>
              <a:t>1.06×</a:t>
            </a:r>
            <a:r>
              <a:rPr b="0" sz="1500">
                <a:solidFill>
                  <a:srgbClr val="4A5A66"/>
                </a:solidFill>
                <a:latin typeface="Calibri"/>
              </a:rPr>
              <a:t>  (was 2.3×).</a:t>
            </a:r>
          </a:p>
          <a:p>
            <a:pPr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1">
                <a:solidFill>
                  <a:srgbClr val="E07A5F"/>
                </a:solidFill>
                <a:latin typeface="Calibri"/>
              </a:rPr>
              <a:t>—  </a:t>
            </a:r>
            <a:r>
              <a:rPr b="0" sz="1500">
                <a:solidFill>
                  <a:srgbClr val="4A5A66"/>
                </a:solidFill>
                <a:latin typeface="Calibri"/>
              </a:rPr>
              <a:t>Window W = 64 steps = 64 ms provides enough velocity history without excessive delay.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02920"/>
            <a:ext cx="17780" cy="585216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02920"/>
            <a:ext cx="30480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E07A5F"/>
                </a:solidFill>
                <a:latin typeface="Consolas"/>
              </a:rPr>
              <a:t>04  </a:t>
            </a:r>
            <a:r>
              <a:rPr sz="1100">
                <a:solidFill>
                  <a:srgbClr val="2A9D8F"/>
                </a:solidFill>
                <a:latin typeface="Consolas"/>
              </a:rPr>
              <a:t>ML2 — MODEL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6012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b="1" sz="2800">
                <a:solidFill>
                  <a:srgbClr val="1D3557"/>
                </a:solidFill>
                <a:latin typeface="Georgia"/>
              </a:rPr>
              <a:t>Three architectures, three context lengths.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331720"/>
            <a:ext cx="33832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331720"/>
            <a:ext cx="38100" cy="1874519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496312"/>
            <a:ext cx="3017520" cy="1600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b="0" sz="1000">
                <a:solidFill>
                  <a:srgbClr val="2A9D8F"/>
                </a:solidFill>
                <a:latin typeface="Consolas"/>
              </a:rPr>
              <a:t>GRU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b="1" sz="1600">
                <a:solidFill>
                  <a:srgbClr val="1D3557"/>
                </a:solidFill>
                <a:latin typeface="Georgia"/>
              </a:rPr>
              <a:t>GRU  (3 489 params)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b="0" sz="1200">
                <a:solidFill>
                  <a:srgbClr val="4A5A66"/>
                </a:solidFill>
                <a:latin typeface="Calibri"/>
              </a:rPr>
              <a:t>Recurrent hidden state h accumulates </a:t>
            </a:r>
            <a:r>
              <a:rPr b="1" sz="1200">
                <a:solidFill>
                  <a:srgbClr val="1C2B36"/>
                </a:solidFill>
                <a:latin typeface="Calibri"/>
              </a:rPr>
              <a:t>64 ms</a:t>
            </a:r>
            <a:r>
              <a:rPr b="0" sz="1200">
                <a:solidFill>
                  <a:srgbClr val="4A5A66"/>
                </a:solidFill>
                <a:latin typeface="Calibri"/>
              </a:rPr>
              <a:t> of context. hidden = 32, 1 layer.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2331720"/>
            <a:ext cx="33832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60" y="2331720"/>
            <a:ext cx="38100" cy="1874519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496312"/>
            <a:ext cx="3017520" cy="1600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b="0" sz="1000">
                <a:solidFill>
                  <a:srgbClr val="1D3557"/>
                </a:solidFill>
                <a:latin typeface="Consolas"/>
              </a:rPr>
              <a:t>CNN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b="1" sz="1600">
                <a:solidFill>
                  <a:srgbClr val="1D3557"/>
                </a:solidFill>
                <a:latin typeface="Georgia"/>
              </a:rPr>
              <a:t>CNN  (8 801 params)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b="0" sz="1200">
                <a:solidFill>
                  <a:srgbClr val="4A5A66"/>
                </a:solidFill>
                <a:latin typeface="Calibri"/>
              </a:rPr>
              <a:t>Stack of valid 1-D convolutions. Receptive field = </a:t>
            </a:r>
            <a:r>
              <a:rPr b="1" sz="1200">
                <a:solidFill>
                  <a:srgbClr val="1C2B36"/>
                </a:solidFill>
                <a:latin typeface="Calibri"/>
              </a:rPr>
              <a:t>15 ms</a:t>
            </a:r>
            <a:r>
              <a:rPr b="0" sz="1200">
                <a:solidFill>
                  <a:srgbClr val="4A5A66"/>
                </a:solidFill>
                <a:latin typeface="Calibri"/>
              </a:rPr>
              <a:t>. channels = 32, k = 8, depth = 2.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331720"/>
            <a:ext cx="33832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2331720"/>
            <a:ext cx="38100" cy="187451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3608" y="2496312"/>
            <a:ext cx="3017520" cy="1600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b="0" sz="1000">
                <a:solidFill>
                  <a:srgbClr val="E07A5F"/>
                </a:solidFill>
                <a:latin typeface="Consolas"/>
              </a:rPr>
              <a:t>TCN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b="1" sz="1600">
                <a:solidFill>
                  <a:srgbClr val="1D3557"/>
                </a:solidFill>
                <a:latin typeface="Georgia"/>
              </a:rPr>
              <a:t>TCN  (33 153 params)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b="0" sz="1200">
                <a:solidFill>
                  <a:srgbClr val="4A5A66"/>
                </a:solidFill>
                <a:latin typeface="Calibri"/>
              </a:rPr>
              <a:t>Dilated causal convolutions. Receptive field = </a:t>
            </a:r>
            <a:r>
              <a:rPr b="1" sz="1200">
                <a:solidFill>
                  <a:srgbClr val="1C2B36"/>
                </a:solidFill>
                <a:latin typeface="Calibri"/>
              </a:rPr>
              <a:t>91 ms</a:t>
            </a:r>
            <a:r>
              <a:rPr b="0" sz="1200">
                <a:solidFill>
                  <a:srgbClr val="4A5A66"/>
                </a:solidFill>
                <a:latin typeface="Calibri"/>
              </a:rPr>
              <a:t>. channels = 32, k = 4, 4 levels.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68172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b="0" sz="1400">
                <a:solidFill>
                  <a:srgbClr val="4A5A66"/>
                </a:solidFill>
                <a:latin typeface="Calibri"/>
              </a:rPr>
              <a:t>All models: input </a:t>
            </a:r>
            <a:r>
              <a:rPr b="0" sz="1288">
                <a:solidFill>
                  <a:srgbClr val="1D3557"/>
                </a:solidFill>
                <a:latin typeface="Consolas"/>
              </a:rPr>
              <a:t>(B, 64, 2)</a:t>
            </a:r>
            <a:r>
              <a:rPr b="0" sz="1400">
                <a:solidFill>
                  <a:srgbClr val="4A5A66"/>
                </a:solidFill>
                <a:latin typeface="Calibri"/>
              </a:rPr>
              <a:t> — [enc_m_rel, pwm_norm] — output scalar per-window normalised error. Loss: MSE. Optimiser: Adam lr = 1e-3.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5376672"/>
            <a:ext cx="10607040" cy="804672"/>
          </a:xfrm>
          <a:prstGeom prst="roundRect">
            <a:avLst>
              <a:gd name="adj" fmla="val 6000"/>
            </a:avLst>
          </a:prstGeom>
          <a:solidFill>
            <a:srgbClr val="F4F1E9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5376672"/>
            <a:ext cx="38100" cy="804672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5486400"/>
            <a:ext cx="102412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350">
                <a:solidFill>
                  <a:srgbClr val="1D3557"/>
                </a:solidFill>
                <a:latin typeface="Consolas"/>
              </a:rPr>
              <a:t>RF_CNN  =  (k−1) × depth × 2 + 1  =  15 steps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b="0" sz="1350">
                <a:solidFill>
                  <a:srgbClr val="1D3557"/>
                </a:solidFill>
                <a:latin typeface="Consolas"/>
              </a:rPr>
              <a:t>RF_TCN  =  (k−1) × (2^levels − 1) × 2 + 1  =  91 steps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02920"/>
            <a:ext cx="17780" cy="585216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02920"/>
            <a:ext cx="30480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E07A5F"/>
                </a:solidFill>
                <a:latin typeface="Consolas"/>
              </a:rPr>
              <a:t>05  </a:t>
            </a:r>
            <a:r>
              <a:rPr sz="1100">
                <a:solidFill>
                  <a:srgbClr val="2A9D8F"/>
                </a:solidFill>
                <a:latin typeface="Consolas"/>
              </a:rPr>
              <a:t>ML2 — RESULTS  (TEST SET, 30 S MULTISINE)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6012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b="1" sz="2800">
                <a:solidFill>
                  <a:srgbClr val="1D3557"/>
                </a:solidFill>
                <a:latin typeface="Georgia"/>
              </a:rPr>
              <a:t>TCN +48 %, GRU +29 % vs rigid coupling.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68680" y="2011680"/>
          <a:ext cx="10607040" cy="2057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454956"/>
                <a:gridCol w="6152084"/>
              </a:tblGrid>
              <a:tr h="411480">
                <a:tc>
                  <a:txBody>
                    <a:bodyPr/>
                    <a:lstStyle/>
                    <a:p>
                      <a:r>
                        <a:rPr b="0" sz="1200">
                          <a:solidFill>
                            <a:srgbClr val="1D3557"/>
                          </a:solidFill>
                          <a:latin typeface="Consolas"/>
                        </a:rPr>
                        <a:t>Rigid coupling  —  enc_m / N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300">
                          <a:solidFill>
                            <a:srgbClr val="4A5A66"/>
                          </a:solidFill>
                          <a:latin typeface="Calibri"/>
                        </a:rPr>
                        <a:t>RMSE  0.102 mrad   (0.0058°)    —   reference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b="0" sz="1200">
                          <a:solidFill>
                            <a:srgbClr val="1D3557"/>
                          </a:solidFill>
                          <a:latin typeface="Consolas"/>
                        </a:rPr>
                        <a:t>Output encoder  —  enc_o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300">
                          <a:solidFill>
                            <a:srgbClr val="4A5A66"/>
                          </a:solidFill>
                          <a:latin typeface="Calibri"/>
                        </a:rPr>
                        <a:t>RMSE  0.323 mrad   (0.0185°)   −217 %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b="0" sz="1200">
                          <a:solidFill>
                            <a:srgbClr val="1D3557"/>
                          </a:solidFill>
                          <a:latin typeface="Consolas"/>
                        </a:rPr>
                        <a:t>CNN  —  valid conv, RF = 15 ms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300">
                          <a:solidFill>
                            <a:srgbClr val="4A5A66"/>
                          </a:solidFill>
                          <a:latin typeface="Calibri"/>
                        </a:rPr>
                        <a:t>RMSE  0.117 mrad   (0.0067°)   −14.8 %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C2B36"/>
                          </a:solidFill>
                          <a:latin typeface="Consolas"/>
                        </a:rPr>
                        <a:t>GRU</a:t>
                      </a:r>
                      <a:r>
                        <a:rPr b="0" sz="1200">
                          <a:solidFill>
                            <a:srgbClr val="1D3557"/>
                          </a:solidFill>
                          <a:latin typeface="Consolas"/>
                        </a:rPr>
                        <a:t>  —  W = 64 ms, hidden 32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300">
                          <a:solidFill>
                            <a:srgbClr val="4A5A66"/>
                          </a:solidFill>
                          <a:latin typeface="Calibri"/>
                        </a:rPr>
                        <a:t>RMSE  0.072 mrad   (0.0041°)   </a:t>
                      </a:r>
                      <a:r>
                        <a:rPr b="1" sz="1300">
                          <a:solidFill>
                            <a:srgbClr val="1C2B36"/>
                          </a:solidFill>
                          <a:latin typeface="Calibri"/>
                        </a:rPr>
                        <a:t>+29.4 %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C2B36"/>
                          </a:solidFill>
                          <a:latin typeface="Consolas"/>
                        </a:rPr>
                        <a:t>TCN 🏆</a:t>
                      </a:r>
                      <a:r>
                        <a:rPr b="0" sz="1200">
                          <a:solidFill>
                            <a:srgbClr val="1D3557"/>
                          </a:solidFill>
                          <a:latin typeface="Consolas"/>
                        </a:rPr>
                        <a:t>  —  dilated, RF = 91 ms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300">
                          <a:solidFill>
                            <a:srgbClr val="4A5A66"/>
                          </a:solidFill>
                          <a:latin typeface="Calibri"/>
                        </a:rPr>
                        <a:t>RMSE  0.052 mrad   (0.0030°)   </a:t>
                      </a:r>
                      <a:r>
                        <a:rPr b="1" sz="1300">
                          <a:solidFill>
                            <a:srgbClr val="1C2B36"/>
                          </a:solidFill>
                          <a:latin typeface="Calibri"/>
                        </a:rPr>
                        <a:t>+48.4 %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68680" y="4526280"/>
            <a:ext cx="10607040" cy="868680"/>
          </a:xfrm>
          <a:prstGeom prst="roundRect">
            <a:avLst>
              <a:gd name="adj" fmla="val 6000"/>
            </a:avLst>
          </a:prstGeom>
          <a:solidFill>
            <a:srgbClr val="FAECE7"/>
          </a:solidFill>
          <a:ln w="12700">
            <a:solidFill>
              <a:srgbClr val="FAE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4526280"/>
            <a:ext cx="38100" cy="86868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17720"/>
            <a:ext cx="1022299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b="1" sz="1500">
                <a:solidFill>
                  <a:srgbClr val="1D3557"/>
                </a:solidFill>
                <a:latin typeface="Georgia"/>
              </a:rPr>
              <a:t>Why CNN fails.  </a:t>
            </a:r>
            <a:r>
              <a:rPr b="0" sz="1500">
                <a:solidFill>
                  <a:srgbClr val="4A5A66"/>
                </a:solidFill>
                <a:latin typeface="Calibri"/>
              </a:rPr>
              <a:t>Its 15 ms receptive field cannot estimate velocity from a </a:t>
            </a:r>
            <a:r>
              <a:rPr b="1" sz="1500">
                <a:solidFill>
                  <a:srgbClr val="1C2B36"/>
                </a:solidFill>
                <a:latin typeface="Calibri"/>
              </a:rPr>
              <a:t>noisy quantised encoder</a:t>
            </a:r>
            <a:r>
              <a:rPr b="0" sz="1500">
                <a:solidFill>
                  <a:srgbClr val="4A5A66"/>
                </a:solidFill>
                <a:latin typeface="Calibri"/>
              </a:rPr>
              <a:t>. GRU (64 ms) and TCN (91 ms) are long enough to smooth the quantisation noise and measure velocity accurately.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62356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b="0" sz="1400">
                <a:solidFill>
                  <a:srgbClr val="4A5A66"/>
                </a:solidFill>
                <a:latin typeface="Calibri"/>
              </a:rPr>
              <a:t>Error is </a:t>
            </a:r>
            <a:r>
              <a:rPr b="1" sz="1400">
                <a:solidFill>
                  <a:srgbClr val="1C2B36"/>
                </a:solidFill>
                <a:latin typeface="Calibri"/>
              </a:rPr>
              <a:t>damper-induced lag</a:t>
            </a:r>
            <a:r>
              <a:rPr b="0" sz="1400">
                <a:solidFill>
                  <a:srgbClr val="4A5A66"/>
                </a:solidFill>
                <a:latin typeface="Calibri"/>
              </a:rPr>
              <a:t> proportional to motor velocity. A longer context gives a better velocity estimate — which directly explains the receptive-field ordering.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02920"/>
            <a:ext cx="17780" cy="585216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02920"/>
            <a:ext cx="30480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E07A5F"/>
                </a:solidFill>
                <a:latin typeface="Consolas"/>
              </a:rPr>
              <a:t>06  </a:t>
            </a:r>
            <a:r>
              <a:rPr sz="1100">
                <a:solidFill>
                  <a:srgbClr val="2A9D8F"/>
                </a:solidFill>
                <a:latin typeface="Consolas"/>
              </a:rPr>
              <a:t>ML2 — COMPARISON FIGURE  (ZOOM 2–5 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6012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b="1" sz="2700">
                <a:solidFill>
                  <a:srgbClr val="1D3557"/>
                </a:solidFill>
                <a:latin typeface="Georgia"/>
              </a:rPr>
              <a:t>TCN tracks the true backlash error closely.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41148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D3557"/>
                </a:solidFill>
                <a:latin typeface="Calibri"/>
              </a:rPr>
              <a:t>—  </a:t>
            </a:r>
            <a:r>
              <a:rPr b="0" sz="1500">
                <a:solidFill>
                  <a:srgbClr val="4A5A66"/>
                </a:solidFill>
                <a:latin typeface="Calibri"/>
              </a:rPr>
              <a:t>True backlash error (dashed) stays within </a:t>
            </a:r>
            <a:r>
              <a:rPr b="1" sz="1500">
                <a:solidFill>
                  <a:srgbClr val="1C2B36"/>
                </a:solidFill>
                <a:latin typeface="Calibri"/>
              </a:rPr>
              <a:t>±0.6 mrad</a:t>
            </a:r>
            <a:r>
              <a:rPr b="0" sz="1500">
                <a:solidFill>
                  <a:srgbClr val="4A5A66"/>
                </a:solidFill>
                <a:latin typeface="Calibri"/>
              </a:rPr>
              <a:t> — damper lag, not dead-zone hysteresis.</a:t>
            </a:r>
          </a:p>
          <a:p>
            <a:pPr>
              <a:lnSpc>
                <a:spcPct val="110000"/>
              </a:lnSpc>
              <a:spcBef>
                <a:spcPts val="1300"/>
              </a:spcBef>
              <a:spcAft>
                <a:spcPts val="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—  </a:t>
            </a:r>
            <a:r>
              <a:rPr b="0" sz="1500">
                <a:solidFill>
                  <a:srgbClr val="4A5A66"/>
                </a:solidFill>
                <a:latin typeface="Calibri"/>
              </a:rPr>
              <a:t>TCN </a:t>
            </a:r>
            <a:r>
              <a:rPr b="1" sz="1500">
                <a:solidFill>
                  <a:srgbClr val="1C2B36"/>
                </a:solidFill>
                <a:latin typeface="Calibri"/>
              </a:rPr>
              <a:t>follows the oscillation</a:t>
            </a:r>
            <a:r>
              <a:rPr b="0" sz="1500">
                <a:solidFill>
                  <a:srgbClr val="4A5A66"/>
                </a:solidFill>
                <a:latin typeface="Calibri"/>
              </a:rPr>
              <a:t>; GRU close behind; CNN adds noise instead of removing it.</a:t>
            </a:r>
          </a:p>
          <a:p>
            <a:pPr>
              <a:lnSpc>
                <a:spcPct val="110000"/>
              </a:lnSpc>
              <a:spcBef>
                <a:spcPts val="1300"/>
              </a:spcBef>
              <a:spcAft>
                <a:spcPts val="0"/>
              </a:spcAft>
            </a:pPr>
            <a:r>
              <a:rPr sz="1500" b="1">
                <a:solidFill>
                  <a:srgbClr val="E07A5F"/>
                </a:solidFill>
                <a:latin typeface="Calibri"/>
              </a:rPr>
              <a:t>—  </a:t>
            </a:r>
            <a:r>
              <a:rPr b="0" sz="1500">
                <a:solidFill>
                  <a:srgbClr val="4A5A66"/>
                </a:solidFill>
                <a:latin typeface="Calibri"/>
              </a:rPr>
              <a:t>Rigid coupling error oscillates in phase with motor velocity — confirming the </a:t>
            </a:r>
            <a:r>
              <a:rPr b="1" sz="1500">
                <a:solidFill>
                  <a:srgbClr val="1C2B36"/>
                </a:solidFill>
                <a:latin typeface="Calibri"/>
              </a:rPr>
              <a:t>v-proportional</a:t>
            </a:r>
            <a:r>
              <a:rPr b="0" sz="1500">
                <a:solidFill>
                  <a:srgbClr val="4A5A66"/>
                </a:solidFill>
                <a:latin typeface="Calibri"/>
              </a:rPr>
              <a:t> mechanism.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80" y="1234440"/>
            <a:ext cx="6126480" cy="368542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omparison_backlash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8384" y="1380744"/>
            <a:ext cx="5833872" cy="293561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58384" y="4362083"/>
            <a:ext cx="58338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b="0" sz="1100">
                <a:solidFill>
                  <a:srgbClr val="4A5A66"/>
                </a:solidFill>
                <a:latin typeface="Consolas"/>
              </a:rPr>
              <a:t>Fig. 1 — backlash residual and estimation error, zoom 2–5 s (test set, multisine).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02920"/>
            <a:ext cx="17780" cy="585216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02920"/>
            <a:ext cx="30480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E07A5F"/>
                </a:solidFill>
                <a:latin typeface="Consolas"/>
              </a:rPr>
              <a:t>07  </a:t>
            </a:r>
            <a:r>
              <a:rPr sz="1100">
                <a:solidFill>
                  <a:srgbClr val="2A9D8F"/>
                </a:solidFill>
                <a:latin typeface="Consolas"/>
              </a:rPr>
              <a:t>ML2 —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6012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b="1" sz="3000">
                <a:solidFill>
                  <a:srgbClr val="1D3557"/>
                </a:solidFill>
                <a:latin typeface="Georgia"/>
              </a:rPr>
              <a:t>The gear spring never fires.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566928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b="0" sz="1500">
                <a:solidFill>
                  <a:srgbClr val="4A5A66"/>
                </a:solidFill>
                <a:latin typeface="Calibri"/>
              </a:rPr>
              <a:t>In the simulation, </a:t>
            </a:r>
            <a:r>
              <a:rPr b="0" sz="1380">
                <a:solidFill>
                  <a:srgbClr val="1D3557"/>
                </a:solidFill>
                <a:latin typeface="Consolas"/>
              </a:rPr>
              <a:t>T_mesh = kg·dz + cg·(ω_m − N·ω_l)</a:t>
            </a:r>
            <a:r>
              <a:rPr b="0" sz="1500">
                <a:solidFill>
                  <a:srgbClr val="4A5A66"/>
                </a:solidFill>
                <a:latin typeface="Calibri"/>
              </a:rPr>
              <a:t>. The spring </a:t>
            </a:r>
            <a:r>
              <a:rPr b="0" sz="1380">
                <a:solidFill>
                  <a:srgbClr val="1D3557"/>
                </a:solidFill>
                <a:latin typeface="Consolas"/>
              </a:rPr>
              <a:t>kg·dz</a:t>
            </a:r>
            <a:r>
              <a:rPr b="0" sz="1500">
                <a:solidFill>
                  <a:srgbClr val="4A5A66"/>
                </a:solidFill>
                <a:latin typeface="Calibri"/>
              </a:rPr>
              <a:t> fires only when |φ| &gt; gap_motor = 1 rad. But φ = θ_m − N·θ_l stays within </a:t>
            </a:r>
            <a:r>
              <a:rPr b="1" sz="1500">
                <a:solidFill>
                  <a:srgbClr val="1C2B36"/>
                </a:solidFill>
                <a:latin typeface="Calibri"/>
              </a:rPr>
              <a:t>±0.03 rad</a:t>
            </a:r>
            <a:r>
              <a:rPr b="0" sz="1500">
                <a:solidFill>
                  <a:srgbClr val="4A5A66"/>
                </a:solidFill>
                <a:latin typeface="Calibri"/>
              </a:rPr>
              <a:t> throughout all runs.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1828800"/>
            <a:ext cx="4297680" cy="1225296"/>
          </a:xfrm>
          <a:prstGeom prst="roundRect">
            <a:avLst>
              <a:gd name="adj" fmla="val 6000"/>
            </a:avLst>
          </a:prstGeom>
          <a:solidFill>
            <a:srgbClr val="F4F1E9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49440" y="1828800"/>
            <a:ext cx="38100" cy="122529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50608" y="1938528"/>
            <a:ext cx="3931920" cy="10424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350">
                <a:solidFill>
                  <a:srgbClr val="1D3557"/>
                </a:solidFill>
                <a:latin typeface="Consolas"/>
              </a:rPr>
              <a:t>φ  =  θ_m − N·θ_l  ≤  0.03 rad   «   gap_motor = 1.0 rad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b="0" sz="1350">
                <a:solidFill>
                  <a:srgbClr val="1D3557"/>
                </a:solidFill>
                <a:latin typeface="Consolas"/>
              </a:rPr>
              <a:t>→  dz = 0   →   T_mesh = cg·(ω_m − N·ω_l)   always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b="0" sz="1350">
                <a:solidFill>
                  <a:srgbClr val="1D3557"/>
                </a:solidFill>
                <a:latin typeface="Consolas"/>
              </a:rPr>
              <a:t>τ_l = Jl / (N²·η·cg)  =  5e-3 / 42.5  ≈  0.12 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08960"/>
            <a:ext cx="54864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07A5F"/>
                </a:solidFill>
                <a:latin typeface="Calibri"/>
              </a:rPr>
              <a:t>—  </a:t>
            </a:r>
            <a:r>
              <a:rPr b="0" sz="1500">
                <a:solidFill>
                  <a:srgbClr val="4A5A66"/>
                </a:solidFill>
                <a:latin typeface="Calibri"/>
              </a:rPr>
              <a:t>The task is </a:t>
            </a:r>
            <a:r>
              <a:rPr b="1" sz="1500">
                <a:solidFill>
                  <a:srgbClr val="1C2B36"/>
                </a:solidFill>
                <a:latin typeface="Calibri"/>
              </a:rPr>
              <a:t>predicting damper lag</a:t>
            </a:r>
            <a:r>
              <a:rPr b="0" sz="1500">
                <a:solidFill>
                  <a:srgbClr val="4A5A66"/>
                </a:solidFill>
                <a:latin typeface="Calibri"/>
              </a:rPr>
              <a:t> — proportional to velocity — not dead-zone hysteresis.</a:t>
            </a:r>
          </a:p>
          <a:p>
            <a:pPr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1">
                <a:solidFill>
                  <a:srgbClr val="1D3557"/>
                </a:solidFill>
                <a:latin typeface="Calibri"/>
              </a:rPr>
              <a:t>—  </a:t>
            </a:r>
            <a:r>
              <a:rPr b="1" sz="1500">
                <a:solidFill>
                  <a:srgbClr val="1C2B36"/>
                </a:solidFill>
                <a:latin typeface="Calibri"/>
              </a:rPr>
              <a:t>Longer context</a:t>
            </a:r>
            <a:r>
              <a:rPr b="0" sz="1500">
                <a:solidFill>
                  <a:srgbClr val="4A5A66"/>
                </a:solidFill>
                <a:latin typeface="Calibri"/>
              </a:rPr>
              <a:t> improves the velocity estimate from noisy quantised encoder data.</a:t>
            </a:r>
          </a:p>
          <a:p>
            <a:pPr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—  </a:t>
            </a:r>
            <a:r>
              <a:rPr b="0" sz="1500">
                <a:solidFill>
                  <a:srgbClr val="4A5A66"/>
                </a:solidFill>
                <a:latin typeface="Calibri"/>
              </a:rPr>
              <a:t>TCN (91 ms) &gt; GRU (64 ms) &gt; CNN (15 ms) — result follows directly from context length.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806440"/>
            <a:ext cx="10607040" cy="868680"/>
          </a:xfrm>
          <a:prstGeom prst="roundRect">
            <a:avLst>
              <a:gd name="adj" fmla="val 6000"/>
            </a:avLst>
          </a:prstGeom>
          <a:solidFill>
            <a:srgbClr val="E7F2F0"/>
          </a:solidFill>
          <a:ln w="12700">
            <a:solidFill>
              <a:srgbClr val="E7F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5806440"/>
            <a:ext cx="38100" cy="8686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5897880"/>
            <a:ext cx="1022299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b="1" sz="1500">
                <a:solidFill>
                  <a:srgbClr val="1D3557"/>
                </a:solidFill>
                <a:latin typeface="Georgia"/>
              </a:rPr>
              <a:t>Next step.  </a:t>
            </a:r>
            <a:r>
              <a:rPr b="0" sz="1500">
                <a:solidFill>
                  <a:srgbClr val="4A5A66"/>
                </a:solidFill>
                <a:latin typeface="Calibri"/>
              </a:rPr>
              <a:t>Reduce the output gap to 0.001 rad so the spring activates — that would stress-test </a:t>
            </a:r>
            <a:r>
              <a:rPr b="1" sz="1500">
                <a:solidFill>
                  <a:srgbClr val="1C2B36"/>
                </a:solidFill>
                <a:latin typeface="Calibri"/>
              </a:rPr>
              <a:t>hysteresis learning</a:t>
            </a:r>
            <a:r>
              <a:rPr b="0" sz="1500">
                <a:solidFill>
                  <a:srgbClr val="4A5A66"/>
                </a:solidFill>
                <a:latin typeface="Calibri"/>
              </a:rPr>
              <a:t> and likely widen the gap between GRU and TCN.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02920"/>
            <a:ext cx="17780" cy="585216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02920"/>
            <a:ext cx="30480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E07A5F"/>
                </a:solidFill>
                <a:latin typeface="Consolas"/>
              </a:rPr>
              <a:t>08  </a:t>
            </a:r>
            <a:r>
              <a:rPr sz="1100">
                <a:solidFill>
                  <a:srgbClr val="2A9D8F"/>
                </a:solidFill>
                <a:latin typeface="Consolas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6012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b="1" sz="3000">
                <a:solidFill>
                  <a:srgbClr val="1D3557"/>
                </a:solidFill>
                <a:latin typeface="Georgia"/>
              </a:rPr>
              <a:t>[Conclusion]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