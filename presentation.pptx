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>
                <a:solidFill>
                  <a:srgbClr val="2A9D8F"/>
                </a:solidFill>
                <a:latin typeface="Consolas"/>
              </a:rP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32688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Outline.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75104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75104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Physical setup &amp; dataset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Brushed DC motor + vertical rod load; excitation &amp; sensor-noise 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1828800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975104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1464" y="1975104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ML1 — Motor identification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[Friend's section] Identification of motor dynamics.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401568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47872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47872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ML2 — Speed filtering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Neural filter (GRU / CNN / TCN) vs EMA &amp; Kalman; nonlinear-plant gain.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3401568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3547872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1464" y="3547872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Conclusion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Key numbers, takeaways, and future directions.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03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SPEED FILTER: TASK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Denoise the speed of a nonlinear plant.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500">
                <a:solidFill>
                  <a:srgbClr val="4A5A66"/>
                </a:solidFill>
                <a:latin typeface="Calibri"/>
              </a:rPr>
              <a:t>Recover the true motor speed from a noisy speed sensor and the known command voltage. The vertical rod adds a gravity torque </a:t>
            </a:r>
            <a:r>
              <a:rPr b="1" sz="1500">
                <a:solidFill>
                  <a:srgbClr val="1C2B36"/>
                </a:solidFill>
                <a:latin typeface="Calibri"/>
              </a:rPr>
              <a:t>∝ sin θ</a:t>
            </a:r>
            <a:r>
              <a:rPr b="0" sz="1500">
                <a:solidFill>
                  <a:srgbClr val="4A5A66"/>
                </a:solidFill>
                <a:latin typeface="Calibri"/>
              </a:rPr>
              <a:t>, making the mechanics </a:t>
            </a:r>
            <a:r>
              <a:rPr b="1" sz="1500">
                <a:solidFill>
                  <a:srgbClr val="1C2B36"/>
                </a:solidFill>
                <a:latin typeface="Calibri"/>
              </a:rPr>
              <a:t>nonlinear and state-dependent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the property a learned filter can exploit.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788920"/>
            <a:ext cx="10607040" cy="896112"/>
          </a:xfrm>
          <a:prstGeom prst="roundRect">
            <a:avLst>
              <a:gd name="adj" fmla="val 6000"/>
            </a:avLst>
          </a:prstGeom>
          <a:solidFill>
            <a:srgbClr val="F4F1E9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788920"/>
            <a:ext cx="38100" cy="896112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898648"/>
            <a:ext cx="10241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(J + I_rod)·dω/dt  =  Kt·i − B·ω − m·g·l_cm·sin(θ)     ← gravity = nonlinearity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input   x = [ omega_noisy , voltage ]        target   y = omega_true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977639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—  </a:t>
            </a:r>
            <a:r>
              <a:rPr b="1" sz="1500">
                <a:solidFill>
                  <a:srgbClr val="1C2B36"/>
                </a:solidFill>
                <a:latin typeface="Calibri"/>
              </a:rPr>
              <a:t>210 trajectories</a:t>
            </a:r>
            <a:r>
              <a:rPr b="0" sz="1500">
                <a:solidFill>
                  <a:srgbClr val="4A5A66"/>
                </a:solidFill>
                <a:latin typeface="Calibri"/>
              </a:rPr>
              <a:t>, 6 s @ 1 ms, split </a:t>
            </a:r>
            <a:r>
              <a:rPr b="1" sz="1500">
                <a:solidFill>
                  <a:srgbClr val="1C2B36"/>
                </a:solidFill>
                <a:latin typeface="Calibri"/>
              </a:rPr>
              <a:t>70/15/15 by trajectory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no time-step leaks between train and test.</a:t>
            </a:r>
          </a:p>
          <a:p>
            <a:pPr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</a:pPr>
            <a:r>
              <a:rPr sz="1500" b="1">
                <a:solidFill>
                  <a:srgbClr val="1D3557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Excitation cycles </a:t>
            </a:r>
            <a:r>
              <a:rPr b="1" sz="1500">
                <a:solidFill>
                  <a:srgbClr val="1C2B36"/>
                </a:solidFill>
                <a:latin typeface="Calibri"/>
              </a:rPr>
              <a:t>step / ramp / random / mixed</a:t>
            </a:r>
            <a:r>
              <a:rPr b="0" sz="1500">
                <a:solidFill>
                  <a:srgbClr val="4A5A66"/>
                </a:solidFill>
                <a:latin typeface="Calibri"/>
              </a:rPr>
              <a:t> bipolar voltage; motor R, J, B jittered ±12% per run.</a:t>
            </a:r>
          </a:p>
          <a:p>
            <a:pPr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</a:pPr>
            <a:r>
              <a:rPr sz="1500" b="1">
                <a:solidFill>
                  <a:srgbClr val="E07A5F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Sensor noise std 2–4 rad/s on a </a:t>
            </a:r>
            <a:r>
              <a:rPr b="0" sz="1500">
                <a:solidFill>
                  <a:srgbClr val="4A5A66"/>
                </a:solidFill>
                <a:latin typeface="Calibri"/>
              </a:rPr>
              <a:t>21 rad/s swing → </a:t>
            </a:r>
            <a:r>
              <a:rPr b="1" sz="1500">
                <a:solidFill>
                  <a:srgbClr val="1C2B36"/>
                </a:solidFill>
                <a:latin typeface="Calibri"/>
              </a:rPr>
              <a:t>SNR ≈ 7× (14% noise)</a:t>
            </a:r>
            <a:r>
              <a:rPr b="0" sz="1500">
                <a:solidFill>
                  <a:srgbClr val="4A5A66"/>
                </a:solidFill>
                <a:latin typeface="Calibri"/>
              </a:rPr>
              <a:t>.</a:t>
            </a:r>
          </a:p>
          <a:p>
            <a:pPr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</a:pPr>
            <a:r>
              <a:rPr sz="1500" b="1">
                <a:solidFill>
                  <a:srgbClr val="C99A2E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A </a:t>
            </a:r>
            <a:r>
              <a:rPr b="1" sz="1500">
                <a:solidFill>
                  <a:srgbClr val="1C2B36"/>
                </a:solidFill>
                <a:latin typeface="Calibri"/>
              </a:rPr>
              <a:t>chirp</a:t>
            </a:r>
            <a:r>
              <a:rPr b="0" sz="1500">
                <a:solidFill>
                  <a:srgbClr val="4A5A66"/>
                </a:solidFill>
                <a:latin typeface="Calibri"/>
              </a:rPr>
              <a:t> excitation is held out entirely for an out-of-distribution generalisation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04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Classical baselines vs learned filters.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500">
                <a:solidFill>
                  <a:srgbClr val="4A5A66"/>
                </a:solidFill>
                <a:latin typeface="Calibri"/>
              </a:rPr>
              <a:t>Baselines tuned on validation, evaluated on test: </a:t>
            </a:r>
            <a:r>
              <a:rPr b="1" sz="1500">
                <a:solidFill>
                  <a:srgbClr val="1C2B36"/>
                </a:solidFill>
                <a:latin typeface="Calibri"/>
              </a:rPr>
              <a:t>EMA</a:t>
            </a:r>
            <a:r>
              <a:rPr b="0" sz="1500">
                <a:solidFill>
                  <a:srgbClr val="4A5A66"/>
                </a:solidFill>
                <a:latin typeface="Calibri"/>
              </a:rPr>
              <a:t> (α tuned) and a steady-state </a:t>
            </a:r>
            <a:r>
              <a:rPr b="1" sz="1500">
                <a:solidFill>
                  <a:srgbClr val="1C2B36"/>
                </a:solidFill>
                <a:latin typeface="Calibri"/>
              </a:rPr>
              <a:t>Kalman</a:t>
            </a:r>
            <a:r>
              <a:rPr b="0" sz="1500">
                <a:solidFill>
                  <a:srgbClr val="4A5A66"/>
                </a:solidFill>
                <a:latin typeface="Calibri"/>
              </a:rPr>
              <a:t> filter on the nominal linear </a:t>
            </a:r>
            <a:r>
              <a:rPr b="0" sz="1380">
                <a:solidFill>
                  <a:srgbClr val="1D3557"/>
                </a:solidFill>
                <a:latin typeface="Consolas"/>
              </a:rPr>
              <a:t>[i, ω]</a:t>
            </a:r>
            <a:r>
              <a:rPr b="0" sz="1500">
                <a:solidFill>
                  <a:srgbClr val="4A5A66"/>
                </a:solidFill>
                <a:latin typeface="Calibri"/>
              </a:rPr>
              <a:t> model — whose model </a:t>
            </a:r>
            <a:r>
              <a:rPr b="1" sz="1500">
                <a:solidFill>
                  <a:srgbClr val="1C2B36"/>
                </a:solidFill>
                <a:latin typeface="Calibri"/>
              </a:rPr>
              <a:t>omits the gravity term</a:t>
            </a:r>
            <a:r>
              <a:rPr b="0" sz="1500">
                <a:solidFill>
                  <a:srgbClr val="4A5A66"/>
                </a:solidFill>
                <a:latin typeface="Calibri"/>
              </a:rPr>
              <a:t>. Three learned filters share the same causal </a:t>
            </a:r>
            <a:r>
              <a:rPr b="1" sz="1500">
                <a:solidFill>
                  <a:srgbClr val="1C2B36"/>
                </a:solidFill>
                <a:latin typeface="Calibri"/>
              </a:rPr>
              <a:t>64 ms</a:t>
            </a:r>
            <a:r>
              <a:rPr b="0" sz="1500">
                <a:solidFill>
                  <a:srgbClr val="4A5A66"/>
                </a:solidFill>
                <a:latin typeface="Calibri"/>
              </a:rPr>
              <a:t> window over [omega_noisy, voltage].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97480"/>
            <a:ext cx="33832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697480"/>
            <a:ext cx="38100" cy="187451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862072"/>
            <a:ext cx="3017520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b="0" sz="1000">
                <a:solidFill>
                  <a:srgbClr val="2A9D8F"/>
                </a:solidFill>
                <a:latin typeface="Consolas"/>
              </a:rPr>
              <a:t>GRU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1600">
                <a:solidFill>
                  <a:srgbClr val="1D3557"/>
                </a:solidFill>
                <a:latin typeface="Georgia"/>
              </a:rPr>
              <a:t>GRU  (3 489 params)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Recurrent hidden state accumulates </a:t>
            </a:r>
            <a:r>
              <a:rPr b="1" sz="1200">
                <a:solidFill>
                  <a:srgbClr val="1C2B36"/>
                </a:solidFill>
                <a:latin typeface="Calibri"/>
              </a:rPr>
              <a:t>64 ms</a:t>
            </a:r>
            <a:r>
              <a:rPr b="0" sz="1200">
                <a:solidFill>
                  <a:srgbClr val="4A5A66"/>
                </a:solidFill>
                <a:latin typeface="Calibri"/>
              </a:rPr>
              <a:t> of context. hidden = 32, 1 layer.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697480"/>
            <a:ext cx="33832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2697480"/>
            <a:ext cx="38100" cy="1874519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2862072"/>
            <a:ext cx="3017520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b="0" sz="1000">
                <a:solidFill>
                  <a:srgbClr val="1D3557"/>
                </a:solidFill>
                <a:latin typeface="Consolas"/>
              </a:rPr>
              <a:t>CNN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1600">
                <a:solidFill>
                  <a:srgbClr val="1D3557"/>
                </a:solidFill>
                <a:latin typeface="Georgia"/>
              </a:rPr>
              <a:t>CNN  (8 801 params)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Stacked causal 1-D convolutions. channels = 32, k = 8, depth = 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697480"/>
            <a:ext cx="33832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697480"/>
            <a:ext cx="38100" cy="187451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862072"/>
            <a:ext cx="3017520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b="0" sz="1000">
                <a:solidFill>
                  <a:srgbClr val="E07A5F"/>
                </a:solidFill>
                <a:latin typeface="Consolas"/>
              </a:rPr>
              <a:t>TCN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1600">
                <a:solidFill>
                  <a:srgbClr val="1D3557"/>
                </a:solidFill>
                <a:latin typeface="Georgia"/>
              </a:rPr>
              <a:t>TCN  (33 153 params)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Dilated causal convolutions. Receptive field = </a:t>
            </a:r>
            <a:r>
              <a:rPr b="1" sz="1200">
                <a:solidFill>
                  <a:srgbClr val="1C2B36"/>
                </a:solidFill>
                <a:latin typeface="Calibri"/>
              </a:rPr>
              <a:t>91 ms</a:t>
            </a:r>
            <a:r>
              <a:rPr b="0" sz="1200">
                <a:solidFill>
                  <a:srgbClr val="4A5A66"/>
                </a:solidFill>
                <a:latin typeface="Calibri"/>
              </a:rPr>
              <a:t>. channels = 32, k = 4, 4 levels.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92040"/>
            <a:ext cx="10607040" cy="896112"/>
          </a:xfrm>
          <a:prstGeom prst="roundRect">
            <a:avLst>
              <a:gd name="adj" fmla="val 6000"/>
            </a:avLst>
          </a:prstGeom>
          <a:solidFill>
            <a:srgbClr val="F4F1E9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892040"/>
            <a:ext cx="38100" cy="896112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001768"/>
            <a:ext cx="10241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all learned filters:   x = (B, 64, 2)  →  scalar omega_true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loss = MSE        optimiser = Adam (lr 1e-3)        early stop on 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05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RESULTS  (IN-DISTRIBUTION TEST SET)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700">
                <a:solidFill>
                  <a:srgbClr val="1D3557"/>
                </a:solidFill>
                <a:latin typeface="Georgia"/>
              </a:rPr>
              <a:t>Learned filters cut error </a:t>
            </a:r>
            <a:r>
              <a:rPr b="1" sz="2700">
                <a:solidFill>
                  <a:srgbClr val="1D3557"/>
                </a:solidFill>
                <a:latin typeface="Georgia"/>
              </a:rPr>
              <a:t>51% below Kalman.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011680"/>
          <a:ext cx="10607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54956"/>
                <a:gridCol w="6152084"/>
              </a:tblGrid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Raw  —  no filter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2.97 rad/s   (28.3 RPM)    —   reference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MA  —  window 64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3.00 rad/s   (28.6 RPM)   −1 %   (just lag)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Kalman  —  tuned, linear model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1.32 rad/s   (12.6 RPM)   +56 %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EMA  —  tuned α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1.07 rad/s   (10.2 RPM)   +64 %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CNN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0.80 rad/s   ( 7.6 RPM)   +73 %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C2B36"/>
                          </a:solidFill>
                          <a:latin typeface="Consolas"/>
                        </a:rPr>
                        <a:t>GRU</a:t>
                      </a:r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  /  </a:t>
                      </a:r>
                      <a:r>
                        <a:rPr b="1" sz="1200">
                          <a:solidFill>
                            <a:srgbClr val="1C2B36"/>
                          </a:solidFill>
                          <a:latin typeface="Consolas"/>
                        </a:rPr>
                        <a:t>TCN 🏆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</a:t>
                      </a:r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0.65 rad/s</a:t>
                      </a:r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   ( 6.2 RPM)   </a:t>
                      </a:r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+78 %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892040"/>
            <a:ext cx="10607040" cy="1005840"/>
          </a:xfrm>
          <a:prstGeom prst="roundRect">
            <a:avLst>
              <a:gd name="adj" fmla="val 6000"/>
            </a:avLst>
          </a:prstGeom>
          <a:solidFill>
            <a:srgbClr val="FAECE7"/>
          </a:solidFill>
          <a:ln w="12700">
            <a:solidFill>
              <a:srgbClr val="FAE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892040"/>
            <a:ext cx="38100" cy="10058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83480"/>
            <a:ext cx="1022299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b="1" sz="1500">
                <a:solidFill>
                  <a:srgbClr val="1D3557"/>
                </a:solidFill>
                <a:latin typeface="Georgia"/>
              </a:rPr>
              <a:t>Model-based ≠ better.  </a:t>
            </a:r>
            <a:r>
              <a:rPr b="0" sz="1500">
                <a:solidFill>
                  <a:srgbClr val="4A5A66"/>
                </a:solidFill>
                <a:latin typeface="Calibri"/>
              </a:rPr>
              <a:t>The tuned linear </a:t>
            </a:r>
            <a:r>
              <a:rPr b="1" sz="1500">
                <a:solidFill>
                  <a:srgbClr val="1C2B36"/>
                </a:solidFill>
                <a:latin typeface="Calibri"/>
              </a:rPr>
              <a:t>Kalman (1.32)</a:t>
            </a:r>
            <a:r>
              <a:rPr b="0" sz="1500">
                <a:solidFill>
                  <a:srgbClr val="4A5A66"/>
                </a:solidFill>
                <a:latin typeface="Calibri"/>
              </a:rPr>
              <a:t> actually loses to a plain tuned </a:t>
            </a:r>
            <a:r>
              <a:rPr b="1" sz="1500">
                <a:solidFill>
                  <a:srgbClr val="1C2B36"/>
                </a:solidFill>
                <a:latin typeface="Calibri"/>
              </a:rPr>
              <a:t>EMA (1.07)</a:t>
            </a:r>
            <a:r>
              <a:rPr b="0" sz="1500">
                <a:solidFill>
                  <a:srgbClr val="4A5A66"/>
                </a:solidFill>
                <a:latin typeface="Calibri"/>
              </a:rPr>
              <a:t>: its linear model can't represent the rod's gravity torque, so its model-mismatch outweighs its model-based advantage.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06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600">
                <a:solidFill>
                  <a:srgbClr val="1D3557"/>
                </a:solidFill>
                <a:latin typeface="Georgia"/>
              </a:rPr>
              <a:t>Every neural filter beats every classical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36118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3557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A 64-sample </a:t>
            </a:r>
            <a:r>
              <a:rPr b="1" sz="1500">
                <a:solidFill>
                  <a:srgbClr val="1C2B36"/>
                </a:solidFill>
                <a:latin typeface="Calibri"/>
              </a:rPr>
              <a:t>moving average barely helps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the rod swings fast enough that its lag cancels its smoothing.</a:t>
            </a:r>
          </a:p>
          <a:p>
            <a:pPr>
              <a:lnSpc>
                <a:spcPct val="110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>
                <a:solidFill>
                  <a:srgbClr val="E07A5F"/>
                </a:solidFill>
                <a:latin typeface="Calibri"/>
              </a:rPr>
              <a:t>—  </a:t>
            </a:r>
            <a:r>
              <a:rPr b="1" sz="1500">
                <a:solidFill>
                  <a:srgbClr val="1C2B36"/>
                </a:solidFill>
                <a:latin typeface="Calibri"/>
              </a:rPr>
              <a:t>EMA and Kalman</a:t>
            </a:r>
            <a:r>
              <a:rPr b="0" sz="1500">
                <a:solidFill>
                  <a:srgbClr val="4A5A66"/>
                </a:solidFill>
                <a:latin typeface="Calibri"/>
              </a:rPr>
              <a:t> land at 1.1–1.3 rad/s — a useful but limited linear fit.</a:t>
            </a:r>
          </a:p>
          <a:p>
            <a:pPr>
              <a:lnSpc>
                <a:spcPct val="110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—  </a:t>
            </a:r>
            <a:r>
              <a:rPr b="1" sz="1500">
                <a:solidFill>
                  <a:srgbClr val="1C2B36"/>
                </a:solidFill>
                <a:latin typeface="Calibri"/>
              </a:rPr>
              <a:t>GRU / TCN reach 0.65 rad/s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a 78% cut from the raw sensor and </a:t>
            </a:r>
            <a:r>
              <a:rPr b="0" sz="1500">
                <a:solidFill>
                  <a:srgbClr val="4A5A66"/>
                </a:solidFill>
                <a:latin typeface="Calibri"/>
              </a:rPr>
              <a:t>51% below the tuned Kalman.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783080"/>
            <a:ext cx="6611112" cy="4260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mparison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929384"/>
            <a:ext cx="6318504" cy="3510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5464" y="5485384"/>
            <a:ext cx="6318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onsolas"/>
              </a:rPr>
              <a:t>Fig. 1 — test-set RMSE by method (motor + rod, lower is better).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07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GENERALISATION  (UNSEEN EXCITATION)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600">
                <a:solidFill>
                  <a:srgbClr val="1D3557"/>
                </a:solidFill>
                <a:latin typeface="Georgia"/>
              </a:rPr>
              <a:t>Classical filters break on unseen inputs.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057400"/>
          <a:ext cx="452628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1037"/>
                <a:gridCol w="2625243"/>
              </a:tblGrid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Raw  —  no filter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3.00 rad/s      —     reference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EMA  —  tuned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2.64 rad/s   +12 %   (was +64 %)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Kalman  —  tuned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2.29 rad/s   +24 %   (was +56 %)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TCN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0.98 rad/s   +67 %   holds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GRU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0.93 rad/s   +69 %   holds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C2B36"/>
                          </a:solidFill>
                          <a:latin typeface="Consolas"/>
                        </a:rPr>
                        <a:t>CNN 🏆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0.81 rad/s</a:t>
                      </a:r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   </a:t>
                      </a:r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+73 %</a:t>
                      </a:r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   holds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663440"/>
            <a:ext cx="4526280" cy="1554480"/>
          </a:xfrm>
          <a:prstGeom prst="roundRect">
            <a:avLst>
              <a:gd name="adj" fmla="val 6000"/>
            </a:avLst>
          </a:prstGeom>
          <a:solidFill>
            <a:srgbClr val="E7F2F0"/>
          </a:solidFill>
          <a:ln w="12700">
            <a:solidFill>
              <a:srgbClr val="E7F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663440"/>
            <a:ext cx="38100" cy="15544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4880"/>
            <a:ext cx="414223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b="1" sz="1500">
                <a:solidFill>
                  <a:srgbClr val="1D3557"/>
                </a:solidFill>
                <a:latin typeface="Georgia"/>
              </a:rPr>
              <a:t>Generalisation gap.  </a:t>
            </a:r>
            <a:r>
              <a:rPr b="0" sz="1500">
                <a:solidFill>
                  <a:srgbClr val="4A5A66"/>
                </a:solidFill>
                <a:latin typeface="Calibri"/>
              </a:rPr>
              <a:t>On a </a:t>
            </a:r>
            <a:r>
              <a:rPr b="1" sz="1500">
                <a:solidFill>
                  <a:srgbClr val="1C2B36"/>
                </a:solidFill>
                <a:latin typeface="Calibri"/>
              </a:rPr>
              <a:t>chirp</a:t>
            </a:r>
            <a:r>
              <a:rPr b="0" sz="1500">
                <a:solidFill>
                  <a:srgbClr val="4A5A66"/>
                </a:solidFill>
                <a:latin typeface="Calibri"/>
              </a:rPr>
              <a:t> sweep never seen in training, </a:t>
            </a:r>
            <a:r>
              <a:rPr b="1" sz="1500">
                <a:solidFill>
                  <a:srgbClr val="1C2B36"/>
                </a:solidFill>
                <a:latin typeface="Calibri"/>
              </a:rPr>
              <a:t>EMA and Kalman collapse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implicitly tuned to the training spectrum — while </a:t>
            </a:r>
            <a:r>
              <a:rPr b="1" sz="1500">
                <a:solidFill>
                  <a:srgbClr val="1C2B36"/>
                </a:solidFill>
                <a:latin typeface="Calibri"/>
              </a:rPr>
              <a:t>neural filters hold +67–73 %</a:t>
            </a:r>
            <a:r>
              <a:rPr b="0" sz="1500">
                <a:solidFill>
                  <a:srgbClr val="4A5A66"/>
                </a:solidFill>
                <a:latin typeface="Calibri"/>
              </a:rPr>
              <a:t>, having learned the dynamics, not the excitation.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783080"/>
            <a:ext cx="5650992" cy="3726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od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5584" y="1929384"/>
            <a:ext cx="5358384" cy="2976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15584" y="4951984"/>
            <a:ext cx="5358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onsolas"/>
              </a:rPr>
              <a:t>Fig. 2 — OOD (chirp) RMSE: classical filters collapse, neural hold.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