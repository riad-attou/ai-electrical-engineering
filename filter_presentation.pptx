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A3CD0E-0793-4094-B8BC-EFB8C17F362F}" v="9" dt="2026-06-29T05:55:38.878"/>
    <p1510:client id="{84A646E4-A9DD-4836-A65A-81A14A0F890F}" v="204" dt="2026-06-29T05:55:0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7589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D3557"/>
                </a:solidFill>
                <a:latin typeface="Georgia"/>
              </a:rPr>
              <a:t>[Presentation 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858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800" b="0">
                <a:solidFill>
                  <a:srgbClr val="4A5A66"/>
                </a:solidFill>
                <a:latin typeface="Calibri"/>
              </a:rPr>
              <a:t>[Short subtitle — one sentence describing the project]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8199120" cy="65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200" b="1" dirty="0">
                <a:solidFill>
                  <a:srgbClr val="1D3557"/>
                </a:solidFill>
                <a:latin typeface="Consolas"/>
              </a:rPr>
              <a:t>[Author 1</a:t>
            </a:r>
            <a:r>
              <a:rPr lang="fr-FR" sz="1200" b="1" dirty="0">
                <a:solidFill>
                  <a:srgbClr val="1D3557"/>
                </a:solidFill>
                <a:latin typeface="Consolas"/>
              </a:rPr>
              <a:t>] · [</a:t>
            </a:r>
            <a:r>
              <a:rPr sz="1200" b="1" dirty="0">
                <a:solidFill>
                  <a:srgbClr val="1D3557"/>
                </a:solidFill>
                <a:latin typeface="Consolas"/>
              </a:rPr>
              <a:t>Author 2]</a:t>
            </a:r>
            <a:r>
              <a:rPr lang="en-US" sz="1200" b="1">
                <a:solidFill>
                  <a:srgbClr val="1D3557"/>
                </a:solidFill>
                <a:latin typeface="Consolas"/>
              </a:rPr>
              <a:t> · [Author 3] · [Author 4] · [Author 5]</a:t>
            </a:r>
            <a:endParaRPr lang="en-US" sz="1200">
              <a:solidFill>
                <a:srgbClr val="000000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endParaRPr lang="en-US" sz="1200" b="1" dirty="0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endParaRPr sz="1200" b="1">
              <a:solidFill>
                <a:srgbClr val="1D3557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5077823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D3557"/>
                </a:solidFill>
                <a:latin typeface="Consolas"/>
              </a:rPr>
              <a:t>Course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4A5A66"/>
                </a:solidFill>
                <a:latin typeface="Consolas"/>
              </a:rPr>
              <a:t>AI in Electrical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4509" y="5077823"/>
            <a:ext cx="2560320" cy="40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lang="fr-FR" sz="1200" b="1">
                <a:solidFill>
                  <a:srgbClr val="1D3557"/>
                </a:solidFill>
                <a:latin typeface="Consolas"/>
              </a:rPr>
              <a:t>Xi'an </a:t>
            </a:r>
            <a:r>
              <a:rPr lang="fr-FR" sz="1200" b="1" err="1">
                <a:solidFill>
                  <a:srgbClr val="1D3557"/>
                </a:solidFill>
                <a:latin typeface="Consolas"/>
              </a:rPr>
              <a:t>Jiaotong</a:t>
            </a:r>
            <a:r>
              <a:rPr lang="fr-FR" sz="1200" b="1">
                <a:solidFill>
                  <a:srgbClr val="1D3557"/>
                </a:solidFill>
                <a:latin typeface="Consolas"/>
              </a:rPr>
              <a:t> </a:t>
            </a:r>
            <a:r>
              <a:rPr lang="fr-FR" sz="1200" b="1" err="1">
                <a:solidFill>
                  <a:srgbClr val="1D3557"/>
                </a:solidFill>
                <a:latin typeface="Consolas"/>
              </a:rPr>
              <a:t>University</a:t>
            </a:r>
            <a:endParaRPr lang="fr-FR" err="1"/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100">
                <a:solidFill>
                  <a:srgbClr val="4A5A66"/>
                </a:solidFill>
                <a:latin typeface="Consolas"/>
              </a:rPr>
              <a:t>2026</a:t>
            </a:r>
            <a:endParaRPr sz="1100" b="0">
              <a:solidFill>
                <a:srgbClr val="4A5A6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2897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>
                <a:solidFill>
                  <a:srgbClr val="2A9D8F"/>
                </a:solidFill>
                <a:latin typeface="Consolas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32688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Outline.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75104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75104"/>
            <a:ext cx="4151376" cy="508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b="1">
                <a:solidFill>
                  <a:srgbClr val="1D3557"/>
                </a:solidFill>
                <a:latin typeface="Georgia"/>
                <a:ea typeface="Calibri"/>
                <a:cs typeface="Calibri"/>
              </a:rPr>
              <a:t>PART 1</a:t>
            </a:r>
            <a:endParaRPr lang="fr-FR">
              <a:solidFill>
                <a:srgbClr val="000000"/>
              </a:solidFill>
              <a:latin typeface="Georgia"/>
              <a:ea typeface="Calibri"/>
              <a:cs typeface="Calibr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200" err="1">
                <a:solidFill>
                  <a:srgbClr val="4A5A66"/>
                </a:solidFill>
                <a:latin typeface="Calibri"/>
                <a:ea typeface="Calibri"/>
                <a:cs typeface="Calibri"/>
              </a:rPr>
              <a:t>text</a:t>
            </a:r>
            <a:endParaRPr lang="fr-FR" sz="1200" err="1">
              <a:solidFill>
                <a:srgbClr val="4A5A66"/>
              </a:solidFill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72784" y="1828800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975104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1975104"/>
            <a:ext cx="4151376" cy="497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b="1">
                <a:solidFill>
                  <a:srgbClr val="1D3557"/>
                </a:solidFill>
                <a:latin typeface="Georgia"/>
              </a:rPr>
              <a:t>Part2</a:t>
            </a:r>
            <a:endParaRPr lang="fr-FR">
              <a:solidFill>
                <a:srgbClr val="000000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fr-FR" sz="1200" err="1">
                <a:solidFill>
                  <a:srgbClr val="4A5A66"/>
                </a:solidFill>
                <a:latin typeface="Calibri"/>
              </a:rPr>
              <a:t>text</a:t>
            </a:r>
            <a:endParaRPr lang="fr-FR" err="1"/>
          </a:p>
        </p:txBody>
      </p:sp>
      <p:sp>
        <p:nvSpPr>
          <p:cNvPr id="12" name="Rounded Rectangle 11"/>
          <p:cNvSpPr/>
          <p:nvPr/>
        </p:nvSpPr>
        <p:spPr>
          <a:xfrm>
            <a:off x="868680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547872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47872"/>
            <a:ext cx="4151376" cy="508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b="1">
                <a:solidFill>
                  <a:srgbClr val="1D3557"/>
                </a:solidFill>
                <a:latin typeface="Georgia"/>
              </a:rPr>
              <a:t>Part 3</a:t>
            </a:r>
            <a:endParaRPr sz="1700" b="1">
              <a:solidFill>
                <a:srgbClr val="1D3557"/>
              </a:solidFill>
              <a:latin typeface="Georgia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200" err="1">
                <a:solidFill>
                  <a:srgbClr val="4A5A66"/>
                </a:solidFill>
                <a:latin typeface="Calibri"/>
              </a:rPr>
              <a:t>text</a:t>
            </a:r>
            <a:endParaRPr sz="1200" b="0" err="1">
              <a:solidFill>
                <a:srgbClr val="4A5A66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2784" y="3401568"/>
            <a:ext cx="520293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3547872"/>
            <a:ext cx="640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07A5F"/>
                </a:solidFill>
                <a:latin typeface="Georgia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3547872"/>
            <a:ext cx="4151376" cy="5087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fr-FR" sz="1700" b="1">
                <a:solidFill>
                  <a:srgbClr val="1D3557"/>
                </a:solidFill>
                <a:latin typeface="Georgia"/>
              </a:rPr>
              <a:t>Part 4</a:t>
            </a:r>
            <a:endParaRPr sz="1700" b="1">
              <a:solidFill>
                <a:srgbClr val="1D3557"/>
              </a:solidFill>
              <a:latin typeface="Georgia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lang="fr-FR" sz="1200">
                <a:solidFill>
                  <a:srgbClr val="4A5A66"/>
                </a:solidFill>
                <a:latin typeface="Calibri"/>
              </a:rPr>
              <a:t>text</a:t>
            </a:r>
            <a:endParaRPr sz="1200" b="0">
              <a:solidFill>
                <a:srgbClr val="4A5A6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03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SPEED FILTER: TASK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Denoise the speed of a nonlinear plant.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4A5A66"/>
                </a:solidFill>
                <a:latin typeface="Calibri"/>
              </a:rPr>
              <a:t>Recover the true motor speed from a noisy speed sensor and the known command voltage. The vertical rod adds a gravity torque </a:t>
            </a:r>
            <a:r>
              <a:rPr sz="1500" b="1">
                <a:solidFill>
                  <a:srgbClr val="1C2B36"/>
                </a:solidFill>
                <a:latin typeface="Calibri"/>
              </a:rPr>
              <a:t>∝ sin θ</a:t>
            </a:r>
            <a:r>
              <a:rPr sz="1500" b="0">
                <a:solidFill>
                  <a:srgbClr val="4A5A66"/>
                </a:solidFill>
                <a:latin typeface="Calibri"/>
              </a:rPr>
              <a:t>, making the mechanics </a:t>
            </a:r>
            <a:r>
              <a:rPr sz="1500" b="1">
                <a:solidFill>
                  <a:srgbClr val="1C2B36"/>
                </a:solidFill>
                <a:latin typeface="Calibri"/>
              </a:rPr>
              <a:t>nonlinear and state-dependent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the property a learned filter can exploit.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0325"/>
            <a:ext cx="10607040" cy="142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sz="1500" b="1">
                <a:solidFill>
                  <a:srgbClr val="1C2B36"/>
                </a:solidFill>
                <a:latin typeface="Calibri"/>
              </a:rPr>
              <a:t>210 trajectories</a:t>
            </a:r>
            <a:r>
              <a:rPr sz="1500" b="0">
                <a:solidFill>
                  <a:srgbClr val="4A5A66"/>
                </a:solidFill>
                <a:latin typeface="Calibri"/>
              </a:rPr>
              <a:t>, 6 s @ 1 </a:t>
            </a:r>
            <a:r>
              <a:rPr sz="1500" b="0" err="1">
                <a:solidFill>
                  <a:srgbClr val="4A5A66"/>
                </a:solidFill>
                <a:latin typeface="Calibri"/>
              </a:rPr>
              <a:t>ms</a:t>
            </a:r>
            <a:r>
              <a:rPr sz="1500" b="0">
                <a:solidFill>
                  <a:srgbClr val="4A5A66"/>
                </a:solidFill>
                <a:latin typeface="Calibri"/>
              </a:rPr>
              <a:t>, split </a:t>
            </a:r>
            <a:r>
              <a:rPr sz="1500" b="1">
                <a:solidFill>
                  <a:srgbClr val="1C2B36"/>
                </a:solidFill>
                <a:latin typeface="Calibri"/>
              </a:rPr>
              <a:t>70/15/15 by trajectory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no time-step leaks between train and test.</a:t>
            </a:r>
          </a:p>
          <a:p>
            <a:pPr>
              <a:lnSpc>
                <a:spcPct val="110000"/>
              </a:lnSpc>
              <a:spcBef>
                <a:spcPts val="1100"/>
              </a:spcBef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Excitation cycles </a:t>
            </a:r>
            <a:r>
              <a:rPr sz="1500" b="1">
                <a:solidFill>
                  <a:srgbClr val="1C2B36"/>
                </a:solidFill>
                <a:latin typeface="Calibri"/>
              </a:rPr>
              <a:t>step / ramp / random / mixed</a:t>
            </a:r>
            <a:r>
              <a:rPr sz="1500" b="0">
                <a:solidFill>
                  <a:srgbClr val="4A5A66"/>
                </a:solidFill>
                <a:latin typeface="Calibri"/>
              </a:rPr>
              <a:t> bipolar voltage</a:t>
            </a:r>
            <a:r>
              <a:rPr lang="fr-FR" sz="1500">
                <a:solidFill>
                  <a:srgbClr val="4A5A66"/>
                </a:solidFill>
                <a:latin typeface="Calibri"/>
              </a:rPr>
              <a:t>.</a:t>
            </a:r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</a:pPr>
            <a:r>
              <a:rPr lang="fr-FR" sz="1500" b="1">
                <a:solidFill>
                  <a:srgbClr val="E07A5F"/>
                </a:solidFill>
                <a:latin typeface="Calibri"/>
              </a:rPr>
              <a:t>—</a:t>
            </a:r>
            <a:r>
              <a:rPr sz="1500" b="1">
                <a:solidFill>
                  <a:srgbClr val="E07A5F"/>
                </a:solidFill>
                <a:latin typeface="Calibri"/>
              </a:rPr>
              <a:t>  </a:t>
            </a:r>
            <a:r>
              <a:rPr sz="1500" b="0">
                <a:solidFill>
                  <a:srgbClr val="4A5A66"/>
                </a:solidFill>
                <a:latin typeface="Calibri"/>
              </a:rPr>
              <a:t>Sensor noise std 2–4 rad/s on a 21 rad/s swing → </a:t>
            </a:r>
            <a:r>
              <a:rPr sz="1500" b="1">
                <a:solidFill>
                  <a:srgbClr val="1C2B36"/>
                </a:solidFill>
                <a:latin typeface="Calibri"/>
              </a:rPr>
              <a:t>SNR ≈ 7× (14% noise)</a:t>
            </a:r>
            <a:r>
              <a:rPr sz="1500" b="0">
                <a:solidFill>
                  <a:srgbClr val="4A5A66"/>
                </a:solidFill>
                <a:latin typeface="Calibri"/>
              </a:rPr>
              <a:t>.</a:t>
            </a:r>
            <a:endParaRPr/>
          </a:p>
          <a:p>
            <a:pPr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</a:pPr>
            <a:r>
              <a:rPr sz="1500" b="1">
                <a:solidFill>
                  <a:srgbClr val="C99A2E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A </a:t>
            </a:r>
            <a:r>
              <a:rPr sz="1500" b="1">
                <a:solidFill>
                  <a:srgbClr val="1C2B36"/>
                </a:solidFill>
                <a:latin typeface="Calibri"/>
              </a:rPr>
              <a:t>chirp</a:t>
            </a:r>
            <a:r>
              <a:rPr sz="1500" b="0">
                <a:solidFill>
                  <a:srgbClr val="4A5A66"/>
                </a:solidFill>
                <a:latin typeface="Calibri"/>
              </a:rPr>
              <a:t> excitation is held out entirely for an out-of-distribution </a:t>
            </a:r>
            <a:r>
              <a:rPr sz="1500" b="0" err="1">
                <a:solidFill>
                  <a:srgbClr val="4A5A66"/>
                </a:solidFill>
                <a:latin typeface="Calibri"/>
              </a:rPr>
              <a:t>generalisation</a:t>
            </a:r>
            <a:r>
              <a:rPr sz="1500" b="0">
                <a:solidFill>
                  <a:srgbClr val="4A5A66"/>
                </a:solidFill>
                <a:latin typeface="Calibri"/>
              </a:rPr>
              <a:t> test.</a:t>
            </a:r>
            <a:endParaRPr sz="1500" b="0">
              <a:solidFill>
                <a:srgbClr val="4A5A66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04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Classical baselines vs learned filters.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4A5A66"/>
                </a:solidFill>
                <a:latin typeface="Calibri"/>
              </a:rPr>
              <a:t>Baselines tuned on validation, evaluated on test: </a:t>
            </a:r>
            <a:r>
              <a:rPr sz="1500" b="1">
                <a:solidFill>
                  <a:srgbClr val="1C2B36"/>
                </a:solidFill>
                <a:latin typeface="Calibri"/>
              </a:rPr>
              <a:t>EMA</a:t>
            </a:r>
            <a:r>
              <a:rPr sz="1500" b="0">
                <a:solidFill>
                  <a:srgbClr val="4A5A66"/>
                </a:solidFill>
                <a:latin typeface="Calibri"/>
              </a:rPr>
              <a:t> (α tuned) and a steady-state </a:t>
            </a:r>
            <a:r>
              <a:rPr sz="1500" b="1">
                <a:solidFill>
                  <a:srgbClr val="1C2B36"/>
                </a:solidFill>
                <a:latin typeface="Calibri"/>
              </a:rPr>
              <a:t>Kalman</a:t>
            </a:r>
            <a:r>
              <a:rPr sz="1500" b="0">
                <a:solidFill>
                  <a:srgbClr val="4A5A66"/>
                </a:solidFill>
                <a:latin typeface="Calibri"/>
              </a:rPr>
              <a:t> filter on the nominal linear </a:t>
            </a:r>
            <a:r>
              <a:rPr sz="1380" b="0">
                <a:solidFill>
                  <a:srgbClr val="1D3557"/>
                </a:solidFill>
                <a:latin typeface="Consolas"/>
              </a:rPr>
              <a:t>[i, ω]</a:t>
            </a:r>
            <a:r>
              <a:rPr sz="1500" b="0">
                <a:solidFill>
                  <a:srgbClr val="4A5A66"/>
                </a:solidFill>
                <a:latin typeface="Calibri"/>
              </a:rPr>
              <a:t> model — whose model </a:t>
            </a:r>
            <a:r>
              <a:rPr sz="1500" b="1">
                <a:solidFill>
                  <a:srgbClr val="1C2B36"/>
                </a:solidFill>
                <a:latin typeface="Calibri"/>
              </a:rPr>
              <a:t>omits the gravity term</a:t>
            </a:r>
            <a:r>
              <a:rPr sz="1500" b="0">
                <a:solidFill>
                  <a:srgbClr val="4A5A66"/>
                </a:solidFill>
                <a:latin typeface="Calibri"/>
              </a:rPr>
              <a:t>. Three learned filters share the same causal </a:t>
            </a:r>
            <a:r>
              <a:rPr sz="1500" b="1">
                <a:solidFill>
                  <a:srgbClr val="1C2B36"/>
                </a:solidFill>
                <a:latin typeface="Calibri"/>
              </a:rPr>
              <a:t>64 ms</a:t>
            </a:r>
            <a:r>
              <a:rPr sz="1500" b="0">
                <a:solidFill>
                  <a:srgbClr val="4A5A66"/>
                </a:solidFill>
                <a:latin typeface="Calibri"/>
              </a:rPr>
              <a:t> window over [omega_noisy, voltage].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697480"/>
            <a:ext cx="38100" cy="187451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86207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A9D8F"/>
                </a:solidFill>
                <a:latin typeface="Consolas"/>
              </a:rPr>
              <a:t>GRU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GRU  (3 489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Recurrent hidden state accumulates </a:t>
            </a:r>
            <a:r>
              <a:rPr sz="1200" b="1">
                <a:solidFill>
                  <a:srgbClr val="1C2B36"/>
                </a:solidFill>
                <a:latin typeface="Calibri"/>
              </a:rPr>
              <a:t>64 ms</a:t>
            </a:r>
            <a:r>
              <a:rPr sz="1200" b="0">
                <a:solidFill>
                  <a:srgbClr val="4A5A66"/>
                </a:solidFill>
                <a:latin typeface="Calibri"/>
              </a:rPr>
              <a:t> of context. hidden = 32, 1 layer.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2697480"/>
            <a:ext cx="38100" cy="1874519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86207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D3557"/>
                </a:solidFill>
                <a:latin typeface="Consolas"/>
              </a:rPr>
              <a:t>CNN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CNN  (8 801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Stacked causal 1-D convolutions. channels = 32, k = 8, depth =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6974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2697480"/>
            <a:ext cx="38100" cy="1874519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862072"/>
            <a:ext cx="301752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E07A5F"/>
                </a:solidFill>
                <a:latin typeface="Consolas"/>
              </a:rPr>
              <a:t>TCN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D3557"/>
                </a:solidFill>
                <a:latin typeface="Georgia"/>
              </a:rPr>
              <a:t>TCN  (33 153 params)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alibri"/>
              </a:rPr>
              <a:t>Dilated causal convolutions. Receptive field = </a:t>
            </a:r>
            <a:r>
              <a:rPr sz="1200" b="1">
                <a:solidFill>
                  <a:srgbClr val="1C2B36"/>
                </a:solidFill>
                <a:latin typeface="Calibri"/>
              </a:rPr>
              <a:t>91 ms</a:t>
            </a:r>
            <a:r>
              <a:rPr sz="1200" b="0">
                <a:solidFill>
                  <a:srgbClr val="4A5A66"/>
                </a:solidFill>
                <a:latin typeface="Calibri"/>
              </a:rPr>
              <a:t>. channels = 32, k = 4, 4 levels.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92040"/>
            <a:ext cx="10607040" cy="896112"/>
          </a:xfrm>
          <a:prstGeom prst="roundRect">
            <a:avLst>
              <a:gd name="adj" fmla="val 6000"/>
            </a:avLst>
          </a:prstGeom>
          <a:solidFill>
            <a:srgbClr val="F4F1E9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" y="4892040"/>
            <a:ext cx="38100" cy="896112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5101390"/>
            <a:ext cx="10241280" cy="5139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350" b="0">
                <a:solidFill>
                  <a:srgbClr val="1D3557"/>
                </a:solidFill>
                <a:latin typeface="Consolas"/>
              </a:rPr>
              <a:t>all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learned</a:t>
            </a:r>
            <a:r>
              <a:rPr sz="1350" b="0">
                <a:solidFill>
                  <a:srgbClr val="1D3557"/>
                </a:solidFill>
                <a:latin typeface="Consolas"/>
              </a:rPr>
              <a:t>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filters</a:t>
            </a:r>
            <a:r>
              <a:rPr sz="1350" b="0">
                <a:solidFill>
                  <a:srgbClr val="1D3557"/>
                </a:solidFill>
                <a:latin typeface="Consolas"/>
              </a:rPr>
              <a:t> → 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scalar</a:t>
            </a:r>
            <a:r>
              <a:rPr sz="1350" b="0">
                <a:solidFill>
                  <a:srgbClr val="1D3557"/>
                </a:solidFill>
                <a:latin typeface="Consolas"/>
              </a:rPr>
              <a:t>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omega_true</a:t>
            </a:r>
            <a:endParaRPr lang="fr-FR" sz="1350" b="0" err="1">
              <a:solidFill>
                <a:srgbClr val="1D3557"/>
              </a:solidFill>
              <a:latin typeface="Consolas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350" b="0">
                <a:solidFill>
                  <a:srgbClr val="1D3557"/>
                </a:solidFill>
                <a:latin typeface="Consolas"/>
              </a:rPr>
              <a:t>loss = </a:t>
            </a:r>
            <a:r>
              <a:rPr lang="fr-FR" sz="1350">
                <a:solidFill>
                  <a:srgbClr val="1D3557"/>
                </a:solidFill>
                <a:latin typeface="Consolas"/>
              </a:rPr>
              <a:t>RMSE</a:t>
            </a:r>
            <a:r>
              <a:rPr sz="1350" b="0">
                <a:solidFill>
                  <a:srgbClr val="1D3557"/>
                </a:solidFill>
                <a:latin typeface="Consolas"/>
              </a:rPr>
              <a:t>       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optimiser</a:t>
            </a:r>
            <a:r>
              <a:rPr sz="1350" b="0">
                <a:solidFill>
                  <a:srgbClr val="1D3557"/>
                </a:solidFill>
                <a:latin typeface="Consolas"/>
              </a:rPr>
              <a:t> = Adam        early stop on </a:t>
            </a:r>
            <a:r>
              <a:rPr sz="1350" b="0" err="1">
                <a:solidFill>
                  <a:srgbClr val="1D3557"/>
                </a:solidFill>
                <a:latin typeface="Consolas"/>
              </a:rPr>
              <a:t>val</a:t>
            </a:r>
            <a:endParaRPr sz="1350" b="0">
              <a:solidFill>
                <a:srgbClr val="1D3557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05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RESULTS  (IN-DISTRIBUTION TEST SET)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D3557"/>
                </a:solidFill>
                <a:latin typeface="Georgia"/>
              </a:rPr>
              <a:t>Learned filters cut error 51% below Kalman.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99108"/>
              </p:ext>
            </p:extLst>
          </p:nvPr>
        </p:nvGraphicFramePr>
        <p:xfrm>
          <a:off x="868680" y="2127794"/>
          <a:ext cx="1060704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54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2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Raw  —  no filter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2.97 rad/s   (28.3 RPM)    —   reference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Kalman  —  tuned, linear model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1.32 rad/s   (12.6 RPM)   +56 %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EMA  —  tuned α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1.07 rad/s   (10.2 RPM)   +64 %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CNN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0.80 rad/s   ( 7.6 RPM)   +73 %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36"/>
                          </a:solidFill>
                          <a:latin typeface="Consolas"/>
                        </a:rPr>
                        <a:t>GRU</a:t>
                      </a:r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  /  </a:t>
                      </a:r>
                      <a:r>
                        <a:rPr sz="1200" b="1">
                          <a:solidFill>
                            <a:srgbClr val="1C2B36"/>
                          </a:solidFill>
                          <a:latin typeface="Consolas"/>
                        </a:rPr>
                        <a:t>TCN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RMSE  </a:t>
                      </a:r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0.65 rad/s</a:t>
                      </a:r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   ( 6.2 RPM)   </a:t>
                      </a:r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+78 %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9204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AECE7"/>
          </a:solidFill>
          <a:ln w="12700">
            <a:solidFill>
              <a:srgbClr val="FA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892040"/>
            <a:ext cx="38100" cy="1005840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4983480"/>
            <a:ext cx="1022299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D3557"/>
                </a:solidFill>
                <a:latin typeface="Georgia"/>
              </a:rPr>
              <a:t>Model-based ≠ better.  </a:t>
            </a:r>
            <a:r>
              <a:rPr sz="1500" b="0">
                <a:solidFill>
                  <a:srgbClr val="4A5A66"/>
                </a:solidFill>
                <a:latin typeface="Calibri"/>
              </a:rPr>
              <a:t>The tuned linear </a:t>
            </a:r>
            <a:r>
              <a:rPr sz="1500" b="1">
                <a:solidFill>
                  <a:srgbClr val="1C2B36"/>
                </a:solidFill>
                <a:latin typeface="Calibri"/>
              </a:rPr>
              <a:t>Kalman (1.32)</a:t>
            </a:r>
            <a:r>
              <a:rPr sz="1500" b="0">
                <a:solidFill>
                  <a:srgbClr val="4A5A66"/>
                </a:solidFill>
                <a:latin typeface="Calibri"/>
              </a:rPr>
              <a:t> actually loses to a plain tuned </a:t>
            </a:r>
            <a:r>
              <a:rPr sz="1500" b="1">
                <a:solidFill>
                  <a:srgbClr val="1C2B36"/>
                </a:solidFill>
                <a:latin typeface="Calibri"/>
              </a:rPr>
              <a:t>EMA (1.07)</a:t>
            </a:r>
            <a:r>
              <a:rPr sz="1500" b="0">
                <a:solidFill>
                  <a:srgbClr val="4A5A66"/>
                </a:solidFill>
                <a:latin typeface="Calibri"/>
              </a:rPr>
              <a:t>: its linear model can't represent the rod's gravity torque, so its model-mismatch outweighs its model-based advantage.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06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D3557"/>
                </a:solidFill>
                <a:latin typeface="Georgia"/>
              </a:rPr>
              <a:t>Every neural filter beats every classical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611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libri"/>
              </a:rPr>
              <a:t>—  </a:t>
            </a:r>
            <a:r>
              <a:rPr sz="1500" b="0">
                <a:solidFill>
                  <a:srgbClr val="4A5A66"/>
                </a:solidFill>
                <a:latin typeface="Calibri"/>
              </a:rPr>
              <a:t>A 64-sample </a:t>
            </a:r>
            <a:r>
              <a:rPr sz="1500" b="1">
                <a:solidFill>
                  <a:srgbClr val="1C2B36"/>
                </a:solidFill>
                <a:latin typeface="Calibri"/>
              </a:rPr>
              <a:t>moving average barely helps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the rod swings fast enough that its lag cancels its smoothing.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E07A5F"/>
                </a:solidFill>
                <a:latin typeface="Calibri"/>
              </a:rPr>
              <a:t>—  </a:t>
            </a:r>
            <a:r>
              <a:rPr sz="1500" b="1">
                <a:solidFill>
                  <a:srgbClr val="1C2B36"/>
                </a:solidFill>
                <a:latin typeface="Calibri"/>
              </a:rPr>
              <a:t>EMA and Kalman</a:t>
            </a:r>
            <a:r>
              <a:rPr sz="1500" b="0">
                <a:solidFill>
                  <a:srgbClr val="4A5A66"/>
                </a:solidFill>
                <a:latin typeface="Calibri"/>
              </a:rPr>
              <a:t> land at 1.1–1.3 rad/s — a useful but limited linear fit.</a:t>
            </a:r>
          </a:p>
          <a:p>
            <a:pPr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—  </a:t>
            </a:r>
            <a:r>
              <a:rPr sz="1500" b="1">
                <a:solidFill>
                  <a:srgbClr val="1C2B36"/>
                </a:solidFill>
                <a:latin typeface="Calibri"/>
              </a:rPr>
              <a:t>GRU / TCN reach 0.65 rad/s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a 78% cut from the raw sensor and 51% below the tuned Kalman.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783080"/>
            <a:ext cx="6611112" cy="4260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parison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929384"/>
            <a:ext cx="6318504" cy="351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5464" y="5485384"/>
            <a:ext cx="6318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onsolas"/>
              </a:rPr>
              <a:t>Fig. 1 — test-set RMSE by method (motor + rod, lower is better).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06b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RESULTS: VARIANCE &amp;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D3557"/>
                </a:solidFill>
                <a:latin typeface="Georgia"/>
              </a:rPr>
              <a:t>Neural filters win on both axes.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82057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0">
                <a:solidFill>
                  <a:srgbClr val="4A5A66"/>
                </a:solidFill>
                <a:latin typeface="Calibri"/>
              </a:rPr>
              <a:t>Variance (RMSE) and phase lag (effective delay) are </a:t>
            </a:r>
            <a:r>
              <a:rPr sz="1500" b="1">
                <a:solidFill>
                  <a:srgbClr val="1C2B36"/>
                </a:solidFill>
                <a:latin typeface="Calibri"/>
              </a:rPr>
              <a:t>independent failure modes</a:t>
            </a:r>
            <a:r>
              <a:rPr sz="1500" b="0">
                <a:solidFill>
                  <a:srgbClr val="4A5A66"/>
                </a:solidFill>
                <a:latin typeface="Calibri"/>
              </a:rPr>
              <a:t>. A good filter must minimize both — not just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22714"/>
            <a:ext cx="5166360" cy="36401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tric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269018"/>
            <a:ext cx="4873752" cy="28902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4984" y="5205031"/>
            <a:ext cx="4873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onsolas"/>
              </a:rPr>
              <a:t>Error std (RMSE, rad/s) — lower is better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22714"/>
            <a:ext cx="5166360" cy="36401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etric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269018"/>
            <a:ext cx="4873752" cy="28902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5664" y="5205031"/>
            <a:ext cx="4873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onsolas"/>
              </a:rPr>
              <a:t>Effective phase lag (ms) — lower is 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976983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E7F2F0"/>
          </a:solidFill>
          <a:ln w="12700">
            <a:solidFill>
              <a:srgbClr val="E7F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976983"/>
            <a:ext cx="38100" cy="7498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6068423"/>
            <a:ext cx="102229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D3557"/>
                </a:solidFill>
                <a:latin typeface="Georgia"/>
              </a:rPr>
              <a:t>EMA: 7 ms lag, GRU/TCN: 1 ms.  </a:t>
            </a:r>
            <a:r>
              <a:rPr sz="1500" b="1">
                <a:solidFill>
                  <a:srgbClr val="1C2B36"/>
                </a:solidFill>
                <a:latin typeface="Calibri"/>
              </a:rPr>
              <a:t>EMA halves RMSE vs raw but costs 7 ms of lag</a:t>
            </a:r>
            <a:r>
              <a:rPr sz="1500" b="0">
                <a:solidFill>
                  <a:srgbClr val="4A5A66"/>
                </a:solidFill>
                <a:latin typeface="Calibri"/>
              </a:rPr>
              <a:t> at α = 0.872. Neural filters cut RMSE a further 39 % AND reduce lag to one sample — faster response, less noise.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502920"/>
            <a:ext cx="17780" cy="5852160"/>
          </a:xfrm>
          <a:prstGeom prst="rect">
            <a:avLst/>
          </a:prstGeom>
          <a:solidFill>
            <a:srgbClr val="D9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30480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07A5F"/>
                </a:solidFill>
                <a:latin typeface="Consolas"/>
              </a:rPr>
              <a:t>07  </a:t>
            </a:r>
            <a:r>
              <a:rPr sz="1100">
                <a:solidFill>
                  <a:srgbClr val="2A9D8F"/>
                </a:solidFill>
                <a:latin typeface="Consolas"/>
              </a:rPr>
              <a:t>ML2 — GENERALISATION  (UNSEEN EXCITATION)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601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D3557"/>
                </a:solidFill>
                <a:latin typeface="Georgia"/>
              </a:rPr>
              <a:t>Classical filters break on unseen inputs.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330237"/>
              </p:ext>
            </p:extLst>
          </p:nvPr>
        </p:nvGraphicFramePr>
        <p:xfrm>
          <a:off x="868680" y="2057400"/>
          <a:ext cx="452628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1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Raw  —  no filter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3.00 rad/s      —     reference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EMA  —  tuned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2.64 rad/s   +12 %   (was +64 %)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Kalman  —  tuned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2.29 rad/s   +24 %   (was +56 %)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TCN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0.98 rad/s   +67 %   holds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D3557"/>
                          </a:solidFill>
                          <a:latin typeface="Consolas"/>
                        </a:rPr>
                        <a:t>GRU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0.93 rad/s   +69 %   holds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C2B36"/>
                          </a:solidFill>
                          <a:latin typeface="Consolas"/>
                        </a:rPr>
                        <a:t>CNN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0.81 rad/s</a:t>
                      </a:r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   </a:t>
                      </a:r>
                      <a:r>
                        <a:rPr sz="1300" b="1">
                          <a:solidFill>
                            <a:srgbClr val="1C2B36"/>
                          </a:solidFill>
                          <a:latin typeface="Calibri"/>
                        </a:rPr>
                        <a:t>+73 %</a:t>
                      </a:r>
                      <a:r>
                        <a:rPr sz="1300" b="0">
                          <a:solidFill>
                            <a:srgbClr val="4A5A66"/>
                          </a:solidFill>
                          <a:latin typeface="Calibri"/>
                        </a:rPr>
                        <a:t>   holds</a:t>
                      </a:r>
                    </a:p>
                  </a:txBody>
                  <a:tcPr marL="73152" marT="27432" marB="27432" anchor="ctr">
                    <a:solidFill>
                      <a:srgbClr val="FB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663440"/>
            <a:ext cx="4526280" cy="1554480"/>
          </a:xfrm>
          <a:prstGeom prst="roundRect">
            <a:avLst>
              <a:gd name="adj" fmla="val 6000"/>
            </a:avLst>
          </a:prstGeom>
          <a:solidFill>
            <a:srgbClr val="E7F2F0"/>
          </a:solidFill>
          <a:ln w="12700">
            <a:solidFill>
              <a:srgbClr val="E7F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663440"/>
            <a:ext cx="38100" cy="1554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4754880"/>
            <a:ext cx="4142232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2000"/>
              </a:lnSpc>
            </a:pPr>
            <a:r>
              <a:rPr sz="1500" b="1">
                <a:solidFill>
                  <a:srgbClr val="1D3557"/>
                </a:solidFill>
                <a:latin typeface="Georgia"/>
              </a:rPr>
              <a:t>Generalisation gap.  </a:t>
            </a:r>
            <a:r>
              <a:rPr sz="1500" b="0">
                <a:solidFill>
                  <a:srgbClr val="4A5A66"/>
                </a:solidFill>
                <a:latin typeface="Calibri"/>
              </a:rPr>
              <a:t>On a </a:t>
            </a:r>
            <a:r>
              <a:rPr sz="1500" b="1">
                <a:solidFill>
                  <a:srgbClr val="1C2B36"/>
                </a:solidFill>
                <a:latin typeface="Calibri"/>
              </a:rPr>
              <a:t>chirp</a:t>
            </a:r>
            <a:r>
              <a:rPr sz="1500" b="0">
                <a:solidFill>
                  <a:srgbClr val="4A5A66"/>
                </a:solidFill>
                <a:latin typeface="Calibri"/>
              </a:rPr>
              <a:t> sweep never seen in training, </a:t>
            </a:r>
            <a:r>
              <a:rPr sz="1500" b="1">
                <a:solidFill>
                  <a:srgbClr val="1C2B36"/>
                </a:solidFill>
                <a:latin typeface="Calibri"/>
              </a:rPr>
              <a:t>EMA and Kalman collapse</a:t>
            </a:r>
            <a:r>
              <a:rPr sz="1500" b="0">
                <a:solidFill>
                  <a:srgbClr val="4A5A66"/>
                </a:solidFill>
                <a:latin typeface="Calibri"/>
              </a:rPr>
              <a:t> — implicitly tuned to the training spectrum — while </a:t>
            </a:r>
            <a:r>
              <a:rPr sz="1500" b="1">
                <a:solidFill>
                  <a:srgbClr val="1C2B36"/>
                </a:solidFill>
                <a:latin typeface="Calibri"/>
              </a:rPr>
              <a:t>neural filters hold +67–73 %</a:t>
            </a:r>
            <a:r>
              <a:rPr sz="1500" b="0">
                <a:solidFill>
                  <a:srgbClr val="4A5A66"/>
                </a:solidFill>
                <a:latin typeface="Calibri"/>
              </a:rPr>
              <a:t>, having learned the dynamics, not the excitation.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783080"/>
            <a:ext cx="5650992" cy="3726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od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1929384"/>
            <a:ext cx="5358384" cy="2976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5584" y="4951984"/>
            <a:ext cx="535838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A66"/>
                </a:solidFill>
                <a:latin typeface="Consolas"/>
              </a:rPr>
              <a:t>Fig. 2 — OOD (chirp) RMSE: classical filters collapse, neural hold.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8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10</cp:revision>
  <dcterms:created xsi:type="dcterms:W3CDTF">2013-01-27T09:14:16Z</dcterms:created>
  <dcterms:modified xsi:type="dcterms:W3CDTF">2026-06-29T05:56:33Z</dcterms:modified>
  <cp:category/>
</cp:coreProperties>
</file>