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8" r:id="rId2"/>
    <p:sldId id="259" r:id="rId3"/>
    <p:sldId id="260" r:id="rId4"/>
    <p:sldId id="269" r:id="rId5"/>
    <p:sldId id="271" r:id="rId6"/>
    <p:sldId id="277" r:id="rId7"/>
    <p:sldId id="272" r:id="rId8"/>
    <p:sldId id="273" r:id="rId9"/>
    <p:sldId id="274" r:id="rId10"/>
    <p:sldId id="275" r:id="rId11"/>
    <p:sldId id="27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95A66"/>
    <a:srgbClr val="1D3456"/>
    <a:srgbClr val="2BB5A5"/>
    <a:srgbClr val="E07A5F"/>
    <a:srgbClr val="35E9D5"/>
    <a:srgbClr val="289D8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875"/>
    <p:restoredTop sz="94726"/>
  </p:normalViewPr>
  <p:slideViewPr>
    <p:cSldViewPr snapToGrid="0" snapToObjects="1">
      <p:cViewPr>
        <p:scale>
          <a:sx n="143" d="100"/>
          <a:sy n="143" d="100"/>
        </p:scale>
        <p:origin x="-1016" y="-3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627E84-D2AA-6141-A287-75DE22FFF9BC}" type="datetimeFigureOut">
              <a:rPr lang="en-US" smtClean="0"/>
              <a:t>6/26/26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0D98A5-68E3-3A4A-A4C9-A2BAE67B4762}" type="slidenum">
              <a:rPr lang="en-US" smtClean="0"/>
              <a:t>‹#›</a:t>
            </a:fld>
            <a:endParaRPr lang="en-US"/>
          </a:p>
        </p:txBody>
      </p:sp>
    </p:spTree>
    <p:extLst>
      <p:ext uri="{BB962C8B-B14F-4D97-AF65-F5344CB8AC3E}">
        <p14:creationId xmlns:p14="http://schemas.microsoft.com/office/powerpoint/2010/main" val="3598079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0D98A5-68E3-3A4A-A4C9-A2BAE67B4762}" type="slidenum">
              <a:rPr lang="en-US" smtClean="0"/>
              <a:t>2</a:t>
            </a:fld>
            <a:endParaRPr lang="en-US"/>
          </a:p>
        </p:txBody>
      </p:sp>
    </p:spTree>
    <p:extLst>
      <p:ext uri="{BB962C8B-B14F-4D97-AF65-F5344CB8AC3E}">
        <p14:creationId xmlns:p14="http://schemas.microsoft.com/office/powerpoint/2010/main" val="1601076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0D98A5-68E3-3A4A-A4C9-A2BAE67B4762}" type="slidenum">
              <a:rPr lang="en-US" smtClean="0"/>
              <a:t>7</a:t>
            </a:fld>
            <a:endParaRPr lang="en-US"/>
          </a:p>
        </p:txBody>
      </p:sp>
    </p:spTree>
    <p:extLst>
      <p:ext uri="{BB962C8B-B14F-4D97-AF65-F5344CB8AC3E}">
        <p14:creationId xmlns:p14="http://schemas.microsoft.com/office/powerpoint/2010/main" val="1935214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F74D0-B207-AC86-B11A-65600542BD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890758-0CBB-AF28-2171-D1CB7F23ED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B7E1F7-4659-4114-5682-0887F82C64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90B0E5-8EB2-F150-6BBB-424CD630912E}"/>
              </a:ext>
            </a:extLst>
          </p:cNvPr>
          <p:cNvSpPr>
            <a:spLocks noGrp="1"/>
          </p:cNvSpPr>
          <p:nvPr>
            <p:ph type="sldNum" sz="quarter" idx="5"/>
          </p:nvPr>
        </p:nvSpPr>
        <p:spPr/>
        <p:txBody>
          <a:bodyPr/>
          <a:lstStyle/>
          <a:p>
            <a:fld id="{D40D98A5-68E3-3A4A-A4C9-A2BAE67B4762}" type="slidenum">
              <a:rPr lang="en-US" smtClean="0"/>
              <a:t>8</a:t>
            </a:fld>
            <a:endParaRPr lang="en-US"/>
          </a:p>
        </p:txBody>
      </p:sp>
    </p:spTree>
    <p:extLst>
      <p:ext uri="{BB962C8B-B14F-4D97-AF65-F5344CB8AC3E}">
        <p14:creationId xmlns:p14="http://schemas.microsoft.com/office/powerpoint/2010/main" val="2087082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62FE5-A636-5AC3-AD8A-A70E5E725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40BB4-2310-3AFE-A62C-78E763B7F7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96589A-25DA-E970-0B8D-54E17B0859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02E534-223F-7F4D-FB25-03FBD89700FD}"/>
              </a:ext>
            </a:extLst>
          </p:cNvPr>
          <p:cNvSpPr>
            <a:spLocks noGrp="1"/>
          </p:cNvSpPr>
          <p:nvPr>
            <p:ph type="sldNum" sz="quarter" idx="5"/>
          </p:nvPr>
        </p:nvSpPr>
        <p:spPr/>
        <p:txBody>
          <a:bodyPr/>
          <a:lstStyle/>
          <a:p>
            <a:fld id="{D40D98A5-68E3-3A4A-A4C9-A2BAE67B4762}" type="slidenum">
              <a:rPr lang="en-US" smtClean="0"/>
              <a:t>9</a:t>
            </a:fld>
            <a:endParaRPr lang="en-US"/>
          </a:p>
        </p:txBody>
      </p:sp>
    </p:spTree>
    <p:extLst>
      <p:ext uri="{BB962C8B-B14F-4D97-AF65-F5344CB8AC3E}">
        <p14:creationId xmlns:p14="http://schemas.microsoft.com/office/powerpoint/2010/main" val="203967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7A640-77A3-8AC4-C75F-5A81BB6730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8B5DF-D2B2-9FFF-0CC4-604F2E8B90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70800B-6DC8-D3A5-FF43-96D902E669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0CBA8D-FC32-EE58-C56F-EE6B41FEBB3B}"/>
              </a:ext>
            </a:extLst>
          </p:cNvPr>
          <p:cNvSpPr>
            <a:spLocks noGrp="1"/>
          </p:cNvSpPr>
          <p:nvPr>
            <p:ph type="sldNum" sz="quarter" idx="5"/>
          </p:nvPr>
        </p:nvSpPr>
        <p:spPr/>
        <p:txBody>
          <a:bodyPr/>
          <a:lstStyle/>
          <a:p>
            <a:fld id="{D40D98A5-68E3-3A4A-A4C9-A2BAE67B4762}" type="slidenum">
              <a:rPr lang="en-US" smtClean="0"/>
              <a:t>10</a:t>
            </a:fld>
            <a:endParaRPr lang="en-US"/>
          </a:p>
        </p:txBody>
      </p:sp>
    </p:spTree>
    <p:extLst>
      <p:ext uri="{BB962C8B-B14F-4D97-AF65-F5344CB8AC3E}">
        <p14:creationId xmlns:p14="http://schemas.microsoft.com/office/powerpoint/2010/main" val="2503845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9F23E-E80D-6ED2-D18B-4EF18FC30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A91CA-106F-AE16-E121-0F6B9E02D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F878D-EB80-3913-E285-898107613E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2C6DAD-1796-B20C-DD0C-465D04D7B055}"/>
              </a:ext>
            </a:extLst>
          </p:cNvPr>
          <p:cNvSpPr>
            <a:spLocks noGrp="1"/>
          </p:cNvSpPr>
          <p:nvPr>
            <p:ph type="sldNum" sz="quarter" idx="5"/>
          </p:nvPr>
        </p:nvSpPr>
        <p:spPr/>
        <p:txBody>
          <a:bodyPr/>
          <a:lstStyle/>
          <a:p>
            <a:fld id="{D40D98A5-68E3-3A4A-A4C9-A2BAE67B4762}" type="slidenum">
              <a:rPr lang="en-US" smtClean="0"/>
              <a:t>11</a:t>
            </a:fld>
            <a:endParaRPr lang="en-US"/>
          </a:p>
        </p:txBody>
      </p:sp>
    </p:spTree>
    <p:extLst>
      <p:ext uri="{BB962C8B-B14F-4D97-AF65-F5344CB8AC3E}">
        <p14:creationId xmlns:p14="http://schemas.microsoft.com/office/powerpoint/2010/main" val="1519854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B1  </a:t>
            </a:r>
            <a:r>
              <a:rPr lang="en-US" sz="1100" noProof="1">
                <a:solidFill>
                  <a:srgbClr val="2A9D8F"/>
                </a:solidFill>
                <a:latin typeface="Consolas"/>
              </a:rPr>
              <a:t>RESIDUAL REINFORCEMENT LEARNING - Introduction</a:t>
            </a:r>
          </a:p>
        </p:txBody>
      </p:sp>
      <p:sp>
        <p:nvSpPr>
          <p:cNvPr id="7" name="Rounded Rectangle 6">
            <a:extLst>
              <a:ext uri="{FF2B5EF4-FFF2-40B4-BE49-F238E27FC236}">
                <a16:creationId xmlns:a16="http://schemas.microsoft.com/office/drawing/2014/main" id="{4AED37EF-A0F4-5A3E-7037-FC0739356FDF}"/>
              </a:ext>
            </a:extLst>
          </p:cNvPr>
          <p:cNvSpPr/>
          <p:nvPr/>
        </p:nvSpPr>
        <p:spPr>
          <a:xfrm>
            <a:off x="2164391" y="3537585"/>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PI</a:t>
            </a:r>
          </a:p>
          <a:p>
            <a:pPr algn="ctr"/>
            <a:r>
              <a:rPr lang="en-US" sz="1400" noProof="1">
                <a:solidFill>
                  <a:srgbClr val="1D3456"/>
                </a:solidFill>
              </a:rPr>
              <a:t>(Baseline)</a:t>
            </a:r>
          </a:p>
        </p:txBody>
      </p:sp>
      <p:cxnSp>
        <p:nvCxnSpPr>
          <p:cNvPr id="9" name="Straight Arrow Connector 8">
            <a:extLst>
              <a:ext uri="{FF2B5EF4-FFF2-40B4-BE49-F238E27FC236}">
                <a16:creationId xmlns:a16="http://schemas.microsoft.com/office/drawing/2014/main" id="{847267B6-3D90-6500-3C45-725B10E3B1E9}"/>
              </a:ext>
            </a:extLst>
          </p:cNvPr>
          <p:cNvCxnSpPr>
            <a:cxnSpLocks/>
          </p:cNvCxnSpPr>
          <p:nvPr/>
        </p:nvCxnSpPr>
        <p:spPr>
          <a:xfrm>
            <a:off x="3269217" y="3784644"/>
            <a:ext cx="72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9FCD57E-E05F-2B71-DA2A-9F0646339057}"/>
                  </a:ext>
                </a:extLst>
              </p:cNvPr>
              <p:cNvSpPr txBox="1"/>
              <p:nvPr/>
            </p:nvSpPr>
            <p:spPr>
              <a:xfrm>
                <a:off x="3393359" y="3537585"/>
                <a:ext cx="43479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1D3456"/>
                              </a:solidFill>
                              <a:latin typeface="Cambria Math" panose="02040503050406030204" pitchFamily="18" charset="0"/>
                            </a:rPr>
                          </m:ctrlPr>
                        </m:sSubPr>
                        <m:e>
                          <m:r>
                            <a:rPr lang="en-US" sz="1400" b="0" i="1" noProof="1" dirty="0" smtClean="0">
                              <a:solidFill>
                                <a:srgbClr val="1D3456"/>
                              </a:solidFill>
                              <a:latin typeface="Cambria Math" panose="02040503050406030204" pitchFamily="18" charset="0"/>
                            </a:rPr>
                            <m:t>𝑉</m:t>
                          </m:r>
                        </m:e>
                        <m:sub>
                          <m:r>
                            <a:rPr lang="en-US" sz="1400" b="0" i="1" noProof="1" dirty="0" smtClean="0">
                              <a:solidFill>
                                <a:srgbClr val="1D3456"/>
                              </a:solidFill>
                              <a:latin typeface="Cambria Math" panose="02040503050406030204" pitchFamily="18" charset="0"/>
                            </a:rPr>
                            <m:t>𝑏𝑎𝑠𝑒</m:t>
                          </m:r>
                        </m:sub>
                      </m:sSub>
                    </m:oMath>
                  </m:oMathPara>
                </a14:m>
                <a:endParaRPr lang="en-US" sz="1400" noProof="1"/>
              </a:p>
            </p:txBody>
          </p:sp>
        </mc:Choice>
        <mc:Fallback xmlns="">
          <p:sp>
            <p:nvSpPr>
              <p:cNvPr id="12" name="TextBox 11">
                <a:extLst>
                  <a:ext uri="{FF2B5EF4-FFF2-40B4-BE49-F238E27FC236}">
                    <a16:creationId xmlns:a16="http://schemas.microsoft.com/office/drawing/2014/main" id="{F9FCD57E-E05F-2B71-DA2A-9F0646339057}"/>
                  </a:ext>
                </a:extLst>
              </p:cNvPr>
              <p:cNvSpPr txBox="1">
                <a:spLocks noRot="1" noChangeAspect="1" noMove="1" noResize="1" noEditPoints="1" noAdjustHandles="1" noChangeArrowheads="1" noChangeShapeType="1" noTextEdit="1"/>
              </p:cNvSpPr>
              <p:nvPr/>
            </p:nvSpPr>
            <p:spPr>
              <a:xfrm>
                <a:off x="3393359" y="3537585"/>
                <a:ext cx="434799" cy="215444"/>
              </a:xfrm>
              <a:prstGeom prst="rect">
                <a:avLst/>
              </a:prstGeom>
              <a:blipFill>
                <a:blip r:embed="rId2"/>
                <a:stretch>
                  <a:fillRect l="-8571" r="-2857" b="-16667"/>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3D694E33-77F6-BE41-D602-609CE15A0BEA}"/>
              </a:ext>
            </a:extLst>
          </p:cNvPr>
          <p:cNvSpPr/>
          <p:nvPr/>
        </p:nvSpPr>
        <p:spPr>
          <a:xfrm>
            <a:off x="3978359" y="3649644"/>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4" name="TextBox 13">
            <a:extLst>
              <a:ext uri="{FF2B5EF4-FFF2-40B4-BE49-F238E27FC236}">
                <a16:creationId xmlns:a16="http://schemas.microsoft.com/office/drawing/2014/main" id="{EA0DDDFD-146B-5BFE-53BB-A12D4DE63774}"/>
              </a:ext>
            </a:extLst>
          </p:cNvPr>
          <p:cNvSpPr txBox="1"/>
          <p:nvPr/>
        </p:nvSpPr>
        <p:spPr>
          <a:xfrm>
            <a:off x="3963318" y="3592645"/>
            <a:ext cx="300082" cy="369332"/>
          </a:xfrm>
          <a:prstGeom prst="rect">
            <a:avLst/>
          </a:prstGeom>
          <a:noFill/>
        </p:spPr>
        <p:txBody>
          <a:bodyPr wrap="none" rtlCol="0">
            <a:spAutoFit/>
          </a:bodyPr>
          <a:lstStyle/>
          <a:p>
            <a:r>
              <a:rPr lang="en-US" noProof="1">
                <a:solidFill>
                  <a:srgbClr val="1D3456"/>
                </a:solidFill>
              </a:rPr>
              <a: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413058F-0344-C764-9001-0D41D7E04436}"/>
                  </a:ext>
                </a:extLst>
              </p:cNvPr>
              <p:cNvSpPr txBox="1"/>
              <p:nvPr/>
            </p:nvSpPr>
            <p:spPr>
              <a:xfrm>
                <a:off x="4390609" y="3550043"/>
                <a:ext cx="15799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rPr>
                        <m:t>𝑉</m:t>
                      </m:r>
                    </m:oMath>
                  </m:oMathPara>
                </a14:m>
                <a:endParaRPr lang="en-US" sz="1400" noProof="1"/>
              </a:p>
            </p:txBody>
          </p:sp>
        </mc:Choice>
        <mc:Fallback xmlns="">
          <p:sp>
            <p:nvSpPr>
              <p:cNvPr id="16" name="TextBox 15">
                <a:extLst>
                  <a:ext uri="{FF2B5EF4-FFF2-40B4-BE49-F238E27FC236}">
                    <a16:creationId xmlns:a16="http://schemas.microsoft.com/office/drawing/2014/main" id="{B413058F-0344-C764-9001-0D41D7E04436}"/>
                  </a:ext>
                </a:extLst>
              </p:cNvPr>
              <p:cNvSpPr txBox="1">
                <a:spLocks noRot="1" noChangeAspect="1" noMove="1" noResize="1" noEditPoints="1" noAdjustHandles="1" noChangeArrowheads="1" noChangeShapeType="1" noTextEdit="1"/>
              </p:cNvSpPr>
              <p:nvPr/>
            </p:nvSpPr>
            <p:spPr>
              <a:xfrm>
                <a:off x="4390609" y="3550043"/>
                <a:ext cx="157992" cy="215444"/>
              </a:xfrm>
              <a:prstGeom prst="rect">
                <a:avLst/>
              </a:prstGeom>
              <a:blipFill>
                <a:blip r:embed="rId3"/>
                <a:stretch>
                  <a:fillRect l="-21429" r="-14286" b="-5556"/>
                </a:stretch>
              </a:blipFill>
            </p:spPr>
            <p:txBody>
              <a:bodyPr/>
              <a:lstStyle/>
              <a:p>
                <a:r>
                  <a:rPr lang="en-US">
                    <a:noFill/>
                  </a:rPr>
                  <a:t> </a:t>
                </a:r>
              </a:p>
            </p:txBody>
          </p:sp>
        </mc:Fallback>
      </mc:AlternateContent>
      <p:sp>
        <p:nvSpPr>
          <p:cNvPr id="17" name="Rounded Rectangle 16">
            <a:extLst>
              <a:ext uri="{FF2B5EF4-FFF2-40B4-BE49-F238E27FC236}">
                <a16:creationId xmlns:a16="http://schemas.microsoft.com/office/drawing/2014/main" id="{50578E31-DAC0-BD3E-1D3F-FB2792130CEB}"/>
              </a:ext>
            </a:extLst>
          </p:cNvPr>
          <p:cNvSpPr/>
          <p:nvPr/>
        </p:nvSpPr>
        <p:spPr>
          <a:xfrm>
            <a:off x="5629736" y="3532231"/>
            <a:ext cx="1104826"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1D3456"/>
                </a:solidFill>
              </a:rPr>
              <a:t>Plant</a:t>
            </a:r>
          </a:p>
          <a:p>
            <a:pPr algn="ctr"/>
            <a:r>
              <a:rPr lang="en-US" sz="1300" noProof="1">
                <a:solidFill>
                  <a:srgbClr val="1D3456"/>
                </a:solidFill>
              </a:rPr>
              <a:t>(Motor+Rod)</a:t>
            </a:r>
          </a:p>
        </p:txBody>
      </p:sp>
      <p:cxnSp>
        <p:nvCxnSpPr>
          <p:cNvPr id="18" name="Straight Arrow Connector 17">
            <a:extLst>
              <a:ext uri="{FF2B5EF4-FFF2-40B4-BE49-F238E27FC236}">
                <a16:creationId xmlns:a16="http://schemas.microsoft.com/office/drawing/2014/main" id="{D5F6F4C9-E5D9-A32F-4CF9-7094E750182D}"/>
              </a:ext>
            </a:extLst>
          </p:cNvPr>
          <p:cNvCxnSpPr>
            <a:cxnSpLocks/>
          </p:cNvCxnSpPr>
          <p:nvPr/>
        </p:nvCxnSpPr>
        <p:spPr>
          <a:xfrm>
            <a:off x="6734562" y="3773053"/>
            <a:ext cx="63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1B06569-22A9-2E72-88A2-CF5DFC598C66}"/>
                  </a:ext>
                </a:extLst>
              </p:cNvPr>
              <p:cNvSpPr txBox="1"/>
              <p:nvPr/>
            </p:nvSpPr>
            <p:spPr>
              <a:xfrm>
                <a:off x="7049562" y="3544920"/>
                <a:ext cx="173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noProof="1" dirty="0" smtClean="0">
                          <a:solidFill>
                            <a:srgbClr val="1D3456"/>
                          </a:solidFill>
                          <a:latin typeface="Cambria Math" panose="02040503050406030204" pitchFamily="18" charset="0"/>
                          <a:ea typeface="Cambria Math" panose="02040503050406030204" pitchFamily="18" charset="0"/>
                        </a:rPr>
                        <m:t>𝜔</m:t>
                      </m:r>
                    </m:oMath>
                  </m:oMathPara>
                </a14:m>
                <a:endParaRPr lang="en-US" sz="1400" noProof="1"/>
              </a:p>
            </p:txBody>
          </p:sp>
        </mc:Choice>
        <mc:Fallback xmlns="">
          <p:sp>
            <p:nvSpPr>
              <p:cNvPr id="21" name="TextBox 20">
                <a:extLst>
                  <a:ext uri="{FF2B5EF4-FFF2-40B4-BE49-F238E27FC236}">
                    <a16:creationId xmlns:a16="http://schemas.microsoft.com/office/drawing/2014/main" id="{21B06569-22A9-2E72-88A2-CF5DFC598C66}"/>
                  </a:ext>
                </a:extLst>
              </p:cNvPr>
              <p:cNvSpPr txBox="1">
                <a:spLocks noRot="1" noChangeAspect="1" noMove="1" noResize="1" noEditPoints="1" noAdjustHandles="1" noChangeArrowheads="1" noChangeShapeType="1" noTextEdit="1"/>
              </p:cNvSpPr>
              <p:nvPr/>
            </p:nvSpPr>
            <p:spPr>
              <a:xfrm>
                <a:off x="7049562" y="3544920"/>
                <a:ext cx="173894" cy="215444"/>
              </a:xfrm>
              <a:prstGeom prst="rect">
                <a:avLst/>
              </a:prstGeom>
              <a:blipFill>
                <a:blip r:embed="rId4"/>
                <a:stretch>
                  <a:fillRect l="-13333" r="-13333"/>
                </a:stretch>
              </a:blipFill>
            </p:spPr>
            <p:txBody>
              <a:bodyPr/>
              <a:lstStyle/>
              <a:p>
                <a:r>
                  <a:rPr lang="en-US">
                    <a:noFill/>
                  </a:rPr>
                  <a:t> </a:t>
                </a:r>
              </a:p>
            </p:txBody>
          </p:sp>
        </mc:Fallback>
      </mc:AlternateContent>
      <p:sp>
        <p:nvSpPr>
          <p:cNvPr id="23" name="Oval 22">
            <a:extLst>
              <a:ext uri="{FF2B5EF4-FFF2-40B4-BE49-F238E27FC236}">
                <a16:creationId xmlns:a16="http://schemas.microsoft.com/office/drawing/2014/main" id="{062CFCEB-DABA-8F03-40A2-FEA483CC3C82}"/>
              </a:ext>
            </a:extLst>
          </p:cNvPr>
          <p:cNvSpPr/>
          <p:nvPr/>
        </p:nvSpPr>
        <p:spPr>
          <a:xfrm>
            <a:off x="1620767" y="3664356"/>
            <a:ext cx="270000" cy="270000"/>
          </a:xfrm>
          <a:prstGeom prst="ellipse">
            <a:avLst/>
          </a:prstGeom>
          <a:noFill/>
          <a:ln w="15875">
            <a:solidFill>
              <a:srgbClr val="1D34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FC2FDE3-95EE-7745-20BD-D5AFA23BF092}"/>
                  </a:ext>
                </a:extLst>
              </p:cNvPr>
              <p:cNvSpPr txBox="1"/>
              <p:nvPr/>
            </p:nvSpPr>
            <p:spPr>
              <a:xfrm>
                <a:off x="1668403" y="3680446"/>
                <a:ext cx="17472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1" i="1" noProof="1" dirty="0" smtClean="0">
                          <a:solidFill>
                            <a:srgbClr val="1D3456"/>
                          </a:solidFill>
                          <a:latin typeface="Cambria Math" panose="02040503050406030204" pitchFamily="18" charset="0"/>
                          <a:ea typeface="Cambria Math" panose="02040503050406030204" pitchFamily="18" charset="0"/>
                        </a:rPr>
                        <m:t>±</m:t>
                      </m:r>
                    </m:oMath>
                  </m:oMathPara>
                </a14:m>
                <a:endParaRPr lang="en-US" sz="1400" b="1" noProof="1">
                  <a:solidFill>
                    <a:srgbClr val="1D3456"/>
                  </a:solidFill>
                </a:endParaRPr>
              </a:p>
            </p:txBody>
          </p:sp>
        </mc:Choice>
        <mc:Fallback xmlns="">
          <p:sp>
            <p:nvSpPr>
              <p:cNvPr id="26" name="TextBox 25">
                <a:extLst>
                  <a:ext uri="{FF2B5EF4-FFF2-40B4-BE49-F238E27FC236}">
                    <a16:creationId xmlns:a16="http://schemas.microsoft.com/office/drawing/2014/main" id="{0FC2FDE3-95EE-7745-20BD-D5AFA23BF092}"/>
                  </a:ext>
                </a:extLst>
              </p:cNvPr>
              <p:cNvSpPr txBox="1">
                <a:spLocks noRot="1" noChangeAspect="1" noMove="1" noResize="1" noEditPoints="1" noAdjustHandles="1" noChangeArrowheads="1" noChangeShapeType="1" noTextEdit="1"/>
              </p:cNvSpPr>
              <p:nvPr/>
            </p:nvSpPr>
            <p:spPr>
              <a:xfrm>
                <a:off x="1668403" y="3680446"/>
                <a:ext cx="174727" cy="215444"/>
              </a:xfrm>
              <a:prstGeom prst="rect">
                <a:avLst/>
              </a:prstGeom>
              <a:blipFill>
                <a:blip r:embed="rId5"/>
                <a:stretch>
                  <a:fillRect l="-28571" r="-28571" b="-16667"/>
                </a:stretch>
              </a:blipFill>
            </p:spPr>
            <p:txBody>
              <a:bodyPr/>
              <a:lstStyle/>
              <a:p>
                <a:r>
                  <a:rPr lang="en-US">
                    <a:noFill/>
                  </a:rPr>
                  <a:t> </a:t>
                </a:r>
              </a:p>
            </p:txBody>
          </p:sp>
        </mc:Fallback>
      </mc:AlternateContent>
      <p:cxnSp>
        <p:nvCxnSpPr>
          <p:cNvPr id="27" name="Straight Arrow Connector 26">
            <a:extLst>
              <a:ext uri="{FF2B5EF4-FFF2-40B4-BE49-F238E27FC236}">
                <a16:creationId xmlns:a16="http://schemas.microsoft.com/office/drawing/2014/main" id="{A45D1D36-4BA5-E3E4-F392-73722785E36C}"/>
              </a:ext>
            </a:extLst>
          </p:cNvPr>
          <p:cNvCxnSpPr>
            <a:cxnSpLocks/>
          </p:cNvCxnSpPr>
          <p:nvPr/>
        </p:nvCxnSpPr>
        <p:spPr>
          <a:xfrm>
            <a:off x="6976195" y="3775871"/>
            <a:ext cx="0" cy="630000"/>
          </a:xfrm>
          <a:prstGeom prst="straightConnector1">
            <a:avLst/>
          </a:prstGeom>
          <a:ln w="15875">
            <a:solidFill>
              <a:srgbClr val="1D3456"/>
            </a:solidFill>
            <a:headEnd type="oval"/>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E461186D-783C-19FE-3AD3-B232F8E1A88F}"/>
              </a:ext>
            </a:extLst>
          </p:cNvPr>
          <p:cNvCxnSpPr>
            <a:cxnSpLocks/>
          </p:cNvCxnSpPr>
          <p:nvPr/>
        </p:nvCxnSpPr>
        <p:spPr>
          <a:xfrm>
            <a:off x="1755766" y="4405871"/>
            <a:ext cx="5220429" cy="0"/>
          </a:xfrm>
          <a:prstGeom prst="straightConnector1">
            <a:avLst/>
          </a:prstGeom>
          <a:ln w="15875">
            <a:solidFill>
              <a:srgbClr val="1D3456"/>
            </a:solidFill>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E9289FFD-3BC6-DF89-872D-0E67A60E6668}"/>
              </a:ext>
            </a:extLst>
          </p:cNvPr>
          <p:cNvCxnSpPr>
            <a:cxnSpLocks/>
          </p:cNvCxnSpPr>
          <p:nvPr/>
        </p:nvCxnSpPr>
        <p:spPr>
          <a:xfrm>
            <a:off x="1760909" y="3934357"/>
            <a:ext cx="0" cy="471514"/>
          </a:xfrm>
          <a:prstGeom prst="straightConnector1">
            <a:avLst/>
          </a:prstGeom>
          <a:ln w="15875">
            <a:solidFill>
              <a:srgbClr val="1D3456"/>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F835769D-9548-7D76-C690-450C2F1599C2}"/>
              </a:ext>
            </a:extLst>
          </p:cNvPr>
          <p:cNvCxnSpPr>
            <a:cxnSpLocks/>
          </p:cNvCxnSpPr>
          <p:nvPr/>
        </p:nvCxnSpPr>
        <p:spPr>
          <a:xfrm>
            <a:off x="972152" y="3791626"/>
            <a:ext cx="648615"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2254B34-0221-3886-6EAF-0ED43917F424}"/>
                  </a:ext>
                </a:extLst>
              </p:cNvPr>
              <p:cNvSpPr txBox="1"/>
              <p:nvPr/>
            </p:nvSpPr>
            <p:spPr>
              <a:xfrm>
                <a:off x="1035048" y="3569200"/>
                <a:ext cx="2438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b="0" i="1" noProof="1" dirty="0" smtClean="0">
                              <a:solidFill>
                                <a:srgbClr val="1D3456"/>
                              </a:solidFill>
                              <a:latin typeface="Cambria Math" panose="02040503050406030204" pitchFamily="18" charset="0"/>
                              <a:ea typeface="Cambria Math" panose="02040503050406030204" pitchFamily="18" charset="0"/>
                            </a:rPr>
                          </m:ctrlPr>
                        </m:sSupPr>
                        <m:e>
                          <m:r>
                            <a:rPr lang="en-US" sz="1400" b="0" i="1" noProof="1" dirty="0" smtClean="0">
                              <a:solidFill>
                                <a:srgbClr val="1D3456"/>
                              </a:solidFill>
                              <a:latin typeface="Cambria Math" panose="02040503050406030204" pitchFamily="18" charset="0"/>
                              <a:ea typeface="Cambria Math" panose="02040503050406030204" pitchFamily="18" charset="0"/>
                            </a:rPr>
                            <m:t>𝜔</m:t>
                          </m:r>
                        </m:e>
                        <m:sup>
                          <m:r>
                            <a:rPr lang="en-US" sz="1400" b="0" i="1" noProof="1" dirty="0" smtClean="0">
                              <a:solidFill>
                                <a:srgbClr val="1D3456"/>
                              </a:solidFill>
                              <a:latin typeface="Cambria Math" panose="02040503050406030204" pitchFamily="18" charset="0"/>
                              <a:ea typeface="Cambria Math" panose="02040503050406030204" pitchFamily="18" charset="0"/>
                            </a:rPr>
                            <m:t>∗</m:t>
                          </m:r>
                        </m:sup>
                      </m:sSup>
                    </m:oMath>
                  </m:oMathPara>
                </a14:m>
                <a:endParaRPr lang="en-US" sz="1400" noProof="1"/>
              </a:p>
            </p:txBody>
          </p:sp>
        </mc:Choice>
        <mc:Fallback xmlns="">
          <p:sp>
            <p:nvSpPr>
              <p:cNvPr id="36" name="TextBox 35">
                <a:extLst>
                  <a:ext uri="{FF2B5EF4-FFF2-40B4-BE49-F238E27FC236}">
                    <a16:creationId xmlns:a16="http://schemas.microsoft.com/office/drawing/2014/main" id="{C2254B34-0221-3886-6EAF-0ED43917F424}"/>
                  </a:ext>
                </a:extLst>
              </p:cNvPr>
              <p:cNvSpPr txBox="1">
                <a:spLocks noRot="1" noChangeAspect="1" noMove="1" noResize="1" noEditPoints="1" noAdjustHandles="1" noChangeArrowheads="1" noChangeShapeType="1" noTextEdit="1"/>
              </p:cNvSpPr>
              <p:nvPr/>
            </p:nvSpPr>
            <p:spPr>
              <a:xfrm>
                <a:off x="1035048" y="3569200"/>
                <a:ext cx="243848" cy="215444"/>
              </a:xfrm>
              <a:prstGeom prst="rect">
                <a:avLst/>
              </a:prstGeom>
              <a:blipFill>
                <a:blip r:embed="rId6"/>
                <a:stretch>
                  <a:fillRect l="-10000" r="-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ounded Rectangle 36">
                <a:extLst>
                  <a:ext uri="{FF2B5EF4-FFF2-40B4-BE49-F238E27FC236}">
                    <a16:creationId xmlns:a16="http://schemas.microsoft.com/office/drawing/2014/main" id="{E882B82B-EF01-2091-079A-D7996EC480A0}"/>
                  </a:ext>
                </a:extLst>
              </p:cNvPr>
              <p:cNvSpPr/>
              <p:nvPr/>
            </p:nvSpPr>
            <p:spPr>
              <a:xfrm>
                <a:off x="2164391" y="2802598"/>
                <a:ext cx="1104826" cy="479453"/>
              </a:xfrm>
              <a:prstGeom prst="roundRect">
                <a:avLst/>
              </a:prstGeom>
              <a:solidFill>
                <a:schemeClr val="bg1"/>
              </a:solidFill>
              <a:ln w="15875">
                <a:solidFill>
                  <a:srgbClr val="2BB5A5"/>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noProof="1">
                    <a:solidFill>
                      <a:srgbClr val="2BB5A5"/>
                    </a:solidFill>
                  </a:rPr>
                  <a:t>RL Policy</a:t>
                </a:r>
              </a:p>
              <a:p>
                <a:pPr algn="ctr"/>
                <a14:m>
                  <m:oMathPara xmlns:m="http://schemas.openxmlformats.org/officeDocument/2006/math">
                    <m:oMathParaPr>
                      <m:jc m:val="centerGroup"/>
                    </m:oMathParaPr>
                    <m:oMath xmlns:m="http://schemas.openxmlformats.org/officeDocument/2006/math">
                      <m:sSub>
                        <m:sSubPr>
                          <m:ctrlPr>
                            <a:rPr lang="en-US" sz="1400" i="1" noProof="1" dirty="0" smtClean="0">
                              <a:solidFill>
                                <a:srgbClr val="2BB5A5"/>
                              </a:solidFill>
                              <a:latin typeface="Cambria Math" panose="02040503050406030204" pitchFamily="18" charset="0"/>
                            </a:rPr>
                          </m:ctrlPr>
                        </m:sSubPr>
                        <m:e>
                          <m:r>
                            <a:rPr lang="en-US" sz="1400" i="1" noProof="1" dirty="0" smtClean="0">
                              <a:solidFill>
                                <a:srgbClr val="2BB5A5"/>
                              </a:solidFill>
                              <a:latin typeface="Cambria Math" panose="02040503050406030204" pitchFamily="18" charset="0"/>
                              <a:ea typeface="Cambria Math" panose="02040503050406030204" pitchFamily="18" charset="0"/>
                            </a:rPr>
                            <m:t>𝜋</m:t>
                          </m:r>
                        </m:e>
                        <m:sub>
                          <m:r>
                            <a:rPr lang="en-US" sz="1400" i="1" noProof="1" dirty="0" smtClean="0">
                              <a:solidFill>
                                <a:srgbClr val="2BB5A5"/>
                              </a:solidFill>
                              <a:latin typeface="Cambria Math" panose="02040503050406030204" pitchFamily="18" charset="0"/>
                              <a:ea typeface="Cambria Math" panose="02040503050406030204" pitchFamily="18" charset="0"/>
                            </a:rPr>
                            <m:t>𝜃</m:t>
                          </m:r>
                        </m:sub>
                      </m:sSub>
                    </m:oMath>
                  </m:oMathPara>
                </a14:m>
                <a:endParaRPr lang="en-US" sz="1400" noProof="1">
                  <a:solidFill>
                    <a:srgbClr val="2BB5A5"/>
                  </a:solidFill>
                </a:endParaRPr>
              </a:p>
            </p:txBody>
          </p:sp>
        </mc:Choice>
        <mc:Fallback xmlns="">
          <p:sp>
            <p:nvSpPr>
              <p:cNvPr id="37" name="Rounded Rectangle 36">
                <a:extLst>
                  <a:ext uri="{FF2B5EF4-FFF2-40B4-BE49-F238E27FC236}">
                    <a16:creationId xmlns:a16="http://schemas.microsoft.com/office/drawing/2014/main" id="{E882B82B-EF01-2091-079A-D7996EC480A0}"/>
                  </a:ext>
                </a:extLst>
              </p:cNvPr>
              <p:cNvSpPr>
                <a:spLocks noRot="1" noChangeAspect="1" noMove="1" noResize="1" noEditPoints="1" noAdjustHandles="1" noChangeArrowheads="1" noChangeShapeType="1" noTextEdit="1"/>
              </p:cNvSpPr>
              <p:nvPr/>
            </p:nvSpPr>
            <p:spPr>
              <a:xfrm>
                <a:off x="2164391" y="2802598"/>
                <a:ext cx="1104826" cy="479453"/>
              </a:xfrm>
              <a:prstGeom prst="roundRect">
                <a:avLst/>
              </a:prstGeom>
              <a:blipFill>
                <a:blip r:embed="rId7"/>
                <a:stretch>
                  <a:fillRect t="-10000" b="-2500"/>
                </a:stretch>
              </a:blipFill>
              <a:ln w="15875">
                <a:solidFill>
                  <a:srgbClr val="2BB5A5"/>
                </a:solidFill>
              </a:ln>
            </p:spPr>
            <p:txBody>
              <a:bodyPr/>
              <a:lstStyle/>
              <a:p>
                <a:r>
                  <a:rPr lang="en-US">
                    <a:noFill/>
                  </a:rPr>
                  <a:t> </a:t>
                </a:r>
              </a:p>
            </p:txBody>
          </p:sp>
        </mc:Fallback>
      </mc:AlternateContent>
      <p:cxnSp>
        <p:nvCxnSpPr>
          <p:cNvPr id="38" name="Straight Arrow Connector 37">
            <a:extLst>
              <a:ext uri="{FF2B5EF4-FFF2-40B4-BE49-F238E27FC236}">
                <a16:creationId xmlns:a16="http://schemas.microsoft.com/office/drawing/2014/main" id="{B9162340-9D64-E9E3-66C6-5A5C70CA8558}"/>
              </a:ext>
            </a:extLst>
          </p:cNvPr>
          <p:cNvCxnSpPr>
            <a:cxnSpLocks/>
          </p:cNvCxnSpPr>
          <p:nvPr/>
        </p:nvCxnSpPr>
        <p:spPr>
          <a:xfrm>
            <a:off x="3269217" y="3041048"/>
            <a:ext cx="844142" cy="0"/>
          </a:xfrm>
          <a:prstGeom prst="straightConnector1">
            <a:avLst/>
          </a:prstGeom>
          <a:ln w="15875">
            <a:solidFill>
              <a:srgbClr val="2BB5A5"/>
            </a:solidFill>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6B906F4-BC86-38FF-CD63-FC4797708E80}"/>
              </a:ext>
            </a:extLst>
          </p:cNvPr>
          <p:cNvCxnSpPr>
            <a:cxnSpLocks/>
          </p:cNvCxnSpPr>
          <p:nvPr/>
        </p:nvCxnSpPr>
        <p:spPr>
          <a:xfrm>
            <a:off x="4113359" y="3041048"/>
            <a:ext cx="0" cy="604259"/>
          </a:xfrm>
          <a:prstGeom prst="straightConnector1">
            <a:avLst/>
          </a:prstGeom>
          <a:ln w="15875">
            <a:solidFill>
              <a:srgbClr val="2BB5A5"/>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AD6BBC47-0B6D-1469-C3E3-D1C652AF6BF1}"/>
                  </a:ext>
                </a:extLst>
              </p:cNvPr>
              <p:cNvSpPr txBox="1"/>
              <p:nvPr/>
            </p:nvSpPr>
            <p:spPr>
              <a:xfrm>
                <a:off x="3478061" y="2827008"/>
                <a:ext cx="2653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1400" i="1" noProof="1" dirty="0" smtClean="0">
                          <a:solidFill>
                            <a:srgbClr val="2BB5A5"/>
                          </a:solidFill>
                          <a:latin typeface="Cambria Math" panose="02040503050406030204" pitchFamily="18" charset="0"/>
                          <a:ea typeface="Cambria Math" panose="02040503050406030204" pitchFamily="18" charset="0"/>
                        </a:rPr>
                        <m:t>Δ</m:t>
                      </m:r>
                      <m:r>
                        <a:rPr lang="en-US" sz="1400" b="0" i="1" noProof="1" dirty="0" smtClean="0">
                          <a:solidFill>
                            <a:srgbClr val="2BB5A5"/>
                          </a:solidFill>
                          <a:latin typeface="Cambria Math" panose="02040503050406030204" pitchFamily="18" charset="0"/>
                          <a:ea typeface="Cambria Math" panose="02040503050406030204" pitchFamily="18" charset="0"/>
                        </a:rPr>
                        <m:t>𝑉</m:t>
                      </m:r>
                    </m:oMath>
                  </m:oMathPara>
                </a14:m>
                <a:endParaRPr lang="en-US" sz="1400" noProof="1">
                  <a:solidFill>
                    <a:srgbClr val="2BB5A5"/>
                  </a:solidFill>
                </a:endParaRPr>
              </a:p>
            </p:txBody>
          </p:sp>
        </mc:Choice>
        <mc:Fallback xmlns="">
          <p:sp>
            <p:nvSpPr>
              <p:cNvPr id="43" name="TextBox 42">
                <a:extLst>
                  <a:ext uri="{FF2B5EF4-FFF2-40B4-BE49-F238E27FC236}">
                    <a16:creationId xmlns:a16="http://schemas.microsoft.com/office/drawing/2014/main" id="{AD6BBC47-0B6D-1469-C3E3-D1C652AF6BF1}"/>
                  </a:ext>
                </a:extLst>
              </p:cNvPr>
              <p:cNvSpPr txBox="1">
                <a:spLocks noRot="1" noChangeAspect="1" noMove="1" noResize="1" noEditPoints="1" noAdjustHandles="1" noChangeArrowheads="1" noChangeShapeType="1" noTextEdit="1"/>
              </p:cNvSpPr>
              <p:nvPr/>
            </p:nvSpPr>
            <p:spPr>
              <a:xfrm>
                <a:off x="3478061" y="2827008"/>
                <a:ext cx="265394" cy="215444"/>
              </a:xfrm>
              <a:prstGeom prst="rect">
                <a:avLst/>
              </a:prstGeom>
              <a:blipFill>
                <a:blip r:embed="rId8"/>
                <a:stretch>
                  <a:fillRect l="-19048" r="-14286" b="-5556"/>
                </a:stretch>
              </a:blipFill>
            </p:spPr>
            <p:txBody>
              <a:bodyPr/>
              <a:lstStyle/>
              <a:p>
                <a:r>
                  <a:rPr lang="en-US">
                    <a:noFill/>
                  </a:rPr>
                  <a:t> </a:t>
                </a:r>
              </a:p>
            </p:txBody>
          </p:sp>
        </mc:Fallback>
      </mc:AlternateContent>
      <p:cxnSp>
        <p:nvCxnSpPr>
          <p:cNvPr id="50" name="Straight Arrow Connector 49">
            <a:extLst>
              <a:ext uri="{FF2B5EF4-FFF2-40B4-BE49-F238E27FC236}">
                <a16:creationId xmlns:a16="http://schemas.microsoft.com/office/drawing/2014/main" id="{992E817B-E205-53B4-CF20-EE3A7D4ACDF6}"/>
              </a:ext>
            </a:extLst>
          </p:cNvPr>
          <p:cNvCxnSpPr>
            <a:cxnSpLocks/>
          </p:cNvCxnSpPr>
          <p:nvPr/>
        </p:nvCxnSpPr>
        <p:spPr>
          <a:xfrm flipV="1">
            <a:off x="1320249" y="3036790"/>
            <a:ext cx="1144" cy="754836"/>
          </a:xfrm>
          <a:prstGeom prst="straightConnector1">
            <a:avLst/>
          </a:prstGeom>
          <a:ln w="15875">
            <a:solidFill>
              <a:srgbClr val="2BB5A5"/>
            </a:solidFill>
            <a:headEnd type="oval"/>
            <a:tailEnd type="non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5" name="Rounded Rectangle 54">
                <a:extLst>
                  <a:ext uri="{FF2B5EF4-FFF2-40B4-BE49-F238E27FC236}">
                    <a16:creationId xmlns:a16="http://schemas.microsoft.com/office/drawing/2014/main" id="{3C791473-AC07-EEA3-BD22-1C24F87C9CF0}"/>
                  </a:ext>
                </a:extLst>
              </p:cNvPr>
              <p:cNvSpPr/>
              <p:nvPr/>
            </p:nvSpPr>
            <p:spPr>
              <a:xfrm>
                <a:off x="4680359" y="3532231"/>
                <a:ext cx="679377" cy="479453"/>
              </a:xfrm>
              <a:prstGeom prst="roundRect">
                <a:avLst/>
              </a:prstGeom>
              <a:ln w="15875">
                <a:solidFill>
                  <a:srgbClr val="1D345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noProof="1">
                    <a:solidFill>
                      <a:srgbClr val="1D3456"/>
                    </a:solidFill>
                  </a:rPr>
                  <a:t>Clip to </a:t>
                </a:r>
                <a14:m>
                  <m:oMath xmlns:m="http://schemas.openxmlformats.org/officeDocument/2006/math">
                    <m:r>
                      <a:rPr lang="en-US" sz="1200" i="1" noProof="1" dirty="0" smtClean="0">
                        <a:solidFill>
                          <a:srgbClr val="1D3456"/>
                        </a:solidFill>
                        <a:latin typeface="Cambria Math" panose="02040503050406030204" pitchFamily="18" charset="0"/>
                        <a:ea typeface="Cambria Math" panose="02040503050406030204" pitchFamily="18" charset="0"/>
                      </a:rPr>
                      <m:t>±</m:t>
                    </m:r>
                    <m:r>
                      <a:rPr lang="en-US" sz="1200" b="0" i="1" noProof="1" dirty="0" smtClean="0">
                        <a:solidFill>
                          <a:srgbClr val="1D3456"/>
                        </a:solidFill>
                        <a:latin typeface="Cambria Math" panose="02040503050406030204" pitchFamily="18" charset="0"/>
                        <a:ea typeface="Cambria Math" panose="02040503050406030204" pitchFamily="18" charset="0"/>
                      </a:rPr>
                      <m:t>12</m:t>
                    </m:r>
                    <m:r>
                      <a:rPr lang="en-US" sz="1200" b="0" i="1" noProof="1" dirty="0" smtClean="0">
                        <a:solidFill>
                          <a:srgbClr val="1D3456"/>
                        </a:solidFill>
                        <a:latin typeface="Cambria Math" panose="02040503050406030204" pitchFamily="18" charset="0"/>
                        <a:ea typeface="Cambria Math" panose="02040503050406030204" pitchFamily="18" charset="0"/>
                      </a:rPr>
                      <m:t>𝑉</m:t>
                    </m:r>
                  </m:oMath>
                </a14:m>
                <a:endParaRPr lang="en-US" sz="1200" noProof="1">
                  <a:solidFill>
                    <a:srgbClr val="1D3456"/>
                  </a:solidFill>
                </a:endParaRPr>
              </a:p>
            </p:txBody>
          </p:sp>
        </mc:Choice>
        <mc:Fallback xmlns="">
          <p:sp>
            <p:nvSpPr>
              <p:cNvPr id="55" name="Rounded Rectangle 54">
                <a:extLst>
                  <a:ext uri="{FF2B5EF4-FFF2-40B4-BE49-F238E27FC236}">
                    <a16:creationId xmlns:a16="http://schemas.microsoft.com/office/drawing/2014/main" id="{3C791473-AC07-EEA3-BD22-1C24F87C9CF0}"/>
                  </a:ext>
                </a:extLst>
              </p:cNvPr>
              <p:cNvSpPr>
                <a:spLocks noRot="1" noChangeAspect="1" noMove="1" noResize="1" noEditPoints="1" noAdjustHandles="1" noChangeArrowheads="1" noChangeShapeType="1" noTextEdit="1"/>
              </p:cNvSpPr>
              <p:nvPr/>
            </p:nvSpPr>
            <p:spPr>
              <a:xfrm>
                <a:off x="4680359" y="3532231"/>
                <a:ext cx="679377" cy="479453"/>
              </a:xfrm>
              <a:prstGeom prst="roundRect">
                <a:avLst/>
              </a:prstGeom>
              <a:blipFill>
                <a:blip r:embed="rId9"/>
                <a:stretch>
                  <a:fillRect/>
                </a:stretch>
              </a:blipFill>
              <a:ln w="15875">
                <a:solidFill>
                  <a:srgbClr val="1D3456"/>
                </a:solidFill>
              </a:ln>
            </p:spPr>
            <p:txBody>
              <a:bodyPr/>
              <a:lstStyle/>
              <a:p>
                <a:r>
                  <a:rPr lang="en-US">
                    <a:noFill/>
                  </a:rPr>
                  <a:t> </a:t>
                </a:r>
              </a:p>
            </p:txBody>
          </p:sp>
        </mc:Fallback>
      </mc:AlternateContent>
      <p:cxnSp>
        <p:nvCxnSpPr>
          <p:cNvPr id="56" name="Straight Arrow Connector 55">
            <a:extLst>
              <a:ext uri="{FF2B5EF4-FFF2-40B4-BE49-F238E27FC236}">
                <a16:creationId xmlns:a16="http://schemas.microsoft.com/office/drawing/2014/main" id="{0F45531A-8B9D-3A9F-EF4E-B3772085DA2C}"/>
              </a:ext>
            </a:extLst>
          </p:cNvPr>
          <p:cNvCxnSpPr>
            <a:cxnSpLocks/>
          </p:cNvCxnSpPr>
          <p:nvPr/>
        </p:nvCxnSpPr>
        <p:spPr>
          <a:xfrm>
            <a:off x="4248359" y="3775871"/>
            <a:ext cx="432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847F0C42-3AD8-DBB2-8FD1-A7AF11D1C6C1}"/>
              </a:ext>
            </a:extLst>
          </p:cNvPr>
          <p:cNvCxnSpPr>
            <a:cxnSpLocks/>
          </p:cNvCxnSpPr>
          <p:nvPr/>
        </p:nvCxnSpPr>
        <p:spPr>
          <a:xfrm>
            <a:off x="5359736" y="3765487"/>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94F8AA02-4EDF-E48D-5C80-B00E2F9F72D7}"/>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Residual Reinforcement Learning for Speed Control</a:t>
            </a:r>
          </a:p>
        </p:txBody>
      </p:sp>
      <p:sp>
        <p:nvSpPr>
          <p:cNvPr id="63" name="TextBox 62">
            <a:extLst>
              <a:ext uri="{FF2B5EF4-FFF2-40B4-BE49-F238E27FC236}">
                <a16:creationId xmlns:a16="http://schemas.microsoft.com/office/drawing/2014/main" id="{269A41D6-6C3E-66BA-CD58-07C035DE5429}"/>
              </a:ext>
            </a:extLst>
          </p:cNvPr>
          <p:cNvSpPr txBox="1"/>
          <p:nvPr/>
        </p:nvSpPr>
        <p:spPr>
          <a:xfrm>
            <a:off x="868680" y="1507925"/>
            <a:ext cx="10970278" cy="866712"/>
          </a:xfrm>
          <a:prstGeom prst="rect">
            <a:avLst/>
          </a:prstGeom>
          <a:noFill/>
        </p:spPr>
        <p:txBody>
          <a:bodyPr wrap="square" lIns="0" tIns="0" rIns="0" bIns="0" anchor="t">
            <a:spAutoFit/>
          </a:bodyPr>
          <a:lstStyle/>
          <a:p>
            <a:pPr>
              <a:lnSpc>
                <a:spcPct val="120000"/>
              </a:lnSpc>
            </a:pPr>
            <a:r>
              <a:rPr lang="en-GB" sz="1600" dirty="0">
                <a:solidFill>
                  <a:srgbClr val="495A66"/>
                </a:solidFill>
              </a:rPr>
              <a:t>A pure PI controller compensates the speed error but ignores gravity and the </a:t>
            </a:r>
            <a:r>
              <a:rPr lang="en-GB" sz="1600" b="1" dirty="0">
                <a:solidFill>
                  <a:srgbClr val="495A66"/>
                </a:solidFill>
              </a:rPr>
              <a:t>nonlinear dynamics </a:t>
            </a:r>
            <a:r>
              <a:rPr lang="en-GB" sz="1600" dirty="0">
                <a:solidFill>
                  <a:srgbClr val="495A66"/>
                </a:solidFill>
              </a:rPr>
              <a:t>of the system. Adding a feedforward term requires an accurate physical model. The residual approach lets us </a:t>
            </a:r>
            <a:r>
              <a:rPr lang="en-GB" sz="1600" i="1" dirty="0">
                <a:solidFill>
                  <a:srgbClr val="495A66"/>
                </a:solidFill>
              </a:rPr>
              <a:t>learn</a:t>
            </a:r>
            <a:r>
              <a:rPr lang="en-GB" sz="1600" dirty="0">
                <a:solidFill>
                  <a:srgbClr val="495A66"/>
                </a:solidFill>
              </a:rPr>
              <a:t> that correction directly from interaction with the system, with no knowledge of the motor parameters</a:t>
            </a:r>
            <a:r>
              <a:rPr lang="en-GB" sz="1600" dirty="0"/>
              <a:t>.</a:t>
            </a:r>
            <a:endParaRPr lang="en-US" sz="1400" noProof="1">
              <a:solidFill>
                <a:srgbClr val="1D3557"/>
              </a:solidFill>
            </a:endParaRPr>
          </a:p>
        </p:txBody>
      </p:sp>
      <p:sp>
        <p:nvSpPr>
          <p:cNvPr id="64" name="TextBox 63">
            <a:extLst>
              <a:ext uri="{FF2B5EF4-FFF2-40B4-BE49-F238E27FC236}">
                <a16:creationId xmlns:a16="http://schemas.microsoft.com/office/drawing/2014/main" id="{341A7404-D2D8-1C83-A779-2A573923BE68}"/>
              </a:ext>
            </a:extLst>
          </p:cNvPr>
          <p:cNvSpPr txBox="1"/>
          <p:nvPr/>
        </p:nvSpPr>
        <p:spPr>
          <a:xfrm>
            <a:off x="972152" y="4589097"/>
            <a:ext cx="6392409" cy="362150"/>
          </a:xfrm>
          <a:prstGeom prst="rect">
            <a:avLst/>
          </a:prstGeom>
          <a:noFill/>
        </p:spPr>
        <p:txBody>
          <a:bodyPr wrap="square" lIns="0" tIns="0" rIns="0" bIns="0" anchor="t">
            <a:spAutoFit/>
          </a:bodyPr>
          <a:lstStyle/>
          <a:p>
            <a:pPr>
              <a:lnSpc>
                <a:spcPct val="110000"/>
              </a:lnSpc>
              <a:spcAft>
                <a:spcPts val="600"/>
              </a:spcAft>
            </a:pPr>
            <a:r>
              <a:rPr lang="en-US" sz="1100" b="0" noProof="1">
                <a:solidFill>
                  <a:srgbClr val="4A5A66"/>
                </a:solidFill>
                <a:latin typeface="Consolas"/>
              </a:rPr>
              <a:t>Fig. 1 - </a:t>
            </a:r>
            <a:r>
              <a:rPr lang="en-GB" sz="1100" dirty="0">
                <a:solidFill>
                  <a:srgbClr val="495A66"/>
                </a:solidFill>
                <a:latin typeface="Consolas" panose="020B0609020204030204" pitchFamily="49" charset="0"/>
                <a:cs typeface="Consolas" panose="020B0609020204030204" pitchFamily="49" charset="0"/>
              </a:rPr>
              <a:t>The policy does not replace the PI; it adds a bounded correction on top. Safety is guaranteed by design: </a:t>
            </a:r>
            <a:r>
              <a:rPr lang="en-GB" sz="1100" i="1" dirty="0">
                <a:solidFill>
                  <a:srgbClr val="495A66"/>
                </a:solidFill>
                <a:latin typeface="Consolas" panose="020B0609020204030204" pitchFamily="49" charset="0"/>
                <a:cs typeface="Consolas" panose="020B0609020204030204" pitchFamily="49" charset="0"/>
              </a:rPr>
              <a:t>|</a:t>
            </a:r>
            <a:r>
              <a:rPr lang="el-GR" sz="1100" i="1" dirty="0">
                <a:solidFill>
                  <a:srgbClr val="495A66"/>
                </a:solidFill>
                <a:latin typeface="Consolas" panose="020B0609020204030204" pitchFamily="49" charset="0"/>
                <a:cs typeface="Consolas" panose="020B0609020204030204" pitchFamily="49" charset="0"/>
              </a:rPr>
              <a:t>Δ</a:t>
            </a:r>
            <a:r>
              <a:rPr lang="en-GB" sz="1100" i="1" dirty="0">
                <a:solidFill>
                  <a:srgbClr val="495A66"/>
                </a:solidFill>
                <a:latin typeface="Consolas" panose="020B0609020204030204" pitchFamily="49" charset="0"/>
                <a:cs typeface="Consolas" panose="020B0609020204030204" pitchFamily="49" charset="0"/>
              </a:rPr>
              <a:t>V|≤3.6V </a:t>
            </a:r>
            <a:r>
              <a:rPr lang="en-GB" sz="1100" dirty="0">
                <a:solidFill>
                  <a:srgbClr val="495A66"/>
                </a:solidFill>
                <a:latin typeface="Consolas" panose="020B0609020204030204" pitchFamily="49" charset="0"/>
                <a:cs typeface="Consolas" panose="020B0609020204030204" pitchFamily="49" charset="0"/>
              </a:rPr>
              <a:t>and the total voltage never exceeds</a:t>
            </a:r>
            <a:r>
              <a:rPr lang="en-GB" sz="1100" i="1" dirty="0">
                <a:solidFill>
                  <a:srgbClr val="495A66"/>
                </a:solidFill>
                <a:latin typeface="Consolas" panose="020B0609020204030204" pitchFamily="49" charset="0"/>
                <a:cs typeface="Consolas" panose="020B0609020204030204" pitchFamily="49" charset="0"/>
              </a:rPr>
              <a:t> ±12V.</a:t>
            </a:r>
            <a:endParaRPr lang="en-US" sz="1100" b="0" noProof="1">
              <a:solidFill>
                <a:srgbClr val="495A66"/>
              </a:solidFill>
              <a:latin typeface="Consolas" panose="020B0609020204030204" pitchFamily="49" charset="0"/>
              <a:cs typeface="Consolas" panose="020B0609020204030204" pitchFamily="49" charset="0"/>
            </a:endParaRPr>
          </a:p>
        </p:txBody>
      </p:sp>
      <mc:AlternateContent xmlns:mc="http://schemas.openxmlformats.org/markup-compatibility/2006" xmlns:a14="http://schemas.microsoft.com/office/drawing/2010/main">
        <mc:Choice Requires="a14">
          <p:graphicFrame>
            <p:nvGraphicFramePr>
              <p:cNvPr id="68" name="Table 67">
                <a:extLst>
                  <a:ext uri="{FF2B5EF4-FFF2-40B4-BE49-F238E27FC236}">
                    <a16:creationId xmlns:a16="http://schemas.microsoft.com/office/drawing/2014/main" id="{23321865-6DE8-7F96-8782-E4168BE9C3FE}"/>
                  </a:ext>
                </a:extLst>
              </p:cNvPr>
              <p:cNvGraphicFramePr>
                <a:graphicFrameLocks noGrp="1"/>
              </p:cNvGraphicFramePr>
              <p:nvPr>
                <p:extLst>
                  <p:ext uri="{D42A27DB-BD31-4B8C-83A1-F6EECF244321}">
                    <p14:modId xmlns:p14="http://schemas.microsoft.com/office/powerpoint/2010/main" val="1515476021"/>
                  </p:ext>
                </p:extLst>
              </p:nvPr>
            </p:nvGraphicFramePr>
            <p:xfrm>
              <a:off x="7641810" y="2574275"/>
              <a:ext cx="4298562" cy="2468880"/>
            </p:xfrm>
            <a:graphic>
              <a:graphicData uri="http://schemas.openxmlformats.org/drawingml/2006/table">
                <a:tbl>
                  <a:tblPr>
                    <a:tableStyleId>{5C22544A-7EE6-4342-B048-85BDC9FD1C3A}</a:tableStyleId>
                  </a:tblPr>
                  <a:tblGrid>
                    <a:gridCol w="972586">
                      <a:extLst>
                        <a:ext uri="{9D8B030D-6E8A-4147-A177-3AD203B41FA5}">
                          <a16:colId xmlns:a16="http://schemas.microsoft.com/office/drawing/2014/main" val="20000"/>
                        </a:ext>
                      </a:extLst>
                    </a:gridCol>
                    <a:gridCol w="3325976">
                      <a:extLst>
                        <a:ext uri="{9D8B030D-6E8A-4147-A177-3AD203B41FA5}">
                          <a16:colId xmlns:a16="http://schemas.microsoft.com/office/drawing/2014/main" val="20001"/>
                        </a:ext>
                      </a:extLst>
                    </a:gridCol>
                  </a:tblGrid>
                  <a:tr h="411480">
                    <a:tc>
                      <a:txBody>
                        <a:bodyPr/>
                        <a:lstStyle/>
                        <a:p>
                          <a:r>
                            <a:rPr lang="en-US" sz="1200" b="0" noProof="1">
                              <a:solidFill>
                                <a:srgbClr val="1D3557"/>
                              </a:solidFill>
                              <a:latin typeface="+mn-lt"/>
                            </a:rPr>
                            <a:t>Agent</a:t>
                          </a:r>
                        </a:p>
                      </a:txBody>
                      <a:tcPr marL="73152" marT="27432" marB="27432" anchor="ctr">
                        <a:solidFill>
                          <a:srgbClr val="FBFAF6"/>
                        </a:solidFill>
                      </a:tcPr>
                    </a:tc>
                    <a:tc>
                      <a:txBody>
                        <a:bodyPr/>
                        <a:lstStyle/>
                        <a:p>
                          <a:r>
                            <a:rPr lang="en-US" sz="1200" b="0" noProof="1">
                              <a:solidFill>
                                <a:srgbClr val="4A5A66"/>
                              </a:solidFill>
                              <a:latin typeface="+mn-lt"/>
                            </a:rPr>
                            <a:t>Neural Network (SAC) learning </a:t>
                          </a:r>
                          <a14:m>
                            <m:oMath xmlns:m="http://schemas.openxmlformats.org/officeDocument/2006/math">
                              <m:sSub>
                                <m:sSubPr>
                                  <m:ctrlPr>
                                    <a:rPr lang="en-US" sz="1200" b="0" i="1" noProof="1" smtClean="0">
                                      <a:solidFill>
                                        <a:srgbClr val="4A5A66"/>
                                      </a:solidFill>
                                      <a:latin typeface="Cambria Math" panose="02040503050406030204" pitchFamily="18" charset="0"/>
                                    </a:rPr>
                                  </m:ctrlPr>
                                </m:sSubPr>
                                <m:e>
                                  <m:r>
                                    <a:rPr lang="en-US" sz="1200" b="0" i="1" noProof="1" smtClean="0">
                                      <a:solidFill>
                                        <a:srgbClr val="4A5A66"/>
                                      </a:solidFill>
                                      <a:latin typeface="Cambria Math" panose="02040503050406030204" pitchFamily="18" charset="0"/>
                                      <a:ea typeface="Cambria Math" panose="02040503050406030204" pitchFamily="18" charset="0"/>
                                    </a:rPr>
                                    <m:t>𝜋</m:t>
                                  </m:r>
                                </m:e>
                                <m:sub>
                                  <m:r>
                                    <a:rPr lang="en-US" sz="1200" b="0" i="1" noProof="1" smtClean="0">
                                      <a:solidFill>
                                        <a:srgbClr val="4A5A66"/>
                                      </a:solidFill>
                                      <a:latin typeface="Cambria Math" panose="02040503050406030204" pitchFamily="18" charset="0"/>
                                      <a:ea typeface="Cambria Math" panose="02040503050406030204" pitchFamily="18" charset="0"/>
                                    </a:rPr>
                                    <m:t>𝜗</m:t>
                                  </m:r>
                                </m:sub>
                              </m:sSub>
                            </m:oMath>
                          </a14:m>
                          <a:endParaRPr lang="en-US" sz="1200" b="0" noProof="1">
                            <a:solidFill>
                              <a:srgbClr val="4A5A66"/>
                            </a:solidFill>
                            <a:latin typeface="+mn-lt"/>
                          </a:endParaRP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r>
                            <a:rPr lang="en-US" sz="1200" b="0" noProof="1">
                              <a:solidFill>
                                <a:srgbClr val="1D3557"/>
                              </a:solidFill>
                              <a:latin typeface="+mn-lt"/>
                            </a:rPr>
                            <a:t>Environment</a:t>
                          </a:r>
                        </a:p>
                      </a:txBody>
                      <a:tcPr marL="73152" marT="27432" marB="27432" anchor="ctr">
                        <a:solidFill>
                          <a:srgbClr val="FBFAF6"/>
                        </a:solidFill>
                      </a:tcPr>
                    </a:tc>
                    <a:tc>
                      <a:txBody>
                        <a:bodyPr/>
                        <a:lstStyle/>
                        <a:p>
                          <a:r>
                            <a:rPr lang="en-US" sz="1200" b="0" noProof="1">
                              <a:solidFill>
                                <a:srgbClr val="4A5A66"/>
                              </a:solidFill>
                              <a:latin typeface="+mn-lt"/>
                            </a:rPr>
                            <a:t>BDC Motor + rod simulated at 1 kHz</a:t>
                          </a: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r>
                            <a:rPr lang="en-US" sz="1200" b="0" noProof="1">
                              <a:solidFill>
                                <a:srgbClr val="1D3557"/>
                              </a:solidFill>
                              <a:latin typeface="+mn-lt"/>
                            </a:rPr>
                            <a:t>State </a:t>
                          </a:r>
                          <a:r>
                            <a:rPr lang="en-US" sz="1200" b="0" i="1" noProof="1">
                              <a:solidFill>
                                <a:srgbClr val="1D3557"/>
                              </a:solidFill>
                              <a:latin typeface="+mn-lt"/>
                            </a:rPr>
                            <a:t>s</a:t>
                          </a:r>
                        </a:p>
                      </a:txBody>
                      <a:tcPr marL="73152" marT="27432" marB="27432" anchor="ctr">
                        <a:solidFill>
                          <a:srgbClr val="FBFAF6"/>
                        </a:solidFill>
                      </a:tcPr>
                    </a:tc>
                    <a:tc>
                      <a:txBody>
                        <a:bodyPr/>
                        <a:lstStyle/>
                        <a:p>
                          <a:r>
                            <a:rPr lang="en-US" sz="1200" b="0" noProof="1">
                              <a:solidFill>
                                <a:srgbClr val="4A5A66"/>
                              </a:solidFill>
                              <a:latin typeface="+mn-lt"/>
                            </a:rPr>
                            <a:t>Speed error, velocity, </a:t>
                          </a:r>
                          <a14:m>
                            <m:oMath xmlns:m="http://schemas.openxmlformats.org/officeDocument/2006/math">
                              <m:r>
                                <a:rPr lang="it-IT" sz="1200" b="0" i="1" noProof="1" smtClean="0">
                                  <a:solidFill>
                                    <a:srgbClr val="4A5A66"/>
                                  </a:solidFill>
                                  <a:latin typeface="Cambria Math" panose="02040503050406030204" pitchFamily="18" charset="0"/>
                                </a:rPr>
                                <m:t>𝑠𝑖𝑛</m:t>
                              </m:r>
                              <m:r>
                                <a:rPr lang="it-IT" sz="1200" b="0" i="1" noProof="1" smtClean="0">
                                  <a:solidFill>
                                    <a:srgbClr val="4A5A66"/>
                                  </a:solidFill>
                                  <a:latin typeface="Cambria Math" panose="02040503050406030204" pitchFamily="18" charset="0"/>
                                </a:rPr>
                                <m:t>/</m:t>
                              </m:r>
                              <m:func>
                                <m:funcPr>
                                  <m:ctrlPr>
                                    <a:rPr lang="it-IT" sz="1200" b="0" i="1" noProof="1" smtClean="0">
                                      <a:solidFill>
                                        <a:srgbClr val="4A5A66"/>
                                      </a:solidFill>
                                      <a:latin typeface="Cambria Math" panose="02040503050406030204" pitchFamily="18" charset="0"/>
                                    </a:rPr>
                                  </m:ctrlPr>
                                </m:funcPr>
                                <m:fName>
                                  <m:r>
                                    <m:rPr>
                                      <m:sty m:val="p"/>
                                    </m:rPr>
                                    <a:rPr lang="it-IT" sz="1200" b="0" i="0" noProof="1" smtClean="0">
                                      <a:solidFill>
                                        <a:srgbClr val="4A5A66"/>
                                      </a:solidFill>
                                      <a:latin typeface="Cambria Math" panose="02040503050406030204" pitchFamily="18" charset="0"/>
                                    </a:rPr>
                                    <m:t>cos</m:t>
                                  </m:r>
                                </m:fName>
                                <m:e>
                                  <m:r>
                                    <a:rPr lang="it-IT" sz="1200" b="0" i="1" noProof="1" smtClean="0">
                                      <a:solidFill>
                                        <a:srgbClr val="4A5A66"/>
                                      </a:solidFill>
                                      <a:latin typeface="Cambria Math" panose="02040503050406030204" pitchFamily="18" charset="0"/>
                                      <a:ea typeface="Cambria Math" panose="02040503050406030204" pitchFamily="18" charset="0"/>
                                    </a:rPr>
                                    <m:t>𝜃</m:t>
                                  </m:r>
                                </m:e>
                              </m:func>
                              <m:r>
                                <a:rPr lang="it-IT" sz="1200" b="0" i="1" noProof="1" smtClean="0">
                                  <a:solidFill>
                                    <a:srgbClr val="4A5A66"/>
                                  </a:solidFill>
                                  <a:latin typeface="Cambria Math" panose="02040503050406030204" pitchFamily="18" charset="0"/>
                                </a:rPr>
                                <m:t>, </m:t>
                              </m:r>
                              <m:sSup>
                                <m:sSupPr>
                                  <m:ctrlPr>
                                    <a:rPr lang="it-IT" sz="1200" b="0" i="1" noProof="1" smtClean="0">
                                      <a:solidFill>
                                        <a:srgbClr val="4A5A66"/>
                                      </a:solidFill>
                                      <a:latin typeface="Cambria Math" panose="02040503050406030204" pitchFamily="18" charset="0"/>
                                    </a:rPr>
                                  </m:ctrlPr>
                                </m:sSupPr>
                                <m:e>
                                  <m:r>
                                    <a:rPr lang="it-IT" sz="1200" b="0" i="1" noProof="1" smtClean="0">
                                      <a:solidFill>
                                        <a:srgbClr val="4A5A66"/>
                                      </a:solidFill>
                                      <a:latin typeface="Cambria Math" panose="02040503050406030204" pitchFamily="18" charset="0"/>
                                      <a:ea typeface="Cambria Math" panose="02040503050406030204" pitchFamily="18" charset="0"/>
                                    </a:rPr>
                                    <m:t>𝜔</m:t>
                                  </m:r>
                                </m:e>
                                <m:sup>
                                  <m:r>
                                    <a:rPr lang="it-IT" sz="1200" b="0" i="1" noProof="1" smtClean="0">
                                      <a:solidFill>
                                        <a:srgbClr val="4A5A66"/>
                                      </a:solidFill>
                                      <a:latin typeface="Cambria Math" panose="02040503050406030204" pitchFamily="18" charset="0"/>
                                    </a:rPr>
                                    <m:t>∗</m:t>
                                  </m:r>
                                </m:sup>
                              </m:sSup>
                              <m:r>
                                <a:rPr lang="it-IT" sz="1200" b="0" i="1" noProof="1" smtClean="0">
                                  <a:solidFill>
                                    <a:srgbClr val="4A5A66"/>
                                  </a:solidFill>
                                  <a:latin typeface="Cambria Math" panose="02040503050406030204" pitchFamily="18" charset="0"/>
                                </a:rPr>
                                <m:t>, </m:t>
                              </m:r>
                              <m:sSub>
                                <m:sSubPr>
                                  <m:ctrlPr>
                                    <a:rPr lang="it-IT" sz="1200" b="0" i="1" noProof="1" smtClean="0">
                                      <a:solidFill>
                                        <a:srgbClr val="4A5A66"/>
                                      </a:solidFill>
                                      <a:latin typeface="Cambria Math" panose="02040503050406030204" pitchFamily="18" charset="0"/>
                                    </a:rPr>
                                  </m:ctrlPr>
                                </m:sSubPr>
                                <m:e>
                                  <m:r>
                                    <a:rPr lang="it-IT" sz="1200" b="0" i="1" noProof="1" smtClean="0">
                                      <a:solidFill>
                                        <a:srgbClr val="4A5A66"/>
                                      </a:solidFill>
                                      <a:latin typeface="Cambria Math" panose="02040503050406030204" pitchFamily="18" charset="0"/>
                                    </a:rPr>
                                    <m:t>𝑉</m:t>
                                  </m:r>
                                </m:e>
                                <m:sub>
                                  <m:r>
                                    <a:rPr lang="it-IT" sz="1200" b="0" i="1" noProof="1" smtClean="0">
                                      <a:solidFill>
                                        <a:srgbClr val="4A5A66"/>
                                      </a:solidFill>
                                      <a:latin typeface="Cambria Math" panose="02040503050406030204" pitchFamily="18" charset="0"/>
                                    </a:rPr>
                                    <m:t>𝑏𝑎𝑠𝑒</m:t>
                                  </m:r>
                                </m:sub>
                              </m:sSub>
                            </m:oMath>
                          </a14:m>
                          <a:endParaRPr lang="en-US" sz="1200" b="0" noProof="1">
                            <a:solidFill>
                              <a:srgbClr val="4A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r>
                            <a:rPr lang="en-US" sz="1200" b="0" noProof="1">
                              <a:solidFill>
                                <a:srgbClr val="1D3557"/>
                              </a:solidFill>
                              <a:latin typeface="+mn-lt"/>
                            </a:rPr>
                            <a:t>Action </a:t>
                          </a:r>
                          <a:r>
                            <a:rPr lang="en-US" sz="1200" b="0" i="1" noProof="1">
                              <a:solidFill>
                                <a:srgbClr val="1D3557"/>
                              </a:solidFill>
                              <a:latin typeface="+mn-lt"/>
                            </a:rPr>
                            <a:t>a</a:t>
                          </a:r>
                          <a:r>
                            <a:rPr lang="en-US" sz="1200" b="0" noProof="1">
                              <a:solidFill>
                                <a:srgbClr val="1D3557"/>
                              </a:solidFill>
                              <a:latin typeface="+mn-lt"/>
                            </a:rPr>
                            <a:t> </a:t>
                          </a:r>
                        </a:p>
                      </a:txBody>
                      <a:tcPr marL="73152" marT="27432" marB="27432" anchor="ctr">
                        <a:solidFill>
                          <a:srgbClr val="FBFAF6"/>
                        </a:solidFill>
                      </a:tcPr>
                    </a:tc>
                    <a:tc>
                      <a:txBody>
                        <a:bodyPr/>
                        <a:lstStyle/>
                        <a:p>
                          <a14:m>
                            <m:oMath xmlns:m="http://schemas.openxmlformats.org/officeDocument/2006/math">
                              <m:r>
                                <a:rPr lang="el-GR" sz="1200" b="0" i="1" kern="1200" smtClean="0">
                                  <a:solidFill>
                                    <a:srgbClr val="495A66"/>
                                  </a:solidFill>
                                  <a:effectLst/>
                                  <a:latin typeface="Cambria Math" panose="02040503050406030204" pitchFamily="18" charset="0"/>
                                  <a:ea typeface="Cambria Math" panose="02040503050406030204" pitchFamily="18" charset="0"/>
                                  <a:cs typeface="+mn-cs"/>
                                </a:rPr>
                                <m:t>∆</m:t>
                              </m:r>
                              <m:r>
                                <a:rPr lang="it-IT" sz="1200" b="0" i="1" kern="1200" smtClean="0">
                                  <a:solidFill>
                                    <a:srgbClr val="495A66"/>
                                  </a:solidFill>
                                  <a:effectLst/>
                                  <a:latin typeface="Cambria Math" panose="02040503050406030204" pitchFamily="18" charset="0"/>
                                  <a:ea typeface="Cambria Math" panose="02040503050406030204" pitchFamily="18" charset="0"/>
                                  <a:cs typeface="+mn-cs"/>
                                </a:rPr>
                                <m:t>𝑉</m:t>
                              </m:r>
                              <m:r>
                                <a:rPr lang="it-IT" sz="1200" b="0" i="1" kern="1200" smtClean="0">
                                  <a:solidFill>
                                    <a:srgbClr val="495A66"/>
                                  </a:solidFill>
                                  <a:effectLst/>
                                  <a:latin typeface="Cambria Math" panose="02040503050406030204" pitchFamily="18" charset="0"/>
                                  <a:ea typeface="Cambria Math" panose="02040503050406030204" pitchFamily="18" charset="0"/>
                                  <a:cs typeface="+mn-cs"/>
                                </a:rPr>
                                <m:t>∈</m:t>
                              </m:r>
                              <m:d>
                                <m:dPr>
                                  <m:begChr m:val="["/>
                                  <m:endChr m:val="]"/>
                                  <m:ctrlPr>
                                    <a:rPr lang="it-IT" sz="1200" b="0" i="1" kern="1200" smtClean="0">
                                      <a:solidFill>
                                        <a:srgbClr val="495A66"/>
                                      </a:solidFill>
                                      <a:effectLst/>
                                      <a:latin typeface="Cambria Math" panose="02040503050406030204" pitchFamily="18" charset="0"/>
                                      <a:ea typeface="Cambria Math" panose="02040503050406030204" pitchFamily="18" charset="0"/>
                                      <a:cs typeface="+mn-cs"/>
                                    </a:rPr>
                                  </m:ctrlPr>
                                </m:dPr>
                                <m:e>
                                  <m:r>
                                    <a:rPr lang="it-IT" sz="1200" b="0" i="1" kern="1200" smtClean="0">
                                      <a:solidFill>
                                        <a:srgbClr val="495A66"/>
                                      </a:solidFill>
                                      <a:effectLst/>
                                      <a:latin typeface="Cambria Math" panose="02040503050406030204" pitchFamily="18" charset="0"/>
                                      <a:ea typeface="Cambria Math" panose="02040503050406030204" pitchFamily="18" charset="0"/>
                                      <a:cs typeface="+mn-cs"/>
                                    </a:rPr>
                                    <m:t>−3.6, +3.6</m:t>
                                  </m:r>
                                </m:e>
                              </m:d>
                              <m:r>
                                <a:rPr lang="it-IT" sz="1200" b="0" i="1" kern="1200" smtClean="0">
                                  <a:solidFill>
                                    <a:srgbClr val="495A66"/>
                                  </a:solidFill>
                                  <a:effectLst/>
                                  <a:latin typeface="Cambria Math" panose="02040503050406030204" pitchFamily="18" charset="0"/>
                                  <a:ea typeface="Cambria Math" panose="02040503050406030204" pitchFamily="18" charset="0"/>
                                  <a:cs typeface="+mn-cs"/>
                                </a:rPr>
                                <m:t> </m:t>
                              </m:r>
                              <m:r>
                                <a:rPr lang="it-IT" sz="1200" b="0" i="1" kern="1200" smtClean="0">
                                  <a:solidFill>
                                    <a:srgbClr val="495A66"/>
                                  </a:solidFill>
                                  <a:effectLst/>
                                  <a:latin typeface="Cambria Math" panose="02040503050406030204" pitchFamily="18" charset="0"/>
                                  <a:ea typeface="Cambria Math" panose="02040503050406030204" pitchFamily="18" charset="0"/>
                                  <a:cs typeface="+mn-cs"/>
                                </a:rPr>
                                <m:t>𝑉</m:t>
                              </m:r>
                            </m:oMath>
                          </a14:m>
                          <a:r>
                            <a:rPr lang="en-GB" sz="1200" b="0" i="0" kern="1200" dirty="0">
                              <a:solidFill>
                                <a:srgbClr val="495A66"/>
                              </a:solidFill>
                              <a:effectLst/>
                              <a:latin typeface="+mn-lt"/>
                              <a:ea typeface="+mn-ea"/>
                              <a:cs typeface="+mn-cs"/>
                            </a:rPr>
                            <a:t> (bounded)</a:t>
                          </a:r>
                          <a:endParaRPr lang="en-US" sz="1200" b="1" noProof="1">
                            <a:solidFill>
                              <a:srgbClr val="1C2B36"/>
                            </a:solidFill>
                            <a:latin typeface="+mn-lt"/>
                          </a:endParaRPr>
                        </a:p>
                      </a:txBody>
                      <a:tcPr marL="73152" marT="27432" marB="27432" anchor="ctr">
                        <a:solidFill>
                          <a:srgbClr val="FBFAF6"/>
                        </a:solidFill>
                      </a:tcPr>
                    </a:tc>
                    <a:extLst>
                      <a:ext uri="{0D108BD9-81ED-4DB2-BD59-A6C34878D82A}">
                        <a16:rowId xmlns:a16="http://schemas.microsoft.com/office/drawing/2014/main" val="10003"/>
                      </a:ext>
                    </a:extLst>
                  </a:tr>
                  <a:tr h="411480">
                    <a:tc>
                      <a:txBody>
                        <a:bodyPr/>
                        <a:lstStyle/>
                        <a:p>
                          <a:r>
                            <a:rPr lang="en-GB" sz="1200" b="0" i="0" kern="1200" dirty="0">
                              <a:solidFill>
                                <a:srgbClr val="495A66"/>
                              </a:solidFill>
                              <a:effectLst/>
                              <a:latin typeface="+mn-lt"/>
                              <a:ea typeface="+mn-ea"/>
                              <a:cs typeface="+mn-cs"/>
                            </a:rPr>
                            <a:t>Reward </a:t>
                          </a:r>
                          <a:r>
                            <a:rPr lang="en-GB" sz="1200" b="0" i="1" kern="1200" dirty="0">
                              <a:solidFill>
                                <a:srgbClr val="495A66"/>
                              </a:solidFill>
                              <a:effectLst/>
                              <a:latin typeface="+mn-lt"/>
                              <a:ea typeface="+mn-ea"/>
                              <a:cs typeface="+mn-cs"/>
                            </a:rPr>
                            <a:t>r</a:t>
                          </a:r>
                          <a:endParaRPr lang="en-US" sz="1200" b="0" i="1" noProof="1">
                            <a:solidFill>
                              <a:srgbClr val="495A66"/>
                            </a:solidFill>
                            <a:latin typeface="+mn-lt"/>
                          </a:endParaRP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a:t>
                          </a:r>
                          <a14:m>
                            <m:oMath xmlns:m="http://schemas.openxmlformats.org/officeDocument/2006/math">
                              <m:d>
                                <m:dPr>
                                  <m:begChr m:val="|"/>
                                  <m:endChr m:val="|"/>
                                  <m:ctrlPr>
                                    <a:rPr lang="en-GB" sz="1200" b="0" i="1" kern="1200" smtClean="0">
                                      <a:solidFill>
                                        <a:srgbClr val="495A66"/>
                                      </a:solidFill>
                                      <a:effectLst/>
                                      <a:latin typeface="Cambria Math" panose="02040503050406030204" pitchFamily="18" charset="0"/>
                                      <a:ea typeface="+mn-ea"/>
                                      <a:cs typeface="+mn-cs"/>
                                    </a:rPr>
                                  </m:ctrlPr>
                                </m:dPr>
                                <m:e>
                                  <m:r>
                                    <a:rPr lang="it-IT" sz="1200" b="0" i="1" kern="1200" smtClean="0">
                                      <a:solidFill>
                                        <a:srgbClr val="495A66"/>
                                      </a:solidFill>
                                      <a:effectLst/>
                                      <a:latin typeface="Cambria Math" panose="02040503050406030204" pitchFamily="18" charset="0"/>
                                      <a:ea typeface="+mn-ea"/>
                                      <a:cs typeface="+mn-cs"/>
                                    </a:rPr>
                                    <m:t>𝑒</m:t>
                                  </m:r>
                                </m:e>
                              </m:d>
                            </m:oMath>
                          </a14:m>
                          <a:r>
                            <a:rPr lang="en-GB" sz="1200" b="0" i="0" kern="1200" dirty="0">
                              <a:solidFill>
                                <a:srgbClr val="495A66"/>
                              </a:solidFill>
                              <a:effectLst/>
                              <a:latin typeface="+mn-lt"/>
                              <a:ea typeface="+mn-ea"/>
                              <a:cs typeface="+mn-cs"/>
                            </a:rPr>
                            <a:t> − effort penalty − rate penalty</a:t>
                          </a:r>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4"/>
                      </a:ext>
                    </a:extLst>
                  </a:tr>
                  <a:tr h="411480">
                    <a:tc>
                      <a:txBody>
                        <a:bodyPr/>
                        <a:lstStyle/>
                        <a:p>
                          <a:r>
                            <a:rPr lang="en-US" sz="1200" b="0" i="0" noProof="1">
                              <a:solidFill>
                                <a:srgbClr val="495A66"/>
                              </a:solidFill>
                              <a:latin typeface="+mn-lt"/>
                            </a:rPr>
                            <a:t>Objective</a:t>
                          </a: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Accurate tracking, smooth control</a:t>
                          </a:r>
                          <a:r>
                            <a:rPr lang="en-GB" sz="1200" b="0" i="0" kern="1200" baseline="0" dirty="0">
                              <a:solidFill>
                                <a:srgbClr val="495A66"/>
                              </a:solidFill>
                              <a:effectLst/>
                              <a:latin typeface="+mn-lt"/>
                              <a:ea typeface="+mn-ea"/>
                              <a:cs typeface="+mn-cs"/>
                            </a:rPr>
                            <a:t> </a:t>
                          </a:r>
                          <a14:m>
                            <m:oMath xmlns:m="http://schemas.openxmlformats.org/officeDocument/2006/math">
                              <m:func>
                                <m:funcPr>
                                  <m:ctrlPr>
                                    <a:rPr lang="it-IT" sz="1200" b="0" i="1" kern="1200" smtClean="0">
                                      <a:solidFill>
                                        <a:srgbClr val="495A66"/>
                                      </a:solidFill>
                                      <a:effectLst/>
                                      <a:latin typeface="Cambria Math" panose="02040503050406030204" pitchFamily="18" charset="0"/>
                                      <a:ea typeface="+mn-ea"/>
                                      <a:cs typeface="+mn-cs"/>
                                    </a:rPr>
                                  </m:ctrlPr>
                                </m:funcPr>
                                <m:fName>
                                  <m:r>
                                    <m:rPr>
                                      <m:sty m:val="p"/>
                                    </m:rPr>
                                    <a:rPr lang="it-IT" sz="1200" b="0" i="0" kern="1200" smtClean="0">
                                      <a:solidFill>
                                        <a:srgbClr val="495A66"/>
                                      </a:solidFill>
                                      <a:effectLst/>
                                      <a:latin typeface="Cambria Math" panose="02040503050406030204" pitchFamily="18" charset="0"/>
                                      <a:ea typeface="+mn-ea"/>
                                      <a:cs typeface="+mn-cs"/>
                                    </a:rPr>
                                    <m:t>max</m:t>
                                  </m:r>
                                </m:fName>
                                <m:e>
                                  <m:r>
                                    <a:rPr lang="it-IT" sz="1200" b="0" i="1" kern="1200" smtClean="0">
                                      <a:solidFill>
                                        <a:srgbClr val="495A66"/>
                                      </a:solidFill>
                                      <a:effectLst/>
                                      <a:latin typeface="Cambria Math" panose="02040503050406030204" pitchFamily="18" charset="0"/>
                                      <a:ea typeface="+mn-ea"/>
                                      <a:cs typeface="+mn-cs"/>
                                    </a:rPr>
                                    <m:t>𝐸</m:t>
                                  </m:r>
                                  <m:d>
                                    <m:dPr>
                                      <m:begChr m:val="["/>
                                      <m:endChr m:val="]"/>
                                      <m:ctrlPr>
                                        <a:rPr lang="it-IT" sz="1200" b="0" i="1" kern="1200" smtClean="0">
                                          <a:solidFill>
                                            <a:srgbClr val="495A66"/>
                                          </a:solidFill>
                                          <a:effectLst/>
                                          <a:latin typeface="Cambria Math" panose="02040503050406030204" pitchFamily="18" charset="0"/>
                                          <a:ea typeface="+mn-ea"/>
                                          <a:cs typeface="+mn-cs"/>
                                        </a:rPr>
                                      </m:ctrlPr>
                                    </m:dPr>
                                    <m:e>
                                      <m:nary>
                                        <m:naryPr>
                                          <m:chr m:val="∑"/>
                                          <m:subHide m:val="on"/>
                                          <m:supHide m:val="on"/>
                                          <m:ctrlPr>
                                            <a:rPr lang="it-IT" sz="1200" b="0" i="1" kern="1200" smtClean="0">
                                              <a:solidFill>
                                                <a:srgbClr val="495A66"/>
                                              </a:solidFill>
                                              <a:effectLst/>
                                              <a:latin typeface="Cambria Math" panose="02040503050406030204" pitchFamily="18" charset="0"/>
                                              <a:ea typeface="+mn-ea"/>
                                              <a:cs typeface="+mn-cs"/>
                                            </a:rPr>
                                          </m:ctrlPr>
                                        </m:naryPr>
                                        <m:sub/>
                                        <m:sup/>
                                        <m:e>
                                          <m:sSup>
                                            <m:sSupPr>
                                              <m:ctrlPr>
                                                <a:rPr lang="it-IT" sz="1200" b="0" i="1" kern="1200" smtClean="0">
                                                  <a:solidFill>
                                                    <a:srgbClr val="495A66"/>
                                                  </a:solidFill>
                                                  <a:effectLst/>
                                                  <a:latin typeface="Cambria Math" panose="02040503050406030204" pitchFamily="18" charset="0"/>
                                                  <a:ea typeface="+mn-ea"/>
                                                  <a:cs typeface="+mn-cs"/>
                                                </a:rPr>
                                              </m:ctrlPr>
                                            </m:sSupPr>
                                            <m:e>
                                              <m:r>
                                                <a:rPr lang="it-IT" sz="1200" b="0" i="1" kern="1200" smtClean="0">
                                                  <a:solidFill>
                                                    <a:srgbClr val="495A66"/>
                                                  </a:solidFill>
                                                  <a:effectLst/>
                                                  <a:latin typeface="Cambria Math" panose="02040503050406030204" pitchFamily="18" charset="0"/>
                                                  <a:ea typeface="Cambria Math" panose="02040503050406030204" pitchFamily="18" charset="0"/>
                                                  <a:cs typeface="+mn-cs"/>
                                                </a:rPr>
                                                <m:t>𝛾</m:t>
                                              </m:r>
                                            </m:e>
                                            <m:sup>
                                              <m:r>
                                                <a:rPr lang="it-IT" sz="1200" b="0" i="1" kern="1200" smtClean="0">
                                                  <a:solidFill>
                                                    <a:srgbClr val="495A66"/>
                                                  </a:solidFill>
                                                  <a:effectLst/>
                                                  <a:latin typeface="Cambria Math" panose="02040503050406030204" pitchFamily="18" charset="0"/>
                                                  <a:ea typeface="+mn-ea"/>
                                                  <a:cs typeface="+mn-cs"/>
                                                </a:rPr>
                                                <m:t>𝑡</m:t>
                                              </m:r>
                                            </m:sup>
                                          </m:sSup>
                                          <m:sSub>
                                            <m:sSubPr>
                                              <m:ctrlPr>
                                                <a:rPr lang="it-IT" sz="1200" b="0" i="1" kern="1200" smtClean="0">
                                                  <a:solidFill>
                                                    <a:srgbClr val="495A66"/>
                                                  </a:solidFill>
                                                  <a:effectLst/>
                                                  <a:latin typeface="Cambria Math" panose="02040503050406030204" pitchFamily="18" charset="0"/>
                                                  <a:ea typeface="+mn-ea"/>
                                                  <a:cs typeface="+mn-cs"/>
                                                </a:rPr>
                                              </m:ctrlPr>
                                            </m:sSubPr>
                                            <m:e>
                                              <m:r>
                                                <a:rPr lang="it-IT" sz="1200" b="0" i="1" kern="1200" smtClean="0">
                                                  <a:solidFill>
                                                    <a:srgbClr val="495A66"/>
                                                  </a:solidFill>
                                                  <a:effectLst/>
                                                  <a:latin typeface="Cambria Math" panose="02040503050406030204" pitchFamily="18" charset="0"/>
                                                  <a:ea typeface="+mn-ea"/>
                                                  <a:cs typeface="+mn-cs"/>
                                                </a:rPr>
                                                <m:t>𝑟</m:t>
                                              </m:r>
                                            </m:e>
                                            <m:sub>
                                              <m:r>
                                                <a:rPr lang="it-IT" sz="1200" b="0" i="1" kern="1200" smtClean="0">
                                                  <a:solidFill>
                                                    <a:srgbClr val="495A66"/>
                                                  </a:solidFill>
                                                  <a:effectLst/>
                                                  <a:latin typeface="Cambria Math" panose="02040503050406030204" pitchFamily="18" charset="0"/>
                                                  <a:ea typeface="+mn-ea"/>
                                                  <a:cs typeface="+mn-cs"/>
                                                </a:rPr>
                                                <m:t>𝑡</m:t>
                                              </m:r>
                                            </m:sub>
                                          </m:sSub>
                                        </m:e>
                                      </m:nary>
                                    </m:e>
                                  </m:d>
                                </m:e>
                              </m:func>
                            </m:oMath>
                          </a14:m>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3264284527"/>
                      </a:ext>
                    </a:extLst>
                  </a:tr>
                </a:tbl>
              </a:graphicData>
            </a:graphic>
          </p:graphicFrame>
        </mc:Choice>
        <mc:Fallback xmlns="">
          <p:graphicFrame>
            <p:nvGraphicFramePr>
              <p:cNvPr id="68" name="Table 67">
                <a:extLst>
                  <a:ext uri="{FF2B5EF4-FFF2-40B4-BE49-F238E27FC236}">
                    <a16:creationId xmlns:a16="http://schemas.microsoft.com/office/drawing/2014/main" id="{23321865-6DE8-7F96-8782-E4168BE9C3FE}"/>
                  </a:ext>
                </a:extLst>
              </p:cNvPr>
              <p:cNvGraphicFramePr>
                <a:graphicFrameLocks noGrp="1"/>
              </p:cNvGraphicFramePr>
              <p:nvPr>
                <p:extLst>
                  <p:ext uri="{D42A27DB-BD31-4B8C-83A1-F6EECF244321}">
                    <p14:modId xmlns:p14="http://schemas.microsoft.com/office/powerpoint/2010/main" val="1515476021"/>
                  </p:ext>
                </p:extLst>
              </p:nvPr>
            </p:nvGraphicFramePr>
            <p:xfrm>
              <a:off x="7641810" y="2574275"/>
              <a:ext cx="4298562" cy="2468880"/>
            </p:xfrm>
            <a:graphic>
              <a:graphicData uri="http://schemas.openxmlformats.org/drawingml/2006/table">
                <a:tbl>
                  <a:tblPr>
                    <a:tableStyleId>{5C22544A-7EE6-4342-B048-85BDC9FD1C3A}</a:tableStyleId>
                  </a:tblPr>
                  <a:tblGrid>
                    <a:gridCol w="972586">
                      <a:extLst>
                        <a:ext uri="{9D8B030D-6E8A-4147-A177-3AD203B41FA5}">
                          <a16:colId xmlns:a16="http://schemas.microsoft.com/office/drawing/2014/main" val="20000"/>
                        </a:ext>
                      </a:extLst>
                    </a:gridCol>
                    <a:gridCol w="3325976">
                      <a:extLst>
                        <a:ext uri="{9D8B030D-6E8A-4147-A177-3AD203B41FA5}">
                          <a16:colId xmlns:a16="http://schemas.microsoft.com/office/drawing/2014/main" val="20001"/>
                        </a:ext>
                      </a:extLst>
                    </a:gridCol>
                  </a:tblGrid>
                  <a:tr h="411480">
                    <a:tc>
                      <a:txBody>
                        <a:bodyPr/>
                        <a:lstStyle/>
                        <a:p>
                          <a:r>
                            <a:rPr lang="en-US" sz="1200" b="0" noProof="1">
                              <a:solidFill>
                                <a:srgbClr val="1D3557"/>
                              </a:solidFill>
                              <a:latin typeface="+mn-lt"/>
                            </a:rPr>
                            <a:t>Agent</a:t>
                          </a:r>
                        </a:p>
                      </a:txBody>
                      <a:tcPr marL="73152" marT="27432" marB="27432" anchor="ctr">
                        <a:solidFill>
                          <a:srgbClr val="FBFAF6"/>
                        </a:solidFill>
                      </a:tcPr>
                    </a:tc>
                    <a:tc>
                      <a:txBody>
                        <a:bodyPr/>
                        <a:lstStyle/>
                        <a:p>
                          <a:endParaRPr lang="en-IT"/>
                        </a:p>
                      </a:txBody>
                      <a:tcPr marL="73152" marT="27432" marB="27432" anchor="ctr">
                        <a:blipFill>
                          <a:blip r:embed="rId10"/>
                          <a:stretch>
                            <a:fillRect l="-29658" r="-380" b="-581818"/>
                          </a:stretch>
                        </a:blipFill>
                      </a:tcPr>
                    </a:tc>
                    <a:extLst>
                      <a:ext uri="{0D108BD9-81ED-4DB2-BD59-A6C34878D82A}">
                        <a16:rowId xmlns:a16="http://schemas.microsoft.com/office/drawing/2014/main" val="10000"/>
                      </a:ext>
                    </a:extLst>
                  </a:tr>
                  <a:tr h="411480">
                    <a:tc>
                      <a:txBody>
                        <a:bodyPr/>
                        <a:lstStyle/>
                        <a:p>
                          <a:r>
                            <a:rPr lang="en-US" sz="1200" b="0" noProof="1">
                              <a:solidFill>
                                <a:srgbClr val="1D3557"/>
                              </a:solidFill>
                              <a:latin typeface="+mn-lt"/>
                            </a:rPr>
                            <a:t>Environment</a:t>
                          </a:r>
                        </a:p>
                      </a:txBody>
                      <a:tcPr marL="73152" marT="27432" marB="27432" anchor="ctr">
                        <a:solidFill>
                          <a:srgbClr val="FBFAF6"/>
                        </a:solidFill>
                      </a:tcPr>
                    </a:tc>
                    <a:tc>
                      <a:txBody>
                        <a:bodyPr/>
                        <a:lstStyle/>
                        <a:p>
                          <a:r>
                            <a:rPr lang="en-US" sz="1200" b="0" noProof="1">
                              <a:solidFill>
                                <a:srgbClr val="4A5A66"/>
                              </a:solidFill>
                              <a:latin typeface="+mn-lt"/>
                            </a:rPr>
                            <a:t>BDC Motor + rod simulated at 1 kHz</a:t>
                          </a: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r>
                            <a:rPr lang="en-US" sz="1200" b="0" noProof="1">
                              <a:solidFill>
                                <a:srgbClr val="1D3557"/>
                              </a:solidFill>
                              <a:latin typeface="+mn-lt"/>
                            </a:rPr>
                            <a:t>State </a:t>
                          </a:r>
                          <a:r>
                            <a:rPr lang="en-US" sz="1200" b="0" i="1" noProof="1">
                              <a:solidFill>
                                <a:srgbClr val="1D3557"/>
                              </a:solidFill>
                              <a:latin typeface="+mn-lt"/>
                            </a:rPr>
                            <a:t>s</a:t>
                          </a:r>
                        </a:p>
                      </a:txBody>
                      <a:tcPr marL="73152" marT="27432" marB="27432" anchor="ctr">
                        <a:solidFill>
                          <a:srgbClr val="FBFAF6"/>
                        </a:solidFill>
                      </a:tcPr>
                    </a:tc>
                    <a:tc>
                      <a:txBody>
                        <a:bodyPr/>
                        <a:lstStyle/>
                        <a:p>
                          <a:endParaRPr lang="en-IT"/>
                        </a:p>
                      </a:txBody>
                      <a:tcPr marL="73152" marT="27432" marB="27432" anchor="ctr">
                        <a:blipFill>
                          <a:blip r:embed="rId10"/>
                          <a:stretch>
                            <a:fillRect l="-29658" t="-196970" r="-380" b="-384848"/>
                          </a:stretch>
                        </a:blipFill>
                      </a:tcPr>
                    </a:tc>
                    <a:extLst>
                      <a:ext uri="{0D108BD9-81ED-4DB2-BD59-A6C34878D82A}">
                        <a16:rowId xmlns:a16="http://schemas.microsoft.com/office/drawing/2014/main" val="10002"/>
                      </a:ext>
                    </a:extLst>
                  </a:tr>
                  <a:tr h="411480">
                    <a:tc>
                      <a:txBody>
                        <a:bodyPr/>
                        <a:lstStyle/>
                        <a:p>
                          <a:r>
                            <a:rPr lang="en-US" sz="1200" b="0" noProof="1">
                              <a:solidFill>
                                <a:srgbClr val="1D3557"/>
                              </a:solidFill>
                              <a:latin typeface="+mn-lt"/>
                            </a:rPr>
                            <a:t>Action </a:t>
                          </a:r>
                          <a:r>
                            <a:rPr lang="en-US" sz="1200" b="0" i="1" noProof="1">
                              <a:solidFill>
                                <a:srgbClr val="1D3557"/>
                              </a:solidFill>
                              <a:latin typeface="+mn-lt"/>
                            </a:rPr>
                            <a:t>a</a:t>
                          </a:r>
                          <a:r>
                            <a:rPr lang="en-US" sz="1200" b="0" noProof="1">
                              <a:solidFill>
                                <a:srgbClr val="1D3557"/>
                              </a:solidFill>
                              <a:latin typeface="+mn-lt"/>
                            </a:rPr>
                            <a:t> </a:t>
                          </a:r>
                        </a:p>
                      </a:txBody>
                      <a:tcPr marL="73152" marT="27432" marB="27432" anchor="ctr">
                        <a:solidFill>
                          <a:srgbClr val="FBFAF6"/>
                        </a:solidFill>
                      </a:tcPr>
                    </a:tc>
                    <a:tc>
                      <a:txBody>
                        <a:bodyPr/>
                        <a:lstStyle/>
                        <a:p>
                          <a:endParaRPr lang="en-IT"/>
                        </a:p>
                      </a:txBody>
                      <a:tcPr marL="73152" marT="27432" marB="27432" anchor="ctr">
                        <a:blipFill>
                          <a:blip r:embed="rId10"/>
                          <a:stretch>
                            <a:fillRect l="-29658" t="-296970" r="-380" b="-284848"/>
                          </a:stretch>
                        </a:blipFill>
                      </a:tcPr>
                    </a:tc>
                    <a:extLst>
                      <a:ext uri="{0D108BD9-81ED-4DB2-BD59-A6C34878D82A}">
                        <a16:rowId xmlns:a16="http://schemas.microsoft.com/office/drawing/2014/main" val="10003"/>
                      </a:ext>
                    </a:extLst>
                  </a:tr>
                  <a:tr h="411480">
                    <a:tc>
                      <a:txBody>
                        <a:bodyPr/>
                        <a:lstStyle/>
                        <a:p>
                          <a:r>
                            <a:rPr lang="en-GB" sz="1200" b="0" i="0" kern="1200" dirty="0">
                              <a:solidFill>
                                <a:srgbClr val="495A66"/>
                              </a:solidFill>
                              <a:effectLst/>
                              <a:latin typeface="+mn-lt"/>
                              <a:ea typeface="+mn-ea"/>
                              <a:cs typeface="+mn-cs"/>
                            </a:rPr>
                            <a:t>Reward </a:t>
                          </a:r>
                          <a:r>
                            <a:rPr lang="en-GB" sz="1200" b="0" i="1" kern="1200" dirty="0">
                              <a:solidFill>
                                <a:srgbClr val="495A66"/>
                              </a:solidFill>
                              <a:effectLst/>
                              <a:latin typeface="+mn-lt"/>
                              <a:ea typeface="+mn-ea"/>
                              <a:cs typeface="+mn-cs"/>
                            </a:rPr>
                            <a:t>r</a:t>
                          </a:r>
                          <a:endParaRPr lang="en-US" sz="1200" b="0" i="1" noProof="1">
                            <a:solidFill>
                              <a:srgbClr val="495A66"/>
                            </a:solidFill>
                            <a:latin typeface="+mn-lt"/>
                          </a:endParaRPr>
                        </a:p>
                      </a:txBody>
                      <a:tcPr marL="73152" marT="27432" marB="27432" anchor="ctr">
                        <a:solidFill>
                          <a:srgbClr val="FBFAF6"/>
                        </a:solidFill>
                      </a:tcPr>
                    </a:tc>
                    <a:tc>
                      <a:txBody>
                        <a:bodyPr/>
                        <a:lstStyle/>
                        <a:p>
                          <a:endParaRPr lang="en-IT"/>
                        </a:p>
                      </a:txBody>
                      <a:tcPr marL="73152" marT="27432" marB="27432" anchor="ctr">
                        <a:blipFill>
                          <a:blip r:embed="rId10"/>
                          <a:stretch>
                            <a:fillRect l="-29658" t="-409375" r="-380" b="-193750"/>
                          </a:stretch>
                        </a:blipFill>
                      </a:tcPr>
                    </a:tc>
                    <a:extLst>
                      <a:ext uri="{0D108BD9-81ED-4DB2-BD59-A6C34878D82A}">
                        <a16:rowId xmlns:a16="http://schemas.microsoft.com/office/drawing/2014/main" val="10004"/>
                      </a:ext>
                    </a:extLst>
                  </a:tr>
                  <a:tr h="411480">
                    <a:tc>
                      <a:txBody>
                        <a:bodyPr/>
                        <a:lstStyle/>
                        <a:p>
                          <a:r>
                            <a:rPr lang="en-US" sz="1200" b="0" i="0" noProof="1">
                              <a:solidFill>
                                <a:srgbClr val="495A66"/>
                              </a:solidFill>
                              <a:latin typeface="+mn-lt"/>
                            </a:rPr>
                            <a:t>Objective</a:t>
                          </a:r>
                        </a:p>
                      </a:txBody>
                      <a:tcPr marL="73152" marT="27432" marB="27432" anchor="ctr">
                        <a:solidFill>
                          <a:srgbClr val="FBFAF6"/>
                        </a:solidFill>
                      </a:tcPr>
                    </a:tc>
                    <a:tc>
                      <a:txBody>
                        <a:bodyPr/>
                        <a:lstStyle/>
                        <a:p>
                          <a:endParaRPr lang="en-IT"/>
                        </a:p>
                      </a:txBody>
                      <a:tcPr marL="73152" marT="27432" marB="27432" anchor="ctr">
                        <a:blipFill>
                          <a:blip r:embed="rId10"/>
                          <a:stretch>
                            <a:fillRect l="-29658" t="-493939" r="-380" b="-87879"/>
                          </a:stretch>
                        </a:blipFill>
                      </a:tcPr>
                    </a:tc>
                    <a:extLst>
                      <a:ext uri="{0D108BD9-81ED-4DB2-BD59-A6C34878D82A}">
                        <a16:rowId xmlns:a16="http://schemas.microsoft.com/office/drawing/2014/main" val="3264284527"/>
                      </a:ext>
                    </a:extLst>
                  </a:tr>
                </a:tbl>
              </a:graphicData>
            </a:graphic>
          </p:graphicFrame>
        </mc:Fallback>
      </mc:AlternateContent>
      <p:cxnSp>
        <p:nvCxnSpPr>
          <p:cNvPr id="69" name="Straight Arrow Connector 68">
            <a:extLst>
              <a:ext uri="{FF2B5EF4-FFF2-40B4-BE49-F238E27FC236}">
                <a16:creationId xmlns:a16="http://schemas.microsoft.com/office/drawing/2014/main" id="{0EFE1913-5EBF-BA23-CC53-B336D9508843}"/>
              </a:ext>
            </a:extLst>
          </p:cNvPr>
          <p:cNvCxnSpPr>
            <a:cxnSpLocks/>
          </p:cNvCxnSpPr>
          <p:nvPr/>
        </p:nvCxnSpPr>
        <p:spPr>
          <a:xfrm>
            <a:off x="1894391" y="3792451"/>
            <a:ext cx="270000" cy="0"/>
          </a:xfrm>
          <a:prstGeom prst="straightConnector1">
            <a:avLst/>
          </a:prstGeom>
          <a:ln w="15875">
            <a:solidFill>
              <a:srgbClr val="1D3456"/>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770F5606-0DFA-674E-B148-E60BA3B8AEC7}"/>
              </a:ext>
            </a:extLst>
          </p:cNvPr>
          <p:cNvCxnSpPr>
            <a:cxnSpLocks/>
          </p:cNvCxnSpPr>
          <p:nvPr/>
        </p:nvCxnSpPr>
        <p:spPr>
          <a:xfrm>
            <a:off x="1320249" y="3033868"/>
            <a:ext cx="844142" cy="0"/>
          </a:xfrm>
          <a:prstGeom prst="straightConnector1">
            <a:avLst/>
          </a:prstGeom>
          <a:ln w="15875">
            <a:solidFill>
              <a:srgbClr val="2BB5A5"/>
            </a:solidFill>
            <a:tailEnd type="none"/>
          </a:ln>
          <a:effectLst/>
        </p:spPr>
        <p:style>
          <a:lnRef idx="2">
            <a:schemeClr val="accent1"/>
          </a:lnRef>
          <a:fillRef idx="0">
            <a:schemeClr val="accent1"/>
          </a:fillRef>
          <a:effectRef idx="1">
            <a:schemeClr val="accent1"/>
          </a:effectRef>
          <a:fontRef idx="minor">
            <a:schemeClr val="tx1"/>
          </a:fontRef>
        </p:style>
      </p:cxnSp>
      <p:sp>
        <p:nvSpPr>
          <p:cNvPr id="74" name="Rounded Rectangle 73">
            <a:extLst>
              <a:ext uri="{FF2B5EF4-FFF2-40B4-BE49-F238E27FC236}">
                <a16:creationId xmlns:a16="http://schemas.microsoft.com/office/drawing/2014/main" id="{9B00E413-E33B-5571-C20F-05EBA82F361D}"/>
              </a:ext>
            </a:extLst>
          </p:cNvPr>
          <p:cNvSpPr/>
          <p:nvPr/>
        </p:nvSpPr>
        <p:spPr>
          <a:xfrm>
            <a:off x="868679" y="5375208"/>
            <a:ext cx="10875301" cy="868680"/>
          </a:xfrm>
          <a:prstGeom prst="roundRect">
            <a:avLst>
              <a:gd name="adj" fmla="val 6000"/>
            </a:avLst>
          </a:prstGeom>
          <a:solidFill>
            <a:srgbClr val="E7F2F0"/>
          </a:solidFill>
          <a:ln w="12700">
            <a:solidFill>
              <a:srgbClr val="E7F2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75" name="Rectangle 74">
            <a:extLst>
              <a:ext uri="{FF2B5EF4-FFF2-40B4-BE49-F238E27FC236}">
                <a16:creationId xmlns:a16="http://schemas.microsoft.com/office/drawing/2014/main" id="{995A9471-D833-E59A-0303-10C4A6E631B1}"/>
              </a:ext>
            </a:extLst>
          </p:cNvPr>
          <p:cNvSpPr/>
          <p:nvPr/>
        </p:nvSpPr>
        <p:spPr>
          <a:xfrm>
            <a:off x="868680" y="5375208"/>
            <a:ext cx="38100" cy="8686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76" name="TextBox 75">
            <a:extLst>
              <a:ext uri="{FF2B5EF4-FFF2-40B4-BE49-F238E27FC236}">
                <a16:creationId xmlns:a16="http://schemas.microsoft.com/office/drawing/2014/main" id="{4C9EEA17-7877-E3C4-184F-355BAE91D676}"/>
              </a:ext>
            </a:extLst>
          </p:cNvPr>
          <p:cNvSpPr txBox="1"/>
          <p:nvPr/>
        </p:nvSpPr>
        <p:spPr>
          <a:xfrm>
            <a:off x="1069848" y="5428673"/>
            <a:ext cx="10222992" cy="761747"/>
          </a:xfrm>
          <a:prstGeom prst="rect">
            <a:avLst/>
          </a:prstGeom>
          <a:noFill/>
        </p:spPr>
        <p:txBody>
          <a:bodyPr wrap="square" lIns="0" tIns="0" rIns="0" bIns="0" anchor="ctr">
            <a:spAutoFit/>
          </a:bodyPr>
          <a:lstStyle/>
          <a:p>
            <a:pPr>
              <a:lnSpc>
                <a:spcPct val="112000"/>
              </a:lnSpc>
            </a:pPr>
            <a:r>
              <a:rPr lang="en-US" sz="1500" b="1" noProof="1">
                <a:solidFill>
                  <a:srgbClr val="1D3557"/>
                </a:solidFill>
                <a:latin typeface="Georgia"/>
              </a:rPr>
              <a:t>Main advantage.  </a:t>
            </a:r>
            <a:r>
              <a:rPr lang="en-GB" sz="1500" dirty="0">
                <a:solidFill>
                  <a:srgbClr val="495A66"/>
                </a:solidFill>
              </a:rPr>
              <a:t>The policy learns what the PI cannot model (feedforward and gravity compensation) without ever seeing the motor equations</a:t>
            </a:r>
            <a:r>
              <a:rPr lang="en-GB" sz="1500" i="1" dirty="0"/>
              <a:t>.</a:t>
            </a:r>
            <a:endParaRPr lang="en-US" sz="1500" noProof="1">
              <a:solidFill>
                <a:srgbClr val="1D3557"/>
              </a:solidFill>
            </a:endParaRPr>
          </a:p>
          <a:p>
            <a:pPr>
              <a:lnSpc>
                <a:spcPct val="112000"/>
              </a:lnSpc>
            </a:pPr>
            <a:endParaRPr lang="en-US" sz="1500" b="0" noProof="1">
              <a:solidFill>
                <a:srgbClr val="4A5A66"/>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B2  </a:t>
            </a:r>
            <a:r>
              <a:rPr lang="en-US" sz="1100" noProof="1">
                <a:solidFill>
                  <a:srgbClr val="2A9D8F"/>
                </a:solidFill>
                <a:latin typeface="Consolas"/>
              </a:rPr>
              <a:t>RESIDUAL REINFORCEMENT LEARNING - Framework</a:t>
            </a:r>
          </a:p>
        </p:txBody>
      </p:sp>
      <p:sp>
        <p:nvSpPr>
          <p:cNvPr id="6" name="TextBox 5">
            <a:extLst>
              <a:ext uri="{FF2B5EF4-FFF2-40B4-BE49-F238E27FC236}">
                <a16:creationId xmlns:a16="http://schemas.microsoft.com/office/drawing/2014/main" id="{3FC039A7-0058-B4A3-8EF2-BFF8841FF4CD}"/>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State Observer </a:t>
            </a:r>
          </a:p>
        </p:txBody>
      </p:sp>
      <p:sp>
        <p:nvSpPr>
          <p:cNvPr id="7" name="Rounded Rectangle 6">
            <a:extLst>
              <a:ext uri="{FF2B5EF4-FFF2-40B4-BE49-F238E27FC236}">
                <a16:creationId xmlns:a16="http://schemas.microsoft.com/office/drawing/2014/main" id="{990FC962-C8BA-420B-D1BF-93E54627EA39}"/>
              </a:ext>
            </a:extLst>
          </p:cNvPr>
          <p:cNvSpPr/>
          <p:nvPr/>
        </p:nvSpPr>
        <p:spPr>
          <a:xfrm>
            <a:off x="7869864" y="1666661"/>
            <a:ext cx="3755208" cy="845268"/>
          </a:xfrm>
          <a:prstGeom prst="roundRect">
            <a:avLst>
              <a:gd name="adj" fmla="val 6000"/>
            </a:avLst>
          </a:prstGeom>
          <a:solidFill>
            <a:srgbClr val="F4F1E9"/>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8" name="Rectangle 7">
            <a:extLst>
              <a:ext uri="{FF2B5EF4-FFF2-40B4-BE49-F238E27FC236}">
                <a16:creationId xmlns:a16="http://schemas.microsoft.com/office/drawing/2014/main" id="{9CA473A6-14CB-400A-6199-4EBC5AD2FD31}"/>
              </a:ext>
            </a:extLst>
          </p:cNvPr>
          <p:cNvSpPr/>
          <p:nvPr/>
        </p:nvSpPr>
        <p:spPr>
          <a:xfrm>
            <a:off x="7869863" y="1666661"/>
            <a:ext cx="45719" cy="845268"/>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DF311AD-11DF-D1FC-18D7-AE83D74FFD2F}"/>
                  </a:ext>
                </a:extLst>
              </p:cNvPr>
              <p:cNvSpPr txBox="1"/>
              <p:nvPr/>
            </p:nvSpPr>
            <p:spPr>
              <a:xfrm>
                <a:off x="7907964" y="1807322"/>
                <a:ext cx="3717108" cy="5653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𝑠</m:t>
                      </m:r>
                      <m:r>
                        <a:rPr lang="it-IT" b="0" i="1" smtClean="0">
                          <a:latin typeface="Cambria Math" panose="02040503050406030204" pitchFamily="18" charset="0"/>
                        </a:rPr>
                        <m:t>=</m:t>
                      </m:r>
                      <m:d>
                        <m:dPr>
                          <m:begChr m:val="["/>
                          <m:endChr m:val="]"/>
                          <m:ctrlPr>
                            <a:rPr lang="it-IT" b="0" i="1" smtClean="0">
                              <a:latin typeface="Cambria Math" panose="02040503050406030204" pitchFamily="18" charset="0"/>
                            </a:rPr>
                          </m:ctrlPr>
                        </m:dPr>
                        <m:e>
                          <m:f>
                            <m:fPr>
                              <m:ctrlPr>
                                <a:rPr lang="it-IT" b="0" i="1" smtClean="0">
                                  <a:latin typeface="Cambria Math" panose="02040503050406030204" pitchFamily="18" charset="0"/>
                                </a:rPr>
                              </m:ctrlPr>
                            </m:fPr>
                            <m:num>
                              <m:r>
                                <a:rPr lang="it-IT" b="0" i="1" smtClean="0">
                                  <a:latin typeface="Cambria Math" panose="02040503050406030204" pitchFamily="18" charset="0"/>
                                </a:rPr>
                                <m:t>𝑒</m:t>
                              </m:r>
                            </m:num>
                            <m:den>
                              <m:sSub>
                                <m:sSubPr>
                                  <m:ctrlPr>
                                    <a:rPr lang="it-IT" b="0" i="1" smtClean="0">
                                      <a:latin typeface="Cambria Math" panose="02040503050406030204" pitchFamily="18" charset="0"/>
                                    </a:rPr>
                                  </m:ctrlPr>
                                </m:sSubPr>
                                <m:e>
                                  <m:r>
                                    <a:rPr lang="it-IT" b="0" i="1" smtClean="0">
                                      <a:latin typeface="Cambria Math" panose="02040503050406030204" pitchFamily="18" charset="0"/>
                                    </a:rPr>
                                    <m:t>𝑒</m:t>
                                  </m:r>
                                </m:e>
                                <m:sub>
                                  <m:r>
                                    <a:rPr lang="it-IT" b="0" i="1" smtClean="0">
                                      <a:latin typeface="Cambria Math" panose="02040503050406030204" pitchFamily="18" charset="0"/>
                                    </a:rPr>
                                    <m:t>𝑠</m:t>
                                  </m:r>
                                </m:sub>
                              </m:sSub>
                            </m:den>
                          </m:f>
                          <m:r>
                            <a:rPr lang="it-IT" b="0" i="1" smtClean="0">
                              <a:latin typeface="Cambria Math" panose="02040503050406030204" pitchFamily="18" charset="0"/>
                            </a:rPr>
                            <m:t>, </m:t>
                          </m:r>
                          <m:f>
                            <m:fPr>
                              <m:ctrlPr>
                                <a:rPr lang="it-IT" b="0" i="1" smtClean="0">
                                  <a:latin typeface="Cambria Math" panose="02040503050406030204" pitchFamily="18" charset="0"/>
                                </a:rPr>
                              </m:ctrlPr>
                            </m:fPr>
                            <m:num>
                              <m:r>
                                <a:rPr lang="it-IT" b="0" i="1" smtClean="0">
                                  <a:latin typeface="Cambria Math" panose="02040503050406030204" pitchFamily="18" charset="0"/>
                                  <a:ea typeface="Cambria Math" panose="02040503050406030204" pitchFamily="18" charset="0"/>
                                </a:rPr>
                                <m:t>𝜔</m:t>
                              </m:r>
                            </m:num>
                            <m:den>
                              <m:sSub>
                                <m:sSubPr>
                                  <m:ctrlPr>
                                    <a:rPr lang="it-IT" b="0" i="1" smtClean="0">
                                      <a:latin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𝜔</m:t>
                                  </m:r>
                                </m:e>
                                <m:sub>
                                  <m:r>
                                    <a:rPr lang="it-IT" b="0" i="1" smtClean="0">
                                      <a:latin typeface="Cambria Math" panose="02040503050406030204" pitchFamily="18" charset="0"/>
                                    </a:rPr>
                                    <m:t>𝑠</m:t>
                                  </m:r>
                                </m:sub>
                              </m:sSub>
                            </m:den>
                          </m:f>
                          <m:r>
                            <a:rPr lang="it-IT" b="0" i="1" smtClean="0">
                              <a:latin typeface="Cambria Math" panose="02040503050406030204" pitchFamily="18" charset="0"/>
                            </a:rPr>
                            <m:t>,</m:t>
                          </m:r>
                          <m:func>
                            <m:funcPr>
                              <m:ctrlPr>
                                <a:rPr lang="it-IT" b="0" i="1" smtClean="0">
                                  <a:latin typeface="Cambria Math" panose="02040503050406030204" pitchFamily="18" charset="0"/>
                                </a:rPr>
                              </m:ctrlPr>
                            </m:funcPr>
                            <m:fName>
                              <m:r>
                                <m:rPr>
                                  <m:sty m:val="p"/>
                                </m:rPr>
                                <a:rPr lang="it-IT" b="0" i="0" smtClean="0">
                                  <a:latin typeface="Cambria Math" panose="02040503050406030204" pitchFamily="18" charset="0"/>
                                </a:rPr>
                                <m:t>sin</m:t>
                              </m:r>
                            </m:fName>
                            <m:e>
                              <m:r>
                                <a:rPr lang="it-IT" b="0" i="1" smtClean="0">
                                  <a:latin typeface="Cambria Math" panose="02040503050406030204" pitchFamily="18" charset="0"/>
                                  <a:ea typeface="Cambria Math" panose="02040503050406030204" pitchFamily="18" charset="0"/>
                                </a:rPr>
                                <m:t>𝜃</m:t>
                              </m:r>
                            </m:e>
                          </m:func>
                          <m:r>
                            <a:rPr lang="it-IT" b="0" i="1" smtClean="0">
                              <a:latin typeface="Cambria Math" panose="02040503050406030204" pitchFamily="18" charset="0"/>
                            </a:rPr>
                            <m:t>, </m:t>
                          </m:r>
                          <m:func>
                            <m:funcPr>
                              <m:ctrlPr>
                                <a:rPr lang="it-IT" b="0" i="1" smtClean="0">
                                  <a:latin typeface="Cambria Math" panose="02040503050406030204" pitchFamily="18" charset="0"/>
                                </a:rPr>
                              </m:ctrlPr>
                            </m:funcPr>
                            <m:fName>
                              <m:r>
                                <m:rPr>
                                  <m:sty m:val="p"/>
                                </m:rPr>
                                <a:rPr lang="it-IT" b="0" i="0" smtClean="0">
                                  <a:latin typeface="Cambria Math" panose="02040503050406030204" pitchFamily="18" charset="0"/>
                                </a:rPr>
                                <m:t>cos</m:t>
                              </m:r>
                            </m:fName>
                            <m:e>
                              <m:r>
                                <a:rPr lang="it-IT" b="0" i="1" smtClean="0">
                                  <a:latin typeface="Cambria Math" panose="02040503050406030204" pitchFamily="18" charset="0"/>
                                  <a:ea typeface="Cambria Math" panose="02040503050406030204" pitchFamily="18" charset="0"/>
                                </a:rPr>
                                <m:t>𝜃</m:t>
                              </m:r>
                            </m:e>
                          </m:func>
                          <m:r>
                            <a:rPr lang="it-IT" b="0" i="1" smtClean="0">
                              <a:latin typeface="Cambria Math" panose="02040503050406030204" pitchFamily="18" charset="0"/>
                            </a:rPr>
                            <m:t>, </m:t>
                          </m:r>
                          <m:f>
                            <m:fPr>
                              <m:ctrlPr>
                                <a:rPr lang="it-IT" b="0" i="1" smtClean="0">
                                  <a:latin typeface="Cambria Math" panose="02040503050406030204" pitchFamily="18" charset="0"/>
                                </a:rPr>
                              </m:ctrlPr>
                            </m:fPr>
                            <m:num>
                              <m:sSub>
                                <m:sSubPr>
                                  <m:ctrlPr>
                                    <a:rPr lang="it-IT" b="0"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𝑏𝑎𝑠𝑒</m:t>
                                  </m:r>
                                </m:sub>
                              </m:sSub>
                            </m:num>
                            <m:den>
                              <m:sSub>
                                <m:sSubPr>
                                  <m:ctrlPr>
                                    <a:rPr lang="it-IT" b="0"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𝑚𝑎𝑥</m:t>
                                  </m:r>
                                </m:sub>
                              </m:sSub>
                            </m:den>
                          </m:f>
                        </m:e>
                      </m:d>
                      <m:r>
                        <a:rPr lang="it-IT" b="0" i="1" smtClean="0">
                          <a:latin typeface="Cambria Math" panose="02040503050406030204" pitchFamily="18" charset="0"/>
                          <a:ea typeface="Cambria Math" panose="02040503050406030204" pitchFamily="18" charset="0"/>
                        </a:rPr>
                        <m:t>∈</m:t>
                      </m:r>
                      <m:sSup>
                        <m:sSupPr>
                          <m:ctrlPr>
                            <a:rPr lang="it-IT" b="0" i="1" smtClean="0">
                              <a:latin typeface="Cambria Math" panose="02040503050406030204" pitchFamily="18" charset="0"/>
                              <a:ea typeface="Cambria Math" panose="02040503050406030204" pitchFamily="18" charset="0"/>
                            </a:rPr>
                          </m:ctrlPr>
                        </m:sSupPr>
                        <m:e>
                          <m:r>
                            <a:rPr lang="it-IT" b="0" i="1" smtClean="0">
                              <a:latin typeface="Cambria Math" panose="02040503050406030204" pitchFamily="18" charset="0"/>
                              <a:ea typeface="Cambria Math" panose="02040503050406030204" pitchFamily="18" charset="0"/>
                            </a:rPr>
                            <m:t>ℝ</m:t>
                          </m:r>
                        </m:e>
                        <m:sup>
                          <m:r>
                            <a:rPr lang="it-IT" b="0" i="1" smtClean="0">
                              <a:latin typeface="Cambria Math" panose="02040503050406030204" pitchFamily="18" charset="0"/>
                              <a:ea typeface="Cambria Math" panose="02040503050406030204" pitchFamily="18" charset="0"/>
                            </a:rPr>
                            <m:t>6</m:t>
                          </m:r>
                        </m:sup>
                      </m:sSup>
                    </m:oMath>
                  </m:oMathPara>
                </a14:m>
                <a:endParaRPr lang="en-US" dirty="0"/>
              </a:p>
            </p:txBody>
          </p:sp>
        </mc:Choice>
        <mc:Fallback xmlns="">
          <p:sp>
            <p:nvSpPr>
              <p:cNvPr id="10" name="TextBox 9">
                <a:extLst>
                  <a:ext uri="{FF2B5EF4-FFF2-40B4-BE49-F238E27FC236}">
                    <a16:creationId xmlns:a16="http://schemas.microsoft.com/office/drawing/2014/main" id="{ADF311AD-11DF-D1FC-18D7-AE83D74FFD2F}"/>
                  </a:ext>
                </a:extLst>
              </p:cNvPr>
              <p:cNvSpPr txBox="1">
                <a:spLocks noRot="1" noChangeAspect="1" noMove="1" noResize="1" noEditPoints="1" noAdjustHandles="1" noChangeArrowheads="1" noChangeShapeType="1" noTextEdit="1"/>
              </p:cNvSpPr>
              <p:nvPr/>
            </p:nvSpPr>
            <p:spPr>
              <a:xfrm>
                <a:off x="7907964" y="1807322"/>
                <a:ext cx="3717108" cy="565348"/>
              </a:xfrm>
              <a:prstGeom prst="rect">
                <a:avLst/>
              </a:prstGeom>
              <a:blipFill>
                <a:blip r:embed="rId3"/>
                <a:stretch>
                  <a:fillRect t="-2222"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96D21311-9BCF-8EB5-BF85-BFDDD5FFEC26}"/>
                  </a:ext>
                </a:extLst>
              </p:cNvPr>
              <p:cNvGraphicFramePr>
                <a:graphicFrameLocks noGrp="1"/>
              </p:cNvGraphicFramePr>
              <p:nvPr>
                <p:extLst>
                  <p:ext uri="{D42A27DB-BD31-4B8C-83A1-F6EECF244321}">
                    <p14:modId xmlns:p14="http://schemas.microsoft.com/office/powerpoint/2010/main" val="1081257394"/>
                  </p:ext>
                </p:extLst>
              </p:nvPr>
            </p:nvGraphicFramePr>
            <p:xfrm>
              <a:off x="783471" y="3166937"/>
              <a:ext cx="10372225" cy="2057400"/>
            </p:xfrm>
            <a:graphic>
              <a:graphicData uri="http://schemas.openxmlformats.org/drawingml/2006/table">
                <a:tbl>
                  <a:tblPr>
                    <a:tableStyleId>{5C22544A-7EE6-4342-B048-85BDC9FD1C3A}</a:tableStyleId>
                  </a:tblPr>
                  <a:tblGrid>
                    <a:gridCol w="1449910">
                      <a:extLst>
                        <a:ext uri="{9D8B030D-6E8A-4147-A177-3AD203B41FA5}">
                          <a16:colId xmlns:a16="http://schemas.microsoft.com/office/drawing/2014/main" val="20000"/>
                        </a:ext>
                      </a:extLst>
                    </a:gridCol>
                    <a:gridCol w="2661699">
                      <a:extLst>
                        <a:ext uri="{9D8B030D-6E8A-4147-A177-3AD203B41FA5}">
                          <a16:colId xmlns:a16="http://schemas.microsoft.com/office/drawing/2014/main" val="20001"/>
                        </a:ext>
                      </a:extLst>
                    </a:gridCol>
                    <a:gridCol w="6260616">
                      <a:extLst>
                        <a:ext uri="{9D8B030D-6E8A-4147-A177-3AD203B41FA5}">
                          <a16:colId xmlns:a16="http://schemas.microsoft.com/office/drawing/2014/main" val="2435101031"/>
                        </a:ext>
                      </a:extLst>
                    </a:gridCol>
                  </a:tblGrid>
                  <a:tr h="411480">
                    <a:tc>
                      <a:txBody>
                        <a:bodyPr/>
                        <a:lstStyle/>
                        <a:p>
                          <a:pPr/>
                          <a14:m>
                            <m:oMathPara xmlns:m="http://schemas.openxmlformats.org/officeDocument/2006/math">
                              <m:oMathParaPr>
                                <m:jc m:val="centerGroup"/>
                              </m:oMathParaPr>
                              <m:oMath xmlns:m="http://schemas.openxmlformats.org/officeDocument/2006/math">
                                <m:f>
                                  <m:fPr>
                                    <m:type m:val="lin"/>
                                    <m:ctrlPr>
                                      <a:rPr lang="en-US" sz="1200" b="0" i="1" noProof="1" smtClean="0">
                                        <a:solidFill>
                                          <a:srgbClr val="1D3557"/>
                                        </a:solidFill>
                                        <a:latin typeface="Cambria Math" panose="02040503050406030204" pitchFamily="18" charset="0"/>
                                      </a:rPr>
                                    </m:ctrlPr>
                                  </m:fPr>
                                  <m:num>
                                    <m:r>
                                      <a:rPr lang="it-IT" sz="1200" b="0" i="1" noProof="1" smtClean="0">
                                        <a:solidFill>
                                          <a:srgbClr val="1D3557"/>
                                        </a:solidFill>
                                        <a:latin typeface="Cambria Math" panose="02040503050406030204" pitchFamily="18" charset="0"/>
                                      </a:rPr>
                                      <m:t>𝑒</m:t>
                                    </m:r>
                                  </m:num>
                                  <m:den>
                                    <m:sSub>
                                      <m:sSubPr>
                                        <m:ctrlPr>
                                          <a:rPr lang="en-US" sz="1200" b="0" i="1" noProof="1" smtClean="0">
                                            <a:solidFill>
                                              <a:srgbClr val="1D3557"/>
                                            </a:solidFill>
                                            <a:latin typeface="Cambria Math" panose="02040503050406030204" pitchFamily="18" charset="0"/>
                                          </a:rPr>
                                        </m:ctrlPr>
                                      </m:sSubPr>
                                      <m:e>
                                        <m:r>
                                          <a:rPr lang="it-IT" sz="1200" b="0" i="1" noProof="1" smtClean="0">
                                            <a:solidFill>
                                              <a:srgbClr val="1D3557"/>
                                            </a:solidFill>
                                            <a:latin typeface="Cambria Math" panose="02040503050406030204" pitchFamily="18" charset="0"/>
                                          </a:rPr>
                                          <m:t>𝑒</m:t>
                                        </m:r>
                                      </m:e>
                                      <m:sub>
                                        <m:r>
                                          <a:rPr lang="it-IT" sz="1200" b="0" i="1" noProof="1" smtClean="0">
                                            <a:solidFill>
                                              <a:srgbClr val="1D3557"/>
                                            </a:solidFill>
                                            <a:latin typeface="Cambria Math" panose="02040503050406030204" pitchFamily="18" charset="0"/>
                                          </a:rPr>
                                          <m:t>𝑠</m:t>
                                        </m:r>
                                      </m:sub>
                                    </m:sSub>
                                  </m:den>
                                </m:f>
                              </m:oMath>
                            </m:oMathPara>
                          </a14:m>
                          <a:endParaRPr lang="en-US" sz="1200" b="0" noProof="1">
                            <a:solidFill>
                              <a:srgbClr val="1D3557"/>
                            </a:solidFill>
                            <a:latin typeface="+mn-lt"/>
                          </a:endParaRPr>
                        </a:p>
                      </a:txBody>
                      <a:tcPr marL="73152" marT="27432" marB="27432" anchor="ctr">
                        <a:solidFill>
                          <a:srgbClr val="FBFAF6"/>
                        </a:solidFill>
                      </a:tcPr>
                    </a:tc>
                    <a:tc>
                      <a:txBody>
                        <a:bodyPr/>
                        <a:lstStyle/>
                        <a:p>
                          <a:r>
                            <a:rPr lang="en-US" sz="1200" b="0" noProof="1">
                              <a:solidFill>
                                <a:srgbClr val="4A5A66"/>
                              </a:solidFill>
                              <a:latin typeface="+mn-lt"/>
                            </a:rPr>
                            <a:t>Speed error, normalised</a:t>
                          </a:r>
                        </a:p>
                      </a:txBody>
                      <a:tcPr marL="73152" marT="27432" marB="27432" anchor="ctr">
                        <a:solidFill>
                          <a:srgbClr val="FBFAF6"/>
                        </a:solidFill>
                      </a:tcPr>
                    </a:tc>
                    <a:tc>
                      <a:txBody>
                        <a:bodyPr/>
                        <a:lstStyle/>
                        <a:p>
                          <a:r>
                            <a:rPr lang="en-US" sz="1200" b="0" noProof="1">
                              <a:solidFill>
                                <a:srgbClr val="4A5A66"/>
                              </a:solidFill>
                              <a:latin typeface="+mn-lt"/>
                            </a:rPr>
                            <a:t>Primary tracking signal, tells the policy how far off we are</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pPr/>
                          <a14:m>
                            <m:oMathPara xmlns:m="http://schemas.openxmlformats.org/officeDocument/2006/math">
                              <m:oMathParaPr>
                                <m:jc m:val="centerGroup"/>
                              </m:oMathParaPr>
                              <m:oMath xmlns:m="http://schemas.openxmlformats.org/officeDocument/2006/math">
                                <m:f>
                                  <m:fPr>
                                    <m:type m:val="lin"/>
                                    <m:ctrlPr>
                                      <a:rPr lang="en-US" sz="1200" b="0" i="1" noProof="1" smtClean="0">
                                        <a:solidFill>
                                          <a:srgbClr val="1D3557"/>
                                        </a:solidFill>
                                        <a:latin typeface="Cambria Math" panose="02040503050406030204" pitchFamily="18" charset="0"/>
                                      </a:rPr>
                                    </m:ctrlPr>
                                  </m:fPr>
                                  <m:num>
                                    <m:r>
                                      <a:rPr lang="en-US" sz="1200" b="0" i="1" noProof="1" smtClean="0">
                                        <a:solidFill>
                                          <a:srgbClr val="1D3557"/>
                                        </a:solidFill>
                                        <a:latin typeface="Cambria Math" panose="02040503050406030204" pitchFamily="18" charset="0"/>
                                        <a:ea typeface="Cambria Math" panose="02040503050406030204" pitchFamily="18" charset="0"/>
                                      </a:rPr>
                                      <m:t>𝜔</m:t>
                                    </m:r>
                                  </m:num>
                                  <m:den>
                                    <m:sSub>
                                      <m:sSubPr>
                                        <m:ctrlPr>
                                          <a:rPr lang="en-US" sz="1200" b="0" i="1" noProof="1" smtClean="0">
                                            <a:solidFill>
                                              <a:srgbClr val="1D3557"/>
                                            </a:solidFill>
                                            <a:latin typeface="Cambria Math" panose="02040503050406030204" pitchFamily="18" charset="0"/>
                                          </a:rPr>
                                        </m:ctrlPr>
                                      </m:sSubPr>
                                      <m:e>
                                        <m:r>
                                          <a:rPr lang="en-US" sz="1200" b="0" i="1" noProof="1" smtClean="0">
                                            <a:solidFill>
                                              <a:srgbClr val="1D3557"/>
                                            </a:solidFill>
                                            <a:latin typeface="Cambria Math" panose="02040503050406030204" pitchFamily="18" charset="0"/>
                                            <a:ea typeface="Cambria Math" panose="02040503050406030204" pitchFamily="18" charset="0"/>
                                          </a:rPr>
                                          <m:t>𝜔</m:t>
                                        </m:r>
                                      </m:e>
                                      <m:sub>
                                        <m:r>
                                          <a:rPr lang="it-IT" sz="1200" b="0" i="1" noProof="1" smtClean="0">
                                            <a:solidFill>
                                              <a:srgbClr val="1D3557"/>
                                            </a:solidFill>
                                            <a:latin typeface="Cambria Math" panose="02040503050406030204" pitchFamily="18" charset="0"/>
                                          </a:rPr>
                                          <m:t>𝑠</m:t>
                                        </m:r>
                                      </m:sub>
                                    </m:sSub>
                                  </m:den>
                                </m:f>
                              </m:oMath>
                            </m:oMathPara>
                          </a14:m>
                          <a:endParaRPr lang="en-US" sz="1200" b="0" noProof="1">
                            <a:solidFill>
                              <a:srgbClr val="1D3557"/>
                            </a:solidFill>
                            <a:latin typeface="+mn-lt"/>
                          </a:endParaRPr>
                        </a:p>
                      </a:txBody>
                      <a:tcPr marL="73152" marT="27432" marB="27432" anchor="ctr">
                        <a:solidFill>
                          <a:srgbClr val="FBFAF6"/>
                        </a:solidFill>
                      </a:tcPr>
                    </a:tc>
                    <a:tc>
                      <a:txBody>
                        <a:bodyPr/>
                        <a:lstStyle/>
                        <a:p>
                          <a:r>
                            <a:rPr lang="en-US" sz="1200" b="0" noProof="1">
                              <a:solidFill>
                                <a:srgbClr val="495A66"/>
                              </a:solidFill>
                              <a:latin typeface="+mn-lt"/>
                            </a:rPr>
                            <a:t>Current speed, normalised</a:t>
                          </a: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Captures the current operating point and back-EMF regime</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pPr/>
                          <a14:m>
                            <m:oMathPara xmlns:m="http://schemas.openxmlformats.org/officeDocument/2006/math">
                              <m:oMathParaPr>
                                <m:jc m:val="centerGroup"/>
                              </m:oMathParaPr>
                              <m:oMath xmlns:m="http://schemas.openxmlformats.org/officeDocument/2006/math">
                                <m:func>
                                  <m:funcPr>
                                    <m:ctrlPr>
                                      <a:rPr lang="it-IT" sz="1200" b="0" i="1" noProof="1" smtClean="0">
                                        <a:solidFill>
                                          <a:srgbClr val="4A5A66"/>
                                        </a:solidFill>
                                        <a:latin typeface="Cambria Math" panose="02040503050406030204" pitchFamily="18" charset="0"/>
                                      </a:rPr>
                                    </m:ctrlPr>
                                  </m:funcPr>
                                  <m:fName>
                                    <m:r>
                                      <m:rPr>
                                        <m:sty m:val="p"/>
                                      </m:rPr>
                                      <a:rPr lang="it-IT" sz="1200" b="0" i="0" noProof="1" smtClean="0">
                                        <a:solidFill>
                                          <a:srgbClr val="4A5A66"/>
                                        </a:solidFill>
                                        <a:latin typeface="Cambria Math" panose="02040503050406030204" pitchFamily="18" charset="0"/>
                                      </a:rPr>
                                      <m:t>sin</m:t>
                                    </m:r>
                                  </m:fName>
                                  <m:e>
                                    <m:r>
                                      <a:rPr lang="it-IT" sz="1200" b="0" i="1" noProof="1" smtClean="0">
                                        <a:solidFill>
                                          <a:srgbClr val="4A5A66"/>
                                        </a:solidFill>
                                        <a:latin typeface="Cambria Math" panose="02040503050406030204" pitchFamily="18" charset="0"/>
                                        <a:ea typeface="Cambria Math" panose="02040503050406030204" pitchFamily="18" charset="0"/>
                                      </a:rPr>
                                      <m:t>𝜃</m:t>
                                    </m:r>
                                  </m:e>
                                </m:func>
                                <m:r>
                                  <a:rPr lang="it-IT" sz="1200" b="0" i="1" noProof="1" smtClean="0">
                                    <a:solidFill>
                                      <a:srgbClr val="4A5A66"/>
                                    </a:solidFill>
                                    <a:latin typeface="Cambria Math" panose="02040503050406030204" pitchFamily="18" charset="0"/>
                                  </a:rPr>
                                  <m:t>,</m:t>
                                </m:r>
                                <m:func>
                                  <m:funcPr>
                                    <m:ctrlPr>
                                      <a:rPr lang="it-IT" sz="1200" b="0" i="1" noProof="1" smtClean="0">
                                        <a:solidFill>
                                          <a:srgbClr val="4A5A66"/>
                                        </a:solidFill>
                                        <a:latin typeface="Cambria Math" panose="02040503050406030204" pitchFamily="18" charset="0"/>
                                      </a:rPr>
                                    </m:ctrlPr>
                                  </m:funcPr>
                                  <m:fName>
                                    <m:r>
                                      <m:rPr>
                                        <m:sty m:val="p"/>
                                      </m:rPr>
                                      <a:rPr lang="it-IT" sz="1200" b="0" i="0" noProof="1" smtClean="0">
                                        <a:solidFill>
                                          <a:srgbClr val="4A5A66"/>
                                        </a:solidFill>
                                        <a:latin typeface="Cambria Math" panose="02040503050406030204" pitchFamily="18" charset="0"/>
                                      </a:rPr>
                                      <m:t>cos</m:t>
                                    </m:r>
                                  </m:fName>
                                  <m:e>
                                    <m:r>
                                      <a:rPr lang="it-IT" sz="1200" b="0" i="1" noProof="1" smtClean="0">
                                        <a:solidFill>
                                          <a:srgbClr val="4A5A66"/>
                                        </a:solidFill>
                                        <a:latin typeface="Cambria Math" panose="02040503050406030204" pitchFamily="18" charset="0"/>
                                        <a:ea typeface="Cambria Math" panose="02040503050406030204" pitchFamily="18" charset="0"/>
                                      </a:rPr>
                                      <m:t>𝜃</m:t>
                                    </m:r>
                                  </m:e>
                                </m:func>
                              </m:oMath>
                            </m:oMathPara>
                          </a14:m>
                          <a:endParaRPr lang="en-US" sz="1200" b="0" i="1" noProof="1">
                            <a:solidFill>
                              <a:srgbClr val="1D3557"/>
                            </a:solidFill>
                            <a:latin typeface="+mn-lt"/>
                          </a:endParaRPr>
                        </a:p>
                      </a:txBody>
                      <a:tcPr marL="73152" marT="27432" marB="27432" anchor="ctr">
                        <a:solidFill>
                          <a:srgbClr val="FBFAF6"/>
                        </a:solidFill>
                      </a:tcPr>
                    </a:tc>
                    <a:tc>
                      <a:txBody>
                        <a:bodyPr/>
                        <a:lstStyle/>
                        <a:p>
                          <a:r>
                            <a:rPr lang="en-US" sz="1200" b="0" noProof="1">
                              <a:solidFill>
                                <a:srgbClr val="4A5A66"/>
                              </a:solidFill>
                              <a:latin typeface="+mn-lt"/>
                            </a:rPr>
                            <a:t>Rod angles (2 variables)</a:t>
                          </a: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Encodes the gravity load</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pPr/>
                          <a14:m>
                            <m:oMathPara xmlns:m="http://schemas.openxmlformats.org/officeDocument/2006/math">
                              <m:oMathParaPr>
                                <m:jc m:val="centerGroup"/>
                              </m:oMathParaPr>
                              <m:oMath xmlns:m="http://schemas.openxmlformats.org/officeDocument/2006/math">
                                <m:f>
                                  <m:fPr>
                                    <m:type m:val="lin"/>
                                    <m:ctrlPr>
                                      <a:rPr lang="en-US" sz="1200" b="0" i="1" noProof="1" smtClean="0">
                                        <a:solidFill>
                                          <a:srgbClr val="1D3557"/>
                                        </a:solidFill>
                                        <a:latin typeface="Cambria Math" panose="02040503050406030204" pitchFamily="18" charset="0"/>
                                      </a:rPr>
                                    </m:ctrlPr>
                                  </m:fPr>
                                  <m:num>
                                    <m:sSup>
                                      <m:sSupPr>
                                        <m:ctrlPr>
                                          <a:rPr lang="en-US" sz="1200" b="0" i="1" noProof="1" smtClean="0">
                                            <a:solidFill>
                                              <a:srgbClr val="1D3557"/>
                                            </a:solidFill>
                                            <a:latin typeface="Cambria Math" panose="02040503050406030204" pitchFamily="18" charset="0"/>
                                          </a:rPr>
                                        </m:ctrlPr>
                                      </m:sSupPr>
                                      <m:e>
                                        <m:r>
                                          <a:rPr lang="en-US" sz="1200" b="0" i="1" noProof="1" smtClean="0">
                                            <a:solidFill>
                                              <a:srgbClr val="1D3557"/>
                                            </a:solidFill>
                                            <a:latin typeface="Cambria Math" panose="02040503050406030204" pitchFamily="18" charset="0"/>
                                            <a:ea typeface="Cambria Math" panose="02040503050406030204" pitchFamily="18" charset="0"/>
                                          </a:rPr>
                                          <m:t>𝜔</m:t>
                                        </m:r>
                                      </m:e>
                                      <m:sup>
                                        <m:r>
                                          <a:rPr lang="it-IT" sz="1200" b="0" i="1" noProof="1" smtClean="0">
                                            <a:solidFill>
                                              <a:srgbClr val="1D3557"/>
                                            </a:solidFill>
                                            <a:latin typeface="Cambria Math" panose="02040503050406030204" pitchFamily="18" charset="0"/>
                                          </a:rPr>
                                          <m:t>∗</m:t>
                                        </m:r>
                                      </m:sup>
                                    </m:sSup>
                                  </m:num>
                                  <m:den>
                                    <m:sSub>
                                      <m:sSubPr>
                                        <m:ctrlPr>
                                          <a:rPr lang="en-US" sz="1200" b="0" i="1" noProof="1" smtClean="0">
                                            <a:solidFill>
                                              <a:srgbClr val="1D3557"/>
                                            </a:solidFill>
                                            <a:latin typeface="Cambria Math" panose="02040503050406030204" pitchFamily="18" charset="0"/>
                                          </a:rPr>
                                        </m:ctrlPr>
                                      </m:sSubPr>
                                      <m:e>
                                        <m:r>
                                          <a:rPr lang="en-US" sz="1200" b="0" i="1" noProof="1" smtClean="0">
                                            <a:solidFill>
                                              <a:srgbClr val="1D3557"/>
                                            </a:solidFill>
                                            <a:latin typeface="Cambria Math" panose="02040503050406030204" pitchFamily="18" charset="0"/>
                                            <a:ea typeface="Cambria Math" panose="02040503050406030204" pitchFamily="18" charset="0"/>
                                          </a:rPr>
                                          <m:t>𝜔</m:t>
                                        </m:r>
                                      </m:e>
                                      <m:sub>
                                        <m:r>
                                          <a:rPr lang="it-IT" sz="1200" b="0" i="1" noProof="1" smtClean="0">
                                            <a:solidFill>
                                              <a:srgbClr val="1D3557"/>
                                            </a:solidFill>
                                            <a:latin typeface="Cambria Math" panose="02040503050406030204" pitchFamily="18" charset="0"/>
                                          </a:rPr>
                                          <m:t>𝑠</m:t>
                                        </m:r>
                                      </m:sub>
                                    </m:sSub>
                                  </m:den>
                                </m:f>
                              </m:oMath>
                            </m:oMathPara>
                          </a14:m>
                          <a:endParaRPr lang="en-US" sz="1200" b="0" noProof="1">
                            <a:solidFill>
                              <a:srgbClr val="1D3557"/>
                            </a:solidFill>
                            <a:latin typeface="+mn-lt"/>
                          </a:endParaRPr>
                        </a:p>
                      </a:txBody>
                      <a:tcPr marL="73152" marT="27432" marB="27432" anchor="ctr">
                        <a:solidFill>
                          <a:srgbClr val="FBFA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b="0" i="0" kern="1200" dirty="0">
                              <a:solidFill>
                                <a:srgbClr val="495A66"/>
                              </a:solidFill>
                              <a:effectLst/>
                              <a:latin typeface="+mn-lt"/>
                              <a:ea typeface="+mn-ea"/>
                              <a:cs typeface="+mn-cs"/>
                            </a:rPr>
                            <a:t>Reference speed, normalised</a:t>
                          </a:r>
                          <a:endParaRPr lang="en-US" sz="1200" b="1" noProof="1">
                            <a:solidFill>
                              <a:srgbClr val="495A66"/>
                            </a:solidFill>
                            <a:latin typeface="+mn-lt"/>
                          </a:endParaRP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Lets the policy distinguish a ramp from a step, anticipate the next operating point</a:t>
                          </a:r>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3"/>
                      </a:ext>
                    </a:extLst>
                  </a:tr>
                  <a:tr h="411480">
                    <a:tc>
                      <a:txBody>
                        <a:bodyPr/>
                        <a:lstStyle/>
                        <a:p>
                          <a:pPr/>
                          <a14:m>
                            <m:oMathPara xmlns:m="http://schemas.openxmlformats.org/officeDocument/2006/math">
                              <m:oMathParaPr>
                                <m:jc m:val="centerGroup"/>
                              </m:oMathParaPr>
                              <m:oMath xmlns:m="http://schemas.openxmlformats.org/officeDocument/2006/math">
                                <m:f>
                                  <m:fPr>
                                    <m:type m:val="lin"/>
                                    <m:ctrlPr>
                                      <a:rPr lang="en-US" sz="1200" b="0" i="1" noProof="1" smtClean="0">
                                        <a:solidFill>
                                          <a:srgbClr val="1D3557"/>
                                        </a:solidFill>
                                        <a:latin typeface="Cambria Math" panose="02040503050406030204" pitchFamily="18" charset="0"/>
                                      </a:rPr>
                                    </m:ctrlPr>
                                  </m:fPr>
                                  <m:num>
                                    <m:sSub>
                                      <m:sSubPr>
                                        <m:ctrlPr>
                                          <a:rPr lang="en-US" sz="1200" b="0" i="1" noProof="1" smtClean="0">
                                            <a:solidFill>
                                              <a:srgbClr val="1D3557"/>
                                            </a:solidFill>
                                            <a:latin typeface="Cambria Math" panose="02040503050406030204" pitchFamily="18" charset="0"/>
                                          </a:rPr>
                                        </m:ctrlPr>
                                      </m:sSubPr>
                                      <m:e>
                                        <m:r>
                                          <a:rPr lang="it-IT" sz="1200" b="0" i="1" noProof="1" smtClean="0">
                                            <a:solidFill>
                                              <a:srgbClr val="1D3557"/>
                                            </a:solidFill>
                                            <a:latin typeface="Cambria Math" panose="02040503050406030204" pitchFamily="18" charset="0"/>
                                          </a:rPr>
                                          <m:t>𝑉</m:t>
                                        </m:r>
                                      </m:e>
                                      <m:sub>
                                        <m:r>
                                          <a:rPr lang="it-IT" sz="1200" b="0" i="1" noProof="1" smtClean="0">
                                            <a:solidFill>
                                              <a:srgbClr val="1D3557"/>
                                            </a:solidFill>
                                            <a:latin typeface="Cambria Math" panose="02040503050406030204" pitchFamily="18" charset="0"/>
                                          </a:rPr>
                                          <m:t>𝑏𝑎𝑠𝑒</m:t>
                                        </m:r>
                                      </m:sub>
                                    </m:sSub>
                                  </m:num>
                                  <m:den>
                                    <m:sSub>
                                      <m:sSubPr>
                                        <m:ctrlPr>
                                          <a:rPr lang="en-US" sz="1200" b="0" i="1" noProof="1" smtClean="0">
                                            <a:solidFill>
                                              <a:srgbClr val="1D3557"/>
                                            </a:solidFill>
                                            <a:latin typeface="Cambria Math" panose="02040503050406030204" pitchFamily="18" charset="0"/>
                                          </a:rPr>
                                        </m:ctrlPr>
                                      </m:sSubPr>
                                      <m:e>
                                        <m:r>
                                          <a:rPr lang="it-IT" sz="1200" b="0" i="1" noProof="1" smtClean="0">
                                            <a:solidFill>
                                              <a:srgbClr val="1D3557"/>
                                            </a:solidFill>
                                            <a:latin typeface="Cambria Math" panose="02040503050406030204" pitchFamily="18" charset="0"/>
                                          </a:rPr>
                                          <m:t>𝑉</m:t>
                                        </m:r>
                                      </m:e>
                                      <m:sub>
                                        <m:r>
                                          <a:rPr lang="it-IT" sz="1200" b="0" i="1" noProof="1" smtClean="0">
                                            <a:solidFill>
                                              <a:srgbClr val="1D3557"/>
                                            </a:solidFill>
                                            <a:latin typeface="Cambria Math" panose="02040503050406030204" pitchFamily="18" charset="0"/>
                                            <a:ea typeface="Cambria Math" panose="02040503050406030204" pitchFamily="18" charset="0"/>
                                          </a:rPr>
                                          <m:t>𝑚𝑎𝑥</m:t>
                                        </m:r>
                                      </m:sub>
                                    </m:sSub>
                                  </m:den>
                                </m:f>
                              </m:oMath>
                            </m:oMathPara>
                          </a14:m>
                          <a:endParaRPr lang="en-US" sz="1200" b="0" i="1" noProof="1">
                            <a:solidFill>
                              <a:srgbClr val="495A66"/>
                            </a:solidFill>
                            <a:latin typeface="+mn-lt"/>
                          </a:endParaRP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PI output, normalised</a:t>
                          </a:r>
                          <a:endParaRPr lang="en-US" sz="1200" b="1" noProof="1">
                            <a:solidFill>
                              <a:srgbClr val="495A66"/>
                            </a:solidFill>
                            <a:latin typeface="+mn-lt"/>
                          </a:endParaRP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Tells the policy what the baseline already commands, this is what makes the control </a:t>
                          </a:r>
                          <a:r>
                            <a:rPr lang="en-GB" sz="1200" b="0" i="1" kern="1200" dirty="0">
                              <a:solidFill>
                                <a:srgbClr val="495A66"/>
                              </a:solidFill>
                              <a:effectLst/>
                              <a:latin typeface="+mn-lt"/>
                              <a:ea typeface="+mn-ea"/>
                              <a:cs typeface="+mn-cs"/>
                            </a:rPr>
                            <a:t>residual</a:t>
                          </a:r>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4"/>
                      </a:ext>
                    </a:extLst>
                  </a:tr>
                </a:tbl>
              </a:graphicData>
            </a:graphic>
          </p:graphicFrame>
        </mc:Choice>
        <mc:Fallback xmlns="">
          <p:graphicFrame>
            <p:nvGraphicFramePr>
              <p:cNvPr id="14" name="Table 13">
                <a:extLst>
                  <a:ext uri="{FF2B5EF4-FFF2-40B4-BE49-F238E27FC236}">
                    <a16:creationId xmlns:a16="http://schemas.microsoft.com/office/drawing/2014/main" id="{96D21311-9BCF-8EB5-BF85-BFDDD5FFEC26}"/>
                  </a:ext>
                </a:extLst>
              </p:cNvPr>
              <p:cNvGraphicFramePr>
                <a:graphicFrameLocks noGrp="1"/>
              </p:cNvGraphicFramePr>
              <p:nvPr>
                <p:extLst>
                  <p:ext uri="{D42A27DB-BD31-4B8C-83A1-F6EECF244321}">
                    <p14:modId xmlns:p14="http://schemas.microsoft.com/office/powerpoint/2010/main" val="1081257394"/>
                  </p:ext>
                </p:extLst>
              </p:nvPr>
            </p:nvGraphicFramePr>
            <p:xfrm>
              <a:off x="783471" y="3166937"/>
              <a:ext cx="10372225" cy="2057400"/>
            </p:xfrm>
            <a:graphic>
              <a:graphicData uri="http://schemas.openxmlformats.org/drawingml/2006/table">
                <a:tbl>
                  <a:tblPr>
                    <a:tableStyleId>{5C22544A-7EE6-4342-B048-85BDC9FD1C3A}</a:tableStyleId>
                  </a:tblPr>
                  <a:tblGrid>
                    <a:gridCol w="1449910">
                      <a:extLst>
                        <a:ext uri="{9D8B030D-6E8A-4147-A177-3AD203B41FA5}">
                          <a16:colId xmlns:a16="http://schemas.microsoft.com/office/drawing/2014/main" val="20000"/>
                        </a:ext>
                      </a:extLst>
                    </a:gridCol>
                    <a:gridCol w="2661699">
                      <a:extLst>
                        <a:ext uri="{9D8B030D-6E8A-4147-A177-3AD203B41FA5}">
                          <a16:colId xmlns:a16="http://schemas.microsoft.com/office/drawing/2014/main" val="20001"/>
                        </a:ext>
                      </a:extLst>
                    </a:gridCol>
                    <a:gridCol w="6260616">
                      <a:extLst>
                        <a:ext uri="{9D8B030D-6E8A-4147-A177-3AD203B41FA5}">
                          <a16:colId xmlns:a16="http://schemas.microsoft.com/office/drawing/2014/main" val="2435101031"/>
                        </a:ext>
                      </a:extLst>
                    </a:gridCol>
                  </a:tblGrid>
                  <a:tr h="411480">
                    <a:tc>
                      <a:txBody>
                        <a:bodyPr/>
                        <a:lstStyle/>
                        <a:p>
                          <a:endParaRPr lang="en-IT"/>
                        </a:p>
                      </a:txBody>
                      <a:tcPr marL="73152" marT="27432" marB="27432" anchor="ctr">
                        <a:blipFill>
                          <a:blip r:embed="rId4"/>
                          <a:stretch>
                            <a:fillRect l="-877" t="-48485" r="-618421" b="-481818"/>
                          </a:stretch>
                        </a:blipFill>
                      </a:tcPr>
                    </a:tc>
                    <a:tc>
                      <a:txBody>
                        <a:bodyPr/>
                        <a:lstStyle/>
                        <a:p>
                          <a:r>
                            <a:rPr lang="en-US" sz="1200" b="0" noProof="1">
                              <a:solidFill>
                                <a:srgbClr val="4A5A66"/>
                              </a:solidFill>
                              <a:latin typeface="+mn-lt"/>
                            </a:rPr>
                            <a:t>Speed error, normalised</a:t>
                          </a:r>
                        </a:p>
                      </a:txBody>
                      <a:tcPr marL="73152" marT="27432" marB="27432" anchor="ctr">
                        <a:solidFill>
                          <a:srgbClr val="FBFAF6"/>
                        </a:solidFill>
                      </a:tcPr>
                    </a:tc>
                    <a:tc>
                      <a:txBody>
                        <a:bodyPr/>
                        <a:lstStyle/>
                        <a:p>
                          <a:r>
                            <a:rPr lang="en-US" sz="1200" b="0" noProof="1">
                              <a:solidFill>
                                <a:srgbClr val="4A5A66"/>
                              </a:solidFill>
                              <a:latin typeface="+mn-lt"/>
                            </a:rPr>
                            <a:t>Primary tracking signal, tells the policy how far off we are</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endParaRPr lang="en-IT"/>
                        </a:p>
                      </a:txBody>
                      <a:tcPr marL="73152" marT="27432" marB="27432" anchor="ctr">
                        <a:blipFill>
                          <a:blip r:embed="rId4"/>
                          <a:stretch>
                            <a:fillRect l="-877" t="-153125" r="-618421" b="-396875"/>
                          </a:stretch>
                        </a:blipFill>
                      </a:tcPr>
                    </a:tc>
                    <a:tc>
                      <a:txBody>
                        <a:bodyPr/>
                        <a:lstStyle/>
                        <a:p>
                          <a:r>
                            <a:rPr lang="en-US" sz="1200" b="0" noProof="1">
                              <a:solidFill>
                                <a:srgbClr val="495A66"/>
                              </a:solidFill>
                              <a:latin typeface="+mn-lt"/>
                            </a:rPr>
                            <a:t>Current speed, normalised</a:t>
                          </a: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Captures the current operating point and back-EMF regime</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endParaRPr lang="en-IT"/>
                        </a:p>
                      </a:txBody>
                      <a:tcPr marL="73152" marT="27432" marB="27432" anchor="ctr">
                        <a:blipFill>
                          <a:blip r:embed="rId4"/>
                          <a:stretch>
                            <a:fillRect l="-877" t="-245455" r="-618421" b="-284848"/>
                          </a:stretch>
                        </a:blipFill>
                      </a:tcPr>
                    </a:tc>
                    <a:tc>
                      <a:txBody>
                        <a:bodyPr/>
                        <a:lstStyle/>
                        <a:p>
                          <a:r>
                            <a:rPr lang="en-US" sz="1200" b="0" noProof="1">
                              <a:solidFill>
                                <a:srgbClr val="4A5A66"/>
                              </a:solidFill>
                              <a:latin typeface="+mn-lt"/>
                            </a:rPr>
                            <a:t>Rod angles (2 variables)</a:t>
                          </a: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Encodes the gravity load</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endParaRPr lang="en-IT"/>
                        </a:p>
                      </a:txBody>
                      <a:tcPr marL="73152" marT="27432" marB="27432" anchor="ctr">
                        <a:blipFill>
                          <a:blip r:embed="rId4"/>
                          <a:stretch>
                            <a:fillRect l="-877" t="-356250" r="-618421" b="-193750"/>
                          </a:stretch>
                        </a:blip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b="0" i="0" kern="1200" dirty="0">
                              <a:solidFill>
                                <a:srgbClr val="495A66"/>
                              </a:solidFill>
                              <a:effectLst/>
                              <a:latin typeface="+mn-lt"/>
                              <a:ea typeface="+mn-ea"/>
                              <a:cs typeface="+mn-cs"/>
                            </a:rPr>
                            <a:t>Reference speed, normalised</a:t>
                          </a:r>
                          <a:endParaRPr lang="en-US" sz="1200" b="1" noProof="1">
                            <a:solidFill>
                              <a:srgbClr val="495A66"/>
                            </a:solidFill>
                            <a:latin typeface="+mn-lt"/>
                          </a:endParaRP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Lets the policy distinguish a ramp from a step, anticipate the next operating point</a:t>
                          </a:r>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3"/>
                      </a:ext>
                    </a:extLst>
                  </a:tr>
                  <a:tr h="411480">
                    <a:tc>
                      <a:txBody>
                        <a:bodyPr/>
                        <a:lstStyle/>
                        <a:p>
                          <a:endParaRPr lang="en-IT"/>
                        </a:p>
                      </a:txBody>
                      <a:tcPr marL="73152" marT="27432" marB="27432" anchor="ctr">
                        <a:blipFill>
                          <a:blip r:embed="rId4"/>
                          <a:stretch>
                            <a:fillRect l="-877" t="-442424" r="-618421" b="-87879"/>
                          </a:stretch>
                        </a:blipFill>
                      </a:tcPr>
                    </a:tc>
                    <a:tc>
                      <a:txBody>
                        <a:bodyPr/>
                        <a:lstStyle/>
                        <a:p>
                          <a:r>
                            <a:rPr lang="en-GB" sz="1200" b="0" i="0" kern="1200" noProof="1">
                              <a:solidFill>
                                <a:srgbClr val="495A66"/>
                              </a:solidFill>
                              <a:effectLst/>
                              <a:latin typeface="+mn-lt"/>
                              <a:ea typeface="+mn-ea"/>
                              <a:cs typeface="+mn-cs"/>
                            </a:rPr>
                            <a:t>PI output, normalised</a:t>
                          </a:r>
                          <a:endParaRPr lang="en-US" sz="1200" b="1" noProof="1">
                            <a:solidFill>
                              <a:srgbClr val="495A66"/>
                            </a:solidFill>
                            <a:latin typeface="+mn-lt"/>
                          </a:endParaRPr>
                        </a:p>
                      </a:txBody>
                      <a:tcPr marL="73152" marT="27432" marB="27432" anchor="ctr">
                        <a:solidFill>
                          <a:srgbClr val="FBFAF6"/>
                        </a:solidFill>
                      </a:tcPr>
                    </a:tc>
                    <a:tc>
                      <a:txBody>
                        <a:bodyPr/>
                        <a:lstStyle/>
                        <a:p>
                          <a:r>
                            <a:rPr lang="en-GB" sz="1200" b="0" i="0" kern="1200" dirty="0">
                              <a:solidFill>
                                <a:srgbClr val="495A66"/>
                              </a:solidFill>
                              <a:effectLst/>
                              <a:latin typeface="+mn-lt"/>
                              <a:ea typeface="+mn-ea"/>
                              <a:cs typeface="+mn-cs"/>
                            </a:rPr>
                            <a:t>Tells the policy what the baseline already commands, this is what makes the control </a:t>
                          </a:r>
                          <a:r>
                            <a:rPr lang="en-GB" sz="1200" b="0" i="1" kern="1200" dirty="0">
                              <a:solidFill>
                                <a:srgbClr val="495A66"/>
                              </a:solidFill>
                              <a:effectLst/>
                              <a:latin typeface="+mn-lt"/>
                              <a:ea typeface="+mn-ea"/>
                              <a:cs typeface="+mn-cs"/>
                            </a:rPr>
                            <a:t>residual</a:t>
                          </a:r>
                          <a:endParaRPr lang="en-US" sz="1200" b="1"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07D110A-3990-A1EE-493C-99E2EA2A40CA}"/>
                  </a:ext>
                </a:extLst>
              </p:cNvPr>
              <p:cNvSpPr txBox="1"/>
              <p:nvPr/>
            </p:nvSpPr>
            <p:spPr>
              <a:xfrm>
                <a:off x="955103" y="5323652"/>
                <a:ext cx="10735946" cy="646331"/>
              </a:xfrm>
              <a:prstGeom prst="rect">
                <a:avLst/>
              </a:prstGeom>
              <a:noFill/>
            </p:spPr>
            <p:txBody>
              <a:bodyPr wrap="square">
                <a:spAutoFit/>
              </a:bodyPr>
              <a:lstStyle/>
              <a:p>
                <a14:m>
                  <m:oMath xmlns:m="http://schemas.openxmlformats.org/officeDocument/2006/math">
                    <m:sSub>
                      <m:sSubPr>
                        <m:ctrlPr>
                          <a:rPr lang="en-GB" sz="1200" b="0" i="1" smtClean="0">
                            <a:solidFill>
                              <a:srgbClr val="495A66"/>
                            </a:solidFill>
                            <a:effectLst/>
                            <a:latin typeface="Cambria Math" panose="02040503050406030204" pitchFamily="18" charset="0"/>
                            <a:cs typeface="Consolas" panose="020B0609020204030204" pitchFamily="49" charset="0"/>
                          </a:rPr>
                        </m:ctrlPr>
                      </m:sSubPr>
                      <m:e>
                        <m:r>
                          <a:rPr lang="it-IT" sz="1200" b="0" i="1" smtClean="0">
                            <a:solidFill>
                              <a:srgbClr val="495A66"/>
                            </a:solidFill>
                            <a:effectLst/>
                            <a:latin typeface="Cambria Math" panose="02040503050406030204" pitchFamily="18" charset="0"/>
                            <a:cs typeface="Consolas" panose="020B0609020204030204" pitchFamily="49" charset="0"/>
                          </a:rPr>
                          <m:t>𝑒</m:t>
                        </m:r>
                      </m:e>
                      <m:sub>
                        <m:r>
                          <a:rPr lang="it-IT" sz="1200" b="0" i="1" smtClean="0">
                            <a:solidFill>
                              <a:srgbClr val="495A66"/>
                            </a:solidFill>
                            <a:effectLst/>
                            <a:latin typeface="Cambria Math" panose="02040503050406030204" pitchFamily="18" charset="0"/>
                            <a:cs typeface="Consolas" panose="020B0609020204030204" pitchFamily="49" charset="0"/>
                          </a:rPr>
                          <m:t>𝑠</m:t>
                        </m:r>
                      </m:sub>
                    </m:sSub>
                    <m:r>
                      <a:rPr lang="it-IT" sz="1200" b="0" i="1" smtClean="0">
                        <a:solidFill>
                          <a:srgbClr val="495A66"/>
                        </a:solidFill>
                        <a:effectLst/>
                        <a:latin typeface="Cambria Math" panose="02040503050406030204" pitchFamily="18" charset="0"/>
                        <a:cs typeface="Consolas" panose="020B0609020204030204" pitchFamily="49" charset="0"/>
                      </a:rPr>
                      <m:t>=5 </m:t>
                    </m:r>
                    <m:r>
                      <a:rPr lang="it-IT" sz="1200" b="0" i="1" smtClean="0">
                        <a:solidFill>
                          <a:srgbClr val="495A66"/>
                        </a:solidFill>
                        <a:effectLst/>
                        <a:latin typeface="Cambria Math" panose="02040503050406030204" pitchFamily="18" charset="0"/>
                        <a:cs typeface="Consolas" panose="020B0609020204030204" pitchFamily="49" charset="0"/>
                      </a:rPr>
                      <m:t>𝑟𝑎𝑑</m:t>
                    </m:r>
                    <m:r>
                      <a:rPr lang="it-IT" sz="1200" b="0" i="1" smtClean="0">
                        <a:solidFill>
                          <a:srgbClr val="495A66"/>
                        </a:solidFill>
                        <a:effectLst/>
                        <a:latin typeface="Cambria Math" panose="02040503050406030204" pitchFamily="18" charset="0"/>
                        <a:cs typeface="Consolas" panose="020B0609020204030204" pitchFamily="49" charset="0"/>
                      </a:rPr>
                      <m:t>/</m:t>
                    </m:r>
                    <m:r>
                      <a:rPr lang="it-IT" sz="1200" b="0" i="1" smtClean="0">
                        <a:solidFill>
                          <a:srgbClr val="495A66"/>
                        </a:solidFill>
                        <a:effectLst/>
                        <a:latin typeface="Cambria Math" panose="02040503050406030204" pitchFamily="18" charset="0"/>
                        <a:cs typeface="Consolas" panose="020B0609020204030204" pitchFamily="49" charset="0"/>
                      </a:rPr>
                      <m:t>𝑠</m:t>
                    </m:r>
                  </m:oMath>
                </a14:m>
                <a:r>
                  <a:rPr lang="en-GB" sz="1200" b="0" i="0" dirty="0">
                    <a:solidFill>
                      <a:srgbClr val="495A66"/>
                    </a:solidFill>
                    <a:effectLst/>
                    <a:latin typeface="Consolas" panose="020B0609020204030204" pitchFamily="49" charset="0"/>
                    <a:cs typeface="Consolas" panose="020B0609020204030204" pitchFamily="49" charset="0"/>
                  </a:rPr>
                  <a:t>, a moderately large tracking error; maps typical errors to </a:t>
                </a:r>
                <a14:m>
                  <m:oMath xmlns:m="http://schemas.openxmlformats.org/officeDocument/2006/math">
                    <m:r>
                      <a:rPr lang="en-GB" sz="1200" b="0" i="1" smtClean="0">
                        <a:solidFill>
                          <a:srgbClr val="495A66"/>
                        </a:solidFill>
                        <a:effectLst/>
                        <a:latin typeface="Cambria Math" panose="02040503050406030204" pitchFamily="18" charset="0"/>
                        <a:ea typeface="Cambria Math" panose="02040503050406030204" pitchFamily="18" charset="0"/>
                        <a:cs typeface="Consolas" panose="020B0609020204030204" pitchFamily="49" charset="0"/>
                      </a:rPr>
                      <m:t>~</m:t>
                    </m:r>
                    <m:r>
                      <a:rPr lang="it-IT" sz="1200" b="0" i="1" smtClean="0">
                        <a:solidFill>
                          <a:srgbClr val="495A66"/>
                        </a:solidFill>
                        <a:effectLst/>
                        <a:latin typeface="Cambria Math" panose="02040503050406030204" pitchFamily="18" charset="0"/>
                        <a:ea typeface="Cambria Math" panose="02040503050406030204" pitchFamily="18" charset="0"/>
                        <a:cs typeface="Consolas" panose="020B0609020204030204" pitchFamily="49" charset="0"/>
                      </a:rPr>
                      <m:t>1</m:t>
                    </m:r>
                  </m:oMath>
                </a14:m>
                <a:r>
                  <a:rPr lang="en-GB" sz="1200" b="0" i="0" dirty="0">
                    <a:solidFill>
                      <a:srgbClr val="495A66"/>
                    </a:solidFill>
                    <a:effectLst/>
                    <a:latin typeface="Consolas" panose="020B0609020204030204" pitchFamily="49" charset="0"/>
                    <a:cs typeface="Consolas" panose="020B0609020204030204" pitchFamily="49" charset="0"/>
                  </a:rPr>
                  <a:t>, saturation errors to </a:t>
                </a:r>
                <a14:m>
                  <m:oMath xmlns:m="http://schemas.openxmlformats.org/officeDocument/2006/math">
                    <m:r>
                      <a:rPr lang="en-GB" sz="1200" i="1">
                        <a:solidFill>
                          <a:srgbClr val="495A66"/>
                        </a:solidFill>
                        <a:latin typeface="Cambria Math" panose="02040503050406030204" pitchFamily="18" charset="0"/>
                        <a:ea typeface="Cambria Math" panose="02040503050406030204" pitchFamily="18" charset="0"/>
                        <a:cs typeface="Consolas" panose="020B0609020204030204" pitchFamily="49" charset="0"/>
                      </a:rPr>
                      <m:t>~</m:t>
                    </m:r>
                    <m:r>
                      <a:rPr lang="it-IT" sz="1200" b="0" i="1" smtClean="0">
                        <a:solidFill>
                          <a:srgbClr val="495A66"/>
                        </a:solidFill>
                        <a:latin typeface="Cambria Math" panose="02040503050406030204" pitchFamily="18" charset="0"/>
                        <a:ea typeface="Cambria Math" panose="02040503050406030204" pitchFamily="18" charset="0"/>
                        <a:cs typeface="Consolas" panose="020B0609020204030204" pitchFamily="49" charset="0"/>
                      </a:rPr>
                      <m:t>2</m:t>
                    </m:r>
                  </m:oMath>
                </a14:m>
                <a:endParaRPr lang="en-GB" sz="1200" b="0" i="0" dirty="0">
                  <a:solidFill>
                    <a:srgbClr val="495A66"/>
                  </a:solidFill>
                  <a:effectLst/>
                  <a:latin typeface="Consolas" panose="020B0609020204030204" pitchFamily="49" charset="0"/>
                  <a:cs typeface="Consolas" panose="020B0609020204030204" pitchFamily="49" charset="0"/>
                </a:endParaRPr>
              </a:p>
              <a:p>
                <a14:m>
                  <m:oMath xmlns:m="http://schemas.openxmlformats.org/officeDocument/2006/math">
                    <m:sSub>
                      <m:sSubPr>
                        <m:ctrlPr>
                          <a:rPr lang="en-GB" sz="1200" i="1">
                            <a:solidFill>
                              <a:srgbClr val="495A66"/>
                            </a:solidFill>
                            <a:latin typeface="Cambria Math" panose="02040503050406030204" pitchFamily="18" charset="0"/>
                            <a:cs typeface="Consolas" panose="020B0609020204030204" pitchFamily="49" charset="0"/>
                          </a:rPr>
                        </m:ctrlPr>
                      </m:sSubPr>
                      <m:e>
                        <m:r>
                          <a:rPr lang="en-GB" sz="1200" i="1" smtClean="0">
                            <a:solidFill>
                              <a:srgbClr val="495A66"/>
                            </a:solidFill>
                            <a:latin typeface="Cambria Math" panose="02040503050406030204" pitchFamily="18" charset="0"/>
                            <a:ea typeface="Cambria Math" panose="02040503050406030204" pitchFamily="18" charset="0"/>
                            <a:cs typeface="Consolas" panose="020B0609020204030204" pitchFamily="49" charset="0"/>
                          </a:rPr>
                          <m:t>𝜔</m:t>
                        </m:r>
                      </m:e>
                      <m:sub>
                        <m:r>
                          <a:rPr lang="it-IT" sz="1200" i="1">
                            <a:solidFill>
                              <a:srgbClr val="495A66"/>
                            </a:solidFill>
                            <a:latin typeface="Cambria Math" panose="02040503050406030204" pitchFamily="18" charset="0"/>
                            <a:cs typeface="Consolas" panose="020B0609020204030204" pitchFamily="49" charset="0"/>
                          </a:rPr>
                          <m:t>𝑠</m:t>
                        </m:r>
                      </m:sub>
                    </m:sSub>
                    <m:r>
                      <a:rPr lang="it-IT" sz="1200" i="1">
                        <a:solidFill>
                          <a:srgbClr val="495A66"/>
                        </a:solidFill>
                        <a:latin typeface="Cambria Math" panose="02040503050406030204" pitchFamily="18" charset="0"/>
                        <a:cs typeface="Consolas" panose="020B0609020204030204" pitchFamily="49" charset="0"/>
                      </a:rPr>
                      <m:t>=</m:t>
                    </m:r>
                    <m:r>
                      <a:rPr lang="it-IT" sz="1200" b="0" i="1" smtClean="0">
                        <a:solidFill>
                          <a:srgbClr val="495A66"/>
                        </a:solidFill>
                        <a:latin typeface="Cambria Math" panose="02040503050406030204" pitchFamily="18" charset="0"/>
                        <a:cs typeface="Consolas" panose="020B0609020204030204" pitchFamily="49" charset="0"/>
                      </a:rPr>
                      <m:t>12 </m:t>
                    </m:r>
                    <m:r>
                      <a:rPr lang="it-IT" sz="1200" i="1">
                        <a:solidFill>
                          <a:srgbClr val="495A66"/>
                        </a:solidFill>
                        <a:latin typeface="Cambria Math" panose="02040503050406030204" pitchFamily="18" charset="0"/>
                        <a:cs typeface="Consolas" panose="020B0609020204030204" pitchFamily="49" charset="0"/>
                      </a:rPr>
                      <m:t>𝑟𝑎𝑑</m:t>
                    </m:r>
                    <m:r>
                      <a:rPr lang="it-IT" sz="1200" i="1">
                        <a:solidFill>
                          <a:srgbClr val="495A66"/>
                        </a:solidFill>
                        <a:latin typeface="Cambria Math" panose="02040503050406030204" pitchFamily="18" charset="0"/>
                        <a:cs typeface="Consolas" panose="020B0609020204030204" pitchFamily="49" charset="0"/>
                      </a:rPr>
                      <m:t>/</m:t>
                    </m:r>
                    <m:r>
                      <a:rPr lang="it-IT" sz="1200" i="1">
                        <a:solidFill>
                          <a:srgbClr val="495A66"/>
                        </a:solidFill>
                        <a:latin typeface="Cambria Math" panose="02040503050406030204" pitchFamily="18" charset="0"/>
                        <a:cs typeface="Consolas" panose="020B0609020204030204" pitchFamily="49" charset="0"/>
                      </a:rPr>
                      <m:t>𝑠</m:t>
                    </m:r>
                    <m:r>
                      <a:rPr lang="it-IT" sz="1200" i="1">
                        <a:solidFill>
                          <a:srgbClr val="495A66"/>
                        </a:solidFill>
                        <a:latin typeface="Cambria Math" panose="02040503050406030204" pitchFamily="18" charset="0"/>
                        <a:cs typeface="Consolas" panose="020B0609020204030204" pitchFamily="49" charset="0"/>
                      </a:rPr>
                      <m:t> </m:t>
                    </m:r>
                  </m:oMath>
                </a14:m>
                <a:r>
                  <a:rPr lang="en-GB" sz="1200" b="0" i="0" dirty="0">
                    <a:solidFill>
                      <a:srgbClr val="495A66"/>
                    </a:solidFill>
                    <a:effectLst/>
                    <a:latin typeface="Consolas" panose="020B0609020204030204" pitchFamily="49" charset="0"/>
                    <a:cs typeface="Consolas" panose="020B0609020204030204" pitchFamily="49" charset="0"/>
                  </a:rPr>
                  <a:t>, just above the maximum reference (</a:t>
                </a:r>
                <a14:m>
                  <m:oMath xmlns:m="http://schemas.openxmlformats.org/officeDocument/2006/math">
                    <m:r>
                      <a:rPr lang="it-IT" sz="1200" b="0" i="1" smtClean="0">
                        <a:solidFill>
                          <a:srgbClr val="495A66"/>
                        </a:solidFill>
                        <a:latin typeface="Cambria Math" panose="02040503050406030204" pitchFamily="18" charset="0"/>
                        <a:cs typeface="Consolas" panose="020B0609020204030204" pitchFamily="49" charset="0"/>
                      </a:rPr>
                      <m:t>12</m:t>
                    </m:r>
                    <m:r>
                      <a:rPr lang="it-IT" sz="1200" i="1">
                        <a:solidFill>
                          <a:srgbClr val="495A66"/>
                        </a:solidFill>
                        <a:latin typeface="Cambria Math" panose="02040503050406030204" pitchFamily="18" charset="0"/>
                        <a:cs typeface="Consolas" panose="020B0609020204030204" pitchFamily="49" charset="0"/>
                      </a:rPr>
                      <m:t> </m:t>
                    </m:r>
                    <m:r>
                      <a:rPr lang="it-IT" sz="1200" i="1">
                        <a:solidFill>
                          <a:srgbClr val="495A66"/>
                        </a:solidFill>
                        <a:latin typeface="Cambria Math" panose="02040503050406030204" pitchFamily="18" charset="0"/>
                        <a:cs typeface="Consolas" panose="020B0609020204030204" pitchFamily="49" charset="0"/>
                      </a:rPr>
                      <m:t>𝑟𝑎𝑑</m:t>
                    </m:r>
                    <m:r>
                      <a:rPr lang="it-IT" sz="1200" i="1">
                        <a:solidFill>
                          <a:srgbClr val="495A66"/>
                        </a:solidFill>
                        <a:latin typeface="Cambria Math" panose="02040503050406030204" pitchFamily="18" charset="0"/>
                        <a:cs typeface="Consolas" panose="020B0609020204030204" pitchFamily="49" charset="0"/>
                      </a:rPr>
                      <m:t>/</m:t>
                    </m:r>
                    <m:r>
                      <a:rPr lang="it-IT" sz="1200" i="1">
                        <a:solidFill>
                          <a:srgbClr val="495A66"/>
                        </a:solidFill>
                        <a:latin typeface="Cambria Math" panose="02040503050406030204" pitchFamily="18" charset="0"/>
                        <a:cs typeface="Consolas" panose="020B0609020204030204" pitchFamily="49" charset="0"/>
                      </a:rPr>
                      <m:t>𝑠</m:t>
                    </m:r>
                  </m:oMath>
                </a14:m>
                <a:r>
                  <a:rPr lang="en-GB" sz="1200" b="0" i="0" dirty="0">
                    <a:solidFill>
                      <a:srgbClr val="495A66"/>
                    </a:solidFill>
                    <a:effectLst/>
                    <a:latin typeface="Consolas" panose="020B0609020204030204" pitchFamily="49" charset="0"/>
                    <a:cs typeface="Consolas" panose="020B0609020204030204" pitchFamily="49" charset="0"/>
                  </a:rPr>
                  <a:t>); keeps all speed features in [-1, 1]</a:t>
                </a:r>
              </a:p>
              <a:p>
                <a:pPr algn="l">
                  <a:buNone/>
                </a:pPr>
                <a:r>
                  <a:rPr lang="en-GB" sz="1200" b="0" i="0" dirty="0">
                    <a:solidFill>
                      <a:srgbClr val="495A66"/>
                    </a:solidFill>
                    <a:effectLst/>
                    <a:latin typeface="Consolas" panose="020B0609020204030204" pitchFamily="49" charset="0"/>
                    <a:cs typeface="Consolas" panose="020B0609020204030204" pitchFamily="49" charset="0"/>
                  </a:rPr>
                  <a:t>All six features are clipped to [-10, 10] before entering the network, no unbounded inputs</a:t>
                </a:r>
              </a:p>
            </p:txBody>
          </p:sp>
        </mc:Choice>
        <mc:Fallback xmlns="">
          <p:sp>
            <p:nvSpPr>
              <p:cNvPr id="16" name="TextBox 15">
                <a:extLst>
                  <a:ext uri="{FF2B5EF4-FFF2-40B4-BE49-F238E27FC236}">
                    <a16:creationId xmlns:a16="http://schemas.microsoft.com/office/drawing/2014/main" id="{807D110A-3990-A1EE-493C-99E2EA2A40CA}"/>
                  </a:ext>
                </a:extLst>
              </p:cNvPr>
              <p:cNvSpPr txBox="1">
                <a:spLocks noRot="1" noChangeAspect="1" noMove="1" noResize="1" noEditPoints="1" noAdjustHandles="1" noChangeArrowheads="1" noChangeShapeType="1" noTextEdit="1"/>
              </p:cNvSpPr>
              <p:nvPr/>
            </p:nvSpPr>
            <p:spPr>
              <a:xfrm>
                <a:off x="955103" y="5323652"/>
                <a:ext cx="10735946" cy="646331"/>
              </a:xfrm>
              <a:prstGeom prst="rect">
                <a:avLst/>
              </a:prstGeom>
              <a:blipFill>
                <a:blip r:embed="rId5"/>
                <a:stretch>
                  <a:fillRect b="-5882"/>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78F02F9F-2710-A0DA-F6E0-4C736C8D5BA7}"/>
              </a:ext>
            </a:extLst>
          </p:cNvPr>
          <p:cNvSpPr txBox="1"/>
          <p:nvPr/>
        </p:nvSpPr>
        <p:spPr>
          <a:xfrm>
            <a:off x="783471" y="1472240"/>
            <a:ext cx="6853622" cy="1569660"/>
          </a:xfrm>
          <a:prstGeom prst="rect">
            <a:avLst/>
          </a:prstGeom>
          <a:noFill/>
        </p:spPr>
        <p:txBody>
          <a:bodyPr wrap="square" rtlCol="0">
            <a:spAutoFit/>
          </a:bodyPr>
          <a:lstStyle/>
          <a:p>
            <a:r>
              <a:rPr lang="en-GB" sz="1600" dirty="0">
                <a:solidFill>
                  <a:srgbClr val="495A66"/>
                </a:solidFill>
              </a:rPr>
              <a:t>It is the interface between the system and the neural network. </a:t>
            </a:r>
          </a:p>
          <a:p>
            <a:r>
              <a:rPr lang="en-GB" sz="1600" dirty="0">
                <a:solidFill>
                  <a:srgbClr val="495A66"/>
                </a:solidFill>
              </a:rPr>
              <a:t>At every step it collects raw measurements and converts them into the</a:t>
            </a:r>
            <a:r>
              <a:rPr lang="en-GB" sz="1600" b="1" dirty="0">
                <a:solidFill>
                  <a:srgbClr val="495A66"/>
                </a:solidFill>
              </a:rPr>
              <a:t> input vector</a:t>
            </a:r>
            <a:r>
              <a:rPr lang="en-GB" sz="1600" dirty="0">
                <a:solidFill>
                  <a:srgbClr val="495A66"/>
                </a:solidFill>
              </a:rPr>
              <a:t>. It does three things:</a:t>
            </a:r>
          </a:p>
          <a:p>
            <a:r>
              <a:rPr lang="en-US" sz="1600" b="1" noProof="1">
                <a:solidFill>
                  <a:srgbClr val="E07A5F"/>
                </a:solidFill>
              </a:rPr>
              <a:t>— </a:t>
            </a:r>
            <a:r>
              <a:rPr lang="en-GB" sz="1600" dirty="0">
                <a:solidFill>
                  <a:srgbClr val="495A66"/>
                </a:solidFill>
              </a:rPr>
              <a:t>selects only the variables needed to compute </a:t>
            </a:r>
            <a:r>
              <a:rPr lang="el-GR" sz="1600" dirty="0">
                <a:solidFill>
                  <a:srgbClr val="495A66"/>
                </a:solidFill>
              </a:rPr>
              <a:t>Δ</a:t>
            </a:r>
            <a:r>
              <a:rPr lang="en-GB" sz="1600" dirty="0">
                <a:solidFill>
                  <a:srgbClr val="495A66"/>
                </a:solidFill>
              </a:rPr>
              <a:t>V, discarding everything else; </a:t>
            </a:r>
          </a:p>
          <a:p>
            <a:r>
              <a:rPr lang="en-US" sz="1600" b="1" noProof="1">
                <a:solidFill>
                  <a:srgbClr val="1D3557"/>
                </a:solidFill>
              </a:rPr>
              <a:t>— </a:t>
            </a:r>
            <a:r>
              <a:rPr lang="en-GB" sz="1600" dirty="0">
                <a:solidFill>
                  <a:srgbClr val="495A66"/>
                </a:solidFill>
              </a:rPr>
              <a:t>normalises each quantity so that training is numerically stable; </a:t>
            </a:r>
          </a:p>
          <a:p>
            <a:r>
              <a:rPr lang="en-US" sz="1600" b="1" noProof="1">
                <a:solidFill>
                  <a:srgbClr val="2A9D8F"/>
                </a:solidFill>
              </a:rPr>
              <a:t>—</a:t>
            </a:r>
            <a:r>
              <a:rPr lang="en-US" sz="1600" b="1" noProof="1">
                <a:solidFill>
                  <a:srgbClr val="E07A5F"/>
                </a:solidFill>
              </a:rPr>
              <a:t> </a:t>
            </a:r>
            <a:r>
              <a:rPr lang="en-GB" sz="1600" dirty="0">
                <a:solidFill>
                  <a:srgbClr val="495A66"/>
                </a:solidFill>
              </a:rPr>
              <a:t>re-encodes the rod angle as (sin </a:t>
            </a:r>
            <a:r>
              <a:rPr lang="el-GR" sz="1600" dirty="0">
                <a:solidFill>
                  <a:srgbClr val="495A66"/>
                </a:solidFill>
              </a:rPr>
              <a:t>θ, </a:t>
            </a:r>
            <a:r>
              <a:rPr lang="en-GB" sz="1600" dirty="0">
                <a:solidFill>
                  <a:srgbClr val="495A66"/>
                </a:solidFill>
              </a:rPr>
              <a:t>cos </a:t>
            </a:r>
            <a:r>
              <a:rPr lang="el-GR" sz="1600" dirty="0">
                <a:solidFill>
                  <a:srgbClr val="495A66"/>
                </a:solidFill>
              </a:rPr>
              <a:t>θ) </a:t>
            </a:r>
            <a:r>
              <a:rPr lang="en-GB" sz="1600" dirty="0">
                <a:solidFill>
                  <a:srgbClr val="495A66"/>
                </a:solidFill>
              </a:rPr>
              <a:t>to avoid the discontinuity at ±</a:t>
            </a:r>
            <a:r>
              <a:rPr lang="el-GR" sz="1600" dirty="0">
                <a:solidFill>
                  <a:srgbClr val="495A66"/>
                </a:solidFill>
              </a:rPr>
              <a:t>π. </a:t>
            </a:r>
            <a:endParaRPr lang="it-IT" sz="1600" dirty="0">
              <a:solidFill>
                <a:srgbClr val="495A66"/>
              </a:solidFill>
            </a:endParaRPr>
          </a:p>
        </p:txBody>
      </p:sp>
      <p:sp>
        <p:nvSpPr>
          <p:cNvPr id="21" name="TextBox 20">
            <a:extLst>
              <a:ext uri="{FF2B5EF4-FFF2-40B4-BE49-F238E27FC236}">
                <a16:creationId xmlns:a16="http://schemas.microsoft.com/office/drawing/2014/main" id="{F22B5431-1B01-AC7A-D8E5-F5AD5A21B8C7}"/>
              </a:ext>
            </a:extLst>
          </p:cNvPr>
          <p:cNvSpPr txBox="1"/>
          <p:nvPr/>
        </p:nvSpPr>
        <p:spPr>
          <a:xfrm>
            <a:off x="955103" y="6069298"/>
            <a:ext cx="10735946" cy="584775"/>
          </a:xfrm>
          <a:prstGeom prst="rect">
            <a:avLst/>
          </a:prstGeom>
          <a:noFill/>
        </p:spPr>
        <p:txBody>
          <a:bodyPr wrap="square" rtlCol="0">
            <a:spAutoFit/>
          </a:bodyPr>
          <a:lstStyle/>
          <a:p>
            <a:r>
              <a:rPr lang="en-GB" sz="1600" dirty="0">
                <a:solidFill>
                  <a:srgbClr val="495A66"/>
                </a:solidFill>
              </a:rPr>
              <a:t>The observer is minimal by design: </a:t>
            </a:r>
            <a:r>
              <a:rPr lang="en-GB" sz="1600" b="1" dirty="0">
                <a:solidFill>
                  <a:srgbClr val="495A66"/>
                </a:solidFill>
              </a:rPr>
              <a:t>6 scalars</a:t>
            </a:r>
            <a:r>
              <a:rPr lang="en-GB" sz="1600" dirty="0">
                <a:solidFill>
                  <a:srgbClr val="495A66"/>
                </a:solidFill>
              </a:rPr>
              <a:t>, no history, no raw sensor data. The policy has exactly what it needs to compute the missing feedforward and nothing more.</a:t>
            </a:r>
            <a:endParaRPr lang="en-US" sz="1600" dirty="0">
              <a:solidFill>
                <a:srgbClr val="495A6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Rectangle 1"/>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B3  </a:t>
            </a:r>
            <a:r>
              <a:rPr lang="en-US" sz="1100" noProof="1">
                <a:solidFill>
                  <a:srgbClr val="2A9D8F"/>
                </a:solidFill>
                <a:latin typeface="Consolas"/>
              </a:rPr>
              <a:t>RESIDUAL REINFORCEMENT LEARNING - Framework</a:t>
            </a:r>
          </a:p>
        </p:txBody>
      </p:sp>
      <p:sp>
        <p:nvSpPr>
          <p:cNvPr id="6" name="TextBox 5">
            <a:extLst>
              <a:ext uri="{FF2B5EF4-FFF2-40B4-BE49-F238E27FC236}">
                <a16:creationId xmlns:a16="http://schemas.microsoft.com/office/drawing/2014/main" id="{AC258EC4-9F80-46FB-4846-7C75C56CF050}"/>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Reward Function</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3BAFD13-364B-524D-317F-58F9B918BECE}"/>
                  </a:ext>
                </a:extLst>
              </p:cNvPr>
              <p:cNvSpPr txBox="1"/>
              <p:nvPr/>
            </p:nvSpPr>
            <p:spPr>
              <a:xfrm>
                <a:off x="777236" y="1473803"/>
                <a:ext cx="10698483" cy="2077941"/>
              </a:xfrm>
              <a:prstGeom prst="rect">
                <a:avLst/>
              </a:prstGeom>
              <a:noFill/>
            </p:spPr>
            <p:txBody>
              <a:bodyPr wrap="square" rtlCol="0">
                <a:spAutoFit/>
              </a:bodyPr>
              <a:lstStyle/>
              <a:p>
                <a:r>
                  <a:rPr lang="en-GB" sz="1600" dirty="0">
                    <a:solidFill>
                      <a:srgbClr val="495A66"/>
                    </a:solidFill>
                  </a:rPr>
                  <a:t>The reward function is the only channel through which the policy learns what "good control" means:</a:t>
                </a:r>
              </a:p>
              <a:p>
                <a:endParaRPr lang="en-GB" sz="1600" dirty="0">
                  <a:solidFill>
                    <a:srgbClr val="495A66"/>
                  </a:solidFill>
                </a:endParaRPr>
              </a:p>
              <a:p>
                <a:pPr algn="ctr"/>
                <a:r>
                  <a:rPr lang="en-GB" sz="2000" dirty="0">
                    <a:solidFill>
                      <a:srgbClr val="495A66"/>
                    </a:solidFill>
                  </a:rPr>
                  <a:t> </a:t>
                </a:r>
                <a14:m>
                  <m:oMath xmlns:m="http://schemas.openxmlformats.org/officeDocument/2006/math">
                    <m:r>
                      <a:rPr lang="it-IT" sz="2000" i="1">
                        <a:solidFill>
                          <a:srgbClr val="495A66"/>
                        </a:solidFill>
                        <a:latin typeface="Cambria Math" panose="02040503050406030204" pitchFamily="18" charset="0"/>
                      </a:rPr>
                      <m:t>𝑟</m:t>
                    </m:r>
                    <m:r>
                      <a:rPr lang="it-IT" sz="2000" i="1">
                        <a:solidFill>
                          <a:srgbClr val="495A66"/>
                        </a:solidFill>
                        <a:latin typeface="Cambria Math" panose="02040503050406030204" pitchFamily="18" charset="0"/>
                      </a:rPr>
                      <m:t>=−</m:t>
                    </m:r>
                    <m:r>
                      <m:rPr>
                        <m:sty m:val="p"/>
                      </m:rPr>
                      <a:rPr lang="el-GR" sz="2000" i="1">
                        <a:solidFill>
                          <a:srgbClr val="495A66"/>
                        </a:solidFill>
                        <a:latin typeface="Cambria Math" panose="02040503050406030204" pitchFamily="18" charset="0"/>
                        <a:ea typeface="Cambria Math" panose="02040503050406030204" pitchFamily="18" charset="0"/>
                      </a:rPr>
                      <m:t>α</m:t>
                    </m:r>
                    <m:f>
                      <m:fPr>
                        <m:ctrlPr>
                          <a:rPr lang="el-GR" sz="2000" i="1">
                            <a:solidFill>
                              <a:srgbClr val="495A66"/>
                            </a:solidFill>
                            <a:latin typeface="Cambria Math" panose="02040503050406030204" pitchFamily="18" charset="0"/>
                            <a:ea typeface="Cambria Math" panose="02040503050406030204" pitchFamily="18" charset="0"/>
                          </a:rPr>
                        </m:ctrlPr>
                      </m:fPr>
                      <m:num>
                        <m:d>
                          <m:dPr>
                            <m:begChr m:val="|"/>
                            <m:endChr m:val="|"/>
                            <m:ctrlPr>
                              <a:rPr lang="el-GR" sz="2000" i="1">
                                <a:solidFill>
                                  <a:srgbClr val="495A66"/>
                                </a:solidFill>
                                <a:latin typeface="Cambria Math" panose="02040503050406030204" pitchFamily="18" charset="0"/>
                                <a:ea typeface="Cambria Math" panose="02040503050406030204" pitchFamily="18" charset="0"/>
                              </a:rPr>
                            </m:ctrlPr>
                          </m:dPr>
                          <m:e>
                            <m:r>
                              <a:rPr lang="it-IT" sz="2000" i="1">
                                <a:solidFill>
                                  <a:srgbClr val="495A66"/>
                                </a:solidFill>
                                <a:latin typeface="Cambria Math" panose="02040503050406030204" pitchFamily="18" charset="0"/>
                                <a:ea typeface="Cambria Math" panose="02040503050406030204" pitchFamily="18" charset="0"/>
                              </a:rPr>
                              <m:t>𝑒</m:t>
                            </m:r>
                          </m:e>
                        </m:d>
                      </m:num>
                      <m:den>
                        <m:sSub>
                          <m:sSubPr>
                            <m:ctrlPr>
                              <a:rPr lang="el-GR" sz="2000" i="1">
                                <a:solidFill>
                                  <a:srgbClr val="495A66"/>
                                </a:solidFill>
                                <a:latin typeface="Cambria Math" panose="02040503050406030204" pitchFamily="18" charset="0"/>
                                <a:ea typeface="Cambria Math" panose="02040503050406030204" pitchFamily="18" charset="0"/>
                              </a:rPr>
                            </m:ctrlPr>
                          </m:sSubPr>
                          <m:e>
                            <m:r>
                              <a:rPr lang="it-IT" sz="2000" i="1">
                                <a:solidFill>
                                  <a:srgbClr val="495A66"/>
                                </a:solidFill>
                                <a:latin typeface="Cambria Math" panose="02040503050406030204" pitchFamily="18" charset="0"/>
                                <a:ea typeface="Cambria Math" panose="02040503050406030204" pitchFamily="18" charset="0"/>
                              </a:rPr>
                              <m:t>𝑒</m:t>
                            </m:r>
                          </m:e>
                          <m:sub>
                            <m:r>
                              <a:rPr lang="it-IT" sz="2000" i="1">
                                <a:solidFill>
                                  <a:srgbClr val="495A66"/>
                                </a:solidFill>
                                <a:latin typeface="Cambria Math" panose="02040503050406030204" pitchFamily="18" charset="0"/>
                                <a:ea typeface="Cambria Math" panose="02040503050406030204" pitchFamily="18" charset="0"/>
                              </a:rPr>
                              <m:t>𝑠</m:t>
                            </m:r>
                          </m:sub>
                        </m:sSub>
                      </m:den>
                    </m:f>
                    <m:r>
                      <a:rPr lang="it-IT" sz="2000" i="1">
                        <a:solidFill>
                          <a:srgbClr val="495A66"/>
                        </a:solidFill>
                        <a:latin typeface="Cambria Math" panose="02040503050406030204" pitchFamily="18" charset="0"/>
                        <a:ea typeface="Cambria Math" panose="02040503050406030204" pitchFamily="18" charset="0"/>
                      </a:rPr>
                      <m:t>−</m:t>
                    </m:r>
                    <m:r>
                      <a:rPr lang="it-IT" sz="2000" i="1">
                        <a:solidFill>
                          <a:srgbClr val="495A66"/>
                        </a:solidFill>
                        <a:latin typeface="Cambria Math" panose="02040503050406030204" pitchFamily="18" charset="0"/>
                        <a:ea typeface="Cambria Math" panose="02040503050406030204" pitchFamily="18" charset="0"/>
                      </a:rPr>
                      <m:t>𝜆</m:t>
                    </m:r>
                    <m:sSup>
                      <m:sSupPr>
                        <m:ctrlPr>
                          <a:rPr lang="it-IT" sz="2000" i="1">
                            <a:solidFill>
                              <a:srgbClr val="495A66"/>
                            </a:solidFill>
                            <a:latin typeface="Cambria Math" panose="02040503050406030204" pitchFamily="18" charset="0"/>
                            <a:ea typeface="Cambria Math" panose="02040503050406030204" pitchFamily="18" charset="0"/>
                          </a:rPr>
                        </m:ctrlPr>
                      </m:sSupPr>
                      <m:e>
                        <m:d>
                          <m:dPr>
                            <m:ctrlPr>
                              <a:rPr lang="it-IT" sz="2000" i="1">
                                <a:solidFill>
                                  <a:srgbClr val="495A66"/>
                                </a:solidFill>
                                <a:latin typeface="Cambria Math" panose="02040503050406030204" pitchFamily="18" charset="0"/>
                                <a:ea typeface="Cambria Math" panose="02040503050406030204" pitchFamily="18" charset="0"/>
                              </a:rPr>
                            </m:ctrlPr>
                          </m:dPr>
                          <m:e>
                            <m:f>
                              <m:fPr>
                                <m:ctrlPr>
                                  <a:rPr lang="it-IT" sz="2000" i="1">
                                    <a:solidFill>
                                      <a:srgbClr val="495A66"/>
                                    </a:solidFill>
                                    <a:latin typeface="Cambria Math" panose="02040503050406030204" pitchFamily="18" charset="0"/>
                                    <a:ea typeface="Cambria Math" panose="02040503050406030204" pitchFamily="18" charset="0"/>
                                  </a:rPr>
                                </m:ctrlPr>
                              </m:fPr>
                              <m:num>
                                <m:r>
                                  <a:rPr lang="it-IT" sz="2000" i="1">
                                    <a:solidFill>
                                      <a:srgbClr val="495A66"/>
                                    </a:solidFill>
                                    <a:latin typeface="Cambria Math" panose="02040503050406030204" pitchFamily="18" charset="0"/>
                                    <a:ea typeface="Cambria Math" panose="02040503050406030204" pitchFamily="18" charset="0"/>
                                  </a:rPr>
                                  <m:t>∆</m:t>
                                </m:r>
                                <m:r>
                                  <a:rPr lang="it-IT" sz="2000" i="1">
                                    <a:solidFill>
                                      <a:srgbClr val="495A66"/>
                                    </a:solidFill>
                                    <a:latin typeface="Cambria Math" panose="02040503050406030204" pitchFamily="18" charset="0"/>
                                    <a:ea typeface="Cambria Math" panose="02040503050406030204" pitchFamily="18" charset="0"/>
                                  </a:rPr>
                                  <m:t>𝑉</m:t>
                                </m:r>
                              </m:num>
                              <m:den>
                                <m:sSub>
                                  <m:sSubPr>
                                    <m:ctrlPr>
                                      <a:rPr lang="it-IT" sz="2000" i="1">
                                        <a:solidFill>
                                          <a:srgbClr val="495A66"/>
                                        </a:solidFill>
                                        <a:latin typeface="Cambria Math" panose="02040503050406030204" pitchFamily="18" charset="0"/>
                                        <a:ea typeface="Cambria Math" panose="02040503050406030204" pitchFamily="18" charset="0"/>
                                      </a:rPr>
                                    </m:ctrlPr>
                                  </m:sSubPr>
                                  <m:e>
                                    <m:r>
                                      <a:rPr lang="it-IT" sz="2000" i="1">
                                        <a:solidFill>
                                          <a:srgbClr val="495A66"/>
                                        </a:solidFill>
                                        <a:latin typeface="Cambria Math" panose="02040503050406030204" pitchFamily="18" charset="0"/>
                                        <a:ea typeface="Cambria Math" panose="02040503050406030204" pitchFamily="18" charset="0"/>
                                      </a:rPr>
                                      <m:t>𝑉</m:t>
                                    </m:r>
                                  </m:e>
                                  <m:sub>
                                    <m:r>
                                      <a:rPr lang="it-IT" sz="2000" i="1">
                                        <a:solidFill>
                                          <a:srgbClr val="495A66"/>
                                        </a:solidFill>
                                        <a:latin typeface="Cambria Math" panose="02040503050406030204" pitchFamily="18" charset="0"/>
                                        <a:ea typeface="Cambria Math" panose="02040503050406030204" pitchFamily="18" charset="0"/>
                                      </a:rPr>
                                      <m:t>𝑚𝑎𝑥</m:t>
                                    </m:r>
                                  </m:sub>
                                </m:sSub>
                              </m:den>
                            </m:f>
                          </m:e>
                        </m:d>
                      </m:e>
                      <m:sup>
                        <m:r>
                          <a:rPr lang="it-IT" sz="2000" i="1">
                            <a:solidFill>
                              <a:srgbClr val="495A66"/>
                            </a:solidFill>
                            <a:latin typeface="Cambria Math" panose="02040503050406030204" pitchFamily="18" charset="0"/>
                            <a:ea typeface="Cambria Math" panose="02040503050406030204" pitchFamily="18" charset="0"/>
                          </a:rPr>
                          <m:t>2</m:t>
                        </m:r>
                      </m:sup>
                    </m:sSup>
                    <m:r>
                      <a:rPr lang="it-IT" sz="2000" i="1">
                        <a:solidFill>
                          <a:srgbClr val="495A66"/>
                        </a:solidFill>
                        <a:latin typeface="Cambria Math" panose="02040503050406030204" pitchFamily="18" charset="0"/>
                        <a:ea typeface="Cambria Math" panose="02040503050406030204" pitchFamily="18" charset="0"/>
                      </a:rPr>
                      <m:t>−</m:t>
                    </m:r>
                    <m:r>
                      <a:rPr lang="it-IT" sz="2000" i="1">
                        <a:solidFill>
                          <a:srgbClr val="495A66"/>
                        </a:solidFill>
                        <a:latin typeface="Cambria Math" panose="02040503050406030204" pitchFamily="18" charset="0"/>
                        <a:ea typeface="Cambria Math" panose="02040503050406030204" pitchFamily="18" charset="0"/>
                      </a:rPr>
                      <m:t>𝜇</m:t>
                    </m:r>
                    <m:sSup>
                      <m:sSupPr>
                        <m:ctrlPr>
                          <a:rPr lang="it-IT" sz="2000" i="1">
                            <a:solidFill>
                              <a:srgbClr val="495A66"/>
                            </a:solidFill>
                            <a:latin typeface="Cambria Math" panose="02040503050406030204" pitchFamily="18" charset="0"/>
                            <a:ea typeface="Cambria Math" panose="02040503050406030204" pitchFamily="18" charset="0"/>
                          </a:rPr>
                        </m:ctrlPr>
                      </m:sSupPr>
                      <m:e>
                        <m:d>
                          <m:dPr>
                            <m:ctrlPr>
                              <a:rPr lang="it-IT" sz="2000" i="1">
                                <a:solidFill>
                                  <a:srgbClr val="495A66"/>
                                </a:solidFill>
                                <a:latin typeface="Cambria Math" panose="02040503050406030204" pitchFamily="18" charset="0"/>
                                <a:ea typeface="Cambria Math" panose="02040503050406030204" pitchFamily="18" charset="0"/>
                              </a:rPr>
                            </m:ctrlPr>
                          </m:dPr>
                          <m:e>
                            <m:f>
                              <m:fPr>
                                <m:ctrlPr>
                                  <a:rPr lang="it-IT" sz="2000" i="1">
                                    <a:solidFill>
                                      <a:srgbClr val="495A66"/>
                                    </a:solidFill>
                                    <a:latin typeface="Cambria Math" panose="02040503050406030204" pitchFamily="18" charset="0"/>
                                    <a:ea typeface="Cambria Math" panose="02040503050406030204" pitchFamily="18" charset="0"/>
                                  </a:rPr>
                                </m:ctrlPr>
                              </m:fPr>
                              <m:num>
                                <m:r>
                                  <a:rPr lang="it-IT" sz="2000" i="1">
                                    <a:solidFill>
                                      <a:srgbClr val="495A66"/>
                                    </a:solidFill>
                                    <a:latin typeface="Cambria Math" panose="02040503050406030204" pitchFamily="18" charset="0"/>
                                    <a:ea typeface="Cambria Math" panose="02040503050406030204" pitchFamily="18" charset="0"/>
                                  </a:rPr>
                                  <m:t>∆</m:t>
                                </m:r>
                                <m:r>
                                  <a:rPr lang="it-IT" sz="2000" i="1">
                                    <a:solidFill>
                                      <a:srgbClr val="495A66"/>
                                    </a:solidFill>
                                    <a:latin typeface="Cambria Math" panose="02040503050406030204" pitchFamily="18" charset="0"/>
                                    <a:ea typeface="Cambria Math" panose="02040503050406030204" pitchFamily="18" charset="0"/>
                                  </a:rPr>
                                  <m:t>𝑉</m:t>
                                </m:r>
                                <m:r>
                                  <a:rPr lang="it-IT" sz="2000" i="1">
                                    <a:solidFill>
                                      <a:srgbClr val="495A66"/>
                                    </a:solidFill>
                                    <a:latin typeface="Cambria Math" panose="02040503050406030204" pitchFamily="18" charset="0"/>
                                    <a:ea typeface="Cambria Math" panose="02040503050406030204" pitchFamily="18" charset="0"/>
                                  </a:rPr>
                                  <m:t>−</m:t>
                                </m:r>
                                <m:sSub>
                                  <m:sSubPr>
                                    <m:ctrlPr>
                                      <a:rPr lang="it-IT" sz="2000" i="1">
                                        <a:solidFill>
                                          <a:srgbClr val="495A66"/>
                                        </a:solidFill>
                                        <a:latin typeface="Cambria Math" panose="02040503050406030204" pitchFamily="18" charset="0"/>
                                        <a:ea typeface="Cambria Math" panose="02040503050406030204" pitchFamily="18" charset="0"/>
                                      </a:rPr>
                                    </m:ctrlPr>
                                  </m:sSubPr>
                                  <m:e>
                                    <m:r>
                                      <a:rPr lang="it-IT" sz="2000" i="1">
                                        <a:solidFill>
                                          <a:srgbClr val="495A66"/>
                                        </a:solidFill>
                                        <a:latin typeface="Cambria Math" panose="02040503050406030204" pitchFamily="18" charset="0"/>
                                        <a:ea typeface="Cambria Math" panose="02040503050406030204" pitchFamily="18" charset="0"/>
                                      </a:rPr>
                                      <m:t>∆</m:t>
                                    </m:r>
                                    <m:r>
                                      <a:rPr lang="it-IT" sz="2000" i="1">
                                        <a:solidFill>
                                          <a:srgbClr val="495A66"/>
                                        </a:solidFill>
                                        <a:latin typeface="Cambria Math" panose="02040503050406030204" pitchFamily="18" charset="0"/>
                                        <a:ea typeface="Cambria Math" panose="02040503050406030204" pitchFamily="18" charset="0"/>
                                      </a:rPr>
                                      <m:t>𝑉</m:t>
                                    </m:r>
                                  </m:e>
                                  <m:sub>
                                    <m:r>
                                      <a:rPr lang="it-IT" sz="2000" i="1">
                                        <a:solidFill>
                                          <a:srgbClr val="495A66"/>
                                        </a:solidFill>
                                        <a:latin typeface="Cambria Math" panose="02040503050406030204" pitchFamily="18" charset="0"/>
                                        <a:ea typeface="Cambria Math" panose="02040503050406030204" pitchFamily="18" charset="0"/>
                                      </a:rPr>
                                      <m:t>𝑝𝑟𝑒𝑣</m:t>
                                    </m:r>
                                  </m:sub>
                                </m:sSub>
                              </m:num>
                              <m:den>
                                <m:sSub>
                                  <m:sSubPr>
                                    <m:ctrlPr>
                                      <a:rPr lang="it-IT" sz="2000" i="1">
                                        <a:solidFill>
                                          <a:srgbClr val="495A66"/>
                                        </a:solidFill>
                                        <a:latin typeface="Cambria Math" panose="02040503050406030204" pitchFamily="18" charset="0"/>
                                        <a:ea typeface="Cambria Math" panose="02040503050406030204" pitchFamily="18" charset="0"/>
                                      </a:rPr>
                                    </m:ctrlPr>
                                  </m:sSubPr>
                                  <m:e>
                                    <m:r>
                                      <a:rPr lang="it-IT" sz="2000" i="1">
                                        <a:solidFill>
                                          <a:srgbClr val="495A66"/>
                                        </a:solidFill>
                                        <a:latin typeface="Cambria Math" panose="02040503050406030204" pitchFamily="18" charset="0"/>
                                        <a:ea typeface="Cambria Math" panose="02040503050406030204" pitchFamily="18" charset="0"/>
                                      </a:rPr>
                                      <m:t>𝑉</m:t>
                                    </m:r>
                                  </m:e>
                                  <m:sub>
                                    <m:r>
                                      <a:rPr lang="it-IT" sz="2000" i="1">
                                        <a:solidFill>
                                          <a:srgbClr val="495A66"/>
                                        </a:solidFill>
                                        <a:latin typeface="Cambria Math" panose="02040503050406030204" pitchFamily="18" charset="0"/>
                                        <a:ea typeface="Cambria Math" panose="02040503050406030204" pitchFamily="18" charset="0"/>
                                      </a:rPr>
                                      <m:t>𝑚𝑎𝑥</m:t>
                                    </m:r>
                                  </m:sub>
                                </m:sSub>
                              </m:den>
                            </m:f>
                          </m:e>
                        </m:d>
                      </m:e>
                      <m:sup>
                        <m:r>
                          <a:rPr lang="it-IT" sz="2000" i="1">
                            <a:solidFill>
                              <a:srgbClr val="495A66"/>
                            </a:solidFill>
                            <a:latin typeface="Cambria Math" panose="02040503050406030204" pitchFamily="18" charset="0"/>
                            <a:ea typeface="Cambria Math" panose="02040503050406030204" pitchFamily="18" charset="0"/>
                          </a:rPr>
                          <m:t>2</m:t>
                        </m:r>
                      </m:sup>
                    </m:sSup>
                  </m:oMath>
                </a14:m>
                <a:endParaRPr lang="en-US" sz="2000" dirty="0">
                  <a:solidFill>
                    <a:srgbClr val="495A66"/>
                  </a:solidFill>
                </a:endParaRPr>
              </a:p>
              <a:p>
                <a:endParaRPr lang="en-US" sz="2000" dirty="0">
                  <a:solidFill>
                    <a:srgbClr val="495A66"/>
                  </a:solidFill>
                </a:endParaRPr>
              </a:p>
              <a:p>
                <a:r>
                  <a:rPr lang="en-GB" sz="1600" dirty="0">
                    <a:solidFill>
                      <a:srgbClr val="495A66"/>
                    </a:solidFill>
                  </a:rPr>
                  <a:t>It is computed at every policy step (every 10 </a:t>
                </a:r>
                <a:r>
                  <a:rPr lang="en-GB" sz="1600" dirty="0" err="1">
                    <a:solidFill>
                      <a:srgbClr val="495A66"/>
                    </a:solidFill>
                  </a:rPr>
                  <a:t>ms</a:t>
                </a:r>
                <a:r>
                  <a:rPr lang="en-GB" sz="1600" dirty="0">
                    <a:solidFill>
                      <a:srgbClr val="495A66"/>
                    </a:solidFill>
                  </a:rPr>
                  <a:t>) and has three terms: </a:t>
                </a:r>
                <a:endParaRPr lang="it-IT" sz="1600" i="1" dirty="0"/>
              </a:p>
              <a:p>
                <a:pPr algn="ctr"/>
                <a:endParaRPr lang="en-US" sz="2000" dirty="0">
                  <a:solidFill>
                    <a:srgbClr val="495A66"/>
                  </a:solidFill>
                </a:endParaRPr>
              </a:p>
            </p:txBody>
          </p:sp>
        </mc:Choice>
        <mc:Fallback>
          <p:sp>
            <p:nvSpPr>
              <p:cNvPr id="7" name="TextBox 6">
                <a:extLst>
                  <a:ext uri="{FF2B5EF4-FFF2-40B4-BE49-F238E27FC236}">
                    <a16:creationId xmlns:a16="http://schemas.microsoft.com/office/drawing/2014/main" id="{63BAFD13-364B-524D-317F-58F9B918BECE}"/>
                  </a:ext>
                </a:extLst>
              </p:cNvPr>
              <p:cNvSpPr txBox="1">
                <a:spLocks noRot="1" noChangeAspect="1" noMove="1" noResize="1" noEditPoints="1" noAdjustHandles="1" noChangeArrowheads="1" noChangeShapeType="1" noTextEdit="1"/>
              </p:cNvSpPr>
              <p:nvPr/>
            </p:nvSpPr>
            <p:spPr>
              <a:xfrm>
                <a:off x="777236" y="1473803"/>
                <a:ext cx="10698483" cy="2077941"/>
              </a:xfrm>
              <a:prstGeom prst="rect">
                <a:avLst/>
              </a:prstGeom>
              <a:blipFill>
                <a:blip r:embed="rId2"/>
                <a:stretch>
                  <a:fillRect l="-237" t="-1220"/>
                </a:stretch>
              </a:blipFill>
            </p:spPr>
            <p:txBody>
              <a:bodyPr/>
              <a:lstStyle/>
              <a:p>
                <a:r>
                  <a:rPr lang="en-US">
                    <a:noFill/>
                  </a:rPr>
                  <a:t> </a:t>
                </a:r>
              </a:p>
            </p:txBody>
          </p:sp>
        </mc:Fallback>
      </mc:AlternateContent>
      <p:sp>
        <p:nvSpPr>
          <p:cNvPr id="11" name="Rounded Rectangle 10">
            <a:extLst>
              <a:ext uri="{FF2B5EF4-FFF2-40B4-BE49-F238E27FC236}">
                <a16:creationId xmlns:a16="http://schemas.microsoft.com/office/drawing/2014/main" id="{F501319B-C89E-D82A-2CA6-E7A07DAE0265}"/>
              </a:ext>
            </a:extLst>
          </p:cNvPr>
          <p:cNvSpPr/>
          <p:nvPr/>
        </p:nvSpPr>
        <p:spPr>
          <a:xfrm>
            <a:off x="868679" y="3370371"/>
            <a:ext cx="3375661" cy="1579086"/>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 name="Rectangle 11">
            <a:extLst>
              <a:ext uri="{FF2B5EF4-FFF2-40B4-BE49-F238E27FC236}">
                <a16:creationId xmlns:a16="http://schemas.microsoft.com/office/drawing/2014/main" id="{BC2C0842-4FAC-D44B-77E8-2D09FA8FBE91}"/>
              </a:ext>
            </a:extLst>
          </p:cNvPr>
          <p:cNvSpPr/>
          <p:nvPr/>
        </p:nvSpPr>
        <p:spPr>
          <a:xfrm>
            <a:off x="861060" y="3370371"/>
            <a:ext cx="45719" cy="157908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3B15E7E-4898-2E80-008E-6F469C91D3B1}"/>
                  </a:ext>
                </a:extLst>
              </p:cNvPr>
              <p:cNvSpPr txBox="1"/>
              <p:nvPr/>
            </p:nvSpPr>
            <p:spPr>
              <a:xfrm>
                <a:off x="1069847" y="3534962"/>
                <a:ext cx="3017520" cy="1146019"/>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noProof="1">
                    <a:solidFill>
                      <a:srgbClr val="2A9D8F"/>
                    </a:solidFill>
                    <a:latin typeface="Consolas"/>
                  </a:rPr>
                  <a:t>First </a:t>
                </a:r>
                <a:endParaRPr lang="en-US" sz="1000" b="0" noProof="1">
                  <a:solidFill>
                    <a:srgbClr val="2A9D8F"/>
                  </a:solidFill>
                  <a:latin typeface="Consolas"/>
                </a:endParaRPr>
              </a:p>
              <a:p>
                <a:pPr algn="l">
                  <a:lnSpc>
                    <a:spcPct val="100000"/>
                  </a:lnSpc>
                  <a:spcBef>
                    <a:spcPts val="0"/>
                  </a:spcBef>
                  <a:spcAft>
                    <a:spcPts val="600"/>
                  </a:spcAft>
                </a:pPr>
                <a:r>
                  <a:rPr lang="en-US" sz="1600" b="1" noProof="1">
                    <a:solidFill>
                      <a:srgbClr val="1D3557"/>
                    </a:solidFill>
                    <a:latin typeface="Georgia"/>
                  </a:rPr>
                  <a:t>Tracking Term</a:t>
                </a:r>
              </a:p>
              <a:p>
                <a:pPr>
                  <a:lnSpc>
                    <a:spcPct val="110000"/>
                  </a:lnSpc>
                  <a:spcAft>
                    <a:spcPts val="600"/>
                  </a:spcAft>
                </a:pPr>
                <a:r>
                  <a:rPr lang="en-GB" sz="1200" dirty="0">
                    <a:solidFill>
                      <a:srgbClr val="495A66"/>
                    </a:solidFill>
                  </a:rPr>
                  <a:t>It penalises the </a:t>
                </a:r>
                <a:r>
                  <a:rPr lang="en-GB" sz="1200" b="1" dirty="0">
                    <a:solidFill>
                      <a:srgbClr val="495A66"/>
                    </a:solidFill>
                  </a:rPr>
                  <a:t>mean absolute speed error </a:t>
                </a:r>
                <a:r>
                  <a:rPr lang="en-GB" sz="1200" dirty="0">
                    <a:solidFill>
                      <a:srgbClr val="495A66"/>
                    </a:solidFill>
                  </a:rPr>
                  <a:t>averaged over the ten </a:t>
                </a:r>
                <a14:m>
                  <m:oMath xmlns:m="http://schemas.openxmlformats.org/officeDocument/2006/math">
                    <m:r>
                      <a:rPr lang="it-IT" sz="1200" b="0" i="1" smtClean="0">
                        <a:solidFill>
                          <a:srgbClr val="495A66"/>
                        </a:solidFill>
                        <a:latin typeface="Cambria Math" panose="02040503050406030204" pitchFamily="18" charset="0"/>
                      </a:rPr>
                      <m:t>1 </m:t>
                    </m:r>
                    <m:r>
                      <a:rPr lang="it-IT" sz="1200" b="0" i="1" smtClean="0">
                        <a:solidFill>
                          <a:srgbClr val="495A66"/>
                        </a:solidFill>
                        <a:latin typeface="Cambria Math" panose="02040503050406030204" pitchFamily="18" charset="0"/>
                      </a:rPr>
                      <m:t>𝑚𝑠</m:t>
                    </m:r>
                  </m:oMath>
                </a14:m>
                <a:r>
                  <a:rPr lang="en-GB" sz="1200" dirty="0">
                    <a:solidFill>
                      <a:srgbClr val="495A66"/>
                    </a:solidFill>
                  </a:rPr>
                  <a:t> sub-steps between policy updates.</a:t>
                </a:r>
                <a:endParaRPr lang="en-US" sz="1200" b="0" noProof="1">
                  <a:solidFill>
                    <a:srgbClr val="495A66"/>
                  </a:solidFill>
                  <a:latin typeface="Calibri"/>
                </a:endParaRPr>
              </a:p>
            </p:txBody>
          </p:sp>
        </mc:Choice>
        <mc:Fallback xmlns="">
          <p:sp>
            <p:nvSpPr>
              <p:cNvPr id="13" name="TextBox 12">
                <a:extLst>
                  <a:ext uri="{FF2B5EF4-FFF2-40B4-BE49-F238E27FC236}">
                    <a16:creationId xmlns:a16="http://schemas.microsoft.com/office/drawing/2014/main" id="{93B15E7E-4898-2E80-008E-6F469C91D3B1}"/>
                  </a:ext>
                </a:extLst>
              </p:cNvPr>
              <p:cNvSpPr txBox="1">
                <a:spLocks noRot="1" noChangeAspect="1" noMove="1" noResize="1" noEditPoints="1" noAdjustHandles="1" noChangeArrowheads="1" noChangeShapeType="1" noTextEdit="1"/>
              </p:cNvSpPr>
              <p:nvPr/>
            </p:nvSpPr>
            <p:spPr>
              <a:xfrm>
                <a:off x="1069847" y="3534962"/>
                <a:ext cx="3017520" cy="1146019"/>
              </a:xfrm>
              <a:prstGeom prst="rect">
                <a:avLst/>
              </a:prstGeom>
              <a:blipFill>
                <a:blip r:embed="rId3"/>
                <a:stretch>
                  <a:fillRect l="-4202" t="-2198" r="-840" b="-6593"/>
                </a:stretch>
              </a:blipFill>
            </p:spPr>
            <p:txBody>
              <a:bodyPr/>
              <a:lstStyle/>
              <a:p>
                <a:r>
                  <a:rPr lang="en-US">
                    <a:noFill/>
                  </a:rPr>
                  <a:t> </a:t>
                </a:r>
              </a:p>
            </p:txBody>
          </p:sp>
        </mc:Fallback>
      </mc:AlternateContent>
      <p:sp>
        <p:nvSpPr>
          <p:cNvPr id="14" name="Rounded Rectangle 13">
            <a:extLst>
              <a:ext uri="{FF2B5EF4-FFF2-40B4-BE49-F238E27FC236}">
                <a16:creationId xmlns:a16="http://schemas.microsoft.com/office/drawing/2014/main" id="{C3E994A2-99BD-FBCF-BF51-1A329B55EE7F}"/>
              </a:ext>
            </a:extLst>
          </p:cNvPr>
          <p:cNvSpPr/>
          <p:nvPr/>
        </p:nvSpPr>
        <p:spPr>
          <a:xfrm>
            <a:off x="4480559" y="3370371"/>
            <a:ext cx="3383280" cy="1579086"/>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5" name="Rectangle 14">
            <a:extLst>
              <a:ext uri="{FF2B5EF4-FFF2-40B4-BE49-F238E27FC236}">
                <a16:creationId xmlns:a16="http://schemas.microsoft.com/office/drawing/2014/main" id="{E0826F04-4F29-1AE2-6E53-B607CE108606}"/>
              </a:ext>
            </a:extLst>
          </p:cNvPr>
          <p:cNvSpPr/>
          <p:nvPr/>
        </p:nvSpPr>
        <p:spPr>
          <a:xfrm>
            <a:off x="4472940" y="3370371"/>
            <a:ext cx="45719" cy="1579086"/>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6" name="TextBox 15">
            <a:extLst>
              <a:ext uri="{FF2B5EF4-FFF2-40B4-BE49-F238E27FC236}">
                <a16:creationId xmlns:a16="http://schemas.microsoft.com/office/drawing/2014/main" id="{9EFD8BA7-D40A-6D07-FC81-80BCEE517578}"/>
              </a:ext>
            </a:extLst>
          </p:cNvPr>
          <p:cNvSpPr txBox="1"/>
          <p:nvPr/>
        </p:nvSpPr>
        <p:spPr>
          <a:xfrm>
            <a:off x="4681727" y="3534962"/>
            <a:ext cx="3017520" cy="1146019"/>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noProof="1">
                <a:solidFill>
                  <a:srgbClr val="1D3557"/>
                </a:solidFill>
                <a:latin typeface="Consolas"/>
              </a:rPr>
              <a:t>Second</a:t>
            </a:r>
            <a:endParaRPr lang="en-US" sz="1000" b="0" noProof="1">
              <a:solidFill>
                <a:srgbClr val="1D3557"/>
              </a:solidFill>
              <a:latin typeface="Consolas"/>
            </a:endParaRPr>
          </a:p>
          <a:p>
            <a:pPr algn="l">
              <a:lnSpc>
                <a:spcPct val="100000"/>
              </a:lnSpc>
              <a:spcBef>
                <a:spcPts val="0"/>
              </a:spcBef>
              <a:spcAft>
                <a:spcPts val="600"/>
              </a:spcAft>
            </a:pPr>
            <a:r>
              <a:rPr lang="en-US" sz="1600" b="1" noProof="1">
                <a:solidFill>
                  <a:srgbClr val="1D3557"/>
                </a:solidFill>
                <a:latin typeface="Georgia"/>
              </a:rPr>
              <a:t>Effort term</a:t>
            </a:r>
          </a:p>
          <a:p>
            <a:pPr>
              <a:lnSpc>
                <a:spcPct val="110000"/>
              </a:lnSpc>
              <a:spcAft>
                <a:spcPts val="600"/>
              </a:spcAft>
            </a:pPr>
            <a:r>
              <a:rPr lang="en-US" sz="1200" noProof="1">
                <a:solidFill>
                  <a:srgbClr val="495A66"/>
                </a:solidFill>
              </a:rPr>
              <a:t>It </a:t>
            </a:r>
            <a:r>
              <a:rPr lang="en-GB" sz="1200" dirty="0">
                <a:solidFill>
                  <a:srgbClr val="495A66"/>
                </a:solidFill>
              </a:rPr>
              <a:t>penalises </a:t>
            </a:r>
            <a:r>
              <a:rPr lang="en-GB" sz="1200" b="1" dirty="0">
                <a:solidFill>
                  <a:srgbClr val="495A66"/>
                </a:solidFill>
              </a:rPr>
              <a:t>large residuals</a:t>
            </a:r>
            <a:r>
              <a:rPr lang="en-GB" sz="1200" dirty="0">
                <a:solidFill>
                  <a:srgbClr val="495A66"/>
                </a:solidFill>
              </a:rPr>
              <a:t>, keeping the PI in charge and preventing the policy from issuing unnecessary corrections. </a:t>
            </a:r>
            <a:endParaRPr lang="en-US" sz="1200" b="0" noProof="1">
              <a:solidFill>
                <a:srgbClr val="495A66"/>
              </a:solidFill>
            </a:endParaRPr>
          </a:p>
        </p:txBody>
      </p:sp>
      <p:sp>
        <p:nvSpPr>
          <p:cNvPr id="17" name="Rounded Rectangle 16">
            <a:extLst>
              <a:ext uri="{FF2B5EF4-FFF2-40B4-BE49-F238E27FC236}">
                <a16:creationId xmlns:a16="http://schemas.microsoft.com/office/drawing/2014/main" id="{824041C3-B84D-FC54-841D-55D1F79FEE9D}"/>
              </a:ext>
            </a:extLst>
          </p:cNvPr>
          <p:cNvSpPr/>
          <p:nvPr/>
        </p:nvSpPr>
        <p:spPr>
          <a:xfrm>
            <a:off x="8092439" y="3370371"/>
            <a:ext cx="3383280" cy="1579086"/>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8" name="Rectangle 17">
            <a:extLst>
              <a:ext uri="{FF2B5EF4-FFF2-40B4-BE49-F238E27FC236}">
                <a16:creationId xmlns:a16="http://schemas.microsoft.com/office/drawing/2014/main" id="{BCB77D00-905A-0015-7403-7901C2C06D1A}"/>
              </a:ext>
            </a:extLst>
          </p:cNvPr>
          <p:cNvSpPr/>
          <p:nvPr/>
        </p:nvSpPr>
        <p:spPr>
          <a:xfrm>
            <a:off x="8084820" y="3370370"/>
            <a:ext cx="45719" cy="1579087"/>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9" name="TextBox 18">
            <a:extLst>
              <a:ext uri="{FF2B5EF4-FFF2-40B4-BE49-F238E27FC236}">
                <a16:creationId xmlns:a16="http://schemas.microsoft.com/office/drawing/2014/main" id="{165866C3-7DDB-431A-5F93-12C25120292A}"/>
              </a:ext>
            </a:extLst>
          </p:cNvPr>
          <p:cNvSpPr txBox="1"/>
          <p:nvPr/>
        </p:nvSpPr>
        <p:spPr>
          <a:xfrm>
            <a:off x="8293607" y="3534962"/>
            <a:ext cx="3017520" cy="1285480"/>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b="0" noProof="1">
                <a:solidFill>
                  <a:srgbClr val="E07A5F"/>
                </a:solidFill>
                <a:latin typeface="Consolas"/>
              </a:rPr>
              <a:t>Third</a:t>
            </a:r>
          </a:p>
          <a:p>
            <a:pPr algn="l">
              <a:lnSpc>
                <a:spcPct val="100000"/>
              </a:lnSpc>
              <a:spcBef>
                <a:spcPts val="0"/>
              </a:spcBef>
              <a:spcAft>
                <a:spcPts val="600"/>
              </a:spcAft>
            </a:pPr>
            <a:r>
              <a:rPr lang="en-US" sz="1600" b="1" noProof="1">
                <a:solidFill>
                  <a:srgbClr val="1D3557"/>
                </a:solidFill>
                <a:latin typeface="Georgia"/>
              </a:rPr>
              <a:t>Rate Term </a:t>
            </a:r>
          </a:p>
          <a:p>
            <a:pPr algn="l">
              <a:lnSpc>
                <a:spcPct val="100000"/>
              </a:lnSpc>
              <a:spcBef>
                <a:spcPts val="0"/>
              </a:spcBef>
              <a:spcAft>
                <a:spcPts val="600"/>
              </a:spcAft>
            </a:pPr>
            <a:r>
              <a:rPr lang="en-US" sz="1200" noProof="1">
                <a:solidFill>
                  <a:srgbClr val="495A66"/>
                </a:solidFill>
              </a:rPr>
              <a:t>It </a:t>
            </a:r>
            <a:r>
              <a:rPr lang="en-GB" sz="1200" dirty="0">
                <a:solidFill>
                  <a:srgbClr val="495A66"/>
                </a:solidFill>
              </a:rPr>
              <a:t>penalises how much the </a:t>
            </a:r>
            <a:r>
              <a:rPr lang="en-GB" sz="1200" b="1" dirty="0">
                <a:solidFill>
                  <a:srgbClr val="495A66"/>
                </a:solidFill>
              </a:rPr>
              <a:t>correction changes </a:t>
            </a:r>
            <a:r>
              <a:rPr lang="en-GB" sz="1200" dirty="0">
                <a:solidFill>
                  <a:srgbClr val="495A66"/>
                </a:solidFill>
              </a:rPr>
              <a:t>between consecutive updates, suppressing chattering and producing a smoother voltage profile.</a:t>
            </a:r>
            <a:endParaRPr lang="en-US" sz="1200" noProof="1">
              <a:solidFill>
                <a:srgbClr val="495A66"/>
              </a:solidFill>
            </a:endParaRPr>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B0552368-C3C9-90AE-BE59-C47E494A8508}"/>
                  </a:ext>
                </a:extLst>
              </p:cNvPr>
              <p:cNvSpPr txBox="1"/>
              <p:nvPr/>
            </p:nvSpPr>
            <p:spPr>
              <a:xfrm>
                <a:off x="855980" y="4852953"/>
                <a:ext cx="10619739" cy="1815882"/>
              </a:xfrm>
              <a:prstGeom prst="rect">
                <a:avLst/>
              </a:prstGeom>
              <a:noFill/>
            </p:spPr>
            <p:txBody>
              <a:bodyPr wrap="square">
                <a:spAutoFit/>
              </a:bodyPr>
              <a:lstStyle/>
              <a:p>
                <a:pPr>
                  <a:buNone/>
                </a:pPr>
                <a:br>
                  <a:rPr lang="en-GB" sz="1600" dirty="0">
                    <a:solidFill>
                      <a:srgbClr val="495A66"/>
                    </a:solidFill>
                  </a:rPr>
                </a:br>
                <a:r>
                  <a:rPr lang="en-GB" sz="1600" dirty="0">
                    <a:solidFill>
                      <a:srgbClr val="495A66"/>
                    </a:solidFill>
                  </a:rPr>
                  <a:t>We use the absolute value (L1) rather than the squared error (L2) because L1 weights small persistent errors more uniformly and is less sensitive to large transient spikes, on this problem it reduced the trajectory RMSE from 0.172 to 0.081 rad/s compared to L2. </a:t>
                </a:r>
              </a:p>
              <a:p>
                <a:pPr>
                  <a:buNone/>
                </a:pPr>
                <a:endParaRPr lang="en-GB" sz="1600" dirty="0">
                  <a:solidFill>
                    <a:srgbClr val="495A66"/>
                  </a:solidFill>
                </a:endParaRPr>
              </a:p>
              <a:p>
                <a:pPr>
                  <a:buNone/>
                </a:pPr>
                <a:r>
                  <a:rPr lang="en-GB" sz="1600" dirty="0">
                    <a:solidFill>
                      <a:srgbClr val="495A66"/>
                    </a:solidFill>
                  </a:rPr>
                  <a:t>The weights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𝜆</m:t>
                    </m:r>
                    <m:r>
                      <a:rPr lang="it-IT" sz="1600" b="0" i="1" smtClean="0">
                        <a:solidFill>
                          <a:srgbClr val="495A66"/>
                        </a:solidFill>
                        <a:latin typeface="Cambria Math" panose="02040503050406030204" pitchFamily="18" charset="0"/>
                        <a:ea typeface="Cambria Math" panose="02040503050406030204" pitchFamily="18" charset="0"/>
                      </a:rPr>
                      <m:t>=0.01</m:t>
                    </m:r>
                  </m:oMath>
                </a14:m>
                <a:r>
                  <a:rPr lang="en-GB" sz="1600" dirty="0">
                    <a:solidFill>
                      <a:srgbClr val="495A66"/>
                    </a:solidFill>
                  </a:rPr>
                  <a:t> and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𝜇</m:t>
                    </m:r>
                    <m:r>
                      <a:rPr lang="it-IT" sz="1600" b="0" i="1" smtClean="0">
                        <a:solidFill>
                          <a:srgbClr val="495A66"/>
                        </a:solidFill>
                        <a:latin typeface="Cambria Math" panose="02040503050406030204" pitchFamily="18" charset="0"/>
                        <a:ea typeface="Cambria Math" panose="02040503050406030204" pitchFamily="18" charset="0"/>
                      </a:rPr>
                      <m:t>=0.05</m:t>
                    </m:r>
                  </m:oMath>
                </a14:m>
                <a:r>
                  <a:rPr lang="en-GB" sz="1600" dirty="0">
                    <a:solidFill>
                      <a:srgbClr val="495A66"/>
                    </a:solidFill>
                  </a:rPr>
                  <a:t> are roughly 100 times  smaller than the tracking term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𝛼</m:t>
                    </m:r>
                    <m:r>
                      <a:rPr lang="it-IT" sz="1600" b="0" i="1" smtClean="0">
                        <a:solidFill>
                          <a:srgbClr val="495A66"/>
                        </a:solidFill>
                        <a:latin typeface="Cambria Math" panose="02040503050406030204" pitchFamily="18" charset="0"/>
                        <a:ea typeface="Cambria Math" panose="02040503050406030204" pitchFamily="18" charset="0"/>
                      </a:rPr>
                      <m:t>=1</m:t>
                    </m:r>
                  </m:oMath>
                </a14:m>
                <a:r>
                  <a:rPr lang="en-GB" sz="1600" dirty="0">
                    <a:solidFill>
                      <a:srgbClr val="495A66"/>
                    </a:solidFill>
                  </a:rPr>
                  <a:t>), they shape the action without ever competing with the primary objective.</a:t>
                </a:r>
              </a:p>
            </p:txBody>
          </p:sp>
        </mc:Choice>
        <mc:Fallback>
          <p:sp>
            <p:nvSpPr>
              <p:cNvPr id="21" name="TextBox 20">
                <a:extLst>
                  <a:ext uri="{FF2B5EF4-FFF2-40B4-BE49-F238E27FC236}">
                    <a16:creationId xmlns:a16="http://schemas.microsoft.com/office/drawing/2014/main" id="{B0552368-C3C9-90AE-BE59-C47E494A8508}"/>
                  </a:ext>
                </a:extLst>
              </p:cNvPr>
              <p:cNvSpPr txBox="1">
                <a:spLocks noRot="1" noChangeAspect="1" noMove="1" noResize="1" noEditPoints="1" noAdjustHandles="1" noChangeArrowheads="1" noChangeShapeType="1" noTextEdit="1"/>
              </p:cNvSpPr>
              <p:nvPr/>
            </p:nvSpPr>
            <p:spPr>
              <a:xfrm>
                <a:off x="855980" y="4852953"/>
                <a:ext cx="10619739" cy="1815882"/>
              </a:xfrm>
              <a:prstGeom prst="rect">
                <a:avLst/>
              </a:prstGeom>
              <a:blipFill>
                <a:blip r:embed="rId4"/>
                <a:stretch>
                  <a:fillRect l="-358" b="-2778"/>
                </a:stretch>
              </a:blipFill>
            </p:spPr>
            <p:txBody>
              <a:bodyPr/>
              <a:lstStyle/>
              <a:p>
                <a:r>
                  <a:rPr 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F4FFA389-A60B-A39E-1A07-5948978E267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ACC4318-C7D5-4F61-4085-0DE5B2E61941}"/>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B9FA3952-CE1E-DE83-169E-AF83326454DF}"/>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4573BF4F-204C-105F-23A3-A2262D0BEFE4}"/>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B4  </a:t>
            </a:r>
            <a:r>
              <a:rPr lang="en-US" sz="1100" noProof="1">
                <a:solidFill>
                  <a:srgbClr val="2A9D8F"/>
                </a:solidFill>
                <a:latin typeface="Consolas"/>
              </a:rPr>
              <a:t>RESIDUAL REINFORCEMENT LEARNING - Training</a:t>
            </a:r>
          </a:p>
        </p:txBody>
      </p:sp>
      <p:sp>
        <p:nvSpPr>
          <p:cNvPr id="6" name="TextBox 5">
            <a:extLst>
              <a:ext uri="{FF2B5EF4-FFF2-40B4-BE49-F238E27FC236}">
                <a16:creationId xmlns:a16="http://schemas.microsoft.com/office/drawing/2014/main" id="{6CFA2317-52BE-3D6D-BCBF-AD26B050CB61}"/>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Training &amp; Test set</a:t>
            </a:r>
          </a:p>
        </p:txBody>
      </p:sp>
      <p:sp>
        <p:nvSpPr>
          <p:cNvPr id="5" name="TextBox 4">
            <a:extLst>
              <a:ext uri="{FF2B5EF4-FFF2-40B4-BE49-F238E27FC236}">
                <a16:creationId xmlns:a16="http://schemas.microsoft.com/office/drawing/2014/main" id="{DAA8DDED-40E3-183F-5CAB-B81DD289380A}"/>
              </a:ext>
            </a:extLst>
          </p:cNvPr>
          <p:cNvSpPr txBox="1"/>
          <p:nvPr/>
        </p:nvSpPr>
        <p:spPr>
          <a:xfrm>
            <a:off x="792675" y="1372925"/>
            <a:ext cx="10832397" cy="861774"/>
          </a:xfrm>
          <a:prstGeom prst="rect">
            <a:avLst/>
          </a:prstGeom>
          <a:noFill/>
        </p:spPr>
        <p:txBody>
          <a:bodyPr wrap="square" rtlCol="0">
            <a:spAutoFit/>
          </a:bodyPr>
          <a:lstStyle/>
          <a:p>
            <a:r>
              <a:rPr lang="en-GB" sz="1600" dirty="0">
                <a:solidFill>
                  <a:srgbClr val="495A66"/>
                </a:solidFill>
              </a:rPr>
              <a:t>Unlike supervised learning, there is no fixed dataset collected in advance. The policy trains </a:t>
            </a:r>
            <a:r>
              <a:rPr lang="en-GB" sz="1600" i="1" dirty="0">
                <a:solidFill>
                  <a:srgbClr val="495A66"/>
                </a:solidFill>
              </a:rPr>
              <a:t>online</a:t>
            </a:r>
            <a:r>
              <a:rPr lang="en-GB" sz="1600" dirty="0">
                <a:solidFill>
                  <a:srgbClr val="495A66"/>
                </a:solidFill>
              </a:rPr>
              <a:t>: at every step it interacts with the simulated motor, receives a </a:t>
            </a:r>
            <a:r>
              <a:rPr lang="en-GB" sz="1600" b="1" dirty="0">
                <a:solidFill>
                  <a:srgbClr val="495A66"/>
                </a:solidFill>
              </a:rPr>
              <a:t>reward</a:t>
            </a:r>
            <a:r>
              <a:rPr lang="en-GB" sz="1600" dirty="0">
                <a:solidFill>
                  <a:srgbClr val="495A66"/>
                </a:solidFill>
              </a:rPr>
              <a:t>, and updates its weights. The "dataset" is the distribution of speed references the environment samples during training</a:t>
            </a:r>
            <a:r>
              <a:rPr lang="en-GB" dirty="0"/>
              <a:t>.</a:t>
            </a: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7C6CF20-6D49-AC6E-EC45-097B582FCF4B}"/>
                  </a:ext>
                </a:extLst>
              </p:cNvPr>
              <p:cNvSpPr txBox="1"/>
              <p:nvPr/>
            </p:nvSpPr>
            <p:spPr>
              <a:xfrm>
                <a:off x="792675" y="2413337"/>
                <a:ext cx="10683045" cy="3816429"/>
              </a:xfrm>
              <a:prstGeom prst="rect">
                <a:avLst/>
              </a:prstGeom>
              <a:noFill/>
            </p:spPr>
            <p:txBody>
              <a:bodyPr wrap="square" rtlCol="0">
                <a:spAutoFit/>
              </a:bodyPr>
              <a:lstStyle/>
              <a:p>
                <a:r>
                  <a:rPr lang="en-GB" sz="1600" b="1" dirty="0">
                    <a:solidFill>
                      <a:srgbClr val="495A66"/>
                    </a:solidFill>
                  </a:rPr>
                  <a:t>Training set</a:t>
                </a:r>
                <a:r>
                  <a:rPr lang="en-GB" sz="1600" dirty="0">
                    <a:solidFill>
                      <a:srgbClr val="495A66"/>
                    </a:solidFill>
                  </a:rPr>
                  <a:t> (12 references, fixed seed)</a:t>
                </a:r>
              </a:p>
              <a:p>
                <a:r>
                  <a:rPr lang="en-GB" sz="1600" dirty="0">
                    <a:solidFill>
                      <a:srgbClr val="495A66"/>
                    </a:solidFill>
                  </a:rPr>
                  <a:t>To evaluate the trained policy on in-distribution references we freeze a set of 12 profiles sampled from the same distribution used during training. Each profile is one of three types drawn at random:</a:t>
                </a:r>
              </a:p>
              <a:p>
                <a:r>
                  <a:rPr lang="en-US" sz="1600" b="1" noProof="1">
                    <a:solidFill>
                      <a:srgbClr val="1D3557"/>
                    </a:solidFill>
                  </a:rPr>
                  <a:t>— </a:t>
                </a:r>
                <a:r>
                  <a:rPr lang="en-GB" sz="1600" dirty="0">
                    <a:solidFill>
                      <a:srgbClr val="495A66"/>
                    </a:solidFill>
                  </a:rPr>
                  <a:t>Constant, a fixed target speed held for the full 5 s episode;</a:t>
                </a:r>
              </a:p>
              <a:p>
                <a:r>
                  <a:rPr lang="en-US" sz="1600" b="1" noProof="1">
                    <a:solidFill>
                      <a:srgbClr val="E07A5F"/>
                    </a:solidFill>
                  </a:rPr>
                  <a:t>— </a:t>
                </a:r>
                <a:r>
                  <a:rPr lang="en-GB" sz="1600" dirty="0">
                    <a:solidFill>
                      <a:srgbClr val="495A66"/>
                    </a:solidFill>
                  </a:rPr>
                  <a:t>Quintic ramp, a smooth minimum-jerk transition from one speed to another, with random start time and duration;</a:t>
                </a:r>
              </a:p>
              <a:p>
                <a:r>
                  <a:rPr lang="en-US" sz="1600" b="1" noProof="1">
                    <a:solidFill>
                      <a:srgbClr val="2A9D8F"/>
                    </a:solidFill>
                  </a:rPr>
                  <a:t>— </a:t>
                </a:r>
                <a:r>
                  <a:rPr lang="en-GB" sz="1600" dirty="0">
                    <a:solidFill>
                      <a:srgbClr val="495A66"/>
                    </a:solidFill>
                  </a:rPr>
                  <a:t>Multi-step, 2 to 4 piecewise-constant levels with random edges and amplitudes.</a:t>
                </a:r>
              </a:p>
              <a:p>
                <a:r>
                  <a:rPr lang="en-GB" sz="1600" dirty="0">
                    <a:solidFill>
                      <a:srgbClr val="495A66"/>
                    </a:solidFill>
                  </a:rPr>
                  <a:t>All references are drawn from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𝜔</m:t>
                    </m:r>
                    <m:r>
                      <a:rPr lang="en-GB" sz="1600" i="1" smtClean="0">
                        <a:solidFill>
                          <a:srgbClr val="495A66"/>
                        </a:solidFill>
                        <a:latin typeface="Cambria Math" panose="02040503050406030204" pitchFamily="18" charset="0"/>
                        <a:ea typeface="Cambria Math" panose="02040503050406030204" pitchFamily="18" charset="0"/>
                      </a:rPr>
                      <m:t>∈</m:t>
                    </m:r>
                    <m:d>
                      <m:dPr>
                        <m:begChr m:val="["/>
                        <m:endChr m:val="]"/>
                        <m:ctrlPr>
                          <a:rPr lang="en-GB" sz="1600" i="1" smtClean="0">
                            <a:solidFill>
                              <a:srgbClr val="495A66"/>
                            </a:solidFill>
                            <a:latin typeface="Cambria Math" panose="02040503050406030204" pitchFamily="18" charset="0"/>
                            <a:ea typeface="Cambria Math" panose="02040503050406030204" pitchFamily="18" charset="0"/>
                          </a:rPr>
                        </m:ctrlPr>
                      </m:dPr>
                      <m:e>
                        <m:r>
                          <a:rPr lang="it-IT" sz="1600" b="0" i="1" smtClean="0">
                            <a:solidFill>
                              <a:srgbClr val="495A66"/>
                            </a:solidFill>
                            <a:latin typeface="Cambria Math" panose="02040503050406030204" pitchFamily="18" charset="0"/>
                            <a:ea typeface="Cambria Math" panose="02040503050406030204" pitchFamily="18" charset="0"/>
                          </a:rPr>
                          <m:t>−12, 12</m:t>
                        </m:r>
                      </m:e>
                    </m:d>
                    <m:r>
                      <a:rPr lang="it-IT" sz="1600" b="0" i="1" smtClean="0">
                        <a:solidFill>
                          <a:srgbClr val="495A66"/>
                        </a:solidFill>
                        <a:latin typeface="Cambria Math" panose="02040503050406030204" pitchFamily="18" charset="0"/>
                        <a:ea typeface="Cambria Math" panose="02040503050406030204" pitchFamily="18" charset="0"/>
                      </a:rPr>
                      <m:t> </m:t>
                    </m:r>
                    <m:r>
                      <a:rPr lang="it-IT" sz="1600" b="0" i="1" smtClean="0">
                        <a:solidFill>
                          <a:srgbClr val="495A66"/>
                        </a:solidFill>
                        <a:latin typeface="Cambria Math" panose="02040503050406030204" pitchFamily="18" charset="0"/>
                        <a:ea typeface="Cambria Math" panose="02040503050406030204" pitchFamily="18" charset="0"/>
                      </a:rPr>
                      <m:t>𝑟𝑎𝑑</m:t>
                    </m:r>
                    <m:r>
                      <a:rPr lang="it-IT" sz="1600" b="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𝑠</m:t>
                    </m:r>
                  </m:oMath>
                </a14:m>
                <a:r>
                  <a:rPr lang="en-GB" sz="1600" dirty="0">
                    <a:solidFill>
                      <a:srgbClr val="495A66"/>
                    </a:solidFill>
                  </a:rPr>
                  <a:t>, matching the training range.</a:t>
                </a:r>
              </a:p>
              <a:p>
                <a:endParaRPr lang="en-GB" sz="1600" dirty="0">
                  <a:solidFill>
                    <a:srgbClr val="495A66"/>
                  </a:solidFill>
                </a:endParaRPr>
              </a:p>
              <a:p>
                <a:r>
                  <a:rPr lang="en-GB" sz="1600" b="1" dirty="0">
                    <a:solidFill>
                      <a:srgbClr val="495A66"/>
                    </a:solidFill>
                  </a:rPr>
                  <a:t>Test set </a:t>
                </a:r>
                <a:r>
                  <a:rPr lang="en-GB" sz="1600" dirty="0">
                    <a:solidFill>
                      <a:srgbClr val="495A66"/>
                    </a:solidFill>
                  </a:rPr>
                  <a:t>(7 held-out references, never seen during training)</a:t>
                </a:r>
              </a:p>
              <a:p>
                <a:r>
                  <a:rPr lang="en-GB" sz="1600" dirty="0">
                    <a:solidFill>
                      <a:srgbClr val="495A66"/>
                    </a:solidFill>
                  </a:rPr>
                  <a:t>The test set is designed to probe three failure modes:  constant references at </a:t>
                </a:r>
                <a:r>
                  <a:rPr lang="en-GB" sz="1600" i="1" dirty="0">
                    <a:solidFill>
                      <a:srgbClr val="495A66"/>
                    </a:solidFill>
                  </a:rPr>
                  <a:t>6</a:t>
                </a:r>
                <a:r>
                  <a:rPr lang="en-GB" sz="1600" dirty="0">
                    <a:solidFill>
                      <a:srgbClr val="495A66"/>
                    </a:solidFill>
                  </a:rPr>
                  <a:t>, </a:t>
                </a:r>
                <a:r>
                  <a:rPr lang="en-GB" sz="1600" i="1" dirty="0">
                    <a:solidFill>
                      <a:srgbClr val="495A66"/>
                    </a:solidFill>
                  </a:rPr>
                  <a:t>−5 </a:t>
                </a:r>
                <a:r>
                  <a:rPr lang="en-GB" sz="1600" dirty="0">
                    <a:solidFill>
                      <a:srgbClr val="495A66"/>
                    </a:solidFill>
                  </a:rPr>
                  <a:t>and 12 </a:t>
                </a:r>
                <a14:m>
                  <m:oMath xmlns:m="http://schemas.openxmlformats.org/officeDocument/2006/math">
                    <m:r>
                      <a:rPr lang="it-IT" sz="1600" i="1">
                        <a:solidFill>
                          <a:srgbClr val="495A66"/>
                        </a:solidFill>
                        <a:latin typeface="Cambria Math" panose="02040503050406030204" pitchFamily="18" charset="0"/>
                        <a:ea typeface="Cambria Math" panose="02040503050406030204" pitchFamily="18" charset="0"/>
                      </a:rPr>
                      <m:t>𝑟𝑎𝑑</m:t>
                    </m:r>
                    <m:r>
                      <a:rPr lang="it-IT" sz="1600" i="1">
                        <a:solidFill>
                          <a:srgbClr val="495A66"/>
                        </a:solidFill>
                        <a:latin typeface="Cambria Math" panose="02040503050406030204" pitchFamily="18" charset="0"/>
                        <a:ea typeface="Cambria Math" panose="02040503050406030204" pitchFamily="18" charset="0"/>
                      </a:rPr>
                      <m:t>/</m:t>
                    </m:r>
                    <m:r>
                      <a:rPr lang="it-IT" sz="1600" i="1">
                        <a:solidFill>
                          <a:srgbClr val="495A66"/>
                        </a:solidFill>
                        <a:latin typeface="Cambria Math" panose="02040503050406030204" pitchFamily="18" charset="0"/>
                        <a:ea typeface="Cambria Math" panose="02040503050406030204" pitchFamily="18" charset="0"/>
                      </a:rPr>
                      <m:t>𝑠</m:t>
                    </m:r>
                  </m:oMath>
                </a14:m>
                <a:r>
                  <a:rPr lang="en-GB" sz="1600" i="1" dirty="0">
                    <a:solidFill>
                      <a:srgbClr val="495A66"/>
                    </a:solidFill>
                  </a:rPr>
                  <a:t> </a:t>
                </a:r>
                <a:r>
                  <a:rPr lang="en-GB" sz="1600" dirty="0">
                    <a:solidFill>
                      <a:srgbClr val="495A66"/>
                    </a:solidFill>
                  </a:rPr>
                  <a:t>cover different operating points including negative speeds;  two quintic ramps (2→9 and 0→ -8 </a:t>
                </a:r>
                <a14:m>
                  <m:oMath xmlns:m="http://schemas.openxmlformats.org/officeDocument/2006/math">
                    <m:r>
                      <a:rPr lang="it-IT" sz="1600" i="1">
                        <a:solidFill>
                          <a:srgbClr val="495A66"/>
                        </a:solidFill>
                        <a:latin typeface="Cambria Math" panose="02040503050406030204" pitchFamily="18" charset="0"/>
                        <a:ea typeface="Cambria Math" panose="02040503050406030204" pitchFamily="18" charset="0"/>
                      </a:rPr>
                      <m:t>𝑟𝑎𝑑</m:t>
                    </m:r>
                    <m:r>
                      <a:rPr lang="it-IT" sz="1600" i="1">
                        <a:solidFill>
                          <a:srgbClr val="495A66"/>
                        </a:solidFill>
                        <a:latin typeface="Cambria Math" panose="02040503050406030204" pitchFamily="18" charset="0"/>
                        <a:ea typeface="Cambria Math" panose="02040503050406030204" pitchFamily="18" charset="0"/>
                      </a:rPr>
                      <m:t>/</m:t>
                    </m:r>
                    <m:r>
                      <a:rPr lang="it-IT" sz="1600" i="1">
                        <a:solidFill>
                          <a:srgbClr val="495A66"/>
                        </a:solidFill>
                        <a:latin typeface="Cambria Math" panose="02040503050406030204" pitchFamily="18" charset="0"/>
                        <a:ea typeface="Cambria Math" panose="02040503050406030204" pitchFamily="18" charset="0"/>
                      </a:rPr>
                      <m:t>𝑠</m:t>
                    </m:r>
                  </m:oMath>
                </a14:m>
                <a:r>
                  <a:rPr lang="en-GB" sz="1600" i="1" dirty="0">
                    <a:solidFill>
                      <a:srgbClr val="495A66"/>
                    </a:solidFill>
                  </a:rPr>
                  <a:t> </a:t>
                </a:r>
                <a:r>
                  <a:rPr lang="en-GB" sz="1600" dirty="0">
                    <a:solidFill>
                      <a:srgbClr val="495A66"/>
                    </a:solidFill>
                  </a:rPr>
                  <a:t>) and one step drop (8→3 rad/s) verify that generalisation holds across profile shapes and directions. The hardest probe is a constant at  14 </a:t>
                </a:r>
                <a14:m>
                  <m:oMath xmlns:m="http://schemas.openxmlformats.org/officeDocument/2006/math">
                    <m:r>
                      <a:rPr lang="it-IT" sz="1600" i="1">
                        <a:solidFill>
                          <a:srgbClr val="495A66"/>
                        </a:solidFill>
                        <a:latin typeface="Cambria Math" panose="02040503050406030204" pitchFamily="18" charset="0"/>
                        <a:ea typeface="Cambria Math" panose="02040503050406030204" pitchFamily="18" charset="0"/>
                      </a:rPr>
                      <m:t>𝑟𝑎𝑑</m:t>
                    </m:r>
                    <m:r>
                      <a:rPr lang="it-IT" sz="1600" i="1">
                        <a:solidFill>
                          <a:srgbClr val="495A66"/>
                        </a:solidFill>
                        <a:latin typeface="Cambria Math" panose="02040503050406030204" pitchFamily="18" charset="0"/>
                        <a:ea typeface="Cambria Math" panose="02040503050406030204" pitchFamily="18" charset="0"/>
                      </a:rPr>
                      <m:t>/</m:t>
                    </m:r>
                    <m:r>
                      <a:rPr lang="it-IT" sz="1600" i="1">
                        <a:solidFill>
                          <a:srgbClr val="495A66"/>
                        </a:solidFill>
                        <a:latin typeface="Cambria Math" panose="02040503050406030204" pitchFamily="18" charset="0"/>
                        <a:ea typeface="Cambria Math" panose="02040503050406030204" pitchFamily="18" charset="0"/>
                      </a:rPr>
                      <m:t>𝑠</m:t>
                    </m:r>
                  </m:oMath>
                </a14:m>
                <a:r>
                  <a:rPr lang="en-GB" sz="1600" dirty="0">
                    <a:solidFill>
                      <a:srgbClr val="495A66"/>
                    </a:solidFill>
                  </a:rPr>
                  <a:t>, beyond the training range, where any performance is pure extrapolation and the strongest evidence against overfitting.</a:t>
                </a:r>
              </a:p>
              <a:p>
                <a:endParaRPr lang="en-GB" sz="1600" dirty="0">
                  <a:solidFill>
                    <a:srgbClr val="495A66"/>
                  </a:solidFill>
                </a:endParaRPr>
              </a:p>
              <a:p>
                <a:endParaRPr lang="en-US" dirty="0"/>
              </a:p>
            </p:txBody>
          </p:sp>
        </mc:Choice>
        <mc:Fallback xmlns="">
          <p:sp>
            <p:nvSpPr>
              <p:cNvPr id="7" name="TextBox 6">
                <a:extLst>
                  <a:ext uri="{FF2B5EF4-FFF2-40B4-BE49-F238E27FC236}">
                    <a16:creationId xmlns:a16="http://schemas.microsoft.com/office/drawing/2014/main" id="{B7C6CF20-6D49-AC6E-EC45-097B582FCF4B}"/>
                  </a:ext>
                </a:extLst>
              </p:cNvPr>
              <p:cNvSpPr txBox="1">
                <a:spLocks noRot="1" noChangeAspect="1" noMove="1" noResize="1" noEditPoints="1" noAdjustHandles="1" noChangeArrowheads="1" noChangeShapeType="1" noTextEdit="1"/>
              </p:cNvSpPr>
              <p:nvPr/>
            </p:nvSpPr>
            <p:spPr>
              <a:xfrm>
                <a:off x="792675" y="2413337"/>
                <a:ext cx="10683045" cy="3816429"/>
              </a:xfrm>
              <a:prstGeom prst="rect">
                <a:avLst/>
              </a:prstGeom>
              <a:blipFill>
                <a:blip r:embed="rId2"/>
                <a:stretch>
                  <a:fillRect l="-238" t="-664"/>
                </a:stretch>
              </a:blipFill>
            </p:spPr>
            <p:txBody>
              <a:bodyPr/>
              <a:lstStyle/>
              <a:p>
                <a:r>
                  <a:rPr lang="en-US">
                    <a:noFill/>
                  </a:rPr>
                  <a:t> </a:t>
                </a:r>
              </a:p>
            </p:txBody>
          </p:sp>
        </mc:Fallback>
      </mc:AlternateContent>
    </p:spTree>
    <p:extLst>
      <p:ext uri="{BB962C8B-B14F-4D97-AF65-F5344CB8AC3E}">
        <p14:creationId xmlns:p14="http://schemas.microsoft.com/office/powerpoint/2010/main" val="3604477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AAE9EAD5-8EB3-C10F-218B-DC7317A6448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4F7BCCE-CD10-0ED0-D98B-7B7041C445FE}"/>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87929D57-D08D-EED8-FCB0-541C8A1230BB}"/>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70AC13AC-A084-B208-CDAA-5D5C8A1D47BE}"/>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B5  </a:t>
            </a:r>
            <a:r>
              <a:rPr lang="en-US" sz="1100" noProof="1">
                <a:solidFill>
                  <a:srgbClr val="2A9D8F"/>
                </a:solidFill>
                <a:latin typeface="Consolas"/>
              </a:rPr>
              <a:t>RESIDUAL REINFORCEMENT LEARNING - Training</a:t>
            </a:r>
          </a:p>
        </p:txBody>
      </p:sp>
      <p:sp>
        <p:nvSpPr>
          <p:cNvPr id="6" name="TextBox 5">
            <a:extLst>
              <a:ext uri="{FF2B5EF4-FFF2-40B4-BE49-F238E27FC236}">
                <a16:creationId xmlns:a16="http://schemas.microsoft.com/office/drawing/2014/main" id="{2D5D9480-CEC7-AE55-8D12-A8CB8085B7D7}"/>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Neural Network Architecture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A0E0C80-F213-5FF5-678C-95D8C0A22B50}"/>
                  </a:ext>
                </a:extLst>
              </p:cNvPr>
              <p:cNvSpPr txBox="1"/>
              <p:nvPr/>
            </p:nvSpPr>
            <p:spPr>
              <a:xfrm>
                <a:off x="792675" y="1372925"/>
                <a:ext cx="10832397" cy="830997"/>
              </a:xfrm>
              <a:prstGeom prst="rect">
                <a:avLst/>
              </a:prstGeom>
              <a:noFill/>
            </p:spPr>
            <p:txBody>
              <a:bodyPr wrap="square" rtlCol="0">
                <a:spAutoFit/>
              </a:bodyPr>
              <a:lstStyle/>
              <a:p>
                <a:r>
                  <a:rPr lang="en-GB" sz="1600" dirty="0">
                    <a:solidFill>
                      <a:srgbClr val="495A66"/>
                    </a:solidFill>
                  </a:rPr>
                  <a:t>The correction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the PI is missing depends on rod angle, operating speed, and reference profile in a </a:t>
                </a:r>
                <a:r>
                  <a:rPr lang="en-GB" sz="1600" b="1" dirty="0">
                    <a:solidFill>
                      <a:srgbClr val="495A66"/>
                    </a:solidFill>
                  </a:rPr>
                  <a:t>nonlinear</a:t>
                </a:r>
                <a:r>
                  <a:rPr lang="en-GB" sz="1600" dirty="0">
                    <a:solidFill>
                      <a:srgbClr val="495A66"/>
                    </a:solidFill>
                  </a:rPr>
                  <a:t> way and the input is a vector of six physical </a:t>
                </a:r>
                <a:r>
                  <a:rPr lang="en-GB" sz="1600" b="1" dirty="0">
                    <a:solidFill>
                      <a:srgbClr val="495A66"/>
                    </a:solidFill>
                  </a:rPr>
                  <a:t>scalars</a:t>
                </a:r>
                <a:r>
                  <a:rPr lang="en-GB" sz="1600" dirty="0">
                    <a:solidFill>
                      <a:srgbClr val="495A66"/>
                    </a:solidFill>
                  </a:rPr>
                  <a:t> with </a:t>
                </a:r>
                <a:r>
                  <a:rPr lang="en-GB" sz="1600" b="1" dirty="0">
                    <a:solidFill>
                      <a:srgbClr val="495A66"/>
                    </a:solidFill>
                  </a:rPr>
                  <a:t>no spatial structure </a:t>
                </a:r>
                <a:r>
                  <a:rPr lang="en-GB" sz="1600" dirty="0">
                    <a:solidFill>
                      <a:srgbClr val="495A66"/>
                    </a:solidFill>
                  </a:rPr>
                  <a:t>and </a:t>
                </a:r>
                <a:r>
                  <a:rPr lang="en-GB" sz="1600" b="1" dirty="0">
                    <a:solidFill>
                      <a:srgbClr val="495A66"/>
                    </a:solidFill>
                  </a:rPr>
                  <a:t>no temporal ordering</a:t>
                </a:r>
                <a:r>
                  <a:rPr lang="en-GB" sz="1600" dirty="0">
                    <a:solidFill>
                      <a:srgbClr val="495A66"/>
                    </a:solidFill>
                  </a:rPr>
                  <a:t>. An </a:t>
                </a:r>
                <a:r>
                  <a:rPr lang="en-GB" sz="1600" b="1" dirty="0">
                    <a:solidFill>
                      <a:srgbClr val="495A66"/>
                    </a:solidFill>
                  </a:rPr>
                  <a:t>MLP</a:t>
                </a:r>
                <a:r>
                  <a:rPr lang="en-GB" sz="1600" dirty="0">
                    <a:solidFill>
                      <a:srgbClr val="495A66"/>
                    </a:solidFill>
                  </a:rPr>
                  <a:t> is the natural choice: it learns an arbitrary smooth mapping from </a:t>
                </a:r>
                <a14:m>
                  <m:oMath xmlns:m="http://schemas.openxmlformats.org/officeDocument/2006/math">
                    <m:sSup>
                      <m:sSupPr>
                        <m:ctrlPr>
                          <a:rPr lang="en-GB" sz="1600" i="1" smtClean="0">
                            <a:solidFill>
                              <a:srgbClr val="495A66"/>
                            </a:solidFill>
                            <a:latin typeface="Cambria Math" panose="02040503050406030204" pitchFamily="18" charset="0"/>
                          </a:rPr>
                        </m:ctrlPr>
                      </m:sSupPr>
                      <m:e>
                        <m:r>
                          <a:rPr lang="en-GB" sz="1600" i="1" smtClean="0">
                            <a:solidFill>
                              <a:srgbClr val="495A66"/>
                            </a:solidFill>
                            <a:latin typeface="Cambria Math" panose="02040503050406030204" pitchFamily="18" charset="0"/>
                            <a:ea typeface="Cambria Math" panose="02040503050406030204" pitchFamily="18" charset="0"/>
                          </a:rPr>
                          <m:t>ℝ</m:t>
                        </m:r>
                      </m:e>
                      <m:sup>
                        <m:r>
                          <a:rPr lang="it-IT" sz="1600" b="0" i="1" smtClean="0">
                            <a:solidFill>
                              <a:srgbClr val="495A66"/>
                            </a:solidFill>
                            <a:latin typeface="Cambria Math" panose="02040503050406030204" pitchFamily="18" charset="0"/>
                          </a:rPr>
                          <m:t>6 </m:t>
                        </m:r>
                      </m:sup>
                    </m:sSup>
                  </m:oMath>
                </a14:m>
                <a:r>
                  <a:rPr lang="en-GB" sz="1600" dirty="0">
                    <a:solidFill>
                      <a:srgbClr val="495A66"/>
                    </a:solidFill>
                  </a:rPr>
                  <a:t>to </a:t>
                </a:r>
                <a14:m>
                  <m:oMath xmlns:m="http://schemas.openxmlformats.org/officeDocument/2006/math">
                    <m:sSup>
                      <m:sSupPr>
                        <m:ctrlPr>
                          <a:rPr lang="en-GB" sz="1600" i="1">
                            <a:solidFill>
                              <a:srgbClr val="495A66"/>
                            </a:solidFill>
                            <a:latin typeface="Cambria Math" panose="02040503050406030204" pitchFamily="18" charset="0"/>
                          </a:rPr>
                        </m:ctrlPr>
                      </m:sSupPr>
                      <m:e>
                        <m:r>
                          <a:rPr lang="en-GB" sz="1600" i="1">
                            <a:solidFill>
                              <a:srgbClr val="495A66"/>
                            </a:solidFill>
                            <a:latin typeface="Cambria Math" panose="02040503050406030204" pitchFamily="18" charset="0"/>
                            <a:ea typeface="Cambria Math" panose="02040503050406030204" pitchFamily="18" charset="0"/>
                          </a:rPr>
                          <m:t>ℝ</m:t>
                        </m:r>
                      </m:e>
                      <m:sup>
                        <m:r>
                          <a:rPr lang="it-IT" sz="1600" b="0" i="1" smtClean="0">
                            <a:solidFill>
                              <a:srgbClr val="495A66"/>
                            </a:solidFill>
                            <a:latin typeface="Cambria Math" panose="02040503050406030204" pitchFamily="18" charset="0"/>
                            <a:ea typeface="Cambria Math" panose="02040503050406030204" pitchFamily="18" charset="0"/>
                          </a:rPr>
                          <m:t>1</m:t>
                        </m:r>
                        <m:r>
                          <a:rPr lang="it-IT" sz="1600" i="1">
                            <a:solidFill>
                              <a:srgbClr val="495A66"/>
                            </a:solidFill>
                            <a:latin typeface="Cambria Math" panose="02040503050406030204" pitchFamily="18" charset="0"/>
                          </a:rPr>
                          <m:t> </m:t>
                        </m:r>
                      </m:sup>
                    </m:sSup>
                  </m:oMath>
                </a14:m>
                <a:r>
                  <a:rPr lang="en-GB" sz="1600" dirty="0">
                    <a:solidFill>
                      <a:srgbClr val="495A66"/>
                    </a:solidFill>
                  </a:rPr>
                  <a:t>with no inductive bias that would conflict with the problem structure.</a:t>
                </a:r>
                <a:endParaRPr lang="en-US" sz="1600" dirty="0">
                  <a:solidFill>
                    <a:srgbClr val="495A66"/>
                  </a:solidFill>
                </a:endParaRPr>
              </a:p>
            </p:txBody>
          </p:sp>
        </mc:Choice>
        <mc:Fallback xmlns="">
          <p:sp>
            <p:nvSpPr>
              <p:cNvPr id="5" name="TextBox 4">
                <a:extLst>
                  <a:ext uri="{FF2B5EF4-FFF2-40B4-BE49-F238E27FC236}">
                    <a16:creationId xmlns:a16="http://schemas.microsoft.com/office/drawing/2014/main" id="{EA0E0C80-F213-5FF5-678C-95D8C0A22B50}"/>
                  </a:ext>
                </a:extLst>
              </p:cNvPr>
              <p:cNvSpPr txBox="1">
                <a:spLocks noRot="1" noChangeAspect="1" noMove="1" noResize="1" noEditPoints="1" noAdjustHandles="1" noChangeArrowheads="1" noChangeShapeType="1" noTextEdit="1"/>
              </p:cNvSpPr>
              <p:nvPr/>
            </p:nvSpPr>
            <p:spPr>
              <a:xfrm>
                <a:off x="792675" y="1372925"/>
                <a:ext cx="10832397" cy="830997"/>
              </a:xfrm>
              <a:prstGeom prst="rect">
                <a:avLst/>
              </a:prstGeom>
              <a:blipFill>
                <a:blip r:embed="rId2"/>
                <a:stretch>
                  <a:fillRect l="-234" t="-3030" r="-351" b="-9091"/>
                </a:stretch>
              </a:blipFill>
            </p:spPr>
            <p:txBody>
              <a:bodyPr/>
              <a:lstStyle/>
              <a:p>
                <a:r>
                  <a:rPr lang="en-US">
                    <a:noFill/>
                  </a:rPr>
                  <a:t> </a:t>
                </a:r>
              </a:p>
            </p:txBody>
          </p:sp>
        </mc:Fallback>
      </mc:AlternateContent>
      <p:sp>
        <p:nvSpPr>
          <p:cNvPr id="114" name="TextBox 113">
            <a:extLst>
              <a:ext uri="{FF2B5EF4-FFF2-40B4-BE49-F238E27FC236}">
                <a16:creationId xmlns:a16="http://schemas.microsoft.com/office/drawing/2014/main" id="{63D6258A-F66E-73EA-ABEF-2D5CC150B34C}"/>
              </a:ext>
            </a:extLst>
          </p:cNvPr>
          <p:cNvSpPr txBox="1"/>
          <p:nvPr/>
        </p:nvSpPr>
        <p:spPr>
          <a:xfrm>
            <a:off x="4772570" y="2258410"/>
            <a:ext cx="2965513" cy="265457"/>
          </a:xfrm>
          <a:prstGeom prst="rect">
            <a:avLst/>
          </a:prstGeom>
          <a:noFill/>
        </p:spPr>
        <p:txBody>
          <a:bodyPr wrap="square" rtlCol="0">
            <a:spAutoFit/>
          </a:bodyPr>
          <a:lstStyle/>
          <a:p>
            <a:pPr algn="l"/>
            <a:r>
              <a:rPr lang="en-US" sz="1125" b="1" spc="0" baseline="0">
                <a:ln/>
                <a:solidFill>
                  <a:srgbClr val="003366"/>
                </a:solidFill>
                <a:latin typeface="Helvetica Neue"/>
                <a:ea typeface="Helvetica Neue"/>
                <a:cs typeface="Helvetica Neue"/>
                <a:sym typeface="Helvetica Neue"/>
                <a:rtl val="0"/>
              </a:rPr>
              <a:t>MLP Policy Network — π_θ : </a:t>
            </a:r>
            <a:r>
              <a:rPr lang="en-US" sz="1125" b="1" spc="0" baseline="0">
                <a:ln/>
                <a:solidFill>
                  <a:srgbClr val="003366"/>
                </a:solidFill>
                <a:latin typeface="Cambria Math"/>
                <a:ea typeface="Cambria Math"/>
                <a:cs typeface="Helvetica Neue"/>
                <a:sym typeface="Cambria Math"/>
                <a:rtl val="0"/>
              </a:rPr>
              <a:t>ℝ</a:t>
            </a:r>
            <a:r>
              <a:rPr lang="en-US" sz="1125" b="1" spc="0" baseline="0">
                <a:ln/>
                <a:solidFill>
                  <a:srgbClr val="003366"/>
                </a:solidFill>
                <a:latin typeface="Helvetica Neue"/>
                <a:ea typeface="Helvetica Neue"/>
                <a:cs typeface="Helvetica Neue"/>
                <a:sym typeface="Helvetica Neue"/>
                <a:rtl val="0"/>
              </a:rPr>
              <a:t>⁶ </a:t>
            </a:r>
            <a:r>
              <a:rPr lang="en-US" sz="1125" b="1" spc="0" baseline="0">
                <a:ln/>
                <a:solidFill>
                  <a:srgbClr val="003366"/>
                </a:solidFill>
                <a:latin typeface="Times New Roman"/>
                <a:ea typeface="Helvetica Neue"/>
                <a:cs typeface="Times New Roman"/>
                <a:sym typeface="Times New Roman"/>
                <a:rtl val="0"/>
              </a:rPr>
              <a:t>→</a:t>
            </a:r>
            <a:r>
              <a:rPr lang="en-US" sz="1125" b="1" spc="0" baseline="0">
                <a:ln/>
                <a:solidFill>
                  <a:srgbClr val="003366"/>
                </a:solidFill>
                <a:latin typeface="Helvetica Neue"/>
                <a:ea typeface="Helvetica Neue"/>
                <a:cs typeface="Helvetica Neue"/>
                <a:sym typeface="Helvetica Neue"/>
                <a:rtl val="0"/>
              </a:rPr>
              <a:t> [−1, 1]</a:t>
            </a:r>
          </a:p>
        </p:txBody>
      </p:sp>
      <p:sp>
        <p:nvSpPr>
          <p:cNvPr id="115" name="TextBox 114">
            <a:extLst>
              <a:ext uri="{FF2B5EF4-FFF2-40B4-BE49-F238E27FC236}">
                <a16:creationId xmlns:a16="http://schemas.microsoft.com/office/drawing/2014/main" id="{1F6A0849-627F-CB88-E91E-8B3493F7A69B}"/>
              </a:ext>
            </a:extLst>
          </p:cNvPr>
          <p:cNvSpPr txBox="1"/>
          <p:nvPr/>
        </p:nvSpPr>
        <p:spPr>
          <a:xfrm>
            <a:off x="3100989" y="2523908"/>
            <a:ext cx="879424" cy="219291"/>
          </a:xfrm>
          <a:prstGeom prst="rect">
            <a:avLst/>
          </a:prstGeom>
          <a:noFill/>
        </p:spPr>
        <p:txBody>
          <a:bodyPr wrap="square" rtlCol="0">
            <a:spAutoFit/>
          </a:bodyPr>
          <a:lstStyle/>
          <a:p>
            <a:pPr algn="l"/>
            <a:r>
              <a:rPr lang="en-US" sz="825" b="1" spc="0" baseline="0">
                <a:ln/>
                <a:solidFill>
                  <a:srgbClr val="003366"/>
                </a:solidFill>
                <a:latin typeface="Helvetica Neue"/>
                <a:ea typeface="Helvetica Neue"/>
                <a:cs typeface="Helvetica Neue"/>
                <a:sym typeface="Helvetica Neue"/>
                <a:rtl val="0"/>
              </a:rPr>
              <a:t>INPUT LAYER</a:t>
            </a:r>
          </a:p>
        </p:txBody>
      </p:sp>
      <p:sp>
        <p:nvSpPr>
          <p:cNvPr id="116" name="TextBox 115">
            <a:extLst>
              <a:ext uri="{FF2B5EF4-FFF2-40B4-BE49-F238E27FC236}">
                <a16:creationId xmlns:a16="http://schemas.microsoft.com/office/drawing/2014/main" id="{32639A39-5F2D-51BA-521D-C816BA00C9C5}"/>
              </a:ext>
            </a:extLst>
          </p:cNvPr>
          <p:cNvSpPr txBox="1"/>
          <p:nvPr/>
        </p:nvSpPr>
        <p:spPr>
          <a:xfrm>
            <a:off x="3237568" y="2649567"/>
            <a:ext cx="606266" cy="207749"/>
          </a:xfrm>
          <a:prstGeom prst="rect">
            <a:avLst/>
          </a:prstGeom>
          <a:noFill/>
        </p:spPr>
        <p:txBody>
          <a:bodyPr wrap="square" rtlCol="0">
            <a:spAutoFit/>
          </a:bodyPr>
          <a:lstStyle/>
          <a:p>
            <a:pPr algn="l"/>
            <a:r>
              <a:rPr lang="en-US" sz="750" spc="0" baseline="0">
                <a:ln/>
                <a:solidFill>
                  <a:srgbClr val="003366"/>
                </a:solidFill>
                <a:latin typeface="Helvetica Neue"/>
                <a:ea typeface="Helvetica Neue"/>
                <a:cs typeface="Helvetica Neue"/>
                <a:sym typeface="Helvetica Neue"/>
                <a:rtl val="0"/>
              </a:rPr>
              <a:t>6 features</a:t>
            </a:r>
          </a:p>
        </p:txBody>
      </p:sp>
      <p:sp>
        <p:nvSpPr>
          <p:cNvPr id="117" name="TextBox 116">
            <a:extLst>
              <a:ext uri="{FF2B5EF4-FFF2-40B4-BE49-F238E27FC236}">
                <a16:creationId xmlns:a16="http://schemas.microsoft.com/office/drawing/2014/main" id="{225D10DA-CCBF-5F6D-3FF7-056FB0757596}"/>
              </a:ext>
            </a:extLst>
          </p:cNvPr>
          <p:cNvSpPr txBox="1"/>
          <p:nvPr/>
        </p:nvSpPr>
        <p:spPr>
          <a:xfrm>
            <a:off x="5770980" y="2523908"/>
            <a:ext cx="1284270" cy="219291"/>
          </a:xfrm>
          <a:prstGeom prst="rect">
            <a:avLst/>
          </a:prstGeom>
          <a:noFill/>
        </p:spPr>
        <p:txBody>
          <a:bodyPr wrap="square" rtlCol="0">
            <a:spAutoFit/>
          </a:bodyPr>
          <a:lstStyle/>
          <a:p>
            <a:pPr algn="l"/>
            <a:r>
              <a:rPr lang="en-US" sz="825" b="1" spc="0" baseline="0" dirty="0">
                <a:ln/>
                <a:solidFill>
                  <a:srgbClr val="009999"/>
                </a:solidFill>
                <a:latin typeface="Helvetica Neue"/>
                <a:ea typeface="Helvetica Neue"/>
                <a:cs typeface="Helvetica Neue"/>
                <a:sym typeface="Helvetica Neue"/>
                <a:rtl val="0"/>
              </a:rPr>
              <a:t>HIDDEN LAYER</a:t>
            </a:r>
          </a:p>
        </p:txBody>
      </p:sp>
      <p:sp>
        <p:nvSpPr>
          <p:cNvPr id="118" name="TextBox 117">
            <a:extLst>
              <a:ext uri="{FF2B5EF4-FFF2-40B4-BE49-F238E27FC236}">
                <a16:creationId xmlns:a16="http://schemas.microsoft.com/office/drawing/2014/main" id="{D0693036-9E93-6ED2-F437-90F36E01FD45}"/>
              </a:ext>
            </a:extLst>
          </p:cNvPr>
          <p:cNvSpPr txBox="1"/>
          <p:nvPr/>
        </p:nvSpPr>
        <p:spPr>
          <a:xfrm>
            <a:off x="5836560" y="2649567"/>
            <a:ext cx="837533" cy="207749"/>
          </a:xfrm>
          <a:prstGeom prst="rect">
            <a:avLst/>
          </a:prstGeom>
          <a:noFill/>
        </p:spPr>
        <p:txBody>
          <a:bodyPr wrap="square" rtlCol="0">
            <a:spAutoFit/>
          </a:bodyPr>
          <a:lstStyle/>
          <a:p>
            <a:pPr algn="l"/>
            <a:r>
              <a:rPr lang="en-US" sz="750" spc="0" baseline="0" dirty="0">
                <a:ln/>
                <a:solidFill>
                  <a:srgbClr val="009999"/>
                </a:solidFill>
                <a:latin typeface="Helvetica Neue"/>
                <a:ea typeface="Helvetica Neue"/>
                <a:cs typeface="Helvetica Neue"/>
                <a:sym typeface="Helvetica Neue"/>
                <a:rtl val="0"/>
              </a:rPr>
              <a:t>64 units · </a:t>
            </a:r>
            <a:r>
              <a:rPr lang="en-US" sz="750" spc="0" baseline="0" dirty="0" err="1">
                <a:ln/>
                <a:solidFill>
                  <a:srgbClr val="009999"/>
                </a:solidFill>
                <a:latin typeface="Helvetica Neue"/>
                <a:ea typeface="Helvetica Neue"/>
                <a:cs typeface="Helvetica Neue"/>
                <a:sym typeface="Helvetica Neue"/>
                <a:rtl val="0"/>
              </a:rPr>
              <a:t>ReLU</a:t>
            </a:r>
            <a:endParaRPr lang="en-US" sz="750" spc="0" baseline="0" dirty="0">
              <a:ln/>
              <a:solidFill>
                <a:srgbClr val="009999"/>
              </a:solidFill>
              <a:latin typeface="Helvetica Neue"/>
              <a:ea typeface="Helvetica Neue"/>
              <a:cs typeface="Helvetica Neue"/>
              <a:sym typeface="Helvetica Neue"/>
              <a:rtl val="0"/>
            </a:endParaRPr>
          </a:p>
        </p:txBody>
      </p:sp>
      <p:sp>
        <p:nvSpPr>
          <p:cNvPr id="119" name="TextBox 118">
            <a:extLst>
              <a:ext uri="{FF2B5EF4-FFF2-40B4-BE49-F238E27FC236}">
                <a16:creationId xmlns:a16="http://schemas.microsoft.com/office/drawing/2014/main" id="{F8B6079B-588B-8D0A-4507-E340204D79A6}"/>
              </a:ext>
            </a:extLst>
          </p:cNvPr>
          <p:cNvSpPr txBox="1"/>
          <p:nvPr/>
        </p:nvSpPr>
        <p:spPr>
          <a:xfrm>
            <a:off x="8282428" y="2523908"/>
            <a:ext cx="994047" cy="219291"/>
          </a:xfrm>
          <a:prstGeom prst="rect">
            <a:avLst/>
          </a:prstGeom>
          <a:noFill/>
        </p:spPr>
        <p:txBody>
          <a:bodyPr wrap="square" rtlCol="0">
            <a:spAutoFit/>
          </a:bodyPr>
          <a:lstStyle/>
          <a:p>
            <a:pPr algn="l"/>
            <a:r>
              <a:rPr lang="en-US" sz="825" b="1" spc="0" baseline="0">
                <a:ln/>
                <a:solidFill>
                  <a:srgbClr val="CC6633"/>
                </a:solidFill>
                <a:latin typeface="Helvetica Neue"/>
                <a:ea typeface="Helvetica Neue"/>
                <a:cs typeface="Helvetica Neue"/>
                <a:sym typeface="Helvetica Neue"/>
                <a:rtl val="0"/>
              </a:rPr>
              <a:t>OUTPUT LAYER</a:t>
            </a:r>
          </a:p>
        </p:txBody>
      </p:sp>
      <p:sp>
        <p:nvSpPr>
          <p:cNvPr id="120" name="TextBox 119">
            <a:extLst>
              <a:ext uri="{FF2B5EF4-FFF2-40B4-BE49-F238E27FC236}">
                <a16:creationId xmlns:a16="http://schemas.microsoft.com/office/drawing/2014/main" id="{1440336F-CAB2-4456-07FE-0466F9066088}"/>
              </a:ext>
            </a:extLst>
          </p:cNvPr>
          <p:cNvSpPr txBox="1"/>
          <p:nvPr/>
        </p:nvSpPr>
        <p:spPr>
          <a:xfrm>
            <a:off x="8436504" y="2649567"/>
            <a:ext cx="685895" cy="207749"/>
          </a:xfrm>
          <a:prstGeom prst="rect">
            <a:avLst/>
          </a:prstGeom>
          <a:noFill/>
        </p:spPr>
        <p:txBody>
          <a:bodyPr wrap="square" rtlCol="0">
            <a:spAutoFit/>
          </a:bodyPr>
          <a:lstStyle/>
          <a:p>
            <a:pPr algn="l"/>
            <a:r>
              <a:rPr lang="en-US" sz="750" spc="0" baseline="0">
                <a:ln/>
                <a:solidFill>
                  <a:srgbClr val="CC6633"/>
                </a:solidFill>
                <a:latin typeface="Helvetica Neue"/>
                <a:ea typeface="Helvetica Neue"/>
                <a:cs typeface="Helvetica Neue"/>
                <a:sym typeface="Helvetica Neue"/>
                <a:rtl val="0"/>
              </a:rPr>
              <a:t>1 unit · tanh</a:t>
            </a:r>
          </a:p>
        </p:txBody>
      </p:sp>
      <p:grpSp>
        <p:nvGrpSpPr>
          <p:cNvPr id="121" name="Graphic 10">
            <a:extLst>
              <a:ext uri="{FF2B5EF4-FFF2-40B4-BE49-F238E27FC236}">
                <a16:creationId xmlns:a16="http://schemas.microsoft.com/office/drawing/2014/main" id="{88035595-CC50-BC26-36BD-DDAAD7329D1F}"/>
              </a:ext>
            </a:extLst>
          </p:cNvPr>
          <p:cNvGrpSpPr/>
          <p:nvPr/>
        </p:nvGrpSpPr>
        <p:grpSpPr>
          <a:xfrm>
            <a:off x="3921702" y="3014265"/>
            <a:ext cx="1857375" cy="1998371"/>
            <a:chOff x="3838575" y="2925255"/>
            <a:chExt cx="1857375" cy="1998371"/>
          </a:xfrm>
        </p:grpSpPr>
        <p:sp>
          <p:nvSpPr>
            <p:cNvPr id="122" name="Freeform 121">
              <a:extLst>
                <a:ext uri="{FF2B5EF4-FFF2-40B4-BE49-F238E27FC236}">
                  <a16:creationId xmlns:a16="http://schemas.microsoft.com/office/drawing/2014/main" id="{3BAF0509-DFCB-3877-7A47-6BA08534BA93}"/>
                </a:ext>
              </a:extLst>
            </p:cNvPr>
            <p:cNvSpPr/>
            <p:nvPr/>
          </p:nvSpPr>
          <p:spPr>
            <a:xfrm>
              <a:off x="3838575" y="2925255"/>
              <a:ext cx="1857375" cy="66612"/>
            </a:xfrm>
            <a:custGeom>
              <a:avLst/>
              <a:gdLst>
                <a:gd name="csX0" fmla="*/ 0 w 1857375"/>
                <a:gd name="csY0" fmla="*/ 66612 h 66612"/>
                <a:gd name="csX1" fmla="*/ 1857375 w 1857375"/>
                <a:gd name="csY1" fmla="*/ 0 h 66612"/>
              </a:gdLst>
              <a:ahLst/>
              <a:cxnLst>
                <a:cxn ang="0">
                  <a:pos x="csX0" y="csY0"/>
                </a:cxn>
                <a:cxn ang="0">
                  <a:pos x="csX1" y="csY1"/>
                </a:cxn>
              </a:cxnLst>
              <a:rect l="l" t="t" r="r" b="b"/>
              <a:pathLst>
                <a:path w="1857375" h="66612">
                  <a:moveTo>
                    <a:pt x="0" y="66612"/>
                  </a:moveTo>
                  <a:lnTo>
                    <a:pt x="1857375" y="0"/>
                  </a:lnTo>
                </a:path>
              </a:pathLst>
            </a:custGeom>
            <a:ln w="4763" cap="flat">
              <a:solidFill>
                <a:srgbClr val="003366">
                  <a:alpha val="19496"/>
                </a:srgbClr>
              </a:solidFill>
              <a:prstDash val="solid"/>
              <a:miter/>
            </a:ln>
          </p:spPr>
          <p:txBody>
            <a:bodyPr/>
            <a:lstStyle/>
            <a:p>
              <a:endParaRPr lang="en-US"/>
            </a:p>
          </p:txBody>
        </p:sp>
        <p:sp>
          <p:nvSpPr>
            <p:cNvPr id="123" name="Freeform 122">
              <a:extLst>
                <a:ext uri="{FF2B5EF4-FFF2-40B4-BE49-F238E27FC236}">
                  <a16:creationId xmlns:a16="http://schemas.microsoft.com/office/drawing/2014/main" id="{AF816755-A067-07FB-7667-433AA7A6BEF0}"/>
                </a:ext>
              </a:extLst>
            </p:cNvPr>
            <p:cNvSpPr/>
            <p:nvPr/>
          </p:nvSpPr>
          <p:spPr>
            <a:xfrm>
              <a:off x="3838575" y="2991868"/>
              <a:ext cx="1857375" cy="266449"/>
            </a:xfrm>
            <a:custGeom>
              <a:avLst/>
              <a:gdLst>
                <a:gd name="csX0" fmla="*/ 0 w 1857375"/>
                <a:gd name="csY0" fmla="*/ 0 h 266449"/>
                <a:gd name="csX1" fmla="*/ 1857375 w 1857375"/>
                <a:gd name="csY1" fmla="*/ 266450 h 266449"/>
              </a:gdLst>
              <a:ahLst/>
              <a:cxnLst>
                <a:cxn ang="0">
                  <a:pos x="csX0" y="csY0"/>
                </a:cxn>
                <a:cxn ang="0">
                  <a:pos x="csX1" y="csY1"/>
                </a:cxn>
              </a:cxnLst>
              <a:rect l="l" t="t" r="r" b="b"/>
              <a:pathLst>
                <a:path w="1857375" h="266449">
                  <a:moveTo>
                    <a:pt x="0" y="0"/>
                  </a:moveTo>
                  <a:lnTo>
                    <a:pt x="1857375" y="266450"/>
                  </a:lnTo>
                </a:path>
              </a:pathLst>
            </a:custGeom>
            <a:ln w="4763" cap="flat">
              <a:solidFill>
                <a:srgbClr val="003366">
                  <a:alpha val="19496"/>
                </a:srgbClr>
              </a:solidFill>
              <a:prstDash val="solid"/>
              <a:miter/>
            </a:ln>
          </p:spPr>
          <p:txBody>
            <a:bodyPr/>
            <a:lstStyle/>
            <a:p>
              <a:endParaRPr lang="en-US"/>
            </a:p>
          </p:txBody>
        </p:sp>
        <p:sp>
          <p:nvSpPr>
            <p:cNvPr id="124" name="Freeform 123">
              <a:extLst>
                <a:ext uri="{FF2B5EF4-FFF2-40B4-BE49-F238E27FC236}">
                  <a16:creationId xmlns:a16="http://schemas.microsoft.com/office/drawing/2014/main" id="{0A9C5953-7E82-3B9C-4D63-23658DC02B54}"/>
                </a:ext>
              </a:extLst>
            </p:cNvPr>
            <p:cNvSpPr/>
            <p:nvPr/>
          </p:nvSpPr>
          <p:spPr>
            <a:xfrm>
              <a:off x="3838575" y="2991868"/>
              <a:ext cx="1857375" cy="599511"/>
            </a:xfrm>
            <a:custGeom>
              <a:avLst/>
              <a:gdLst>
                <a:gd name="csX0" fmla="*/ 0 w 1857375"/>
                <a:gd name="csY0" fmla="*/ 0 h 599511"/>
                <a:gd name="csX1" fmla="*/ 1857375 w 1857375"/>
                <a:gd name="csY1" fmla="*/ 599512 h 599511"/>
              </a:gdLst>
              <a:ahLst/>
              <a:cxnLst>
                <a:cxn ang="0">
                  <a:pos x="csX0" y="csY0"/>
                </a:cxn>
                <a:cxn ang="0">
                  <a:pos x="csX1" y="csY1"/>
                </a:cxn>
              </a:cxnLst>
              <a:rect l="l" t="t" r="r" b="b"/>
              <a:pathLst>
                <a:path w="1857375" h="599511">
                  <a:moveTo>
                    <a:pt x="0" y="0"/>
                  </a:moveTo>
                  <a:lnTo>
                    <a:pt x="1857375" y="599512"/>
                  </a:lnTo>
                </a:path>
              </a:pathLst>
            </a:custGeom>
            <a:ln w="4763" cap="flat">
              <a:solidFill>
                <a:srgbClr val="003366">
                  <a:alpha val="19496"/>
                </a:srgbClr>
              </a:solidFill>
              <a:prstDash val="solid"/>
              <a:miter/>
            </a:ln>
          </p:spPr>
          <p:txBody>
            <a:bodyPr/>
            <a:lstStyle/>
            <a:p>
              <a:endParaRPr lang="en-US"/>
            </a:p>
          </p:txBody>
        </p:sp>
        <p:sp>
          <p:nvSpPr>
            <p:cNvPr id="125" name="Freeform 124">
              <a:extLst>
                <a:ext uri="{FF2B5EF4-FFF2-40B4-BE49-F238E27FC236}">
                  <a16:creationId xmlns:a16="http://schemas.microsoft.com/office/drawing/2014/main" id="{98B3A84B-896A-8F78-A417-4E224F124106}"/>
                </a:ext>
              </a:extLst>
            </p:cNvPr>
            <p:cNvSpPr/>
            <p:nvPr/>
          </p:nvSpPr>
          <p:spPr>
            <a:xfrm>
              <a:off x="3838575" y="2991868"/>
              <a:ext cx="1857375" cy="1265635"/>
            </a:xfrm>
            <a:custGeom>
              <a:avLst/>
              <a:gdLst>
                <a:gd name="csX0" fmla="*/ 0 w 1857375"/>
                <a:gd name="csY0" fmla="*/ 0 h 1265635"/>
                <a:gd name="csX1" fmla="*/ 1857375 w 1857375"/>
                <a:gd name="csY1" fmla="*/ 1265636 h 1265635"/>
              </a:gdLst>
              <a:ahLst/>
              <a:cxnLst>
                <a:cxn ang="0">
                  <a:pos x="csX0" y="csY0"/>
                </a:cxn>
                <a:cxn ang="0">
                  <a:pos x="csX1" y="csY1"/>
                </a:cxn>
              </a:cxnLst>
              <a:rect l="l" t="t" r="r" b="b"/>
              <a:pathLst>
                <a:path w="1857375" h="1265635">
                  <a:moveTo>
                    <a:pt x="0" y="0"/>
                  </a:moveTo>
                  <a:lnTo>
                    <a:pt x="1857375" y="1265636"/>
                  </a:lnTo>
                </a:path>
              </a:pathLst>
            </a:custGeom>
            <a:ln w="4763" cap="flat">
              <a:solidFill>
                <a:srgbClr val="003366">
                  <a:alpha val="19496"/>
                </a:srgbClr>
              </a:solidFill>
              <a:prstDash val="solid"/>
              <a:miter/>
            </a:ln>
          </p:spPr>
          <p:txBody>
            <a:bodyPr/>
            <a:lstStyle/>
            <a:p>
              <a:endParaRPr lang="en-US"/>
            </a:p>
          </p:txBody>
        </p:sp>
        <p:sp>
          <p:nvSpPr>
            <p:cNvPr id="126" name="Freeform 125">
              <a:extLst>
                <a:ext uri="{FF2B5EF4-FFF2-40B4-BE49-F238E27FC236}">
                  <a16:creationId xmlns:a16="http://schemas.microsoft.com/office/drawing/2014/main" id="{945B4DA9-E43B-CAFF-228B-2AD3E39467C1}"/>
                </a:ext>
              </a:extLst>
            </p:cNvPr>
            <p:cNvSpPr/>
            <p:nvPr/>
          </p:nvSpPr>
          <p:spPr>
            <a:xfrm>
              <a:off x="3838575" y="2991868"/>
              <a:ext cx="1857375" cy="1598697"/>
            </a:xfrm>
            <a:custGeom>
              <a:avLst/>
              <a:gdLst>
                <a:gd name="csX0" fmla="*/ 0 w 1857375"/>
                <a:gd name="csY0" fmla="*/ 0 h 1598697"/>
                <a:gd name="csX1" fmla="*/ 1857375 w 1857375"/>
                <a:gd name="csY1" fmla="*/ 1598698 h 1598697"/>
              </a:gdLst>
              <a:ahLst/>
              <a:cxnLst>
                <a:cxn ang="0">
                  <a:pos x="csX0" y="csY0"/>
                </a:cxn>
                <a:cxn ang="0">
                  <a:pos x="csX1" y="csY1"/>
                </a:cxn>
              </a:cxnLst>
              <a:rect l="l" t="t" r="r" b="b"/>
              <a:pathLst>
                <a:path w="1857375" h="1598697">
                  <a:moveTo>
                    <a:pt x="0" y="0"/>
                  </a:moveTo>
                  <a:lnTo>
                    <a:pt x="1857375" y="1598698"/>
                  </a:lnTo>
                </a:path>
              </a:pathLst>
            </a:custGeom>
            <a:ln w="4763" cap="flat">
              <a:solidFill>
                <a:srgbClr val="003366">
                  <a:alpha val="19496"/>
                </a:srgbClr>
              </a:solidFill>
              <a:prstDash val="solid"/>
              <a:miter/>
            </a:ln>
          </p:spPr>
          <p:txBody>
            <a:bodyPr/>
            <a:lstStyle/>
            <a:p>
              <a:endParaRPr lang="en-US"/>
            </a:p>
          </p:txBody>
        </p:sp>
        <p:sp>
          <p:nvSpPr>
            <p:cNvPr id="127" name="Freeform 126">
              <a:extLst>
                <a:ext uri="{FF2B5EF4-FFF2-40B4-BE49-F238E27FC236}">
                  <a16:creationId xmlns:a16="http://schemas.microsoft.com/office/drawing/2014/main" id="{52F59D97-3990-C104-E58F-E6EDC9E501E0}"/>
                </a:ext>
              </a:extLst>
            </p:cNvPr>
            <p:cNvSpPr/>
            <p:nvPr/>
          </p:nvSpPr>
          <p:spPr>
            <a:xfrm>
              <a:off x="3838575" y="2991868"/>
              <a:ext cx="1857375" cy="1931759"/>
            </a:xfrm>
            <a:custGeom>
              <a:avLst/>
              <a:gdLst>
                <a:gd name="csX0" fmla="*/ 0 w 1857375"/>
                <a:gd name="csY0" fmla="*/ 0 h 1931759"/>
                <a:gd name="csX1" fmla="*/ 1857375 w 1857375"/>
                <a:gd name="csY1" fmla="*/ 1931759 h 1931759"/>
              </a:gdLst>
              <a:ahLst/>
              <a:cxnLst>
                <a:cxn ang="0">
                  <a:pos x="csX0" y="csY0"/>
                </a:cxn>
                <a:cxn ang="0">
                  <a:pos x="csX1" y="csY1"/>
                </a:cxn>
              </a:cxnLst>
              <a:rect l="l" t="t" r="r" b="b"/>
              <a:pathLst>
                <a:path w="1857375" h="1931759">
                  <a:moveTo>
                    <a:pt x="0" y="0"/>
                  </a:moveTo>
                  <a:lnTo>
                    <a:pt x="1857375" y="1931759"/>
                  </a:lnTo>
                </a:path>
              </a:pathLst>
            </a:custGeom>
            <a:ln w="4763" cap="flat">
              <a:solidFill>
                <a:srgbClr val="003366">
                  <a:alpha val="19496"/>
                </a:srgbClr>
              </a:solidFill>
              <a:prstDash val="solid"/>
              <a:miter/>
            </a:ln>
          </p:spPr>
          <p:txBody>
            <a:bodyPr/>
            <a:lstStyle/>
            <a:p>
              <a:endParaRPr lang="en-US"/>
            </a:p>
          </p:txBody>
        </p:sp>
        <p:sp>
          <p:nvSpPr>
            <p:cNvPr id="128" name="Freeform 127">
              <a:extLst>
                <a:ext uri="{FF2B5EF4-FFF2-40B4-BE49-F238E27FC236}">
                  <a16:creationId xmlns:a16="http://schemas.microsoft.com/office/drawing/2014/main" id="{4EDABFF3-A585-2AB7-1FAD-D08A7BA2AA04}"/>
                </a:ext>
              </a:extLst>
            </p:cNvPr>
            <p:cNvSpPr/>
            <p:nvPr/>
          </p:nvSpPr>
          <p:spPr>
            <a:xfrm>
              <a:off x="3838575" y="2925255"/>
              <a:ext cx="1857375" cy="428222"/>
            </a:xfrm>
            <a:custGeom>
              <a:avLst/>
              <a:gdLst>
                <a:gd name="csX0" fmla="*/ 0 w 1857375"/>
                <a:gd name="csY0" fmla="*/ 428223 h 428222"/>
                <a:gd name="csX1" fmla="*/ 1857375 w 1857375"/>
                <a:gd name="csY1" fmla="*/ 0 h 428222"/>
              </a:gdLst>
              <a:ahLst/>
              <a:cxnLst>
                <a:cxn ang="0">
                  <a:pos x="csX0" y="csY0"/>
                </a:cxn>
                <a:cxn ang="0">
                  <a:pos x="csX1" y="csY1"/>
                </a:cxn>
              </a:cxnLst>
              <a:rect l="l" t="t" r="r" b="b"/>
              <a:pathLst>
                <a:path w="1857375" h="428222">
                  <a:moveTo>
                    <a:pt x="0" y="428223"/>
                  </a:moveTo>
                  <a:lnTo>
                    <a:pt x="1857375" y="0"/>
                  </a:lnTo>
                </a:path>
              </a:pathLst>
            </a:custGeom>
            <a:ln w="4763" cap="flat">
              <a:solidFill>
                <a:srgbClr val="003366">
                  <a:alpha val="19496"/>
                </a:srgbClr>
              </a:solidFill>
              <a:prstDash val="solid"/>
              <a:miter/>
            </a:ln>
          </p:spPr>
          <p:txBody>
            <a:bodyPr/>
            <a:lstStyle/>
            <a:p>
              <a:endParaRPr lang="en-US"/>
            </a:p>
          </p:txBody>
        </p:sp>
        <p:sp>
          <p:nvSpPr>
            <p:cNvPr id="129" name="Freeform 128">
              <a:extLst>
                <a:ext uri="{FF2B5EF4-FFF2-40B4-BE49-F238E27FC236}">
                  <a16:creationId xmlns:a16="http://schemas.microsoft.com/office/drawing/2014/main" id="{247A3FE7-9025-21DA-6F70-15931D59BDB9}"/>
                </a:ext>
              </a:extLst>
            </p:cNvPr>
            <p:cNvSpPr/>
            <p:nvPr/>
          </p:nvSpPr>
          <p:spPr>
            <a:xfrm>
              <a:off x="3838575" y="3258317"/>
              <a:ext cx="1857375" cy="95160"/>
            </a:xfrm>
            <a:custGeom>
              <a:avLst/>
              <a:gdLst>
                <a:gd name="csX0" fmla="*/ 0 w 1857375"/>
                <a:gd name="csY0" fmla="*/ 95161 h 95160"/>
                <a:gd name="csX1" fmla="*/ 1857375 w 1857375"/>
                <a:gd name="csY1" fmla="*/ 0 h 95160"/>
              </a:gdLst>
              <a:ahLst/>
              <a:cxnLst>
                <a:cxn ang="0">
                  <a:pos x="csX0" y="csY0"/>
                </a:cxn>
                <a:cxn ang="0">
                  <a:pos x="csX1" y="csY1"/>
                </a:cxn>
              </a:cxnLst>
              <a:rect l="l" t="t" r="r" b="b"/>
              <a:pathLst>
                <a:path w="1857375" h="95160">
                  <a:moveTo>
                    <a:pt x="0" y="95161"/>
                  </a:moveTo>
                  <a:lnTo>
                    <a:pt x="1857375" y="0"/>
                  </a:lnTo>
                </a:path>
              </a:pathLst>
            </a:custGeom>
            <a:ln w="4763" cap="flat">
              <a:solidFill>
                <a:srgbClr val="003366">
                  <a:alpha val="19496"/>
                </a:srgbClr>
              </a:solidFill>
              <a:prstDash val="solid"/>
              <a:miter/>
            </a:ln>
          </p:spPr>
          <p:txBody>
            <a:bodyPr/>
            <a:lstStyle/>
            <a:p>
              <a:endParaRPr lang="en-US"/>
            </a:p>
          </p:txBody>
        </p:sp>
        <p:sp>
          <p:nvSpPr>
            <p:cNvPr id="130" name="Freeform 129">
              <a:extLst>
                <a:ext uri="{FF2B5EF4-FFF2-40B4-BE49-F238E27FC236}">
                  <a16:creationId xmlns:a16="http://schemas.microsoft.com/office/drawing/2014/main" id="{3F4B31C1-F4DF-60F3-CB92-85144508388D}"/>
                </a:ext>
              </a:extLst>
            </p:cNvPr>
            <p:cNvSpPr/>
            <p:nvPr/>
          </p:nvSpPr>
          <p:spPr>
            <a:xfrm>
              <a:off x="3838575" y="3353478"/>
              <a:ext cx="1857375" cy="237901"/>
            </a:xfrm>
            <a:custGeom>
              <a:avLst/>
              <a:gdLst>
                <a:gd name="csX0" fmla="*/ 0 w 1857375"/>
                <a:gd name="csY0" fmla="*/ 0 h 237901"/>
                <a:gd name="csX1" fmla="*/ 1857375 w 1857375"/>
                <a:gd name="csY1" fmla="*/ 237901 h 237901"/>
              </a:gdLst>
              <a:ahLst/>
              <a:cxnLst>
                <a:cxn ang="0">
                  <a:pos x="csX0" y="csY0"/>
                </a:cxn>
                <a:cxn ang="0">
                  <a:pos x="csX1" y="csY1"/>
                </a:cxn>
              </a:cxnLst>
              <a:rect l="l" t="t" r="r" b="b"/>
              <a:pathLst>
                <a:path w="1857375" h="237901">
                  <a:moveTo>
                    <a:pt x="0" y="0"/>
                  </a:moveTo>
                  <a:lnTo>
                    <a:pt x="1857375" y="237901"/>
                  </a:lnTo>
                </a:path>
              </a:pathLst>
            </a:custGeom>
            <a:ln w="4763" cap="flat">
              <a:solidFill>
                <a:srgbClr val="003366">
                  <a:alpha val="19496"/>
                </a:srgbClr>
              </a:solidFill>
              <a:prstDash val="solid"/>
              <a:miter/>
            </a:ln>
          </p:spPr>
          <p:txBody>
            <a:bodyPr/>
            <a:lstStyle/>
            <a:p>
              <a:endParaRPr lang="en-US"/>
            </a:p>
          </p:txBody>
        </p:sp>
        <p:sp>
          <p:nvSpPr>
            <p:cNvPr id="131" name="Freeform 130">
              <a:extLst>
                <a:ext uri="{FF2B5EF4-FFF2-40B4-BE49-F238E27FC236}">
                  <a16:creationId xmlns:a16="http://schemas.microsoft.com/office/drawing/2014/main" id="{91572E5B-7175-5832-3E61-B0FA37680ADA}"/>
                </a:ext>
              </a:extLst>
            </p:cNvPr>
            <p:cNvSpPr/>
            <p:nvPr/>
          </p:nvSpPr>
          <p:spPr>
            <a:xfrm>
              <a:off x="3838575" y="3353478"/>
              <a:ext cx="1857375" cy="904025"/>
            </a:xfrm>
            <a:custGeom>
              <a:avLst/>
              <a:gdLst>
                <a:gd name="csX0" fmla="*/ 0 w 1857375"/>
                <a:gd name="csY0" fmla="*/ 0 h 904025"/>
                <a:gd name="csX1" fmla="*/ 1857375 w 1857375"/>
                <a:gd name="csY1" fmla="*/ 904025 h 904025"/>
              </a:gdLst>
              <a:ahLst/>
              <a:cxnLst>
                <a:cxn ang="0">
                  <a:pos x="csX0" y="csY0"/>
                </a:cxn>
                <a:cxn ang="0">
                  <a:pos x="csX1" y="csY1"/>
                </a:cxn>
              </a:cxnLst>
              <a:rect l="l" t="t" r="r" b="b"/>
              <a:pathLst>
                <a:path w="1857375" h="904025">
                  <a:moveTo>
                    <a:pt x="0" y="0"/>
                  </a:moveTo>
                  <a:lnTo>
                    <a:pt x="1857375" y="904025"/>
                  </a:lnTo>
                </a:path>
              </a:pathLst>
            </a:custGeom>
            <a:ln w="4763" cap="flat">
              <a:solidFill>
                <a:srgbClr val="003366">
                  <a:alpha val="19496"/>
                </a:srgbClr>
              </a:solidFill>
              <a:prstDash val="solid"/>
              <a:miter/>
            </a:ln>
          </p:spPr>
          <p:txBody>
            <a:bodyPr/>
            <a:lstStyle/>
            <a:p>
              <a:endParaRPr lang="en-US"/>
            </a:p>
          </p:txBody>
        </p:sp>
        <p:sp>
          <p:nvSpPr>
            <p:cNvPr id="132" name="Freeform 131">
              <a:extLst>
                <a:ext uri="{FF2B5EF4-FFF2-40B4-BE49-F238E27FC236}">
                  <a16:creationId xmlns:a16="http://schemas.microsoft.com/office/drawing/2014/main" id="{98C7D65A-E0AE-B609-257B-FE7119CF6E79}"/>
                </a:ext>
              </a:extLst>
            </p:cNvPr>
            <p:cNvSpPr/>
            <p:nvPr/>
          </p:nvSpPr>
          <p:spPr>
            <a:xfrm>
              <a:off x="3838575" y="3353478"/>
              <a:ext cx="1857375" cy="1237087"/>
            </a:xfrm>
            <a:custGeom>
              <a:avLst/>
              <a:gdLst>
                <a:gd name="csX0" fmla="*/ 0 w 1857375"/>
                <a:gd name="csY0" fmla="*/ 0 h 1237087"/>
                <a:gd name="csX1" fmla="*/ 1857375 w 1857375"/>
                <a:gd name="csY1" fmla="*/ 1237087 h 1237087"/>
              </a:gdLst>
              <a:ahLst/>
              <a:cxnLst>
                <a:cxn ang="0">
                  <a:pos x="csX0" y="csY0"/>
                </a:cxn>
                <a:cxn ang="0">
                  <a:pos x="csX1" y="csY1"/>
                </a:cxn>
              </a:cxnLst>
              <a:rect l="l" t="t" r="r" b="b"/>
              <a:pathLst>
                <a:path w="1857375" h="1237087">
                  <a:moveTo>
                    <a:pt x="0" y="0"/>
                  </a:moveTo>
                  <a:lnTo>
                    <a:pt x="1857375" y="1237087"/>
                  </a:lnTo>
                </a:path>
              </a:pathLst>
            </a:custGeom>
            <a:ln w="4763" cap="flat">
              <a:solidFill>
                <a:srgbClr val="003366">
                  <a:alpha val="19496"/>
                </a:srgbClr>
              </a:solidFill>
              <a:prstDash val="solid"/>
              <a:miter/>
            </a:ln>
          </p:spPr>
          <p:txBody>
            <a:bodyPr/>
            <a:lstStyle/>
            <a:p>
              <a:endParaRPr lang="en-US"/>
            </a:p>
          </p:txBody>
        </p:sp>
        <p:sp>
          <p:nvSpPr>
            <p:cNvPr id="133" name="Freeform 132">
              <a:extLst>
                <a:ext uri="{FF2B5EF4-FFF2-40B4-BE49-F238E27FC236}">
                  <a16:creationId xmlns:a16="http://schemas.microsoft.com/office/drawing/2014/main" id="{D95359EA-DB50-B674-EBCD-D6E56285D9DB}"/>
                </a:ext>
              </a:extLst>
            </p:cNvPr>
            <p:cNvSpPr/>
            <p:nvPr/>
          </p:nvSpPr>
          <p:spPr>
            <a:xfrm>
              <a:off x="3838575" y="3353478"/>
              <a:ext cx="1857375" cy="1570149"/>
            </a:xfrm>
            <a:custGeom>
              <a:avLst/>
              <a:gdLst>
                <a:gd name="csX0" fmla="*/ 0 w 1857375"/>
                <a:gd name="csY0" fmla="*/ 0 h 1570149"/>
                <a:gd name="csX1" fmla="*/ 1857375 w 1857375"/>
                <a:gd name="csY1" fmla="*/ 1570149 h 1570149"/>
              </a:gdLst>
              <a:ahLst/>
              <a:cxnLst>
                <a:cxn ang="0">
                  <a:pos x="csX0" y="csY0"/>
                </a:cxn>
                <a:cxn ang="0">
                  <a:pos x="csX1" y="csY1"/>
                </a:cxn>
              </a:cxnLst>
              <a:rect l="l" t="t" r="r" b="b"/>
              <a:pathLst>
                <a:path w="1857375" h="1570149">
                  <a:moveTo>
                    <a:pt x="0" y="0"/>
                  </a:moveTo>
                  <a:lnTo>
                    <a:pt x="1857375" y="1570149"/>
                  </a:lnTo>
                </a:path>
              </a:pathLst>
            </a:custGeom>
            <a:ln w="4763" cap="flat">
              <a:solidFill>
                <a:srgbClr val="003366">
                  <a:alpha val="19496"/>
                </a:srgbClr>
              </a:solidFill>
              <a:prstDash val="solid"/>
              <a:miter/>
            </a:ln>
          </p:spPr>
          <p:txBody>
            <a:bodyPr/>
            <a:lstStyle/>
            <a:p>
              <a:endParaRPr lang="en-US"/>
            </a:p>
          </p:txBody>
        </p:sp>
        <p:sp>
          <p:nvSpPr>
            <p:cNvPr id="134" name="Freeform 133">
              <a:extLst>
                <a:ext uri="{FF2B5EF4-FFF2-40B4-BE49-F238E27FC236}">
                  <a16:creationId xmlns:a16="http://schemas.microsoft.com/office/drawing/2014/main" id="{7BEB1900-23DD-EF15-56C0-0DE516DBE39A}"/>
                </a:ext>
              </a:extLst>
            </p:cNvPr>
            <p:cNvSpPr/>
            <p:nvPr/>
          </p:nvSpPr>
          <p:spPr>
            <a:xfrm>
              <a:off x="3838575" y="2925255"/>
              <a:ext cx="1857375" cy="789832"/>
            </a:xfrm>
            <a:custGeom>
              <a:avLst/>
              <a:gdLst>
                <a:gd name="csX0" fmla="*/ 0 w 1857375"/>
                <a:gd name="csY0" fmla="*/ 789833 h 789832"/>
                <a:gd name="csX1" fmla="*/ 1857375 w 1857375"/>
                <a:gd name="csY1" fmla="*/ 0 h 789832"/>
              </a:gdLst>
              <a:ahLst/>
              <a:cxnLst>
                <a:cxn ang="0">
                  <a:pos x="csX0" y="csY0"/>
                </a:cxn>
                <a:cxn ang="0">
                  <a:pos x="csX1" y="csY1"/>
                </a:cxn>
              </a:cxnLst>
              <a:rect l="l" t="t" r="r" b="b"/>
              <a:pathLst>
                <a:path w="1857375" h="789832">
                  <a:moveTo>
                    <a:pt x="0" y="789833"/>
                  </a:moveTo>
                  <a:lnTo>
                    <a:pt x="1857375" y="0"/>
                  </a:lnTo>
                </a:path>
              </a:pathLst>
            </a:custGeom>
            <a:ln w="4763" cap="flat">
              <a:solidFill>
                <a:srgbClr val="003366">
                  <a:alpha val="19496"/>
                </a:srgbClr>
              </a:solidFill>
              <a:prstDash val="solid"/>
              <a:miter/>
            </a:ln>
          </p:spPr>
          <p:txBody>
            <a:bodyPr/>
            <a:lstStyle/>
            <a:p>
              <a:endParaRPr lang="en-US"/>
            </a:p>
          </p:txBody>
        </p:sp>
        <p:sp>
          <p:nvSpPr>
            <p:cNvPr id="135" name="Freeform 134">
              <a:extLst>
                <a:ext uri="{FF2B5EF4-FFF2-40B4-BE49-F238E27FC236}">
                  <a16:creationId xmlns:a16="http://schemas.microsoft.com/office/drawing/2014/main" id="{F029FF30-1621-A32D-DC59-B4FDCA80A33C}"/>
                </a:ext>
              </a:extLst>
            </p:cNvPr>
            <p:cNvSpPr/>
            <p:nvPr/>
          </p:nvSpPr>
          <p:spPr>
            <a:xfrm>
              <a:off x="3838575" y="3258317"/>
              <a:ext cx="1857375" cy="456770"/>
            </a:xfrm>
            <a:custGeom>
              <a:avLst/>
              <a:gdLst>
                <a:gd name="csX0" fmla="*/ 0 w 1857375"/>
                <a:gd name="csY0" fmla="*/ 456771 h 456770"/>
                <a:gd name="csX1" fmla="*/ 1857375 w 1857375"/>
                <a:gd name="csY1" fmla="*/ 0 h 456770"/>
              </a:gdLst>
              <a:ahLst/>
              <a:cxnLst>
                <a:cxn ang="0">
                  <a:pos x="csX0" y="csY0"/>
                </a:cxn>
                <a:cxn ang="0">
                  <a:pos x="csX1" y="csY1"/>
                </a:cxn>
              </a:cxnLst>
              <a:rect l="l" t="t" r="r" b="b"/>
              <a:pathLst>
                <a:path w="1857375" h="456770">
                  <a:moveTo>
                    <a:pt x="0" y="456771"/>
                  </a:moveTo>
                  <a:lnTo>
                    <a:pt x="1857375" y="0"/>
                  </a:lnTo>
                </a:path>
              </a:pathLst>
            </a:custGeom>
            <a:ln w="4763" cap="flat">
              <a:solidFill>
                <a:srgbClr val="003366">
                  <a:alpha val="19496"/>
                </a:srgbClr>
              </a:solidFill>
              <a:prstDash val="solid"/>
              <a:miter/>
            </a:ln>
          </p:spPr>
          <p:txBody>
            <a:bodyPr/>
            <a:lstStyle/>
            <a:p>
              <a:endParaRPr lang="en-US"/>
            </a:p>
          </p:txBody>
        </p:sp>
        <p:sp>
          <p:nvSpPr>
            <p:cNvPr id="136" name="Freeform 135">
              <a:extLst>
                <a:ext uri="{FF2B5EF4-FFF2-40B4-BE49-F238E27FC236}">
                  <a16:creationId xmlns:a16="http://schemas.microsoft.com/office/drawing/2014/main" id="{EED59500-02CC-70DA-6D1D-3E40BF880EC0}"/>
                </a:ext>
              </a:extLst>
            </p:cNvPr>
            <p:cNvSpPr/>
            <p:nvPr/>
          </p:nvSpPr>
          <p:spPr>
            <a:xfrm>
              <a:off x="3838575" y="3591379"/>
              <a:ext cx="1857375" cy="123708"/>
            </a:xfrm>
            <a:custGeom>
              <a:avLst/>
              <a:gdLst>
                <a:gd name="csX0" fmla="*/ 0 w 1857375"/>
                <a:gd name="csY0" fmla="*/ 123709 h 123708"/>
                <a:gd name="csX1" fmla="*/ 1857375 w 1857375"/>
                <a:gd name="csY1" fmla="*/ 0 h 123708"/>
              </a:gdLst>
              <a:ahLst/>
              <a:cxnLst>
                <a:cxn ang="0">
                  <a:pos x="csX0" y="csY0"/>
                </a:cxn>
                <a:cxn ang="0">
                  <a:pos x="csX1" y="csY1"/>
                </a:cxn>
              </a:cxnLst>
              <a:rect l="l" t="t" r="r" b="b"/>
              <a:pathLst>
                <a:path w="1857375" h="123708">
                  <a:moveTo>
                    <a:pt x="0" y="123709"/>
                  </a:moveTo>
                  <a:lnTo>
                    <a:pt x="1857375" y="0"/>
                  </a:lnTo>
                </a:path>
              </a:pathLst>
            </a:custGeom>
            <a:ln w="4763" cap="flat">
              <a:solidFill>
                <a:srgbClr val="003366">
                  <a:alpha val="19496"/>
                </a:srgbClr>
              </a:solidFill>
              <a:prstDash val="solid"/>
              <a:miter/>
            </a:ln>
          </p:spPr>
          <p:txBody>
            <a:bodyPr/>
            <a:lstStyle/>
            <a:p>
              <a:endParaRPr lang="en-US"/>
            </a:p>
          </p:txBody>
        </p:sp>
        <p:sp>
          <p:nvSpPr>
            <p:cNvPr id="137" name="Freeform 136">
              <a:extLst>
                <a:ext uri="{FF2B5EF4-FFF2-40B4-BE49-F238E27FC236}">
                  <a16:creationId xmlns:a16="http://schemas.microsoft.com/office/drawing/2014/main" id="{4EEF5CEC-12A6-B16B-9B8E-3CF72FCF2425}"/>
                </a:ext>
              </a:extLst>
            </p:cNvPr>
            <p:cNvSpPr/>
            <p:nvPr/>
          </p:nvSpPr>
          <p:spPr>
            <a:xfrm>
              <a:off x="3838575" y="3715088"/>
              <a:ext cx="1857375" cy="542415"/>
            </a:xfrm>
            <a:custGeom>
              <a:avLst/>
              <a:gdLst>
                <a:gd name="csX0" fmla="*/ 0 w 1857375"/>
                <a:gd name="csY0" fmla="*/ 0 h 542415"/>
                <a:gd name="csX1" fmla="*/ 1857375 w 1857375"/>
                <a:gd name="csY1" fmla="*/ 542415 h 542415"/>
              </a:gdLst>
              <a:ahLst/>
              <a:cxnLst>
                <a:cxn ang="0">
                  <a:pos x="csX0" y="csY0"/>
                </a:cxn>
                <a:cxn ang="0">
                  <a:pos x="csX1" y="csY1"/>
                </a:cxn>
              </a:cxnLst>
              <a:rect l="l" t="t" r="r" b="b"/>
              <a:pathLst>
                <a:path w="1857375" h="542415">
                  <a:moveTo>
                    <a:pt x="0" y="0"/>
                  </a:moveTo>
                  <a:lnTo>
                    <a:pt x="1857375" y="542415"/>
                  </a:lnTo>
                </a:path>
              </a:pathLst>
            </a:custGeom>
            <a:ln w="4763" cap="flat">
              <a:solidFill>
                <a:srgbClr val="003366">
                  <a:alpha val="19496"/>
                </a:srgbClr>
              </a:solidFill>
              <a:prstDash val="solid"/>
              <a:miter/>
            </a:ln>
          </p:spPr>
          <p:txBody>
            <a:bodyPr/>
            <a:lstStyle/>
            <a:p>
              <a:endParaRPr lang="en-US"/>
            </a:p>
          </p:txBody>
        </p:sp>
        <p:sp>
          <p:nvSpPr>
            <p:cNvPr id="138" name="Freeform 137">
              <a:extLst>
                <a:ext uri="{FF2B5EF4-FFF2-40B4-BE49-F238E27FC236}">
                  <a16:creationId xmlns:a16="http://schemas.microsoft.com/office/drawing/2014/main" id="{B2B0F42E-760B-D4DB-8978-B2391734301D}"/>
                </a:ext>
              </a:extLst>
            </p:cNvPr>
            <p:cNvSpPr/>
            <p:nvPr/>
          </p:nvSpPr>
          <p:spPr>
            <a:xfrm>
              <a:off x="3838575" y="3715088"/>
              <a:ext cx="1857375" cy="875477"/>
            </a:xfrm>
            <a:custGeom>
              <a:avLst/>
              <a:gdLst>
                <a:gd name="csX0" fmla="*/ 0 w 1857375"/>
                <a:gd name="csY0" fmla="*/ 0 h 875477"/>
                <a:gd name="csX1" fmla="*/ 1857375 w 1857375"/>
                <a:gd name="csY1" fmla="*/ 875477 h 875477"/>
              </a:gdLst>
              <a:ahLst/>
              <a:cxnLst>
                <a:cxn ang="0">
                  <a:pos x="csX0" y="csY0"/>
                </a:cxn>
                <a:cxn ang="0">
                  <a:pos x="csX1" y="csY1"/>
                </a:cxn>
              </a:cxnLst>
              <a:rect l="l" t="t" r="r" b="b"/>
              <a:pathLst>
                <a:path w="1857375" h="875477">
                  <a:moveTo>
                    <a:pt x="0" y="0"/>
                  </a:moveTo>
                  <a:lnTo>
                    <a:pt x="1857375" y="875477"/>
                  </a:lnTo>
                </a:path>
              </a:pathLst>
            </a:custGeom>
            <a:ln w="4763" cap="flat">
              <a:solidFill>
                <a:srgbClr val="003366">
                  <a:alpha val="19496"/>
                </a:srgbClr>
              </a:solidFill>
              <a:prstDash val="solid"/>
              <a:miter/>
            </a:ln>
          </p:spPr>
          <p:txBody>
            <a:bodyPr/>
            <a:lstStyle/>
            <a:p>
              <a:endParaRPr lang="en-US"/>
            </a:p>
          </p:txBody>
        </p:sp>
        <p:sp>
          <p:nvSpPr>
            <p:cNvPr id="139" name="Freeform 138">
              <a:extLst>
                <a:ext uri="{FF2B5EF4-FFF2-40B4-BE49-F238E27FC236}">
                  <a16:creationId xmlns:a16="http://schemas.microsoft.com/office/drawing/2014/main" id="{3D633F88-77F7-4F73-C154-AE8929BBD143}"/>
                </a:ext>
              </a:extLst>
            </p:cNvPr>
            <p:cNvSpPr/>
            <p:nvPr/>
          </p:nvSpPr>
          <p:spPr>
            <a:xfrm>
              <a:off x="3838575" y="3715088"/>
              <a:ext cx="1857375" cy="1208539"/>
            </a:xfrm>
            <a:custGeom>
              <a:avLst/>
              <a:gdLst>
                <a:gd name="csX0" fmla="*/ 0 w 1857375"/>
                <a:gd name="csY0" fmla="*/ 0 h 1208539"/>
                <a:gd name="csX1" fmla="*/ 1857375 w 1857375"/>
                <a:gd name="csY1" fmla="*/ 1208539 h 1208539"/>
              </a:gdLst>
              <a:ahLst/>
              <a:cxnLst>
                <a:cxn ang="0">
                  <a:pos x="csX0" y="csY0"/>
                </a:cxn>
                <a:cxn ang="0">
                  <a:pos x="csX1" y="csY1"/>
                </a:cxn>
              </a:cxnLst>
              <a:rect l="l" t="t" r="r" b="b"/>
              <a:pathLst>
                <a:path w="1857375" h="1208539">
                  <a:moveTo>
                    <a:pt x="0" y="0"/>
                  </a:moveTo>
                  <a:lnTo>
                    <a:pt x="1857375" y="1208539"/>
                  </a:lnTo>
                </a:path>
              </a:pathLst>
            </a:custGeom>
            <a:ln w="4763" cap="flat">
              <a:solidFill>
                <a:srgbClr val="003366">
                  <a:alpha val="19496"/>
                </a:srgbClr>
              </a:solidFill>
              <a:prstDash val="solid"/>
              <a:miter/>
            </a:ln>
          </p:spPr>
          <p:txBody>
            <a:bodyPr/>
            <a:lstStyle/>
            <a:p>
              <a:endParaRPr lang="en-US"/>
            </a:p>
          </p:txBody>
        </p:sp>
        <p:sp>
          <p:nvSpPr>
            <p:cNvPr id="140" name="Freeform 139">
              <a:extLst>
                <a:ext uri="{FF2B5EF4-FFF2-40B4-BE49-F238E27FC236}">
                  <a16:creationId xmlns:a16="http://schemas.microsoft.com/office/drawing/2014/main" id="{435FC7F7-A00D-7107-CA3C-B12A75225BBC}"/>
                </a:ext>
              </a:extLst>
            </p:cNvPr>
            <p:cNvSpPr/>
            <p:nvPr/>
          </p:nvSpPr>
          <p:spPr>
            <a:xfrm>
              <a:off x="3838575" y="2925255"/>
              <a:ext cx="1857375" cy="1151442"/>
            </a:xfrm>
            <a:custGeom>
              <a:avLst/>
              <a:gdLst>
                <a:gd name="csX0" fmla="*/ 0 w 1857375"/>
                <a:gd name="csY0" fmla="*/ 1151443 h 1151442"/>
                <a:gd name="csX1" fmla="*/ 1857375 w 1857375"/>
                <a:gd name="csY1" fmla="*/ 0 h 1151442"/>
              </a:gdLst>
              <a:ahLst/>
              <a:cxnLst>
                <a:cxn ang="0">
                  <a:pos x="csX0" y="csY0"/>
                </a:cxn>
                <a:cxn ang="0">
                  <a:pos x="csX1" y="csY1"/>
                </a:cxn>
              </a:cxnLst>
              <a:rect l="l" t="t" r="r" b="b"/>
              <a:pathLst>
                <a:path w="1857375" h="1151442">
                  <a:moveTo>
                    <a:pt x="0" y="1151443"/>
                  </a:moveTo>
                  <a:lnTo>
                    <a:pt x="1857375" y="0"/>
                  </a:lnTo>
                </a:path>
              </a:pathLst>
            </a:custGeom>
            <a:ln w="4763" cap="flat">
              <a:solidFill>
                <a:srgbClr val="003366">
                  <a:alpha val="19496"/>
                </a:srgbClr>
              </a:solidFill>
              <a:prstDash val="solid"/>
              <a:miter/>
            </a:ln>
          </p:spPr>
          <p:txBody>
            <a:bodyPr/>
            <a:lstStyle/>
            <a:p>
              <a:endParaRPr lang="en-US"/>
            </a:p>
          </p:txBody>
        </p:sp>
        <p:sp>
          <p:nvSpPr>
            <p:cNvPr id="141" name="Freeform 140">
              <a:extLst>
                <a:ext uri="{FF2B5EF4-FFF2-40B4-BE49-F238E27FC236}">
                  <a16:creationId xmlns:a16="http://schemas.microsoft.com/office/drawing/2014/main" id="{FC297CB9-8139-8D46-FB2E-F094CF57F7D6}"/>
                </a:ext>
              </a:extLst>
            </p:cNvPr>
            <p:cNvSpPr/>
            <p:nvPr/>
          </p:nvSpPr>
          <p:spPr>
            <a:xfrm>
              <a:off x="3838575" y="3258317"/>
              <a:ext cx="1857375" cy="818380"/>
            </a:xfrm>
            <a:custGeom>
              <a:avLst/>
              <a:gdLst>
                <a:gd name="csX0" fmla="*/ 0 w 1857375"/>
                <a:gd name="csY0" fmla="*/ 818381 h 818380"/>
                <a:gd name="csX1" fmla="*/ 1857375 w 1857375"/>
                <a:gd name="csY1" fmla="*/ 0 h 818380"/>
              </a:gdLst>
              <a:ahLst/>
              <a:cxnLst>
                <a:cxn ang="0">
                  <a:pos x="csX0" y="csY0"/>
                </a:cxn>
                <a:cxn ang="0">
                  <a:pos x="csX1" y="csY1"/>
                </a:cxn>
              </a:cxnLst>
              <a:rect l="l" t="t" r="r" b="b"/>
              <a:pathLst>
                <a:path w="1857375" h="818380">
                  <a:moveTo>
                    <a:pt x="0" y="818381"/>
                  </a:moveTo>
                  <a:lnTo>
                    <a:pt x="1857375" y="0"/>
                  </a:lnTo>
                </a:path>
              </a:pathLst>
            </a:custGeom>
            <a:ln w="4763" cap="flat">
              <a:solidFill>
                <a:srgbClr val="003366">
                  <a:alpha val="19496"/>
                </a:srgbClr>
              </a:solidFill>
              <a:prstDash val="solid"/>
              <a:miter/>
            </a:ln>
          </p:spPr>
          <p:txBody>
            <a:bodyPr/>
            <a:lstStyle/>
            <a:p>
              <a:endParaRPr lang="en-US"/>
            </a:p>
          </p:txBody>
        </p:sp>
        <p:sp>
          <p:nvSpPr>
            <p:cNvPr id="142" name="Freeform 141">
              <a:extLst>
                <a:ext uri="{FF2B5EF4-FFF2-40B4-BE49-F238E27FC236}">
                  <a16:creationId xmlns:a16="http://schemas.microsoft.com/office/drawing/2014/main" id="{13679659-E51F-61E4-4900-D07394D366E9}"/>
                </a:ext>
              </a:extLst>
            </p:cNvPr>
            <p:cNvSpPr/>
            <p:nvPr/>
          </p:nvSpPr>
          <p:spPr>
            <a:xfrm>
              <a:off x="3838575" y="3591379"/>
              <a:ext cx="1857375" cy="485318"/>
            </a:xfrm>
            <a:custGeom>
              <a:avLst/>
              <a:gdLst>
                <a:gd name="csX0" fmla="*/ 0 w 1857375"/>
                <a:gd name="csY0" fmla="*/ 485319 h 485318"/>
                <a:gd name="csX1" fmla="*/ 1857375 w 1857375"/>
                <a:gd name="csY1" fmla="*/ 0 h 485318"/>
              </a:gdLst>
              <a:ahLst/>
              <a:cxnLst>
                <a:cxn ang="0">
                  <a:pos x="csX0" y="csY0"/>
                </a:cxn>
                <a:cxn ang="0">
                  <a:pos x="csX1" y="csY1"/>
                </a:cxn>
              </a:cxnLst>
              <a:rect l="l" t="t" r="r" b="b"/>
              <a:pathLst>
                <a:path w="1857375" h="485318">
                  <a:moveTo>
                    <a:pt x="0" y="485319"/>
                  </a:moveTo>
                  <a:lnTo>
                    <a:pt x="1857375" y="0"/>
                  </a:lnTo>
                </a:path>
              </a:pathLst>
            </a:custGeom>
            <a:ln w="4763" cap="flat">
              <a:solidFill>
                <a:srgbClr val="003366">
                  <a:alpha val="19496"/>
                </a:srgbClr>
              </a:solidFill>
              <a:prstDash val="solid"/>
              <a:miter/>
            </a:ln>
          </p:spPr>
          <p:txBody>
            <a:bodyPr/>
            <a:lstStyle/>
            <a:p>
              <a:endParaRPr lang="en-US"/>
            </a:p>
          </p:txBody>
        </p:sp>
        <p:sp>
          <p:nvSpPr>
            <p:cNvPr id="143" name="Freeform 142">
              <a:extLst>
                <a:ext uri="{FF2B5EF4-FFF2-40B4-BE49-F238E27FC236}">
                  <a16:creationId xmlns:a16="http://schemas.microsoft.com/office/drawing/2014/main" id="{69E6F363-E113-5ACF-4928-46CB43800D35}"/>
                </a:ext>
              </a:extLst>
            </p:cNvPr>
            <p:cNvSpPr/>
            <p:nvPr/>
          </p:nvSpPr>
          <p:spPr>
            <a:xfrm>
              <a:off x="3838575" y="4076698"/>
              <a:ext cx="1857375" cy="180805"/>
            </a:xfrm>
            <a:custGeom>
              <a:avLst/>
              <a:gdLst>
                <a:gd name="csX0" fmla="*/ 0 w 1857375"/>
                <a:gd name="csY0" fmla="*/ 0 h 180805"/>
                <a:gd name="csX1" fmla="*/ 1857375 w 1857375"/>
                <a:gd name="csY1" fmla="*/ 180805 h 180805"/>
              </a:gdLst>
              <a:ahLst/>
              <a:cxnLst>
                <a:cxn ang="0">
                  <a:pos x="csX0" y="csY0"/>
                </a:cxn>
                <a:cxn ang="0">
                  <a:pos x="csX1" y="csY1"/>
                </a:cxn>
              </a:cxnLst>
              <a:rect l="l" t="t" r="r" b="b"/>
              <a:pathLst>
                <a:path w="1857375" h="180805">
                  <a:moveTo>
                    <a:pt x="0" y="0"/>
                  </a:moveTo>
                  <a:lnTo>
                    <a:pt x="1857375" y="180805"/>
                  </a:lnTo>
                </a:path>
              </a:pathLst>
            </a:custGeom>
            <a:ln w="4763" cap="flat">
              <a:solidFill>
                <a:srgbClr val="003366">
                  <a:alpha val="19496"/>
                </a:srgbClr>
              </a:solidFill>
              <a:prstDash val="solid"/>
              <a:miter/>
            </a:ln>
          </p:spPr>
          <p:txBody>
            <a:bodyPr/>
            <a:lstStyle/>
            <a:p>
              <a:endParaRPr lang="en-US"/>
            </a:p>
          </p:txBody>
        </p:sp>
        <p:sp>
          <p:nvSpPr>
            <p:cNvPr id="144" name="Freeform 143">
              <a:extLst>
                <a:ext uri="{FF2B5EF4-FFF2-40B4-BE49-F238E27FC236}">
                  <a16:creationId xmlns:a16="http://schemas.microsoft.com/office/drawing/2014/main" id="{39FA0571-2B5A-FCBC-7084-3FD0FD9AF4E1}"/>
                </a:ext>
              </a:extLst>
            </p:cNvPr>
            <p:cNvSpPr/>
            <p:nvPr/>
          </p:nvSpPr>
          <p:spPr>
            <a:xfrm>
              <a:off x="3838575" y="4076698"/>
              <a:ext cx="1857375" cy="513867"/>
            </a:xfrm>
            <a:custGeom>
              <a:avLst/>
              <a:gdLst>
                <a:gd name="csX0" fmla="*/ 0 w 1857375"/>
                <a:gd name="csY0" fmla="*/ 0 h 513867"/>
                <a:gd name="csX1" fmla="*/ 1857375 w 1857375"/>
                <a:gd name="csY1" fmla="*/ 513867 h 513867"/>
              </a:gdLst>
              <a:ahLst/>
              <a:cxnLst>
                <a:cxn ang="0">
                  <a:pos x="csX0" y="csY0"/>
                </a:cxn>
                <a:cxn ang="0">
                  <a:pos x="csX1" y="csY1"/>
                </a:cxn>
              </a:cxnLst>
              <a:rect l="l" t="t" r="r" b="b"/>
              <a:pathLst>
                <a:path w="1857375" h="513867">
                  <a:moveTo>
                    <a:pt x="0" y="0"/>
                  </a:moveTo>
                  <a:lnTo>
                    <a:pt x="1857375" y="513867"/>
                  </a:lnTo>
                </a:path>
              </a:pathLst>
            </a:custGeom>
            <a:ln w="4763" cap="flat">
              <a:solidFill>
                <a:srgbClr val="003366">
                  <a:alpha val="19496"/>
                </a:srgbClr>
              </a:solidFill>
              <a:prstDash val="solid"/>
              <a:miter/>
            </a:ln>
          </p:spPr>
          <p:txBody>
            <a:bodyPr/>
            <a:lstStyle/>
            <a:p>
              <a:endParaRPr lang="en-US"/>
            </a:p>
          </p:txBody>
        </p:sp>
        <p:sp>
          <p:nvSpPr>
            <p:cNvPr id="145" name="Freeform 144">
              <a:extLst>
                <a:ext uri="{FF2B5EF4-FFF2-40B4-BE49-F238E27FC236}">
                  <a16:creationId xmlns:a16="http://schemas.microsoft.com/office/drawing/2014/main" id="{4D565F69-535C-FCCC-0605-4FC1FA4B2968}"/>
                </a:ext>
              </a:extLst>
            </p:cNvPr>
            <p:cNvSpPr/>
            <p:nvPr/>
          </p:nvSpPr>
          <p:spPr>
            <a:xfrm>
              <a:off x="3838575" y="4076698"/>
              <a:ext cx="1857375" cy="846929"/>
            </a:xfrm>
            <a:custGeom>
              <a:avLst/>
              <a:gdLst>
                <a:gd name="csX0" fmla="*/ 0 w 1857375"/>
                <a:gd name="csY0" fmla="*/ 0 h 846929"/>
                <a:gd name="csX1" fmla="*/ 1857375 w 1857375"/>
                <a:gd name="csY1" fmla="*/ 846929 h 846929"/>
              </a:gdLst>
              <a:ahLst/>
              <a:cxnLst>
                <a:cxn ang="0">
                  <a:pos x="csX0" y="csY0"/>
                </a:cxn>
                <a:cxn ang="0">
                  <a:pos x="csX1" y="csY1"/>
                </a:cxn>
              </a:cxnLst>
              <a:rect l="l" t="t" r="r" b="b"/>
              <a:pathLst>
                <a:path w="1857375" h="846929">
                  <a:moveTo>
                    <a:pt x="0" y="0"/>
                  </a:moveTo>
                  <a:lnTo>
                    <a:pt x="1857375" y="846929"/>
                  </a:lnTo>
                </a:path>
              </a:pathLst>
            </a:custGeom>
            <a:ln w="4763" cap="flat">
              <a:solidFill>
                <a:srgbClr val="003366">
                  <a:alpha val="19496"/>
                </a:srgbClr>
              </a:solidFill>
              <a:prstDash val="solid"/>
              <a:miter/>
            </a:ln>
          </p:spPr>
          <p:txBody>
            <a:bodyPr/>
            <a:lstStyle/>
            <a:p>
              <a:endParaRPr lang="en-US"/>
            </a:p>
          </p:txBody>
        </p:sp>
        <p:sp>
          <p:nvSpPr>
            <p:cNvPr id="146" name="Freeform 145">
              <a:extLst>
                <a:ext uri="{FF2B5EF4-FFF2-40B4-BE49-F238E27FC236}">
                  <a16:creationId xmlns:a16="http://schemas.microsoft.com/office/drawing/2014/main" id="{D2F6D37B-2615-8CED-30E8-49FFE4F825D5}"/>
                </a:ext>
              </a:extLst>
            </p:cNvPr>
            <p:cNvSpPr/>
            <p:nvPr/>
          </p:nvSpPr>
          <p:spPr>
            <a:xfrm>
              <a:off x="3838575" y="2925255"/>
              <a:ext cx="1857375" cy="1513052"/>
            </a:xfrm>
            <a:custGeom>
              <a:avLst/>
              <a:gdLst>
                <a:gd name="csX0" fmla="*/ 0 w 1857375"/>
                <a:gd name="csY0" fmla="*/ 1513053 h 1513052"/>
                <a:gd name="csX1" fmla="*/ 1857375 w 1857375"/>
                <a:gd name="csY1" fmla="*/ 0 h 1513052"/>
              </a:gdLst>
              <a:ahLst/>
              <a:cxnLst>
                <a:cxn ang="0">
                  <a:pos x="csX0" y="csY0"/>
                </a:cxn>
                <a:cxn ang="0">
                  <a:pos x="csX1" y="csY1"/>
                </a:cxn>
              </a:cxnLst>
              <a:rect l="l" t="t" r="r" b="b"/>
              <a:pathLst>
                <a:path w="1857375" h="1513052">
                  <a:moveTo>
                    <a:pt x="0" y="1513053"/>
                  </a:moveTo>
                  <a:lnTo>
                    <a:pt x="1857375" y="0"/>
                  </a:lnTo>
                </a:path>
              </a:pathLst>
            </a:custGeom>
            <a:ln w="4763" cap="flat">
              <a:solidFill>
                <a:srgbClr val="003366">
                  <a:alpha val="19496"/>
                </a:srgbClr>
              </a:solidFill>
              <a:prstDash val="solid"/>
              <a:miter/>
            </a:ln>
          </p:spPr>
          <p:txBody>
            <a:bodyPr/>
            <a:lstStyle/>
            <a:p>
              <a:endParaRPr lang="en-US"/>
            </a:p>
          </p:txBody>
        </p:sp>
        <p:sp>
          <p:nvSpPr>
            <p:cNvPr id="147" name="Freeform 146">
              <a:extLst>
                <a:ext uri="{FF2B5EF4-FFF2-40B4-BE49-F238E27FC236}">
                  <a16:creationId xmlns:a16="http://schemas.microsoft.com/office/drawing/2014/main" id="{64E45F03-AB06-1817-DB35-75C20DF81EA6}"/>
                </a:ext>
              </a:extLst>
            </p:cNvPr>
            <p:cNvSpPr/>
            <p:nvPr/>
          </p:nvSpPr>
          <p:spPr>
            <a:xfrm>
              <a:off x="3838575" y="3258317"/>
              <a:ext cx="1857375" cy="1179990"/>
            </a:xfrm>
            <a:custGeom>
              <a:avLst/>
              <a:gdLst>
                <a:gd name="csX0" fmla="*/ 0 w 1857375"/>
                <a:gd name="csY0" fmla="*/ 1179991 h 1179990"/>
                <a:gd name="csX1" fmla="*/ 1857375 w 1857375"/>
                <a:gd name="csY1" fmla="*/ 0 h 1179990"/>
              </a:gdLst>
              <a:ahLst/>
              <a:cxnLst>
                <a:cxn ang="0">
                  <a:pos x="csX0" y="csY0"/>
                </a:cxn>
                <a:cxn ang="0">
                  <a:pos x="csX1" y="csY1"/>
                </a:cxn>
              </a:cxnLst>
              <a:rect l="l" t="t" r="r" b="b"/>
              <a:pathLst>
                <a:path w="1857375" h="1179990">
                  <a:moveTo>
                    <a:pt x="0" y="1179991"/>
                  </a:moveTo>
                  <a:lnTo>
                    <a:pt x="1857375" y="0"/>
                  </a:lnTo>
                </a:path>
              </a:pathLst>
            </a:custGeom>
            <a:ln w="4763" cap="flat">
              <a:solidFill>
                <a:srgbClr val="003366">
                  <a:alpha val="19496"/>
                </a:srgbClr>
              </a:solidFill>
              <a:prstDash val="solid"/>
              <a:miter/>
            </a:ln>
          </p:spPr>
          <p:txBody>
            <a:bodyPr/>
            <a:lstStyle/>
            <a:p>
              <a:endParaRPr lang="en-US"/>
            </a:p>
          </p:txBody>
        </p:sp>
        <p:sp>
          <p:nvSpPr>
            <p:cNvPr id="148" name="Freeform 147">
              <a:extLst>
                <a:ext uri="{FF2B5EF4-FFF2-40B4-BE49-F238E27FC236}">
                  <a16:creationId xmlns:a16="http://schemas.microsoft.com/office/drawing/2014/main" id="{36FF3154-42ED-BC2F-1E8B-30049F089400}"/>
                </a:ext>
              </a:extLst>
            </p:cNvPr>
            <p:cNvSpPr/>
            <p:nvPr/>
          </p:nvSpPr>
          <p:spPr>
            <a:xfrm>
              <a:off x="3838575" y="3591379"/>
              <a:ext cx="1857375" cy="846929"/>
            </a:xfrm>
            <a:custGeom>
              <a:avLst/>
              <a:gdLst>
                <a:gd name="csX0" fmla="*/ 0 w 1857375"/>
                <a:gd name="csY0" fmla="*/ 846929 h 846929"/>
                <a:gd name="csX1" fmla="*/ 1857375 w 1857375"/>
                <a:gd name="csY1" fmla="*/ 0 h 846929"/>
              </a:gdLst>
              <a:ahLst/>
              <a:cxnLst>
                <a:cxn ang="0">
                  <a:pos x="csX0" y="csY0"/>
                </a:cxn>
                <a:cxn ang="0">
                  <a:pos x="csX1" y="csY1"/>
                </a:cxn>
              </a:cxnLst>
              <a:rect l="l" t="t" r="r" b="b"/>
              <a:pathLst>
                <a:path w="1857375" h="846929">
                  <a:moveTo>
                    <a:pt x="0" y="846929"/>
                  </a:moveTo>
                  <a:lnTo>
                    <a:pt x="1857375" y="0"/>
                  </a:lnTo>
                </a:path>
              </a:pathLst>
            </a:custGeom>
            <a:ln w="4763" cap="flat">
              <a:solidFill>
                <a:srgbClr val="003366">
                  <a:alpha val="19496"/>
                </a:srgbClr>
              </a:solidFill>
              <a:prstDash val="solid"/>
              <a:miter/>
            </a:ln>
          </p:spPr>
          <p:txBody>
            <a:bodyPr/>
            <a:lstStyle/>
            <a:p>
              <a:endParaRPr lang="en-US"/>
            </a:p>
          </p:txBody>
        </p:sp>
        <p:sp>
          <p:nvSpPr>
            <p:cNvPr id="149" name="Freeform 148">
              <a:extLst>
                <a:ext uri="{FF2B5EF4-FFF2-40B4-BE49-F238E27FC236}">
                  <a16:creationId xmlns:a16="http://schemas.microsoft.com/office/drawing/2014/main" id="{949EE6F2-F5DB-AC33-C59B-D5C39F245E3D}"/>
                </a:ext>
              </a:extLst>
            </p:cNvPr>
            <p:cNvSpPr/>
            <p:nvPr/>
          </p:nvSpPr>
          <p:spPr>
            <a:xfrm>
              <a:off x="3838575" y="4257503"/>
              <a:ext cx="1857375" cy="180805"/>
            </a:xfrm>
            <a:custGeom>
              <a:avLst/>
              <a:gdLst>
                <a:gd name="csX0" fmla="*/ 0 w 1857375"/>
                <a:gd name="csY0" fmla="*/ 180805 h 180805"/>
                <a:gd name="csX1" fmla="*/ 1857375 w 1857375"/>
                <a:gd name="csY1" fmla="*/ 0 h 180805"/>
              </a:gdLst>
              <a:ahLst/>
              <a:cxnLst>
                <a:cxn ang="0">
                  <a:pos x="csX0" y="csY0"/>
                </a:cxn>
                <a:cxn ang="0">
                  <a:pos x="csX1" y="csY1"/>
                </a:cxn>
              </a:cxnLst>
              <a:rect l="l" t="t" r="r" b="b"/>
              <a:pathLst>
                <a:path w="1857375" h="180805">
                  <a:moveTo>
                    <a:pt x="0" y="180805"/>
                  </a:moveTo>
                  <a:lnTo>
                    <a:pt x="1857375" y="0"/>
                  </a:lnTo>
                </a:path>
              </a:pathLst>
            </a:custGeom>
            <a:ln w="4763" cap="flat">
              <a:solidFill>
                <a:srgbClr val="003366">
                  <a:alpha val="19496"/>
                </a:srgbClr>
              </a:solidFill>
              <a:prstDash val="solid"/>
              <a:miter/>
            </a:ln>
          </p:spPr>
          <p:txBody>
            <a:bodyPr/>
            <a:lstStyle/>
            <a:p>
              <a:endParaRPr lang="en-US"/>
            </a:p>
          </p:txBody>
        </p:sp>
        <p:sp>
          <p:nvSpPr>
            <p:cNvPr id="150" name="Freeform 149">
              <a:extLst>
                <a:ext uri="{FF2B5EF4-FFF2-40B4-BE49-F238E27FC236}">
                  <a16:creationId xmlns:a16="http://schemas.microsoft.com/office/drawing/2014/main" id="{433EE0DC-A34E-3584-26B8-5BC28225CA5A}"/>
                </a:ext>
              </a:extLst>
            </p:cNvPr>
            <p:cNvSpPr/>
            <p:nvPr/>
          </p:nvSpPr>
          <p:spPr>
            <a:xfrm>
              <a:off x="3838575" y="4438308"/>
              <a:ext cx="1857375" cy="152256"/>
            </a:xfrm>
            <a:custGeom>
              <a:avLst/>
              <a:gdLst>
                <a:gd name="csX0" fmla="*/ 0 w 1857375"/>
                <a:gd name="csY0" fmla="*/ 0 h 152256"/>
                <a:gd name="csX1" fmla="*/ 1857375 w 1857375"/>
                <a:gd name="csY1" fmla="*/ 152257 h 152256"/>
              </a:gdLst>
              <a:ahLst/>
              <a:cxnLst>
                <a:cxn ang="0">
                  <a:pos x="csX0" y="csY0"/>
                </a:cxn>
                <a:cxn ang="0">
                  <a:pos x="csX1" y="csY1"/>
                </a:cxn>
              </a:cxnLst>
              <a:rect l="l" t="t" r="r" b="b"/>
              <a:pathLst>
                <a:path w="1857375" h="152256">
                  <a:moveTo>
                    <a:pt x="0" y="0"/>
                  </a:moveTo>
                  <a:lnTo>
                    <a:pt x="1857375" y="152257"/>
                  </a:lnTo>
                </a:path>
              </a:pathLst>
            </a:custGeom>
            <a:ln w="4763" cap="flat">
              <a:solidFill>
                <a:srgbClr val="003366">
                  <a:alpha val="19496"/>
                </a:srgbClr>
              </a:solidFill>
              <a:prstDash val="solid"/>
              <a:miter/>
            </a:ln>
          </p:spPr>
          <p:txBody>
            <a:bodyPr/>
            <a:lstStyle/>
            <a:p>
              <a:endParaRPr lang="en-US"/>
            </a:p>
          </p:txBody>
        </p:sp>
        <p:sp>
          <p:nvSpPr>
            <p:cNvPr id="151" name="Freeform 150">
              <a:extLst>
                <a:ext uri="{FF2B5EF4-FFF2-40B4-BE49-F238E27FC236}">
                  <a16:creationId xmlns:a16="http://schemas.microsoft.com/office/drawing/2014/main" id="{515481A5-E99F-EB4C-E1D2-105BE0A7AE92}"/>
                </a:ext>
              </a:extLst>
            </p:cNvPr>
            <p:cNvSpPr/>
            <p:nvPr/>
          </p:nvSpPr>
          <p:spPr>
            <a:xfrm>
              <a:off x="3838575" y="4438308"/>
              <a:ext cx="1857375" cy="485318"/>
            </a:xfrm>
            <a:custGeom>
              <a:avLst/>
              <a:gdLst>
                <a:gd name="csX0" fmla="*/ 0 w 1857375"/>
                <a:gd name="csY0" fmla="*/ 0 h 485318"/>
                <a:gd name="csX1" fmla="*/ 1857375 w 1857375"/>
                <a:gd name="csY1" fmla="*/ 485319 h 485318"/>
              </a:gdLst>
              <a:ahLst/>
              <a:cxnLst>
                <a:cxn ang="0">
                  <a:pos x="csX0" y="csY0"/>
                </a:cxn>
                <a:cxn ang="0">
                  <a:pos x="csX1" y="csY1"/>
                </a:cxn>
              </a:cxnLst>
              <a:rect l="l" t="t" r="r" b="b"/>
              <a:pathLst>
                <a:path w="1857375" h="485318">
                  <a:moveTo>
                    <a:pt x="0" y="0"/>
                  </a:moveTo>
                  <a:lnTo>
                    <a:pt x="1857375" y="485319"/>
                  </a:lnTo>
                </a:path>
              </a:pathLst>
            </a:custGeom>
            <a:ln w="4763" cap="flat">
              <a:solidFill>
                <a:srgbClr val="003366">
                  <a:alpha val="19496"/>
                </a:srgbClr>
              </a:solidFill>
              <a:prstDash val="solid"/>
              <a:miter/>
            </a:ln>
          </p:spPr>
          <p:txBody>
            <a:bodyPr/>
            <a:lstStyle/>
            <a:p>
              <a:endParaRPr lang="en-US"/>
            </a:p>
          </p:txBody>
        </p:sp>
        <p:sp>
          <p:nvSpPr>
            <p:cNvPr id="152" name="Freeform 151">
              <a:extLst>
                <a:ext uri="{FF2B5EF4-FFF2-40B4-BE49-F238E27FC236}">
                  <a16:creationId xmlns:a16="http://schemas.microsoft.com/office/drawing/2014/main" id="{9356A2CF-8057-A195-B0A9-2E8BE0BBA2C3}"/>
                </a:ext>
              </a:extLst>
            </p:cNvPr>
            <p:cNvSpPr/>
            <p:nvPr/>
          </p:nvSpPr>
          <p:spPr>
            <a:xfrm>
              <a:off x="3838575" y="2925255"/>
              <a:ext cx="1857375" cy="1874663"/>
            </a:xfrm>
            <a:custGeom>
              <a:avLst/>
              <a:gdLst>
                <a:gd name="csX0" fmla="*/ 0 w 1857375"/>
                <a:gd name="csY0" fmla="*/ 1874663 h 1874663"/>
                <a:gd name="csX1" fmla="*/ 1857375 w 1857375"/>
                <a:gd name="csY1" fmla="*/ 0 h 1874663"/>
              </a:gdLst>
              <a:ahLst/>
              <a:cxnLst>
                <a:cxn ang="0">
                  <a:pos x="csX0" y="csY0"/>
                </a:cxn>
                <a:cxn ang="0">
                  <a:pos x="csX1" y="csY1"/>
                </a:cxn>
              </a:cxnLst>
              <a:rect l="l" t="t" r="r" b="b"/>
              <a:pathLst>
                <a:path w="1857375" h="1874663">
                  <a:moveTo>
                    <a:pt x="0" y="1874663"/>
                  </a:moveTo>
                  <a:lnTo>
                    <a:pt x="1857375" y="0"/>
                  </a:lnTo>
                </a:path>
              </a:pathLst>
            </a:custGeom>
            <a:ln w="4763" cap="flat">
              <a:solidFill>
                <a:srgbClr val="003366">
                  <a:alpha val="19496"/>
                </a:srgbClr>
              </a:solidFill>
              <a:prstDash val="solid"/>
              <a:miter/>
            </a:ln>
          </p:spPr>
          <p:txBody>
            <a:bodyPr/>
            <a:lstStyle/>
            <a:p>
              <a:endParaRPr lang="en-US"/>
            </a:p>
          </p:txBody>
        </p:sp>
        <p:sp>
          <p:nvSpPr>
            <p:cNvPr id="153" name="Freeform 152">
              <a:extLst>
                <a:ext uri="{FF2B5EF4-FFF2-40B4-BE49-F238E27FC236}">
                  <a16:creationId xmlns:a16="http://schemas.microsoft.com/office/drawing/2014/main" id="{6D34F448-4D4A-641B-C946-5E1C7FED6F0C}"/>
                </a:ext>
              </a:extLst>
            </p:cNvPr>
            <p:cNvSpPr/>
            <p:nvPr/>
          </p:nvSpPr>
          <p:spPr>
            <a:xfrm>
              <a:off x="3838575" y="3258317"/>
              <a:ext cx="1857375" cy="1541601"/>
            </a:xfrm>
            <a:custGeom>
              <a:avLst/>
              <a:gdLst>
                <a:gd name="csX0" fmla="*/ 0 w 1857375"/>
                <a:gd name="csY0" fmla="*/ 1541601 h 1541601"/>
                <a:gd name="csX1" fmla="*/ 1857375 w 1857375"/>
                <a:gd name="csY1" fmla="*/ 0 h 1541601"/>
              </a:gdLst>
              <a:ahLst/>
              <a:cxnLst>
                <a:cxn ang="0">
                  <a:pos x="csX0" y="csY0"/>
                </a:cxn>
                <a:cxn ang="0">
                  <a:pos x="csX1" y="csY1"/>
                </a:cxn>
              </a:cxnLst>
              <a:rect l="l" t="t" r="r" b="b"/>
              <a:pathLst>
                <a:path w="1857375" h="1541601">
                  <a:moveTo>
                    <a:pt x="0" y="1541601"/>
                  </a:moveTo>
                  <a:lnTo>
                    <a:pt x="1857375" y="0"/>
                  </a:lnTo>
                </a:path>
              </a:pathLst>
            </a:custGeom>
            <a:ln w="4763" cap="flat">
              <a:solidFill>
                <a:srgbClr val="003366">
                  <a:alpha val="19496"/>
                </a:srgbClr>
              </a:solidFill>
              <a:prstDash val="solid"/>
              <a:miter/>
            </a:ln>
          </p:spPr>
          <p:txBody>
            <a:bodyPr/>
            <a:lstStyle/>
            <a:p>
              <a:endParaRPr lang="en-US"/>
            </a:p>
          </p:txBody>
        </p:sp>
        <p:sp>
          <p:nvSpPr>
            <p:cNvPr id="154" name="Freeform 153">
              <a:extLst>
                <a:ext uri="{FF2B5EF4-FFF2-40B4-BE49-F238E27FC236}">
                  <a16:creationId xmlns:a16="http://schemas.microsoft.com/office/drawing/2014/main" id="{70C4CD2D-5D34-0D5C-04C3-9152F2F43885}"/>
                </a:ext>
              </a:extLst>
            </p:cNvPr>
            <p:cNvSpPr/>
            <p:nvPr/>
          </p:nvSpPr>
          <p:spPr>
            <a:xfrm>
              <a:off x="3838575" y="3591379"/>
              <a:ext cx="1857375" cy="1208539"/>
            </a:xfrm>
            <a:custGeom>
              <a:avLst/>
              <a:gdLst>
                <a:gd name="csX0" fmla="*/ 0 w 1857375"/>
                <a:gd name="csY0" fmla="*/ 1208539 h 1208539"/>
                <a:gd name="csX1" fmla="*/ 1857375 w 1857375"/>
                <a:gd name="csY1" fmla="*/ 0 h 1208539"/>
              </a:gdLst>
              <a:ahLst/>
              <a:cxnLst>
                <a:cxn ang="0">
                  <a:pos x="csX0" y="csY0"/>
                </a:cxn>
                <a:cxn ang="0">
                  <a:pos x="csX1" y="csY1"/>
                </a:cxn>
              </a:cxnLst>
              <a:rect l="l" t="t" r="r" b="b"/>
              <a:pathLst>
                <a:path w="1857375" h="1208539">
                  <a:moveTo>
                    <a:pt x="0" y="1208539"/>
                  </a:moveTo>
                  <a:lnTo>
                    <a:pt x="1857375" y="0"/>
                  </a:lnTo>
                </a:path>
              </a:pathLst>
            </a:custGeom>
            <a:ln w="4763" cap="flat">
              <a:solidFill>
                <a:srgbClr val="003366">
                  <a:alpha val="19496"/>
                </a:srgbClr>
              </a:solidFill>
              <a:prstDash val="solid"/>
              <a:miter/>
            </a:ln>
          </p:spPr>
          <p:txBody>
            <a:bodyPr/>
            <a:lstStyle/>
            <a:p>
              <a:endParaRPr lang="en-US"/>
            </a:p>
          </p:txBody>
        </p:sp>
        <p:sp>
          <p:nvSpPr>
            <p:cNvPr id="155" name="Freeform 154">
              <a:extLst>
                <a:ext uri="{FF2B5EF4-FFF2-40B4-BE49-F238E27FC236}">
                  <a16:creationId xmlns:a16="http://schemas.microsoft.com/office/drawing/2014/main" id="{470B50CA-99E7-CDA1-DD50-37C786510C79}"/>
                </a:ext>
              </a:extLst>
            </p:cNvPr>
            <p:cNvSpPr/>
            <p:nvPr/>
          </p:nvSpPr>
          <p:spPr>
            <a:xfrm>
              <a:off x="3838575" y="4257503"/>
              <a:ext cx="1857375" cy="542415"/>
            </a:xfrm>
            <a:custGeom>
              <a:avLst/>
              <a:gdLst>
                <a:gd name="csX0" fmla="*/ 0 w 1857375"/>
                <a:gd name="csY0" fmla="*/ 542415 h 542415"/>
                <a:gd name="csX1" fmla="*/ 1857375 w 1857375"/>
                <a:gd name="csY1" fmla="*/ 0 h 542415"/>
              </a:gdLst>
              <a:ahLst/>
              <a:cxnLst>
                <a:cxn ang="0">
                  <a:pos x="csX0" y="csY0"/>
                </a:cxn>
                <a:cxn ang="0">
                  <a:pos x="csX1" y="csY1"/>
                </a:cxn>
              </a:cxnLst>
              <a:rect l="l" t="t" r="r" b="b"/>
              <a:pathLst>
                <a:path w="1857375" h="542415">
                  <a:moveTo>
                    <a:pt x="0" y="542415"/>
                  </a:moveTo>
                  <a:lnTo>
                    <a:pt x="1857375" y="0"/>
                  </a:lnTo>
                </a:path>
              </a:pathLst>
            </a:custGeom>
            <a:ln w="4763" cap="flat">
              <a:solidFill>
                <a:srgbClr val="003366">
                  <a:alpha val="19496"/>
                </a:srgbClr>
              </a:solidFill>
              <a:prstDash val="solid"/>
              <a:miter/>
            </a:ln>
          </p:spPr>
          <p:txBody>
            <a:bodyPr/>
            <a:lstStyle/>
            <a:p>
              <a:endParaRPr lang="en-US"/>
            </a:p>
          </p:txBody>
        </p:sp>
        <p:sp>
          <p:nvSpPr>
            <p:cNvPr id="156" name="Freeform 155">
              <a:extLst>
                <a:ext uri="{FF2B5EF4-FFF2-40B4-BE49-F238E27FC236}">
                  <a16:creationId xmlns:a16="http://schemas.microsoft.com/office/drawing/2014/main" id="{D7830FBA-A541-32C8-2752-EC4741F26D14}"/>
                </a:ext>
              </a:extLst>
            </p:cNvPr>
            <p:cNvSpPr/>
            <p:nvPr/>
          </p:nvSpPr>
          <p:spPr>
            <a:xfrm>
              <a:off x="3838575" y="4590565"/>
              <a:ext cx="1857375" cy="209353"/>
            </a:xfrm>
            <a:custGeom>
              <a:avLst/>
              <a:gdLst>
                <a:gd name="csX0" fmla="*/ 0 w 1857375"/>
                <a:gd name="csY0" fmla="*/ 209353 h 209353"/>
                <a:gd name="csX1" fmla="*/ 1857375 w 1857375"/>
                <a:gd name="csY1" fmla="*/ 0 h 209353"/>
              </a:gdLst>
              <a:ahLst/>
              <a:cxnLst>
                <a:cxn ang="0">
                  <a:pos x="csX0" y="csY0"/>
                </a:cxn>
                <a:cxn ang="0">
                  <a:pos x="csX1" y="csY1"/>
                </a:cxn>
              </a:cxnLst>
              <a:rect l="l" t="t" r="r" b="b"/>
              <a:pathLst>
                <a:path w="1857375" h="209353">
                  <a:moveTo>
                    <a:pt x="0" y="209353"/>
                  </a:moveTo>
                  <a:lnTo>
                    <a:pt x="1857375" y="0"/>
                  </a:lnTo>
                </a:path>
              </a:pathLst>
            </a:custGeom>
            <a:ln w="4763" cap="flat">
              <a:solidFill>
                <a:srgbClr val="003366">
                  <a:alpha val="19496"/>
                </a:srgbClr>
              </a:solidFill>
              <a:prstDash val="solid"/>
              <a:miter/>
            </a:ln>
          </p:spPr>
          <p:txBody>
            <a:bodyPr/>
            <a:lstStyle/>
            <a:p>
              <a:endParaRPr lang="en-US"/>
            </a:p>
          </p:txBody>
        </p:sp>
        <p:sp>
          <p:nvSpPr>
            <p:cNvPr id="157" name="Freeform 156">
              <a:extLst>
                <a:ext uri="{FF2B5EF4-FFF2-40B4-BE49-F238E27FC236}">
                  <a16:creationId xmlns:a16="http://schemas.microsoft.com/office/drawing/2014/main" id="{B653DE0D-DC6F-C771-CEB5-7A0AD7C48F70}"/>
                </a:ext>
              </a:extLst>
            </p:cNvPr>
            <p:cNvSpPr/>
            <p:nvPr/>
          </p:nvSpPr>
          <p:spPr>
            <a:xfrm>
              <a:off x="3838575" y="4799918"/>
              <a:ext cx="1857375" cy="123708"/>
            </a:xfrm>
            <a:custGeom>
              <a:avLst/>
              <a:gdLst>
                <a:gd name="csX0" fmla="*/ 0 w 1857375"/>
                <a:gd name="csY0" fmla="*/ 0 h 123708"/>
                <a:gd name="csX1" fmla="*/ 1857375 w 1857375"/>
                <a:gd name="csY1" fmla="*/ 123709 h 123708"/>
              </a:gdLst>
              <a:ahLst/>
              <a:cxnLst>
                <a:cxn ang="0">
                  <a:pos x="csX0" y="csY0"/>
                </a:cxn>
                <a:cxn ang="0">
                  <a:pos x="csX1" y="csY1"/>
                </a:cxn>
              </a:cxnLst>
              <a:rect l="l" t="t" r="r" b="b"/>
              <a:pathLst>
                <a:path w="1857375" h="123708">
                  <a:moveTo>
                    <a:pt x="0" y="0"/>
                  </a:moveTo>
                  <a:lnTo>
                    <a:pt x="1857375" y="123709"/>
                  </a:lnTo>
                </a:path>
              </a:pathLst>
            </a:custGeom>
            <a:ln w="4763" cap="flat">
              <a:solidFill>
                <a:srgbClr val="003366">
                  <a:alpha val="19496"/>
                </a:srgbClr>
              </a:solidFill>
              <a:prstDash val="solid"/>
              <a:miter/>
            </a:ln>
          </p:spPr>
          <p:txBody>
            <a:bodyPr/>
            <a:lstStyle/>
            <a:p>
              <a:endParaRPr lang="en-US"/>
            </a:p>
          </p:txBody>
        </p:sp>
      </p:grpSp>
      <p:grpSp>
        <p:nvGrpSpPr>
          <p:cNvPr id="158" name="Graphic 10">
            <a:extLst>
              <a:ext uri="{FF2B5EF4-FFF2-40B4-BE49-F238E27FC236}">
                <a16:creationId xmlns:a16="http://schemas.microsoft.com/office/drawing/2014/main" id="{1D3D18ED-9F2A-4A1C-3AB8-364B930D3B72}"/>
              </a:ext>
            </a:extLst>
          </p:cNvPr>
          <p:cNvGrpSpPr/>
          <p:nvPr/>
        </p:nvGrpSpPr>
        <p:grpSpPr>
          <a:xfrm>
            <a:off x="6731577" y="3014265"/>
            <a:ext cx="1666875" cy="1998371"/>
            <a:chOff x="6648450" y="2925255"/>
            <a:chExt cx="1666875" cy="1998371"/>
          </a:xfrm>
        </p:grpSpPr>
        <p:sp>
          <p:nvSpPr>
            <p:cNvPr id="159" name="Freeform 158">
              <a:extLst>
                <a:ext uri="{FF2B5EF4-FFF2-40B4-BE49-F238E27FC236}">
                  <a16:creationId xmlns:a16="http://schemas.microsoft.com/office/drawing/2014/main" id="{C32525D3-7532-F4EC-8FD9-F6E1CE516031}"/>
                </a:ext>
              </a:extLst>
            </p:cNvPr>
            <p:cNvSpPr/>
            <p:nvPr/>
          </p:nvSpPr>
          <p:spPr>
            <a:xfrm>
              <a:off x="6648450" y="2925255"/>
              <a:ext cx="1666875" cy="999185"/>
            </a:xfrm>
            <a:custGeom>
              <a:avLst/>
              <a:gdLst>
                <a:gd name="csX0" fmla="*/ 0 w 1666875"/>
                <a:gd name="csY0" fmla="*/ 0 h 999185"/>
                <a:gd name="csX1" fmla="*/ 1666875 w 1666875"/>
                <a:gd name="csY1" fmla="*/ 999186 h 999185"/>
              </a:gdLst>
              <a:ahLst/>
              <a:cxnLst>
                <a:cxn ang="0">
                  <a:pos x="csX0" y="csY0"/>
                </a:cxn>
                <a:cxn ang="0">
                  <a:pos x="csX1" y="csY1"/>
                </a:cxn>
              </a:cxnLst>
              <a:rect l="l" t="t" r="r" b="b"/>
              <a:pathLst>
                <a:path w="1666875" h="999185">
                  <a:moveTo>
                    <a:pt x="0" y="0"/>
                  </a:moveTo>
                  <a:lnTo>
                    <a:pt x="1666875" y="999186"/>
                  </a:lnTo>
                </a:path>
              </a:pathLst>
            </a:custGeom>
            <a:ln w="4763" cap="flat">
              <a:solidFill>
                <a:srgbClr val="009999"/>
              </a:solidFill>
              <a:prstDash val="solid"/>
              <a:miter/>
            </a:ln>
          </p:spPr>
          <p:txBody>
            <a:bodyPr/>
            <a:lstStyle/>
            <a:p>
              <a:endParaRPr lang="en-US"/>
            </a:p>
          </p:txBody>
        </p:sp>
        <p:sp>
          <p:nvSpPr>
            <p:cNvPr id="160" name="Freeform 159">
              <a:extLst>
                <a:ext uri="{FF2B5EF4-FFF2-40B4-BE49-F238E27FC236}">
                  <a16:creationId xmlns:a16="http://schemas.microsoft.com/office/drawing/2014/main" id="{D29219F9-5D5C-4811-AC46-D12A08D7DE4B}"/>
                </a:ext>
              </a:extLst>
            </p:cNvPr>
            <p:cNvSpPr/>
            <p:nvPr/>
          </p:nvSpPr>
          <p:spPr>
            <a:xfrm>
              <a:off x="6648450" y="3258317"/>
              <a:ext cx="1666875" cy="666123"/>
            </a:xfrm>
            <a:custGeom>
              <a:avLst/>
              <a:gdLst>
                <a:gd name="csX0" fmla="*/ 0 w 1666875"/>
                <a:gd name="csY0" fmla="*/ 0 h 666123"/>
                <a:gd name="csX1" fmla="*/ 1666875 w 1666875"/>
                <a:gd name="csY1" fmla="*/ 666124 h 666123"/>
              </a:gdLst>
              <a:ahLst/>
              <a:cxnLst>
                <a:cxn ang="0">
                  <a:pos x="csX0" y="csY0"/>
                </a:cxn>
                <a:cxn ang="0">
                  <a:pos x="csX1" y="csY1"/>
                </a:cxn>
              </a:cxnLst>
              <a:rect l="l" t="t" r="r" b="b"/>
              <a:pathLst>
                <a:path w="1666875" h="666123">
                  <a:moveTo>
                    <a:pt x="0" y="0"/>
                  </a:moveTo>
                  <a:lnTo>
                    <a:pt x="1666875" y="666124"/>
                  </a:lnTo>
                </a:path>
              </a:pathLst>
            </a:custGeom>
            <a:ln w="4763" cap="flat">
              <a:solidFill>
                <a:srgbClr val="009999"/>
              </a:solidFill>
              <a:prstDash val="solid"/>
              <a:miter/>
            </a:ln>
          </p:spPr>
          <p:txBody>
            <a:bodyPr/>
            <a:lstStyle/>
            <a:p>
              <a:endParaRPr lang="en-US"/>
            </a:p>
          </p:txBody>
        </p:sp>
        <p:sp>
          <p:nvSpPr>
            <p:cNvPr id="161" name="Freeform 160">
              <a:extLst>
                <a:ext uri="{FF2B5EF4-FFF2-40B4-BE49-F238E27FC236}">
                  <a16:creationId xmlns:a16="http://schemas.microsoft.com/office/drawing/2014/main" id="{F755FE2A-C4C8-21E3-A829-2BEA5D0B45A3}"/>
                </a:ext>
              </a:extLst>
            </p:cNvPr>
            <p:cNvSpPr/>
            <p:nvPr/>
          </p:nvSpPr>
          <p:spPr>
            <a:xfrm>
              <a:off x="6648450" y="3591379"/>
              <a:ext cx="1666875" cy="333061"/>
            </a:xfrm>
            <a:custGeom>
              <a:avLst/>
              <a:gdLst>
                <a:gd name="csX0" fmla="*/ 0 w 1666875"/>
                <a:gd name="csY0" fmla="*/ 0 h 333061"/>
                <a:gd name="csX1" fmla="*/ 1666875 w 1666875"/>
                <a:gd name="csY1" fmla="*/ 333062 h 333061"/>
              </a:gdLst>
              <a:ahLst/>
              <a:cxnLst>
                <a:cxn ang="0">
                  <a:pos x="csX0" y="csY0"/>
                </a:cxn>
                <a:cxn ang="0">
                  <a:pos x="csX1" y="csY1"/>
                </a:cxn>
              </a:cxnLst>
              <a:rect l="l" t="t" r="r" b="b"/>
              <a:pathLst>
                <a:path w="1666875" h="333061">
                  <a:moveTo>
                    <a:pt x="0" y="0"/>
                  </a:moveTo>
                  <a:lnTo>
                    <a:pt x="1666875" y="333062"/>
                  </a:lnTo>
                </a:path>
              </a:pathLst>
            </a:custGeom>
            <a:ln w="4763" cap="flat">
              <a:solidFill>
                <a:srgbClr val="009999"/>
              </a:solidFill>
              <a:prstDash val="solid"/>
              <a:miter/>
            </a:ln>
          </p:spPr>
          <p:txBody>
            <a:bodyPr/>
            <a:lstStyle/>
            <a:p>
              <a:endParaRPr lang="en-US"/>
            </a:p>
          </p:txBody>
        </p:sp>
        <p:sp>
          <p:nvSpPr>
            <p:cNvPr id="162" name="Freeform 161">
              <a:extLst>
                <a:ext uri="{FF2B5EF4-FFF2-40B4-BE49-F238E27FC236}">
                  <a16:creationId xmlns:a16="http://schemas.microsoft.com/office/drawing/2014/main" id="{F30E90D7-3CDC-4827-BA7A-74D983368CAB}"/>
                </a:ext>
              </a:extLst>
            </p:cNvPr>
            <p:cNvSpPr/>
            <p:nvPr/>
          </p:nvSpPr>
          <p:spPr>
            <a:xfrm>
              <a:off x="6648450" y="3924441"/>
              <a:ext cx="1666875" cy="333061"/>
            </a:xfrm>
            <a:custGeom>
              <a:avLst/>
              <a:gdLst>
                <a:gd name="csX0" fmla="*/ 0 w 1666875"/>
                <a:gd name="csY0" fmla="*/ 333062 h 333061"/>
                <a:gd name="csX1" fmla="*/ 1666875 w 1666875"/>
                <a:gd name="csY1" fmla="*/ 0 h 333061"/>
              </a:gdLst>
              <a:ahLst/>
              <a:cxnLst>
                <a:cxn ang="0">
                  <a:pos x="csX0" y="csY0"/>
                </a:cxn>
                <a:cxn ang="0">
                  <a:pos x="csX1" y="csY1"/>
                </a:cxn>
              </a:cxnLst>
              <a:rect l="l" t="t" r="r" b="b"/>
              <a:pathLst>
                <a:path w="1666875" h="333061">
                  <a:moveTo>
                    <a:pt x="0" y="333062"/>
                  </a:moveTo>
                  <a:lnTo>
                    <a:pt x="1666875" y="0"/>
                  </a:lnTo>
                </a:path>
              </a:pathLst>
            </a:custGeom>
            <a:ln w="4763" cap="flat">
              <a:solidFill>
                <a:srgbClr val="009999"/>
              </a:solidFill>
              <a:prstDash val="solid"/>
              <a:miter/>
            </a:ln>
          </p:spPr>
          <p:txBody>
            <a:bodyPr/>
            <a:lstStyle/>
            <a:p>
              <a:endParaRPr lang="en-US"/>
            </a:p>
          </p:txBody>
        </p:sp>
        <p:sp>
          <p:nvSpPr>
            <p:cNvPr id="163" name="Freeform 162">
              <a:extLst>
                <a:ext uri="{FF2B5EF4-FFF2-40B4-BE49-F238E27FC236}">
                  <a16:creationId xmlns:a16="http://schemas.microsoft.com/office/drawing/2014/main" id="{6F8B61EC-B45D-0AB3-2D9D-B8980A9C181D}"/>
                </a:ext>
              </a:extLst>
            </p:cNvPr>
            <p:cNvSpPr/>
            <p:nvPr/>
          </p:nvSpPr>
          <p:spPr>
            <a:xfrm>
              <a:off x="6648450" y="3924441"/>
              <a:ext cx="1666875" cy="666123"/>
            </a:xfrm>
            <a:custGeom>
              <a:avLst/>
              <a:gdLst>
                <a:gd name="csX0" fmla="*/ 0 w 1666875"/>
                <a:gd name="csY0" fmla="*/ 666124 h 666123"/>
                <a:gd name="csX1" fmla="*/ 1666875 w 1666875"/>
                <a:gd name="csY1" fmla="*/ 0 h 666123"/>
              </a:gdLst>
              <a:ahLst/>
              <a:cxnLst>
                <a:cxn ang="0">
                  <a:pos x="csX0" y="csY0"/>
                </a:cxn>
                <a:cxn ang="0">
                  <a:pos x="csX1" y="csY1"/>
                </a:cxn>
              </a:cxnLst>
              <a:rect l="l" t="t" r="r" b="b"/>
              <a:pathLst>
                <a:path w="1666875" h="666123">
                  <a:moveTo>
                    <a:pt x="0" y="666124"/>
                  </a:moveTo>
                  <a:lnTo>
                    <a:pt x="1666875" y="0"/>
                  </a:lnTo>
                </a:path>
              </a:pathLst>
            </a:custGeom>
            <a:ln w="4763" cap="flat">
              <a:solidFill>
                <a:srgbClr val="009999"/>
              </a:solidFill>
              <a:prstDash val="solid"/>
              <a:miter/>
            </a:ln>
          </p:spPr>
          <p:txBody>
            <a:bodyPr/>
            <a:lstStyle/>
            <a:p>
              <a:endParaRPr lang="en-US"/>
            </a:p>
          </p:txBody>
        </p:sp>
        <p:sp>
          <p:nvSpPr>
            <p:cNvPr id="164" name="Freeform 163">
              <a:extLst>
                <a:ext uri="{FF2B5EF4-FFF2-40B4-BE49-F238E27FC236}">
                  <a16:creationId xmlns:a16="http://schemas.microsoft.com/office/drawing/2014/main" id="{3708A03D-EF84-3B1E-4C6A-34BA65BCB313}"/>
                </a:ext>
              </a:extLst>
            </p:cNvPr>
            <p:cNvSpPr/>
            <p:nvPr/>
          </p:nvSpPr>
          <p:spPr>
            <a:xfrm>
              <a:off x="6648450" y="3924441"/>
              <a:ext cx="1666875" cy="999185"/>
            </a:xfrm>
            <a:custGeom>
              <a:avLst/>
              <a:gdLst>
                <a:gd name="csX0" fmla="*/ 0 w 1666875"/>
                <a:gd name="csY0" fmla="*/ 999186 h 999185"/>
                <a:gd name="csX1" fmla="*/ 1666875 w 1666875"/>
                <a:gd name="csY1" fmla="*/ 0 h 999185"/>
              </a:gdLst>
              <a:ahLst/>
              <a:cxnLst>
                <a:cxn ang="0">
                  <a:pos x="csX0" y="csY0"/>
                </a:cxn>
                <a:cxn ang="0">
                  <a:pos x="csX1" y="csY1"/>
                </a:cxn>
              </a:cxnLst>
              <a:rect l="l" t="t" r="r" b="b"/>
              <a:pathLst>
                <a:path w="1666875" h="999185">
                  <a:moveTo>
                    <a:pt x="0" y="999186"/>
                  </a:moveTo>
                  <a:lnTo>
                    <a:pt x="1666875" y="0"/>
                  </a:lnTo>
                </a:path>
              </a:pathLst>
            </a:custGeom>
            <a:ln w="4763" cap="flat">
              <a:solidFill>
                <a:srgbClr val="009999"/>
              </a:solidFill>
              <a:prstDash val="solid"/>
              <a:miter/>
            </a:ln>
          </p:spPr>
          <p:txBody>
            <a:bodyPr/>
            <a:lstStyle/>
            <a:p>
              <a:endParaRPr lang="en-US"/>
            </a:p>
          </p:txBody>
        </p:sp>
      </p:grpSp>
      <p:grpSp>
        <p:nvGrpSpPr>
          <p:cNvPr id="165" name="Graphic 10">
            <a:extLst>
              <a:ext uri="{FF2B5EF4-FFF2-40B4-BE49-F238E27FC236}">
                <a16:creationId xmlns:a16="http://schemas.microsoft.com/office/drawing/2014/main" id="{CAB0F4A8-8EAE-DF3E-34D1-21B83E4C137A}"/>
              </a:ext>
            </a:extLst>
          </p:cNvPr>
          <p:cNvGrpSpPr/>
          <p:nvPr/>
        </p:nvGrpSpPr>
        <p:grpSpPr>
          <a:xfrm>
            <a:off x="2317187" y="3023819"/>
            <a:ext cx="718689" cy="1924455"/>
            <a:chOff x="2234060" y="2934809"/>
            <a:chExt cx="718689" cy="1924455"/>
          </a:xfrm>
          <a:solidFill>
            <a:srgbClr val="003366"/>
          </a:solidFill>
        </p:grpSpPr>
        <p:sp>
          <p:nvSpPr>
            <p:cNvPr id="166" name="TextBox 165">
              <a:extLst>
                <a:ext uri="{FF2B5EF4-FFF2-40B4-BE49-F238E27FC236}">
                  <a16:creationId xmlns:a16="http://schemas.microsoft.com/office/drawing/2014/main" id="{26D3AE00-E0AB-D0DF-D253-87DA27DC548E}"/>
                </a:ext>
              </a:extLst>
            </p:cNvPr>
            <p:cNvSpPr txBox="1"/>
            <p:nvPr/>
          </p:nvSpPr>
          <p:spPr>
            <a:xfrm>
              <a:off x="2564972" y="2889089"/>
              <a:ext cx="479217" cy="207845"/>
            </a:xfrm>
            <a:prstGeom prst="rect">
              <a:avLst/>
            </a:prstGeom>
            <a:noFill/>
          </p:spPr>
          <p:txBody>
            <a:bodyPr wrap="none" rtlCol="0">
              <a:spAutoFit/>
            </a:bodyPr>
            <a:lstStyle/>
            <a:p>
              <a:pPr algn="l"/>
              <a:r>
                <a:rPr lang="en-US" sz="788" spc="0" baseline="0">
                  <a:ln/>
                  <a:solidFill>
                    <a:srgbClr val="003366"/>
                  </a:solidFill>
                  <a:latin typeface="Helvetica Neue"/>
                  <a:ea typeface="Helvetica Neue"/>
                  <a:cs typeface="Helvetica Neue"/>
                  <a:sym typeface="Helvetica Neue"/>
                  <a:rtl val="0"/>
                </a:rPr>
                <a:t>e / e_s</a:t>
              </a:r>
            </a:p>
          </p:txBody>
        </p:sp>
        <p:sp>
          <p:nvSpPr>
            <p:cNvPr id="167" name="TextBox 166">
              <a:extLst>
                <a:ext uri="{FF2B5EF4-FFF2-40B4-BE49-F238E27FC236}">
                  <a16:creationId xmlns:a16="http://schemas.microsoft.com/office/drawing/2014/main" id="{340F8260-2C82-2CC8-AB7A-4BB6ED88F023}"/>
                </a:ext>
              </a:extLst>
            </p:cNvPr>
            <p:cNvSpPr txBox="1"/>
            <p:nvPr/>
          </p:nvSpPr>
          <p:spPr>
            <a:xfrm>
              <a:off x="2528568" y="3250700"/>
              <a:ext cx="515621" cy="207845"/>
            </a:xfrm>
            <a:prstGeom prst="rect">
              <a:avLst/>
            </a:prstGeom>
            <a:noFill/>
          </p:spPr>
          <p:txBody>
            <a:bodyPr wrap="none" rtlCol="0">
              <a:spAutoFit/>
            </a:bodyPr>
            <a:lstStyle/>
            <a:p>
              <a:pPr algn="l"/>
              <a:r>
                <a:rPr lang="en-US" sz="788" spc="0" baseline="0">
                  <a:ln/>
                  <a:solidFill>
                    <a:srgbClr val="003366"/>
                  </a:solidFill>
                  <a:latin typeface="Helvetica Neue"/>
                  <a:ea typeface="Helvetica Neue"/>
                  <a:cs typeface="Helvetica Neue"/>
                  <a:sym typeface="Helvetica Neue"/>
                  <a:rtl val="0"/>
                </a:rPr>
                <a:t>ω / ω_s</a:t>
              </a:r>
            </a:p>
          </p:txBody>
        </p:sp>
        <p:sp>
          <p:nvSpPr>
            <p:cNvPr id="168" name="TextBox 167">
              <a:extLst>
                <a:ext uri="{FF2B5EF4-FFF2-40B4-BE49-F238E27FC236}">
                  <a16:creationId xmlns:a16="http://schemas.microsoft.com/office/drawing/2014/main" id="{D9C77327-A828-2F30-7A24-297BB08BEA6C}"/>
                </a:ext>
              </a:extLst>
            </p:cNvPr>
            <p:cNvSpPr txBox="1"/>
            <p:nvPr/>
          </p:nvSpPr>
          <p:spPr>
            <a:xfrm>
              <a:off x="2652283" y="3612310"/>
              <a:ext cx="391906" cy="207845"/>
            </a:xfrm>
            <a:prstGeom prst="rect">
              <a:avLst/>
            </a:prstGeom>
            <a:noFill/>
          </p:spPr>
          <p:txBody>
            <a:bodyPr wrap="none" rtlCol="0">
              <a:spAutoFit/>
            </a:bodyPr>
            <a:lstStyle/>
            <a:p>
              <a:pPr algn="l"/>
              <a:r>
                <a:rPr lang="en-US" sz="788" spc="0" baseline="0">
                  <a:ln/>
                  <a:solidFill>
                    <a:srgbClr val="003366"/>
                  </a:solidFill>
                  <a:latin typeface="Helvetica Neue"/>
                  <a:ea typeface="Helvetica Neue"/>
                  <a:cs typeface="Helvetica Neue"/>
                  <a:sym typeface="Helvetica Neue"/>
                  <a:rtl val="0"/>
                </a:rPr>
                <a:t>sin θ</a:t>
              </a:r>
            </a:p>
          </p:txBody>
        </p:sp>
        <p:sp>
          <p:nvSpPr>
            <p:cNvPr id="169" name="TextBox 168">
              <a:extLst>
                <a:ext uri="{FF2B5EF4-FFF2-40B4-BE49-F238E27FC236}">
                  <a16:creationId xmlns:a16="http://schemas.microsoft.com/office/drawing/2014/main" id="{4C74C14C-71B6-F236-7D05-BF97CC0BBDF6}"/>
                </a:ext>
              </a:extLst>
            </p:cNvPr>
            <p:cNvSpPr txBox="1"/>
            <p:nvPr/>
          </p:nvSpPr>
          <p:spPr>
            <a:xfrm>
              <a:off x="2618979" y="3973920"/>
              <a:ext cx="425210" cy="207845"/>
            </a:xfrm>
            <a:prstGeom prst="rect">
              <a:avLst/>
            </a:prstGeom>
            <a:noFill/>
          </p:spPr>
          <p:txBody>
            <a:bodyPr wrap="none" rtlCol="0">
              <a:spAutoFit/>
            </a:bodyPr>
            <a:lstStyle/>
            <a:p>
              <a:pPr algn="l"/>
              <a:r>
                <a:rPr lang="en-US" sz="788" spc="0" baseline="0">
                  <a:ln/>
                  <a:solidFill>
                    <a:srgbClr val="003366"/>
                  </a:solidFill>
                  <a:latin typeface="Helvetica Neue"/>
                  <a:ea typeface="Helvetica Neue"/>
                  <a:cs typeface="Helvetica Neue"/>
                  <a:sym typeface="Helvetica Neue"/>
                  <a:rtl val="0"/>
                </a:rPr>
                <a:t>cos θ</a:t>
              </a:r>
            </a:p>
          </p:txBody>
        </p:sp>
        <p:sp>
          <p:nvSpPr>
            <p:cNvPr id="170" name="TextBox 169">
              <a:extLst>
                <a:ext uri="{FF2B5EF4-FFF2-40B4-BE49-F238E27FC236}">
                  <a16:creationId xmlns:a16="http://schemas.microsoft.com/office/drawing/2014/main" id="{5F569941-B210-8D9C-05CD-0BD91427D5F2}"/>
                </a:ext>
              </a:extLst>
            </p:cNvPr>
            <p:cNvSpPr txBox="1"/>
            <p:nvPr/>
          </p:nvSpPr>
          <p:spPr>
            <a:xfrm>
              <a:off x="2493364" y="4335530"/>
              <a:ext cx="550825" cy="207845"/>
            </a:xfrm>
            <a:prstGeom prst="rect">
              <a:avLst/>
            </a:prstGeom>
            <a:noFill/>
          </p:spPr>
          <p:txBody>
            <a:bodyPr wrap="none" rtlCol="0">
              <a:spAutoFit/>
            </a:bodyPr>
            <a:lstStyle/>
            <a:p>
              <a:pPr algn="l"/>
              <a:r>
                <a:rPr lang="en-US" sz="788" spc="0" baseline="0">
                  <a:ln/>
                  <a:solidFill>
                    <a:srgbClr val="003366"/>
                  </a:solidFill>
                  <a:latin typeface="Helvetica Neue"/>
                  <a:ea typeface="Helvetica Neue"/>
                  <a:cs typeface="Helvetica Neue"/>
                  <a:sym typeface="Helvetica Neue"/>
                  <a:rtl val="0"/>
                </a:rPr>
                <a:t>ω* / ω_s</a:t>
              </a:r>
            </a:p>
          </p:txBody>
        </p:sp>
        <p:sp>
          <p:nvSpPr>
            <p:cNvPr id="171" name="TextBox 170">
              <a:extLst>
                <a:ext uri="{FF2B5EF4-FFF2-40B4-BE49-F238E27FC236}">
                  <a16:creationId xmlns:a16="http://schemas.microsoft.com/office/drawing/2014/main" id="{9297B695-C9B0-6ED3-8D67-02547B13E818}"/>
                </a:ext>
              </a:extLst>
            </p:cNvPr>
            <p:cNvSpPr txBox="1"/>
            <p:nvPr/>
          </p:nvSpPr>
          <p:spPr>
            <a:xfrm>
              <a:off x="2142620" y="4697140"/>
              <a:ext cx="901569" cy="207845"/>
            </a:xfrm>
            <a:prstGeom prst="rect">
              <a:avLst/>
            </a:prstGeom>
            <a:noFill/>
          </p:spPr>
          <p:txBody>
            <a:bodyPr wrap="none" rtlCol="0">
              <a:spAutoFit/>
            </a:bodyPr>
            <a:lstStyle/>
            <a:p>
              <a:pPr algn="l"/>
              <a:r>
                <a:rPr lang="en-US" sz="788" spc="0" baseline="0">
                  <a:ln/>
                  <a:solidFill>
                    <a:srgbClr val="003366"/>
                  </a:solidFill>
                  <a:latin typeface="Helvetica Neue"/>
                  <a:ea typeface="Helvetica Neue"/>
                  <a:cs typeface="Helvetica Neue"/>
                  <a:sym typeface="Helvetica Neue"/>
                  <a:rtl val="0"/>
                </a:rPr>
                <a:t>V_base / V_max</a:t>
              </a:r>
            </a:p>
          </p:txBody>
        </p:sp>
      </p:grpSp>
      <p:grpSp>
        <p:nvGrpSpPr>
          <p:cNvPr id="172" name="Graphic 10">
            <a:extLst>
              <a:ext uri="{FF2B5EF4-FFF2-40B4-BE49-F238E27FC236}">
                <a16:creationId xmlns:a16="http://schemas.microsoft.com/office/drawing/2014/main" id="{A9E254D6-7B01-0CB6-292E-CB340222932A}"/>
              </a:ext>
            </a:extLst>
          </p:cNvPr>
          <p:cNvGrpSpPr/>
          <p:nvPr/>
        </p:nvGrpSpPr>
        <p:grpSpPr>
          <a:xfrm>
            <a:off x="3378777" y="2919105"/>
            <a:ext cx="323850" cy="2131596"/>
            <a:chOff x="3295650" y="2830095"/>
            <a:chExt cx="323850" cy="2131596"/>
          </a:xfrm>
          <a:solidFill>
            <a:srgbClr val="003366"/>
          </a:solidFill>
        </p:grpSpPr>
        <p:sp>
          <p:nvSpPr>
            <p:cNvPr id="173" name="Oval 172">
              <a:extLst>
                <a:ext uri="{FF2B5EF4-FFF2-40B4-BE49-F238E27FC236}">
                  <a16:creationId xmlns:a16="http://schemas.microsoft.com/office/drawing/2014/main" id="{E989D2EA-9460-7EE0-4C78-0E8760D64708}"/>
                </a:ext>
              </a:extLst>
            </p:cNvPr>
            <p:cNvSpPr/>
            <p:nvPr/>
          </p:nvSpPr>
          <p:spPr>
            <a:xfrm>
              <a:off x="3295650" y="2830095"/>
              <a:ext cx="323850" cy="323545"/>
            </a:xfrm>
            <a:prstGeom prst="ellipse">
              <a:avLst/>
            </a:prstGeom>
            <a:solidFill>
              <a:srgbClr val="003366"/>
            </a:solidFill>
            <a:ln w="19050" cap="flat">
              <a:solidFill>
                <a:srgbClr val="FFFFFF"/>
              </a:solidFill>
              <a:prstDash val="solid"/>
              <a:miter/>
            </a:ln>
          </p:spPr>
          <p:txBody>
            <a:bodyPr/>
            <a:lstStyle/>
            <a:p>
              <a:endParaRPr lang="en-US"/>
            </a:p>
          </p:txBody>
        </p:sp>
        <p:sp>
          <p:nvSpPr>
            <p:cNvPr id="174" name="Oval 173">
              <a:extLst>
                <a:ext uri="{FF2B5EF4-FFF2-40B4-BE49-F238E27FC236}">
                  <a16:creationId xmlns:a16="http://schemas.microsoft.com/office/drawing/2014/main" id="{39965335-EAE4-A6D8-E354-9CD1B5EF833F}"/>
                </a:ext>
              </a:extLst>
            </p:cNvPr>
            <p:cNvSpPr/>
            <p:nvPr/>
          </p:nvSpPr>
          <p:spPr>
            <a:xfrm>
              <a:off x="3295650" y="3191705"/>
              <a:ext cx="323850" cy="323545"/>
            </a:xfrm>
            <a:prstGeom prst="ellipse">
              <a:avLst/>
            </a:prstGeom>
            <a:solidFill>
              <a:srgbClr val="003366"/>
            </a:solidFill>
            <a:ln w="19050" cap="flat">
              <a:solidFill>
                <a:srgbClr val="FFFFFF"/>
              </a:solidFill>
              <a:prstDash val="solid"/>
              <a:miter/>
            </a:ln>
          </p:spPr>
          <p:txBody>
            <a:bodyPr/>
            <a:lstStyle/>
            <a:p>
              <a:endParaRPr lang="en-US"/>
            </a:p>
          </p:txBody>
        </p:sp>
        <p:sp>
          <p:nvSpPr>
            <p:cNvPr id="175" name="Oval 174">
              <a:extLst>
                <a:ext uri="{FF2B5EF4-FFF2-40B4-BE49-F238E27FC236}">
                  <a16:creationId xmlns:a16="http://schemas.microsoft.com/office/drawing/2014/main" id="{28EB7E48-0149-B42A-F6C7-69A50AED3361}"/>
                </a:ext>
              </a:extLst>
            </p:cNvPr>
            <p:cNvSpPr/>
            <p:nvPr/>
          </p:nvSpPr>
          <p:spPr>
            <a:xfrm>
              <a:off x="3295650" y="3553315"/>
              <a:ext cx="323850" cy="323545"/>
            </a:xfrm>
            <a:prstGeom prst="ellipse">
              <a:avLst/>
            </a:prstGeom>
            <a:solidFill>
              <a:srgbClr val="003366"/>
            </a:solidFill>
            <a:ln w="19050" cap="flat">
              <a:solidFill>
                <a:srgbClr val="FFFFFF"/>
              </a:solidFill>
              <a:prstDash val="solid"/>
              <a:miter/>
            </a:ln>
          </p:spPr>
          <p:txBody>
            <a:bodyPr/>
            <a:lstStyle/>
            <a:p>
              <a:endParaRPr lang="en-US"/>
            </a:p>
          </p:txBody>
        </p:sp>
        <p:sp>
          <p:nvSpPr>
            <p:cNvPr id="176" name="Oval 175">
              <a:extLst>
                <a:ext uri="{FF2B5EF4-FFF2-40B4-BE49-F238E27FC236}">
                  <a16:creationId xmlns:a16="http://schemas.microsoft.com/office/drawing/2014/main" id="{651FF216-AF5C-2282-11EA-1B8767ADFD9F}"/>
                </a:ext>
              </a:extLst>
            </p:cNvPr>
            <p:cNvSpPr/>
            <p:nvPr/>
          </p:nvSpPr>
          <p:spPr>
            <a:xfrm>
              <a:off x="3295650" y="3914925"/>
              <a:ext cx="323850" cy="323545"/>
            </a:xfrm>
            <a:prstGeom prst="ellipse">
              <a:avLst/>
            </a:prstGeom>
            <a:solidFill>
              <a:srgbClr val="003366"/>
            </a:solidFill>
            <a:ln w="19050" cap="flat">
              <a:solidFill>
                <a:srgbClr val="FFFFFF"/>
              </a:solidFill>
              <a:prstDash val="solid"/>
              <a:miter/>
            </a:ln>
          </p:spPr>
          <p:txBody>
            <a:bodyPr/>
            <a:lstStyle/>
            <a:p>
              <a:endParaRPr lang="en-US"/>
            </a:p>
          </p:txBody>
        </p:sp>
        <p:sp>
          <p:nvSpPr>
            <p:cNvPr id="177" name="Oval 176">
              <a:extLst>
                <a:ext uri="{FF2B5EF4-FFF2-40B4-BE49-F238E27FC236}">
                  <a16:creationId xmlns:a16="http://schemas.microsoft.com/office/drawing/2014/main" id="{6E2D3151-04B0-336E-6BB6-6937C8D93BFE}"/>
                </a:ext>
              </a:extLst>
            </p:cNvPr>
            <p:cNvSpPr/>
            <p:nvPr/>
          </p:nvSpPr>
          <p:spPr>
            <a:xfrm>
              <a:off x="3295650" y="4276535"/>
              <a:ext cx="323850" cy="323545"/>
            </a:xfrm>
            <a:prstGeom prst="ellipse">
              <a:avLst/>
            </a:prstGeom>
            <a:solidFill>
              <a:srgbClr val="003366"/>
            </a:solidFill>
            <a:ln w="19050" cap="flat">
              <a:solidFill>
                <a:srgbClr val="FFFFFF"/>
              </a:solidFill>
              <a:prstDash val="solid"/>
              <a:miter/>
            </a:ln>
          </p:spPr>
          <p:txBody>
            <a:bodyPr/>
            <a:lstStyle/>
            <a:p>
              <a:endParaRPr lang="en-US"/>
            </a:p>
          </p:txBody>
        </p:sp>
        <p:sp>
          <p:nvSpPr>
            <p:cNvPr id="178" name="Oval 177">
              <a:extLst>
                <a:ext uri="{FF2B5EF4-FFF2-40B4-BE49-F238E27FC236}">
                  <a16:creationId xmlns:a16="http://schemas.microsoft.com/office/drawing/2014/main" id="{03121788-2DEE-881F-8C8E-04EC285D1330}"/>
                </a:ext>
              </a:extLst>
            </p:cNvPr>
            <p:cNvSpPr/>
            <p:nvPr/>
          </p:nvSpPr>
          <p:spPr>
            <a:xfrm>
              <a:off x="3295650" y="4638145"/>
              <a:ext cx="323850" cy="323545"/>
            </a:xfrm>
            <a:prstGeom prst="ellipse">
              <a:avLst/>
            </a:prstGeom>
            <a:solidFill>
              <a:srgbClr val="003366"/>
            </a:solidFill>
            <a:ln w="19050" cap="flat">
              <a:solidFill>
                <a:srgbClr val="FFFFFF"/>
              </a:solidFill>
              <a:prstDash val="solid"/>
              <a:miter/>
            </a:ln>
          </p:spPr>
          <p:txBody>
            <a:bodyPr/>
            <a:lstStyle/>
            <a:p>
              <a:endParaRPr lang="en-US"/>
            </a:p>
          </p:txBody>
        </p:sp>
      </p:grpSp>
      <p:grpSp>
        <p:nvGrpSpPr>
          <p:cNvPr id="179" name="Graphic 10">
            <a:extLst>
              <a:ext uri="{FF2B5EF4-FFF2-40B4-BE49-F238E27FC236}">
                <a16:creationId xmlns:a16="http://schemas.microsoft.com/office/drawing/2014/main" id="{B8687483-72AF-0EC0-A6FB-D6F4AF1F9C3F}"/>
              </a:ext>
            </a:extLst>
          </p:cNvPr>
          <p:cNvGrpSpPr/>
          <p:nvPr/>
        </p:nvGrpSpPr>
        <p:grpSpPr>
          <a:xfrm>
            <a:off x="3500968" y="3035439"/>
            <a:ext cx="79467" cy="1910138"/>
            <a:chOff x="3417841" y="2946429"/>
            <a:chExt cx="79467" cy="1910138"/>
          </a:xfrm>
          <a:solidFill>
            <a:srgbClr val="FFFFFF"/>
          </a:solidFill>
        </p:grpSpPr>
        <p:sp>
          <p:nvSpPr>
            <p:cNvPr id="180" name="TextBox 179">
              <a:extLst>
                <a:ext uri="{FF2B5EF4-FFF2-40B4-BE49-F238E27FC236}">
                  <a16:creationId xmlns:a16="http://schemas.microsoft.com/office/drawing/2014/main" id="{F516542D-F4DD-7269-CB6E-95737D50A605}"/>
                </a:ext>
              </a:extLst>
            </p:cNvPr>
            <p:cNvSpPr txBox="1"/>
            <p:nvPr/>
          </p:nvSpPr>
          <p:spPr>
            <a:xfrm>
              <a:off x="3326401" y="2900709"/>
              <a:ext cx="262347" cy="193528"/>
            </a:xfrm>
            <a:prstGeom prst="rect">
              <a:avLst/>
            </a:prstGeom>
            <a:noFill/>
          </p:spPr>
          <p:txBody>
            <a:bodyPr wrap="none" rtlCol="0">
              <a:spAutoFit/>
            </a:bodyPr>
            <a:lstStyle/>
            <a:p>
              <a:pPr algn="l"/>
              <a:r>
                <a:rPr lang="en-US" sz="675" b="1" spc="0" baseline="0">
                  <a:ln/>
                  <a:solidFill>
                    <a:srgbClr val="FFFFFF"/>
                  </a:solidFill>
                  <a:latin typeface="Helvetica Neue"/>
                  <a:ea typeface="Helvetica Neue"/>
                  <a:cs typeface="Helvetica Neue"/>
                  <a:sym typeface="Helvetica Neue"/>
                  <a:rtl val="0"/>
                </a:rPr>
                <a:t>x₁</a:t>
              </a:r>
            </a:p>
          </p:txBody>
        </p:sp>
        <p:sp>
          <p:nvSpPr>
            <p:cNvPr id="181" name="TextBox 180">
              <a:extLst>
                <a:ext uri="{FF2B5EF4-FFF2-40B4-BE49-F238E27FC236}">
                  <a16:creationId xmlns:a16="http://schemas.microsoft.com/office/drawing/2014/main" id="{69066D4F-3C84-B423-4779-FB4546AEEA19}"/>
                </a:ext>
              </a:extLst>
            </p:cNvPr>
            <p:cNvSpPr txBox="1"/>
            <p:nvPr/>
          </p:nvSpPr>
          <p:spPr>
            <a:xfrm>
              <a:off x="3326401" y="3262319"/>
              <a:ext cx="262347" cy="193528"/>
            </a:xfrm>
            <a:prstGeom prst="rect">
              <a:avLst/>
            </a:prstGeom>
            <a:noFill/>
          </p:spPr>
          <p:txBody>
            <a:bodyPr wrap="none" rtlCol="0">
              <a:spAutoFit/>
            </a:bodyPr>
            <a:lstStyle/>
            <a:p>
              <a:pPr algn="l"/>
              <a:r>
                <a:rPr lang="en-US" sz="675" b="1" spc="0" baseline="0">
                  <a:ln/>
                  <a:solidFill>
                    <a:srgbClr val="FFFFFF"/>
                  </a:solidFill>
                  <a:latin typeface="Helvetica Neue"/>
                  <a:ea typeface="Helvetica Neue"/>
                  <a:cs typeface="Helvetica Neue"/>
                  <a:sym typeface="Helvetica Neue"/>
                  <a:rtl val="0"/>
                </a:rPr>
                <a:t>x₂</a:t>
              </a:r>
            </a:p>
          </p:txBody>
        </p:sp>
        <p:sp>
          <p:nvSpPr>
            <p:cNvPr id="182" name="TextBox 181">
              <a:extLst>
                <a:ext uri="{FF2B5EF4-FFF2-40B4-BE49-F238E27FC236}">
                  <a16:creationId xmlns:a16="http://schemas.microsoft.com/office/drawing/2014/main" id="{6B105770-1F77-20C7-69CE-1BE5C9A04BEC}"/>
                </a:ext>
              </a:extLst>
            </p:cNvPr>
            <p:cNvSpPr txBox="1"/>
            <p:nvPr/>
          </p:nvSpPr>
          <p:spPr>
            <a:xfrm>
              <a:off x="3326401" y="3623929"/>
              <a:ext cx="262347" cy="193528"/>
            </a:xfrm>
            <a:prstGeom prst="rect">
              <a:avLst/>
            </a:prstGeom>
            <a:noFill/>
          </p:spPr>
          <p:txBody>
            <a:bodyPr wrap="none" rtlCol="0">
              <a:spAutoFit/>
            </a:bodyPr>
            <a:lstStyle/>
            <a:p>
              <a:pPr algn="l"/>
              <a:r>
                <a:rPr lang="en-US" sz="675" b="1" spc="0" baseline="0">
                  <a:ln/>
                  <a:solidFill>
                    <a:srgbClr val="FFFFFF"/>
                  </a:solidFill>
                  <a:latin typeface="Helvetica Neue"/>
                  <a:ea typeface="Helvetica Neue"/>
                  <a:cs typeface="Helvetica Neue"/>
                  <a:sym typeface="Helvetica Neue"/>
                  <a:rtl val="0"/>
                </a:rPr>
                <a:t>x₃</a:t>
              </a:r>
            </a:p>
          </p:txBody>
        </p:sp>
        <p:sp>
          <p:nvSpPr>
            <p:cNvPr id="183" name="TextBox 182">
              <a:extLst>
                <a:ext uri="{FF2B5EF4-FFF2-40B4-BE49-F238E27FC236}">
                  <a16:creationId xmlns:a16="http://schemas.microsoft.com/office/drawing/2014/main" id="{8213C73E-61F5-E3E7-7F80-4C1E31EC40DE}"/>
                </a:ext>
              </a:extLst>
            </p:cNvPr>
            <p:cNvSpPr txBox="1"/>
            <p:nvPr/>
          </p:nvSpPr>
          <p:spPr>
            <a:xfrm>
              <a:off x="3326401" y="3985539"/>
              <a:ext cx="262347" cy="193528"/>
            </a:xfrm>
            <a:prstGeom prst="rect">
              <a:avLst/>
            </a:prstGeom>
            <a:noFill/>
          </p:spPr>
          <p:txBody>
            <a:bodyPr wrap="none" rtlCol="0">
              <a:spAutoFit/>
            </a:bodyPr>
            <a:lstStyle/>
            <a:p>
              <a:pPr algn="l"/>
              <a:r>
                <a:rPr lang="en-US" sz="675" b="1" spc="0" baseline="0">
                  <a:ln/>
                  <a:solidFill>
                    <a:srgbClr val="FFFFFF"/>
                  </a:solidFill>
                  <a:latin typeface="Helvetica Neue"/>
                  <a:ea typeface="Helvetica Neue"/>
                  <a:cs typeface="Helvetica Neue"/>
                  <a:sym typeface="Helvetica Neue"/>
                  <a:rtl val="0"/>
                </a:rPr>
                <a:t>x₄</a:t>
              </a:r>
            </a:p>
          </p:txBody>
        </p:sp>
        <p:sp>
          <p:nvSpPr>
            <p:cNvPr id="184" name="TextBox 183">
              <a:extLst>
                <a:ext uri="{FF2B5EF4-FFF2-40B4-BE49-F238E27FC236}">
                  <a16:creationId xmlns:a16="http://schemas.microsoft.com/office/drawing/2014/main" id="{EC746BD4-0514-FD66-6645-FB5B19771BF9}"/>
                </a:ext>
              </a:extLst>
            </p:cNvPr>
            <p:cNvSpPr txBox="1"/>
            <p:nvPr/>
          </p:nvSpPr>
          <p:spPr>
            <a:xfrm>
              <a:off x="3326401" y="4347149"/>
              <a:ext cx="262347" cy="193528"/>
            </a:xfrm>
            <a:prstGeom prst="rect">
              <a:avLst/>
            </a:prstGeom>
            <a:noFill/>
          </p:spPr>
          <p:txBody>
            <a:bodyPr wrap="none" rtlCol="0">
              <a:spAutoFit/>
            </a:bodyPr>
            <a:lstStyle/>
            <a:p>
              <a:pPr algn="l"/>
              <a:r>
                <a:rPr lang="en-US" sz="675" b="1" spc="0" baseline="0">
                  <a:ln/>
                  <a:solidFill>
                    <a:srgbClr val="FFFFFF"/>
                  </a:solidFill>
                  <a:latin typeface="Helvetica Neue"/>
                  <a:ea typeface="Helvetica Neue"/>
                  <a:cs typeface="Helvetica Neue"/>
                  <a:sym typeface="Helvetica Neue"/>
                  <a:rtl val="0"/>
                </a:rPr>
                <a:t>x₅</a:t>
              </a:r>
            </a:p>
          </p:txBody>
        </p:sp>
        <p:sp>
          <p:nvSpPr>
            <p:cNvPr id="185" name="TextBox 184">
              <a:extLst>
                <a:ext uri="{FF2B5EF4-FFF2-40B4-BE49-F238E27FC236}">
                  <a16:creationId xmlns:a16="http://schemas.microsoft.com/office/drawing/2014/main" id="{63D02C70-014E-F3CD-4AEF-74AEDD51028C}"/>
                </a:ext>
              </a:extLst>
            </p:cNvPr>
            <p:cNvSpPr txBox="1"/>
            <p:nvPr/>
          </p:nvSpPr>
          <p:spPr>
            <a:xfrm>
              <a:off x="3326401" y="4708759"/>
              <a:ext cx="262347" cy="193528"/>
            </a:xfrm>
            <a:prstGeom prst="rect">
              <a:avLst/>
            </a:prstGeom>
            <a:noFill/>
          </p:spPr>
          <p:txBody>
            <a:bodyPr wrap="none" rtlCol="0">
              <a:spAutoFit/>
            </a:bodyPr>
            <a:lstStyle/>
            <a:p>
              <a:pPr algn="l"/>
              <a:r>
                <a:rPr lang="en-US" sz="675" b="1" spc="0" baseline="0">
                  <a:ln/>
                  <a:solidFill>
                    <a:srgbClr val="FFFFFF"/>
                  </a:solidFill>
                  <a:latin typeface="Helvetica Neue"/>
                  <a:ea typeface="Helvetica Neue"/>
                  <a:cs typeface="Helvetica Neue"/>
                  <a:sym typeface="Helvetica Neue"/>
                  <a:rtl val="0"/>
                </a:rPr>
                <a:t>x₆</a:t>
              </a:r>
            </a:p>
          </p:txBody>
        </p:sp>
      </p:grpSp>
      <p:grpSp>
        <p:nvGrpSpPr>
          <p:cNvPr id="186" name="Graphic 10">
            <a:extLst>
              <a:ext uri="{FF2B5EF4-FFF2-40B4-BE49-F238E27FC236}">
                <a16:creationId xmlns:a16="http://schemas.microsoft.com/office/drawing/2014/main" id="{D2D1A887-7C76-8E19-0855-E320FF111D85}"/>
              </a:ext>
            </a:extLst>
          </p:cNvPr>
          <p:cNvGrpSpPr/>
          <p:nvPr/>
        </p:nvGrpSpPr>
        <p:grpSpPr>
          <a:xfrm>
            <a:off x="6093402" y="2852492"/>
            <a:ext cx="323850" cy="2321917"/>
            <a:chOff x="6010275" y="2763482"/>
            <a:chExt cx="323850" cy="2321917"/>
          </a:xfrm>
          <a:solidFill>
            <a:srgbClr val="009999"/>
          </a:solidFill>
        </p:grpSpPr>
        <p:sp>
          <p:nvSpPr>
            <p:cNvPr id="187" name="Oval 186">
              <a:extLst>
                <a:ext uri="{FF2B5EF4-FFF2-40B4-BE49-F238E27FC236}">
                  <a16:creationId xmlns:a16="http://schemas.microsoft.com/office/drawing/2014/main" id="{302C4E5C-2303-B21C-14CD-4A56E8584B5D}"/>
                </a:ext>
              </a:extLst>
            </p:cNvPr>
            <p:cNvSpPr/>
            <p:nvPr/>
          </p:nvSpPr>
          <p:spPr>
            <a:xfrm>
              <a:off x="6010275" y="2763482"/>
              <a:ext cx="323850" cy="323545"/>
            </a:xfrm>
            <a:prstGeom prst="ellipse">
              <a:avLst/>
            </a:prstGeom>
            <a:solidFill>
              <a:srgbClr val="009999"/>
            </a:solidFill>
            <a:ln w="19050" cap="flat">
              <a:solidFill>
                <a:srgbClr val="FFFFFF"/>
              </a:solidFill>
              <a:prstDash val="solid"/>
              <a:miter/>
            </a:ln>
          </p:spPr>
          <p:txBody>
            <a:bodyPr/>
            <a:lstStyle/>
            <a:p>
              <a:endParaRPr lang="en-US"/>
            </a:p>
          </p:txBody>
        </p:sp>
        <p:sp>
          <p:nvSpPr>
            <p:cNvPr id="188" name="Oval 187">
              <a:extLst>
                <a:ext uri="{FF2B5EF4-FFF2-40B4-BE49-F238E27FC236}">
                  <a16:creationId xmlns:a16="http://schemas.microsoft.com/office/drawing/2014/main" id="{457A576B-61B6-316B-F102-76FDABE67F99}"/>
                </a:ext>
              </a:extLst>
            </p:cNvPr>
            <p:cNvSpPr/>
            <p:nvPr/>
          </p:nvSpPr>
          <p:spPr>
            <a:xfrm>
              <a:off x="6010275" y="3096544"/>
              <a:ext cx="323850" cy="323545"/>
            </a:xfrm>
            <a:prstGeom prst="ellipse">
              <a:avLst/>
            </a:prstGeom>
            <a:solidFill>
              <a:srgbClr val="009999"/>
            </a:solidFill>
            <a:ln w="19050" cap="flat">
              <a:solidFill>
                <a:srgbClr val="FFFFFF"/>
              </a:solidFill>
              <a:prstDash val="solid"/>
              <a:miter/>
            </a:ln>
          </p:spPr>
          <p:txBody>
            <a:bodyPr/>
            <a:lstStyle/>
            <a:p>
              <a:endParaRPr lang="en-US"/>
            </a:p>
          </p:txBody>
        </p:sp>
        <p:sp>
          <p:nvSpPr>
            <p:cNvPr id="189" name="Oval 188">
              <a:extLst>
                <a:ext uri="{FF2B5EF4-FFF2-40B4-BE49-F238E27FC236}">
                  <a16:creationId xmlns:a16="http://schemas.microsoft.com/office/drawing/2014/main" id="{4B0E6349-1370-F5EF-0F63-0D244900E96E}"/>
                </a:ext>
              </a:extLst>
            </p:cNvPr>
            <p:cNvSpPr/>
            <p:nvPr/>
          </p:nvSpPr>
          <p:spPr>
            <a:xfrm>
              <a:off x="6010275" y="3429606"/>
              <a:ext cx="323850" cy="323545"/>
            </a:xfrm>
            <a:prstGeom prst="ellipse">
              <a:avLst/>
            </a:prstGeom>
            <a:solidFill>
              <a:srgbClr val="009999"/>
            </a:solidFill>
            <a:ln w="19050" cap="flat">
              <a:solidFill>
                <a:srgbClr val="FFFFFF"/>
              </a:solidFill>
              <a:prstDash val="solid"/>
              <a:miter/>
            </a:ln>
          </p:spPr>
          <p:txBody>
            <a:bodyPr/>
            <a:lstStyle/>
            <a:p>
              <a:endParaRPr lang="en-US"/>
            </a:p>
          </p:txBody>
        </p:sp>
        <p:sp>
          <p:nvSpPr>
            <p:cNvPr id="190" name="Oval 189">
              <a:extLst>
                <a:ext uri="{FF2B5EF4-FFF2-40B4-BE49-F238E27FC236}">
                  <a16:creationId xmlns:a16="http://schemas.microsoft.com/office/drawing/2014/main" id="{30E4F9D0-DE1E-A1FB-0A45-30B0125C29CA}"/>
                </a:ext>
              </a:extLst>
            </p:cNvPr>
            <p:cNvSpPr/>
            <p:nvPr/>
          </p:nvSpPr>
          <p:spPr>
            <a:xfrm>
              <a:off x="6010275" y="4095730"/>
              <a:ext cx="323850" cy="323545"/>
            </a:xfrm>
            <a:prstGeom prst="ellipse">
              <a:avLst/>
            </a:prstGeom>
            <a:solidFill>
              <a:srgbClr val="009999"/>
            </a:solidFill>
            <a:ln w="19050" cap="flat">
              <a:solidFill>
                <a:srgbClr val="FFFFFF"/>
              </a:solidFill>
              <a:prstDash val="solid"/>
              <a:miter/>
            </a:ln>
          </p:spPr>
          <p:txBody>
            <a:bodyPr/>
            <a:lstStyle/>
            <a:p>
              <a:endParaRPr lang="en-US"/>
            </a:p>
          </p:txBody>
        </p:sp>
        <p:sp>
          <p:nvSpPr>
            <p:cNvPr id="191" name="Oval 190">
              <a:extLst>
                <a:ext uri="{FF2B5EF4-FFF2-40B4-BE49-F238E27FC236}">
                  <a16:creationId xmlns:a16="http://schemas.microsoft.com/office/drawing/2014/main" id="{FB60842D-AD5D-D063-70AF-BA33E9C6F4B6}"/>
                </a:ext>
              </a:extLst>
            </p:cNvPr>
            <p:cNvSpPr/>
            <p:nvPr/>
          </p:nvSpPr>
          <p:spPr>
            <a:xfrm>
              <a:off x="6010275" y="4428792"/>
              <a:ext cx="323850" cy="323545"/>
            </a:xfrm>
            <a:prstGeom prst="ellipse">
              <a:avLst/>
            </a:prstGeom>
            <a:solidFill>
              <a:srgbClr val="009999"/>
            </a:solidFill>
            <a:ln w="19050" cap="flat">
              <a:solidFill>
                <a:srgbClr val="FFFFFF"/>
              </a:solidFill>
              <a:prstDash val="solid"/>
              <a:miter/>
            </a:ln>
          </p:spPr>
          <p:txBody>
            <a:bodyPr/>
            <a:lstStyle/>
            <a:p>
              <a:endParaRPr lang="en-US"/>
            </a:p>
          </p:txBody>
        </p:sp>
        <p:sp>
          <p:nvSpPr>
            <p:cNvPr id="192" name="Oval 191">
              <a:extLst>
                <a:ext uri="{FF2B5EF4-FFF2-40B4-BE49-F238E27FC236}">
                  <a16:creationId xmlns:a16="http://schemas.microsoft.com/office/drawing/2014/main" id="{402531B8-1CBC-2D86-46E6-D3CB66456B17}"/>
                </a:ext>
              </a:extLst>
            </p:cNvPr>
            <p:cNvSpPr/>
            <p:nvPr/>
          </p:nvSpPr>
          <p:spPr>
            <a:xfrm>
              <a:off x="6010275" y="4761854"/>
              <a:ext cx="323850" cy="323545"/>
            </a:xfrm>
            <a:prstGeom prst="ellipse">
              <a:avLst/>
            </a:prstGeom>
            <a:solidFill>
              <a:srgbClr val="009999"/>
            </a:solidFill>
            <a:ln w="19050" cap="flat">
              <a:solidFill>
                <a:srgbClr val="FFFFFF"/>
              </a:solidFill>
              <a:prstDash val="solid"/>
              <a:miter/>
            </a:ln>
          </p:spPr>
          <p:txBody>
            <a:bodyPr/>
            <a:lstStyle/>
            <a:p>
              <a:endParaRPr lang="en-US"/>
            </a:p>
          </p:txBody>
        </p:sp>
      </p:grpSp>
      <p:grpSp>
        <p:nvGrpSpPr>
          <p:cNvPr id="193" name="Graphic 10">
            <a:extLst>
              <a:ext uri="{FF2B5EF4-FFF2-40B4-BE49-F238E27FC236}">
                <a16:creationId xmlns:a16="http://schemas.microsoft.com/office/drawing/2014/main" id="{2F7EE3E9-3A7C-86A7-C077-E46E5A6D0955}"/>
              </a:ext>
            </a:extLst>
          </p:cNvPr>
          <p:cNvGrpSpPr/>
          <p:nvPr/>
        </p:nvGrpSpPr>
        <p:grpSpPr>
          <a:xfrm>
            <a:off x="6226199" y="3761752"/>
            <a:ext cx="55915" cy="477001"/>
            <a:chOff x="6143072" y="3672742"/>
            <a:chExt cx="58255" cy="496966"/>
          </a:xfrm>
          <a:solidFill>
            <a:srgbClr val="009999"/>
          </a:solidFill>
        </p:grpSpPr>
        <p:sp>
          <p:nvSpPr>
            <p:cNvPr id="194" name="TextBox 193">
              <a:extLst>
                <a:ext uri="{FF2B5EF4-FFF2-40B4-BE49-F238E27FC236}">
                  <a16:creationId xmlns:a16="http://schemas.microsoft.com/office/drawing/2014/main" id="{4C96AE1F-1C8A-EAD5-5BAB-EDAF25326DA2}"/>
                </a:ext>
              </a:extLst>
            </p:cNvPr>
            <p:cNvSpPr txBox="1"/>
            <p:nvPr/>
          </p:nvSpPr>
          <p:spPr>
            <a:xfrm>
              <a:off x="6051632" y="3627022"/>
              <a:ext cx="241135" cy="340989"/>
            </a:xfrm>
            <a:prstGeom prst="rect">
              <a:avLst/>
            </a:prstGeom>
            <a:noFill/>
          </p:spPr>
          <p:txBody>
            <a:bodyPr wrap="none" rtlCol="0">
              <a:spAutoFit/>
            </a:bodyPr>
            <a:lstStyle/>
            <a:p>
              <a:pPr algn="l"/>
              <a:r>
                <a:rPr lang="en-US" sz="1650" b="1" spc="0" baseline="0">
                  <a:ln/>
                  <a:solidFill>
                    <a:srgbClr val="009999"/>
                  </a:solidFill>
                  <a:latin typeface="Helvetica Neue"/>
                  <a:ea typeface="Helvetica Neue"/>
                  <a:cs typeface="Helvetica Neue"/>
                  <a:sym typeface="Helvetica Neue"/>
                  <a:rtl val="0"/>
                </a:rPr>
                <a:t>·</a:t>
              </a:r>
            </a:p>
          </p:txBody>
        </p:sp>
        <p:sp>
          <p:nvSpPr>
            <p:cNvPr id="195" name="TextBox 194">
              <a:extLst>
                <a:ext uri="{FF2B5EF4-FFF2-40B4-BE49-F238E27FC236}">
                  <a16:creationId xmlns:a16="http://schemas.microsoft.com/office/drawing/2014/main" id="{29D9C06B-BAF8-E64D-59C7-4CF5113A7322}"/>
                </a:ext>
              </a:extLst>
            </p:cNvPr>
            <p:cNvSpPr txBox="1"/>
            <p:nvPr/>
          </p:nvSpPr>
          <p:spPr>
            <a:xfrm>
              <a:off x="6051632" y="3750730"/>
              <a:ext cx="241135" cy="340989"/>
            </a:xfrm>
            <a:prstGeom prst="rect">
              <a:avLst/>
            </a:prstGeom>
            <a:noFill/>
          </p:spPr>
          <p:txBody>
            <a:bodyPr wrap="none" rtlCol="0">
              <a:spAutoFit/>
            </a:bodyPr>
            <a:lstStyle/>
            <a:p>
              <a:pPr algn="l"/>
              <a:r>
                <a:rPr lang="en-US" sz="1650" b="1" spc="0" baseline="0" dirty="0">
                  <a:ln/>
                  <a:solidFill>
                    <a:srgbClr val="009999"/>
                  </a:solidFill>
                  <a:latin typeface="Helvetica Neue"/>
                  <a:ea typeface="Helvetica Neue"/>
                  <a:cs typeface="Helvetica Neue"/>
                  <a:sym typeface="Helvetica Neue"/>
                  <a:rtl val="0"/>
                </a:rPr>
                <a:t>·</a:t>
              </a:r>
            </a:p>
          </p:txBody>
        </p:sp>
        <p:sp>
          <p:nvSpPr>
            <p:cNvPr id="196" name="TextBox 195">
              <a:extLst>
                <a:ext uri="{FF2B5EF4-FFF2-40B4-BE49-F238E27FC236}">
                  <a16:creationId xmlns:a16="http://schemas.microsoft.com/office/drawing/2014/main" id="{FAEC9779-A444-88F8-8E6A-CDA93214CB4B}"/>
                </a:ext>
              </a:extLst>
            </p:cNvPr>
            <p:cNvSpPr txBox="1"/>
            <p:nvPr/>
          </p:nvSpPr>
          <p:spPr>
            <a:xfrm>
              <a:off x="6051632" y="3874439"/>
              <a:ext cx="241135" cy="340989"/>
            </a:xfrm>
            <a:prstGeom prst="rect">
              <a:avLst/>
            </a:prstGeom>
            <a:noFill/>
          </p:spPr>
          <p:txBody>
            <a:bodyPr wrap="none" rtlCol="0">
              <a:spAutoFit/>
            </a:bodyPr>
            <a:lstStyle/>
            <a:p>
              <a:pPr algn="l"/>
              <a:r>
                <a:rPr lang="en-US" sz="1650" b="1" spc="0" baseline="0">
                  <a:ln/>
                  <a:solidFill>
                    <a:srgbClr val="009999"/>
                  </a:solidFill>
                  <a:latin typeface="Helvetica Neue"/>
                  <a:ea typeface="Helvetica Neue"/>
                  <a:cs typeface="Helvetica Neue"/>
                  <a:sym typeface="Helvetica Neue"/>
                  <a:rtl val="0"/>
                </a:rPr>
                <a:t>·</a:t>
              </a:r>
            </a:p>
          </p:txBody>
        </p:sp>
      </p:grpSp>
      <p:sp>
        <p:nvSpPr>
          <p:cNvPr id="197" name="TextBox 196">
            <a:extLst>
              <a:ext uri="{FF2B5EF4-FFF2-40B4-BE49-F238E27FC236}">
                <a16:creationId xmlns:a16="http://schemas.microsoft.com/office/drawing/2014/main" id="{0DB87619-281A-A14A-A764-67A56F48A7CB}"/>
              </a:ext>
            </a:extLst>
          </p:cNvPr>
          <p:cNvSpPr txBox="1"/>
          <p:nvPr/>
        </p:nvSpPr>
        <p:spPr>
          <a:xfrm>
            <a:off x="5848561" y="5146781"/>
            <a:ext cx="813530" cy="207749"/>
          </a:xfrm>
          <a:prstGeom prst="rect">
            <a:avLst/>
          </a:prstGeom>
          <a:noFill/>
        </p:spPr>
        <p:txBody>
          <a:bodyPr wrap="square" rtlCol="0">
            <a:spAutoFit/>
          </a:bodyPr>
          <a:lstStyle/>
          <a:p>
            <a:pPr algn="l"/>
            <a:r>
              <a:rPr lang="en-US" sz="750" i="1" spc="0" baseline="0" dirty="0">
                <a:ln/>
                <a:solidFill>
                  <a:srgbClr val="009999"/>
                </a:solidFill>
                <a:latin typeface="Helvetica Neue"/>
                <a:ea typeface="Helvetica Neue"/>
                <a:cs typeface="Helvetica Neue"/>
                <a:sym typeface="Helvetica Neue"/>
                <a:rtl val="0"/>
              </a:rPr>
              <a:t>× 64 units total</a:t>
            </a:r>
          </a:p>
        </p:txBody>
      </p:sp>
      <p:sp>
        <p:nvSpPr>
          <p:cNvPr id="198" name="Oval 197">
            <a:extLst>
              <a:ext uri="{FF2B5EF4-FFF2-40B4-BE49-F238E27FC236}">
                <a16:creationId xmlns:a16="http://schemas.microsoft.com/office/drawing/2014/main" id="{56173B9C-7E4B-8C76-468A-EEA783ED933A}"/>
              </a:ext>
            </a:extLst>
          </p:cNvPr>
          <p:cNvSpPr/>
          <p:nvPr/>
        </p:nvSpPr>
        <p:spPr>
          <a:xfrm>
            <a:off x="8569902" y="3804098"/>
            <a:ext cx="419100" cy="418706"/>
          </a:xfrm>
          <a:prstGeom prst="ellipse">
            <a:avLst/>
          </a:prstGeom>
          <a:solidFill>
            <a:srgbClr val="CC6633"/>
          </a:solidFill>
          <a:ln w="23813" cap="flat">
            <a:solidFill>
              <a:srgbClr val="FFFFFF"/>
            </a:solidFill>
            <a:prstDash val="solid"/>
            <a:miter/>
          </a:ln>
        </p:spPr>
        <p:txBody>
          <a:bodyPr/>
          <a:lstStyle/>
          <a:p>
            <a:endParaRPr lang="en-US"/>
          </a:p>
        </p:txBody>
      </p:sp>
      <p:sp>
        <p:nvSpPr>
          <p:cNvPr id="199" name="TextBox 198">
            <a:extLst>
              <a:ext uri="{FF2B5EF4-FFF2-40B4-BE49-F238E27FC236}">
                <a16:creationId xmlns:a16="http://schemas.microsoft.com/office/drawing/2014/main" id="{626B7E9F-E8A3-BBF0-B298-832D10292431}"/>
              </a:ext>
            </a:extLst>
          </p:cNvPr>
          <p:cNvSpPr txBox="1"/>
          <p:nvPr/>
        </p:nvSpPr>
        <p:spPr>
          <a:xfrm>
            <a:off x="8587428" y="3913014"/>
            <a:ext cx="534971" cy="207749"/>
          </a:xfrm>
          <a:prstGeom prst="rect">
            <a:avLst/>
          </a:prstGeom>
          <a:noFill/>
        </p:spPr>
        <p:txBody>
          <a:bodyPr wrap="square" rtlCol="0">
            <a:spAutoFit/>
          </a:bodyPr>
          <a:lstStyle/>
          <a:p>
            <a:pPr algn="l"/>
            <a:r>
              <a:rPr lang="en-US" sz="750" b="1" spc="0" baseline="0" dirty="0">
                <a:ln/>
                <a:solidFill>
                  <a:srgbClr val="FFFFFF"/>
                </a:solidFill>
                <a:latin typeface="Helvetica Neue"/>
                <a:ea typeface="Helvetica Neue"/>
                <a:cs typeface="Helvetica Neue"/>
                <a:sym typeface="Helvetica Neue"/>
                <a:rtl val="0"/>
              </a:rPr>
              <a:t>tanh</a:t>
            </a:r>
          </a:p>
        </p:txBody>
      </p:sp>
      <p:sp>
        <p:nvSpPr>
          <p:cNvPr id="200" name="Freeform 199">
            <a:extLst>
              <a:ext uri="{FF2B5EF4-FFF2-40B4-BE49-F238E27FC236}">
                <a16:creationId xmlns:a16="http://schemas.microsoft.com/office/drawing/2014/main" id="{423CCB00-E7E0-7D57-A74B-F23A3CAC7A13}"/>
              </a:ext>
            </a:extLst>
          </p:cNvPr>
          <p:cNvSpPr/>
          <p:nvPr/>
        </p:nvSpPr>
        <p:spPr>
          <a:xfrm>
            <a:off x="3712152" y="4013451"/>
            <a:ext cx="2324100" cy="9516"/>
          </a:xfrm>
          <a:custGeom>
            <a:avLst/>
            <a:gdLst>
              <a:gd name="csX0" fmla="*/ 0 w 2324100"/>
              <a:gd name="csY0" fmla="*/ 0 h 9516"/>
              <a:gd name="csX1" fmla="*/ 2324100 w 2324100"/>
              <a:gd name="csY1" fmla="*/ 0 h 9516"/>
            </a:gdLst>
            <a:ahLst/>
            <a:cxnLst>
              <a:cxn ang="0">
                <a:pos x="csX0" y="csY0"/>
              </a:cxn>
              <a:cxn ang="0">
                <a:pos x="csX1" y="csY1"/>
              </a:cxn>
            </a:cxnLst>
            <a:rect l="l" t="t" r="r" b="b"/>
            <a:pathLst>
              <a:path w="2324100" h="9516">
                <a:moveTo>
                  <a:pt x="0" y="0"/>
                </a:moveTo>
                <a:lnTo>
                  <a:pt x="2324100" y="0"/>
                </a:lnTo>
              </a:path>
            </a:pathLst>
          </a:custGeom>
          <a:ln w="14288" cap="flat">
            <a:solidFill>
              <a:srgbClr val="003366">
                <a:alpha val="40000"/>
              </a:srgbClr>
            </a:solidFill>
            <a:prstDash val="solid"/>
            <a:miter/>
          </a:ln>
        </p:spPr>
        <p:txBody>
          <a:bodyPr/>
          <a:lstStyle/>
          <a:p>
            <a:endParaRPr lang="en-US"/>
          </a:p>
        </p:txBody>
      </p:sp>
      <p:sp>
        <p:nvSpPr>
          <p:cNvPr id="201" name="Freeform 200">
            <a:extLst>
              <a:ext uri="{FF2B5EF4-FFF2-40B4-BE49-F238E27FC236}">
                <a16:creationId xmlns:a16="http://schemas.microsoft.com/office/drawing/2014/main" id="{002C0CEE-4614-2E89-A8EE-957A5CFD8FAE}"/>
              </a:ext>
            </a:extLst>
          </p:cNvPr>
          <p:cNvSpPr/>
          <p:nvPr/>
        </p:nvSpPr>
        <p:spPr>
          <a:xfrm>
            <a:off x="6426777" y="4013451"/>
            <a:ext cx="2105025" cy="9516"/>
          </a:xfrm>
          <a:custGeom>
            <a:avLst/>
            <a:gdLst>
              <a:gd name="csX0" fmla="*/ 0 w 2105025"/>
              <a:gd name="csY0" fmla="*/ 0 h 9516"/>
              <a:gd name="csX1" fmla="*/ 2105025 w 2105025"/>
              <a:gd name="csY1" fmla="*/ 0 h 9516"/>
            </a:gdLst>
            <a:ahLst/>
            <a:cxnLst>
              <a:cxn ang="0">
                <a:pos x="csX0" y="csY0"/>
              </a:cxn>
              <a:cxn ang="0">
                <a:pos x="csX1" y="csY1"/>
              </a:cxn>
            </a:cxnLst>
            <a:rect l="l" t="t" r="r" b="b"/>
            <a:pathLst>
              <a:path w="2105025" h="9516">
                <a:moveTo>
                  <a:pt x="0" y="0"/>
                </a:moveTo>
                <a:lnTo>
                  <a:pt x="2105025" y="0"/>
                </a:lnTo>
              </a:path>
            </a:pathLst>
          </a:custGeom>
          <a:ln w="14288" cap="flat">
            <a:solidFill>
              <a:srgbClr val="009999"/>
            </a:solidFill>
            <a:prstDash val="solid"/>
            <a:miter/>
          </a:ln>
        </p:spPr>
        <p:txBody>
          <a:bodyPr/>
          <a:lstStyle/>
          <a:p>
            <a:endParaRPr lang="en-US"/>
          </a:p>
        </p:txBody>
      </p:sp>
      <p:sp>
        <p:nvSpPr>
          <p:cNvPr id="202" name="Freeform 201">
            <a:extLst>
              <a:ext uri="{FF2B5EF4-FFF2-40B4-BE49-F238E27FC236}">
                <a16:creationId xmlns:a16="http://schemas.microsoft.com/office/drawing/2014/main" id="{AC495813-72A6-E5AB-C2CC-8C825EB1418B}"/>
              </a:ext>
            </a:extLst>
          </p:cNvPr>
          <p:cNvSpPr/>
          <p:nvPr/>
        </p:nvSpPr>
        <p:spPr>
          <a:xfrm>
            <a:off x="8998527" y="4013451"/>
            <a:ext cx="400050" cy="9516"/>
          </a:xfrm>
          <a:custGeom>
            <a:avLst/>
            <a:gdLst>
              <a:gd name="csX0" fmla="*/ 0 w 400050"/>
              <a:gd name="csY0" fmla="*/ 0 h 9516"/>
              <a:gd name="csX1" fmla="*/ 400050 w 400050"/>
              <a:gd name="csY1" fmla="*/ 0 h 9516"/>
            </a:gdLst>
            <a:ahLst/>
            <a:cxnLst>
              <a:cxn ang="0">
                <a:pos x="csX0" y="csY0"/>
              </a:cxn>
              <a:cxn ang="0">
                <a:pos x="csX1" y="csY1"/>
              </a:cxn>
            </a:cxnLst>
            <a:rect l="l" t="t" r="r" b="b"/>
            <a:pathLst>
              <a:path w="400050" h="9516">
                <a:moveTo>
                  <a:pt x="0" y="0"/>
                </a:moveTo>
                <a:lnTo>
                  <a:pt x="400050" y="0"/>
                </a:lnTo>
              </a:path>
            </a:pathLst>
          </a:custGeom>
          <a:ln w="19050" cap="flat">
            <a:solidFill>
              <a:srgbClr val="CC6633"/>
            </a:solidFill>
            <a:prstDash val="solid"/>
            <a:miter/>
          </a:ln>
        </p:spPr>
        <p:txBody>
          <a:bodyPr/>
          <a:lstStyle/>
          <a:p>
            <a:endParaRPr lang="en-US"/>
          </a:p>
        </p:txBody>
      </p:sp>
      <p:sp>
        <p:nvSpPr>
          <p:cNvPr id="203" name="Rounded Rectangle 202">
            <a:extLst>
              <a:ext uri="{FF2B5EF4-FFF2-40B4-BE49-F238E27FC236}">
                <a16:creationId xmlns:a16="http://schemas.microsoft.com/office/drawing/2014/main" id="{5C476048-6F60-9CC8-0BFA-62FB74D83E9A}"/>
              </a:ext>
            </a:extLst>
          </p:cNvPr>
          <p:cNvSpPr/>
          <p:nvPr/>
        </p:nvSpPr>
        <p:spPr>
          <a:xfrm>
            <a:off x="9398577" y="3842162"/>
            <a:ext cx="419100" cy="342578"/>
          </a:xfrm>
          <a:prstGeom prst="roundRect">
            <a:avLst>
              <a:gd name="adj" fmla="val 13901"/>
            </a:avLst>
          </a:prstGeom>
          <a:solidFill>
            <a:srgbClr val="CC6633"/>
          </a:solidFill>
          <a:ln w="9525" cap="flat">
            <a:noFill/>
            <a:prstDash val="solid"/>
            <a:miter/>
          </a:ln>
        </p:spPr>
        <p:txBody>
          <a:bodyPr/>
          <a:lstStyle/>
          <a:p>
            <a:endParaRPr lang="en-US"/>
          </a:p>
        </p:txBody>
      </p:sp>
      <p:sp>
        <p:nvSpPr>
          <p:cNvPr id="204" name="TextBox 203">
            <a:extLst>
              <a:ext uri="{FF2B5EF4-FFF2-40B4-BE49-F238E27FC236}">
                <a16:creationId xmlns:a16="http://schemas.microsoft.com/office/drawing/2014/main" id="{4236218E-8348-5893-FF48-40835C5F7DB6}"/>
              </a:ext>
            </a:extLst>
          </p:cNvPr>
          <p:cNvSpPr txBox="1"/>
          <p:nvPr/>
        </p:nvSpPr>
        <p:spPr>
          <a:xfrm>
            <a:off x="9467620" y="3861369"/>
            <a:ext cx="990542" cy="207749"/>
          </a:xfrm>
          <a:prstGeom prst="rect">
            <a:avLst/>
          </a:prstGeom>
          <a:noFill/>
        </p:spPr>
        <p:txBody>
          <a:bodyPr wrap="square" rtlCol="0">
            <a:spAutoFit/>
          </a:bodyPr>
          <a:lstStyle/>
          <a:p>
            <a:pPr algn="l"/>
            <a:r>
              <a:rPr lang="en-US" sz="750" b="1" spc="0" baseline="0" dirty="0">
                <a:ln/>
                <a:solidFill>
                  <a:srgbClr val="FFFFFF"/>
                </a:solidFill>
                <a:latin typeface="Helvetica Neue"/>
                <a:ea typeface="Helvetica Neue"/>
                <a:cs typeface="Helvetica Neue"/>
                <a:sym typeface="Helvetica Neue"/>
                <a:rtl val="0"/>
              </a:rPr>
              <a:t>ΔV</a:t>
            </a:r>
          </a:p>
        </p:txBody>
      </p:sp>
      <p:sp>
        <p:nvSpPr>
          <p:cNvPr id="205" name="TextBox 204">
            <a:extLst>
              <a:ext uri="{FF2B5EF4-FFF2-40B4-BE49-F238E27FC236}">
                <a16:creationId xmlns:a16="http://schemas.microsoft.com/office/drawing/2014/main" id="{20FE1100-B50B-4BF1-461D-201FBDED105C}"/>
              </a:ext>
            </a:extLst>
          </p:cNvPr>
          <p:cNvSpPr txBox="1"/>
          <p:nvPr/>
        </p:nvSpPr>
        <p:spPr>
          <a:xfrm>
            <a:off x="9386584" y="3985807"/>
            <a:ext cx="862185" cy="196208"/>
          </a:xfrm>
          <a:prstGeom prst="rect">
            <a:avLst/>
          </a:prstGeom>
          <a:noFill/>
        </p:spPr>
        <p:txBody>
          <a:bodyPr wrap="square" rtlCol="0">
            <a:spAutoFit/>
          </a:bodyPr>
          <a:lstStyle/>
          <a:p>
            <a:pPr algn="l"/>
            <a:r>
              <a:rPr lang="en-US" sz="675" spc="0" baseline="0" dirty="0">
                <a:ln/>
                <a:solidFill>
                  <a:srgbClr val="FFFFFF"/>
                </a:solidFill>
                <a:latin typeface="Cambria Math"/>
                <a:ea typeface="Cambria Math"/>
                <a:sym typeface="Cambria Math"/>
                <a:rtl val="0"/>
              </a:rPr>
              <a:t>∈</a:t>
            </a:r>
            <a:r>
              <a:rPr lang="en-US" sz="675" spc="0" baseline="0" dirty="0">
                <a:ln/>
                <a:solidFill>
                  <a:srgbClr val="FFFFFF"/>
                </a:solidFill>
                <a:latin typeface="Helvetica Neue"/>
                <a:ea typeface="Helvetica Neue"/>
                <a:cs typeface="Helvetica Neue"/>
                <a:sym typeface="Helvetica Neue"/>
                <a:rtl val="0"/>
              </a:rPr>
              <a:t>[−1,1]</a:t>
            </a:r>
          </a:p>
        </p:txBody>
      </p:sp>
      <p:sp>
        <p:nvSpPr>
          <p:cNvPr id="206" name="Rounded Rectangle 205">
            <a:extLst>
              <a:ext uri="{FF2B5EF4-FFF2-40B4-BE49-F238E27FC236}">
                <a16:creationId xmlns:a16="http://schemas.microsoft.com/office/drawing/2014/main" id="{27C6BDB3-FDFE-9ACD-F646-98C5001A9373}"/>
              </a:ext>
            </a:extLst>
          </p:cNvPr>
          <p:cNvSpPr/>
          <p:nvPr/>
        </p:nvSpPr>
        <p:spPr>
          <a:xfrm>
            <a:off x="5826702" y="5369214"/>
            <a:ext cx="857250" cy="171289"/>
          </a:xfrm>
          <a:prstGeom prst="roundRect">
            <a:avLst>
              <a:gd name="adj" fmla="val 22243"/>
            </a:avLst>
          </a:prstGeom>
          <a:solidFill>
            <a:srgbClr val="009999">
              <a:alpha val="15000"/>
            </a:srgbClr>
          </a:solidFill>
          <a:ln w="9525" cap="flat">
            <a:noFill/>
            <a:prstDash val="solid"/>
            <a:miter/>
          </a:ln>
        </p:spPr>
        <p:txBody>
          <a:bodyPr/>
          <a:lstStyle/>
          <a:p>
            <a:endParaRPr lang="en-US"/>
          </a:p>
        </p:txBody>
      </p:sp>
      <p:sp>
        <p:nvSpPr>
          <p:cNvPr id="207" name="TextBox 206">
            <a:extLst>
              <a:ext uri="{FF2B5EF4-FFF2-40B4-BE49-F238E27FC236}">
                <a16:creationId xmlns:a16="http://schemas.microsoft.com/office/drawing/2014/main" id="{FE0CA7E8-6AA6-9866-4DAB-6ACCCC7A6CA2}"/>
              </a:ext>
            </a:extLst>
          </p:cNvPr>
          <p:cNvSpPr txBox="1"/>
          <p:nvPr/>
        </p:nvSpPr>
        <p:spPr>
          <a:xfrm>
            <a:off x="6038632" y="5349558"/>
            <a:ext cx="433387" cy="207749"/>
          </a:xfrm>
          <a:prstGeom prst="rect">
            <a:avLst/>
          </a:prstGeom>
          <a:noFill/>
        </p:spPr>
        <p:txBody>
          <a:bodyPr wrap="square" rtlCol="0">
            <a:spAutoFit/>
          </a:bodyPr>
          <a:lstStyle/>
          <a:p>
            <a:pPr algn="l"/>
            <a:r>
              <a:rPr lang="en-US" sz="750" b="1" spc="0" baseline="0" dirty="0" err="1">
                <a:ln/>
                <a:solidFill>
                  <a:srgbClr val="009999"/>
                </a:solidFill>
                <a:latin typeface="Helvetica Neue"/>
                <a:ea typeface="Helvetica Neue"/>
                <a:cs typeface="Helvetica Neue"/>
                <a:sym typeface="Helvetica Neue"/>
                <a:rtl val="0"/>
              </a:rPr>
              <a:t>ReLU</a:t>
            </a:r>
            <a:endParaRPr lang="en-US" sz="750" b="1" spc="0" baseline="0" dirty="0">
              <a:ln/>
              <a:solidFill>
                <a:srgbClr val="009999"/>
              </a:solidFill>
              <a:latin typeface="Helvetica Neue"/>
              <a:ea typeface="Helvetica Neue"/>
              <a:cs typeface="Helvetica Neue"/>
              <a:sym typeface="Helvetica Neue"/>
              <a:rtl val="0"/>
            </a:endParaRPr>
          </a:p>
        </p:txBody>
      </p:sp>
      <p:sp>
        <p:nvSpPr>
          <p:cNvPr id="208" name="Rounded Rectangle 207">
            <a:extLst>
              <a:ext uri="{FF2B5EF4-FFF2-40B4-BE49-F238E27FC236}">
                <a16:creationId xmlns:a16="http://schemas.microsoft.com/office/drawing/2014/main" id="{EF2DCD88-4566-F2BA-B2A1-F5E52A014EE0}"/>
              </a:ext>
            </a:extLst>
          </p:cNvPr>
          <p:cNvSpPr/>
          <p:nvPr/>
        </p:nvSpPr>
        <p:spPr>
          <a:xfrm>
            <a:off x="8748696" y="4382631"/>
            <a:ext cx="857250" cy="171289"/>
          </a:xfrm>
          <a:prstGeom prst="roundRect">
            <a:avLst>
              <a:gd name="adj" fmla="val 22243"/>
            </a:avLst>
          </a:prstGeom>
          <a:solidFill>
            <a:srgbClr val="CC6633">
              <a:alpha val="15000"/>
            </a:srgbClr>
          </a:solidFill>
          <a:ln w="9525" cap="flat">
            <a:noFill/>
            <a:prstDash val="solid"/>
            <a:miter/>
          </a:ln>
        </p:spPr>
        <p:txBody>
          <a:bodyPr/>
          <a:lstStyle/>
          <a:p>
            <a:endParaRPr lang="en-US"/>
          </a:p>
        </p:txBody>
      </p:sp>
      <p:sp>
        <p:nvSpPr>
          <p:cNvPr id="209" name="TextBox 208">
            <a:extLst>
              <a:ext uri="{FF2B5EF4-FFF2-40B4-BE49-F238E27FC236}">
                <a16:creationId xmlns:a16="http://schemas.microsoft.com/office/drawing/2014/main" id="{C51DBBAA-AFD3-F12B-31E4-9992FF6042D5}"/>
              </a:ext>
            </a:extLst>
          </p:cNvPr>
          <p:cNvSpPr txBox="1"/>
          <p:nvPr/>
        </p:nvSpPr>
        <p:spPr>
          <a:xfrm>
            <a:off x="8771460" y="4367838"/>
            <a:ext cx="990542" cy="207749"/>
          </a:xfrm>
          <a:prstGeom prst="rect">
            <a:avLst/>
          </a:prstGeom>
          <a:noFill/>
        </p:spPr>
        <p:txBody>
          <a:bodyPr wrap="square" rtlCol="0">
            <a:spAutoFit/>
          </a:bodyPr>
          <a:lstStyle/>
          <a:p>
            <a:pPr algn="l"/>
            <a:r>
              <a:rPr lang="en-US" sz="750" b="1" spc="0" baseline="0" dirty="0">
                <a:ln/>
                <a:solidFill>
                  <a:srgbClr val="CC6633"/>
                </a:solidFill>
                <a:latin typeface="Helvetica Neue"/>
                <a:ea typeface="Helvetica Neue"/>
                <a:cs typeface="Helvetica Neue"/>
                <a:sym typeface="Helvetica Neue"/>
                <a:rtl val="0"/>
              </a:rPr>
              <a:t>tanh </a:t>
            </a:r>
            <a:r>
              <a:rPr lang="en-US" sz="750" b="1" spc="0" baseline="0" dirty="0">
                <a:ln/>
                <a:solidFill>
                  <a:srgbClr val="CC6633"/>
                </a:solidFill>
                <a:latin typeface="Times New Roman"/>
                <a:ea typeface="Helvetica Neue"/>
                <a:cs typeface="Times New Roman"/>
                <a:sym typeface="Times New Roman"/>
                <a:rtl val="0"/>
              </a:rPr>
              <a:t>→</a:t>
            </a:r>
            <a:r>
              <a:rPr lang="en-US" sz="750" b="1" spc="0" baseline="0" dirty="0">
                <a:ln/>
                <a:solidFill>
                  <a:srgbClr val="CC6633"/>
                </a:solidFill>
                <a:latin typeface="Helvetica Neue"/>
                <a:ea typeface="Helvetica Neue"/>
                <a:cs typeface="Helvetica Neue"/>
                <a:sym typeface="Helvetica Neue"/>
                <a:rtl val="0"/>
              </a:rPr>
              <a:t> [−1, 1]</a:t>
            </a:r>
          </a:p>
        </p:txBody>
      </p:sp>
      <p:sp>
        <p:nvSpPr>
          <p:cNvPr id="210" name="TextBox 209">
            <a:extLst>
              <a:ext uri="{FF2B5EF4-FFF2-40B4-BE49-F238E27FC236}">
                <a16:creationId xmlns:a16="http://schemas.microsoft.com/office/drawing/2014/main" id="{9DFA8869-D347-B195-ECF9-FCAEFAB104C0}"/>
              </a:ext>
            </a:extLst>
          </p:cNvPr>
          <p:cNvSpPr txBox="1"/>
          <p:nvPr/>
        </p:nvSpPr>
        <p:spPr>
          <a:xfrm>
            <a:off x="4592943" y="2755418"/>
            <a:ext cx="708472" cy="207749"/>
          </a:xfrm>
          <a:prstGeom prst="rect">
            <a:avLst/>
          </a:prstGeom>
          <a:noFill/>
        </p:spPr>
        <p:txBody>
          <a:bodyPr wrap="square" rtlCol="0">
            <a:spAutoFit/>
          </a:bodyPr>
          <a:lstStyle/>
          <a:p>
            <a:pPr algn="l"/>
            <a:r>
              <a:rPr lang="en-US" sz="750" i="1" spc="0" baseline="0" dirty="0">
                <a:ln/>
                <a:solidFill>
                  <a:srgbClr val="555555"/>
                </a:solidFill>
                <a:latin typeface="Helvetica Neue"/>
                <a:ea typeface="Helvetica Neue"/>
                <a:cs typeface="Helvetica Neue"/>
                <a:sym typeface="Helvetica Neue"/>
                <a:rtl val="0"/>
              </a:rPr>
              <a:t>W₁ </a:t>
            </a:r>
            <a:r>
              <a:rPr lang="en-US" sz="750" i="1" spc="0" baseline="0" dirty="0">
                <a:ln/>
                <a:solidFill>
                  <a:srgbClr val="555555"/>
                </a:solidFill>
                <a:latin typeface="Cambria Math"/>
                <a:ea typeface="Cambria Math"/>
                <a:cs typeface="Helvetica Neue"/>
                <a:sym typeface="Cambria Math"/>
                <a:rtl val="0"/>
              </a:rPr>
              <a:t>∈</a:t>
            </a:r>
            <a:r>
              <a:rPr lang="en-US" sz="750" i="1" spc="0" baseline="0" dirty="0">
                <a:ln/>
                <a:solidFill>
                  <a:srgbClr val="555555"/>
                </a:solidFill>
                <a:latin typeface="Helvetica Neue"/>
                <a:ea typeface="Helvetica Neue"/>
                <a:cs typeface="Helvetica Neue"/>
                <a:sym typeface="Helvetica Neue"/>
                <a:rtl val="0"/>
              </a:rPr>
              <a:t> </a:t>
            </a:r>
            <a:r>
              <a:rPr lang="en-US" sz="750" i="1" spc="0" baseline="0" dirty="0" err="1">
                <a:ln/>
                <a:solidFill>
                  <a:srgbClr val="555555"/>
                </a:solidFill>
                <a:latin typeface="Cambria Math"/>
                <a:ea typeface="Cambria Math"/>
                <a:cs typeface="Helvetica Neue"/>
                <a:sym typeface="Cambria Math"/>
                <a:rtl val="0"/>
              </a:rPr>
              <a:t>ℝ</a:t>
            </a:r>
            <a:r>
              <a:rPr lang="en-US" sz="750" i="1" spc="0" baseline="0" dirty="0">
                <a:ln/>
                <a:solidFill>
                  <a:srgbClr val="555555"/>
                </a:solidFill>
                <a:latin typeface="Helvetica Neue"/>
                <a:ea typeface="Helvetica Neue"/>
                <a:cs typeface="Helvetica Neue"/>
                <a:sym typeface="Helvetica Neue"/>
                <a:rtl val="0"/>
              </a:rPr>
              <a:t>⁶⁴ˣ⁶</a:t>
            </a:r>
          </a:p>
        </p:txBody>
      </p:sp>
      <p:sp>
        <p:nvSpPr>
          <p:cNvPr id="211" name="TextBox 210">
            <a:extLst>
              <a:ext uri="{FF2B5EF4-FFF2-40B4-BE49-F238E27FC236}">
                <a16:creationId xmlns:a16="http://schemas.microsoft.com/office/drawing/2014/main" id="{4490967C-A20D-F15B-5267-6D22E5BC5D1B}"/>
              </a:ext>
            </a:extLst>
          </p:cNvPr>
          <p:cNvSpPr txBox="1"/>
          <p:nvPr/>
        </p:nvSpPr>
        <p:spPr>
          <a:xfrm>
            <a:off x="7118013" y="2811337"/>
            <a:ext cx="874571" cy="207749"/>
          </a:xfrm>
          <a:prstGeom prst="rect">
            <a:avLst/>
          </a:prstGeom>
          <a:noFill/>
        </p:spPr>
        <p:txBody>
          <a:bodyPr wrap="square" rtlCol="0">
            <a:spAutoFit/>
          </a:bodyPr>
          <a:lstStyle/>
          <a:p>
            <a:pPr algn="l"/>
            <a:r>
              <a:rPr lang="en-US" sz="750" i="1" spc="0" baseline="0" dirty="0">
                <a:ln/>
                <a:solidFill>
                  <a:srgbClr val="555555"/>
                </a:solidFill>
                <a:latin typeface="Helvetica Neue"/>
                <a:ea typeface="Helvetica Neue"/>
                <a:cs typeface="Helvetica Neue"/>
                <a:sym typeface="Helvetica Neue"/>
                <a:rtl val="0"/>
              </a:rPr>
              <a:t>W₂ </a:t>
            </a:r>
            <a:r>
              <a:rPr lang="en-US" sz="750" i="1" spc="0" baseline="0" dirty="0">
                <a:ln/>
                <a:solidFill>
                  <a:srgbClr val="555555"/>
                </a:solidFill>
                <a:latin typeface="Cambria Math"/>
                <a:ea typeface="Cambria Math"/>
                <a:cs typeface="Helvetica Neue"/>
                <a:sym typeface="Cambria Math"/>
                <a:rtl val="0"/>
              </a:rPr>
              <a:t>∈</a:t>
            </a:r>
            <a:r>
              <a:rPr lang="en-US" sz="750" i="1" spc="0" baseline="0" dirty="0">
                <a:ln/>
                <a:solidFill>
                  <a:srgbClr val="555555"/>
                </a:solidFill>
                <a:latin typeface="Helvetica Neue"/>
                <a:ea typeface="Helvetica Neue"/>
                <a:cs typeface="Helvetica Neue"/>
                <a:sym typeface="Helvetica Neue"/>
                <a:rtl val="0"/>
              </a:rPr>
              <a:t> </a:t>
            </a:r>
            <a:r>
              <a:rPr lang="en-US" sz="750" i="1" spc="0" baseline="0" dirty="0">
                <a:ln/>
                <a:solidFill>
                  <a:srgbClr val="555555"/>
                </a:solidFill>
                <a:latin typeface="Cambria Math"/>
                <a:ea typeface="Cambria Math"/>
                <a:cs typeface="Helvetica Neue"/>
                <a:sym typeface="Cambria Math"/>
                <a:rtl val="0"/>
              </a:rPr>
              <a:t>ℝ</a:t>
            </a:r>
            <a:r>
              <a:rPr lang="en-US" sz="750" i="1" spc="0" baseline="0" dirty="0">
                <a:ln/>
                <a:solidFill>
                  <a:srgbClr val="555555"/>
                </a:solidFill>
                <a:latin typeface="Helvetica Neue"/>
                <a:ea typeface="Helvetica Neue"/>
                <a:cs typeface="Helvetica Neue"/>
                <a:sym typeface="Helvetica Neue"/>
                <a:rtl val="0"/>
              </a:rPr>
              <a:t>¹ˣ⁶⁴</a:t>
            </a:r>
          </a:p>
        </p:txBody>
      </p:sp>
      <p:sp>
        <p:nvSpPr>
          <p:cNvPr id="212" name="TextBox 211">
            <a:extLst>
              <a:ext uri="{FF2B5EF4-FFF2-40B4-BE49-F238E27FC236}">
                <a16:creationId xmlns:a16="http://schemas.microsoft.com/office/drawing/2014/main" id="{8C14FC78-C15B-BA6D-D5A8-B77A3E786238}"/>
              </a:ext>
            </a:extLst>
          </p:cNvPr>
          <p:cNvSpPr txBox="1"/>
          <p:nvPr/>
        </p:nvSpPr>
        <p:spPr>
          <a:xfrm>
            <a:off x="4984834" y="5574085"/>
            <a:ext cx="2540984" cy="207749"/>
          </a:xfrm>
          <a:prstGeom prst="rect">
            <a:avLst/>
          </a:prstGeom>
          <a:noFill/>
        </p:spPr>
        <p:txBody>
          <a:bodyPr wrap="square" rtlCol="0">
            <a:spAutoFit/>
          </a:bodyPr>
          <a:lstStyle/>
          <a:p>
            <a:pPr algn="l"/>
            <a:r>
              <a:rPr lang="en-US" sz="750" spc="0" baseline="0" dirty="0">
                <a:ln/>
                <a:solidFill>
                  <a:srgbClr val="666666"/>
                </a:solidFill>
                <a:latin typeface="Helvetica Neue"/>
                <a:ea typeface="Helvetica Neue"/>
                <a:cs typeface="Helvetica Neue"/>
                <a:sym typeface="Helvetica Neue"/>
                <a:rtl val="0"/>
              </a:rPr>
              <a:t>Total trainable parameters: 6×64 + 64 + 64×1 + 1 = </a:t>
            </a:r>
            <a:r>
              <a:rPr lang="en-US" sz="750" b="1" spc="0" baseline="0" dirty="0">
                <a:ln/>
                <a:solidFill>
                  <a:srgbClr val="003366"/>
                </a:solidFill>
                <a:latin typeface="Helvetica Neue"/>
                <a:ea typeface="Helvetica Neue"/>
                <a:cs typeface="Helvetica Neue"/>
                <a:sym typeface="Helvetica Neue"/>
                <a:rtl val="0"/>
              </a:rPr>
              <a:t>513</a:t>
            </a:r>
          </a:p>
        </p:txBody>
      </p:sp>
      <mc:AlternateContent xmlns:mc="http://schemas.openxmlformats.org/markup-compatibility/2006" xmlns:a14="http://schemas.microsoft.com/office/drawing/2010/main">
        <mc:Choice Requires="a14">
          <p:sp>
            <p:nvSpPr>
              <p:cNvPr id="213" name="TextBox 212">
                <a:extLst>
                  <a:ext uri="{FF2B5EF4-FFF2-40B4-BE49-F238E27FC236}">
                    <a16:creationId xmlns:a16="http://schemas.microsoft.com/office/drawing/2014/main" id="{FE1F5680-0855-2C34-A78C-28EC9025A980}"/>
                  </a:ext>
                </a:extLst>
              </p:cNvPr>
              <p:cNvSpPr txBox="1"/>
              <p:nvPr/>
            </p:nvSpPr>
            <p:spPr>
              <a:xfrm>
                <a:off x="868680" y="5861044"/>
                <a:ext cx="10607040" cy="1107996"/>
              </a:xfrm>
              <a:prstGeom prst="rect">
                <a:avLst/>
              </a:prstGeom>
              <a:noFill/>
            </p:spPr>
            <p:txBody>
              <a:bodyPr wrap="square" rtlCol="0">
                <a:spAutoFit/>
              </a:bodyPr>
              <a:lstStyle/>
              <a:p>
                <a:r>
                  <a:rPr lang="en-GB" sz="1200" dirty="0">
                    <a:solidFill>
                      <a:srgbClr val="495A66"/>
                    </a:solidFill>
                    <a:latin typeface="Consolas" panose="020B0609020204030204" pitchFamily="49" charset="0"/>
                    <a:cs typeface="Consolas" panose="020B0609020204030204" pitchFamily="49" charset="0"/>
                  </a:rPr>
                  <a:t>One hidden layer and 64 units residual </a:t>
                </a:r>
                <a14:m>
                  <m:oMath xmlns:m="http://schemas.openxmlformats.org/officeDocument/2006/math">
                    <m:r>
                      <a:rPr lang="en-GB" sz="1200" i="1">
                        <a:solidFill>
                          <a:srgbClr val="495A66"/>
                        </a:solidFill>
                        <a:latin typeface="Cambria Math" panose="02040503050406030204" pitchFamily="18" charset="0"/>
                        <a:ea typeface="Cambria Math" panose="02040503050406030204" pitchFamily="18" charset="0"/>
                      </a:rPr>
                      <m:t>∆</m:t>
                    </m:r>
                    <m:r>
                      <a:rPr lang="it-IT" sz="1200" i="1">
                        <a:solidFill>
                          <a:srgbClr val="495A66"/>
                        </a:solidFill>
                        <a:latin typeface="Cambria Math" panose="02040503050406030204" pitchFamily="18" charset="0"/>
                        <a:ea typeface="Cambria Math" panose="02040503050406030204" pitchFamily="18" charset="0"/>
                      </a:rPr>
                      <m:t>𝑉</m:t>
                    </m:r>
                  </m:oMath>
                </a14:m>
                <a:r>
                  <a:rPr lang="en-GB" sz="1200" dirty="0">
                    <a:solidFill>
                      <a:srgbClr val="495A66"/>
                    </a:solidFill>
                    <a:latin typeface="Consolas" panose="020B0609020204030204" pitchFamily="49" charset="0"/>
                    <a:cs typeface="Consolas" panose="020B0609020204030204" pitchFamily="49" charset="0"/>
                  </a:rPr>
                  <a:t> is a smooth, low-dimensional correction, this is sufficient to approximate it.</a:t>
                </a:r>
              </a:p>
              <a:p>
                <a:r>
                  <a:rPr lang="en-GB" sz="1200" dirty="0" err="1">
                    <a:solidFill>
                      <a:srgbClr val="495A66"/>
                    </a:solidFill>
                    <a:latin typeface="Consolas" panose="020B0609020204030204" pitchFamily="49" charset="0"/>
                    <a:cs typeface="Consolas" panose="020B0609020204030204" pitchFamily="49" charset="0"/>
                  </a:rPr>
                  <a:t>ReLU</a:t>
                </a:r>
                <a:r>
                  <a:rPr lang="en-GB" sz="1200" dirty="0">
                    <a:solidFill>
                      <a:srgbClr val="495A66"/>
                    </a:solidFill>
                    <a:latin typeface="Consolas" panose="020B0609020204030204" pitchFamily="49" charset="0"/>
                    <a:cs typeface="Consolas" panose="020B0609020204030204" pitchFamily="49" charset="0"/>
                  </a:rPr>
                  <a:t> activation, piecewise-linear, no vanishing gradient, standard for continuous-action SAC policies.</a:t>
                </a:r>
              </a:p>
              <a:p>
                <a:r>
                  <a:rPr lang="en-GB" sz="1200" i="1" dirty="0">
                    <a:solidFill>
                      <a:srgbClr val="495A66"/>
                    </a:solidFill>
                    <a:latin typeface="Consolas" panose="020B0609020204030204" pitchFamily="49" charset="0"/>
                    <a:cs typeface="Consolas" panose="020B0609020204030204" pitchFamily="49" charset="0"/>
                  </a:rPr>
                  <a:t>tanh</a:t>
                </a:r>
                <a:r>
                  <a:rPr lang="en-GB" sz="1200" dirty="0">
                    <a:solidFill>
                      <a:srgbClr val="495A66"/>
                    </a:solidFill>
                    <a:latin typeface="Consolas" panose="020B0609020204030204" pitchFamily="49" charset="0"/>
                    <a:cs typeface="Consolas" panose="020B0609020204030204" pitchFamily="49" charset="0"/>
                  </a:rPr>
                  <a:t> output, squashes the network output to (-1, +1) regardless of weight magnitude, the residual limit </a:t>
                </a:r>
                <a14:m>
                  <m:oMath xmlns:m="http://schemas.openxmlformats.org/officeDocument/2006/math">
                    <m:r>
                      <a:rPr lang="en-GB" sz="1200" i="1">
                        <a:solidFill>
                          <a:srgbClr val="495A66"/>
                        </a:solidFill>
                        <a:latin typeface="Cambria Math" panose="02040503050406030204" pitchFamily="18" charset="0"/>
                        <a:ea typeface="Cambria Math" panose="02040503050406030204" pitchFamily="18" charset="0"/>
                      </a:rPr>
                      <m:t>∆</m:t>
                    </m:r>
                    <m:r>
                      <a:rPr lang="it-IT" sz="1200" i="1">
                        <a:solidFill>
                          <a:srgbClr val="495A66"/>
                        </a:solidFill>
                        <a:latin typeface="Cambria Math" panose="02040503050406030204" pitchFamily="18" charset="0"/>
                        <a:ea typeface="Cambria Math" panose="02040503050406030204" pitchFamily="18" charset="0"/>
                      </a:rPr>
                      <m:t>𝑉</m:t>
                    </m:r>
                    <m:r>
                      <a:rPr lang="it-IT" sz="1200" i="1" smtClean="0">
                        <a:solidFill>
                          <a:srgbClr val="495A66"/>
                        </a:solidFill>
                        <a:latin typeface="Cambria Math" panose="02040503050406030204" pitchFamily="18" charset="0"/>
                        <a:ea typeface="Cambria Math" panose="02040503050406030204" pitchFamily="18" charset="0"/>
                      </a:rPr>
                      <m:t>≤</m:t>
                    </m:r>
                    <m:r>
                      <a:rPr lang="it-IT" sz="1200" b="0" i="1" smtClean="0">
                        <a:solidFill>
                          <a:srgbClr val="495A66"/>
                        </a:solidFill>
                        <a:latin typeface="Cambria Math" panose="02040503050406030204" pitchFamily="18" charset="0"/>
                        <a:ea typeface="Cambria Math" panose="02040503050406030204" pitchFamily="18" charset="0"/>
                      </a:rPr>
                      <m:t>3.6 </m:t>
                    </m:r>
                    <m:r>
                      <a:rPr lang="it-IT" sz="1200" b="0" i="1" smtClean="0">
                        <a:solidFill>
                          <a:srgbClr val="495A66"/>
                        </a:solidFill>
                        <a:latin typeface="Cambria Math" panose="02040503050406030204" pitchFamily="18" charset="0"/>
                        <a:ea typeface="Cambria Math" panose="02040503050406030204" pitchFamily="18" charset="0"/>
                      </a:rPr>
                      <m:t>𝑉</m:t>
                    </m:r>
                  </m:oMath>
                </a14:m>
                <a:r>
                  <a:rPr lang="en-GB" sz="1200" dirty="0">
                    <a:solidFill>
                      <a:srgbClr val="495A66"/>
                    </a:solidFill>
                    <a:latin typeface="Consolas" panose="020B0609020204030204" pitchFamily="49" charset="0"/>
                    <a:cs typeface="Consolas" panose="020B0609020204030204" pitchFamily="49" charset="0"/>
                  </a:rPr>
                  <a:t> is enforced by the architecture, not by clipping after the fact.</a:t>
                </a:r>
              </a:p>
              <a:p>
                <a:endParaRPr lang="en-US" dirty="0"/>
              </a:p>
            </p:txBody>
          </p:sp>
        </mc:Choice>
        <mc:Fallback xmlns="">
          <p:sp>
            <p:nvSpPr>
              <p:cNvPr id="213" name="TextBox 212">
                <a:extLst>
                  <a:ext uri="{FF2B5EF4-FFF2-40B4-BE49-F238E27FC236}">
                    <a16:creationId xmlns:a16="http://schemas.microsoft.com/office/drawing/2014/main" id="{FE1F5680-0855-2C34-A78C-28EC9025A980}"/>
                  </a:ext>
                </a:extLst>
              </p:cNvPr>
              <p:cNvSpPr txBox="1">
                <a:spLocks noRot="1" noChangeAspect="1" noMove="1" noResize="1" noEditPoints="1" noAdjustHandles="1" noChangeArrowheads="1" noChangeShapeType="1" noTextEdit="1"/>
              </p:cNvSpPr>
              <p:nvPr/>
            </p:nvSpPr>
            <p:spPr>
              <a:xfrm>
                <a:off x="868680" y="5861044"/>
                <a:ext cx="10607040" cy="1107996"/>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79512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8810C7BE-A530-561E-FF9B-873D906077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A6A4301-5790-1DAA-7B4F-BCBDDD2B36C9}"/>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8C21A271-ABBD-FE89-6C89-8D10E95DFEA4}"/>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68F5EC38-FC54-D33C-3D94-2A6B32B8A1B2}"/>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B6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21A5E97C-E2F1-4478-0292-B76E3098C10C}"/>
              </a:ext>
            </a:extLst>
          </p:cNvPr>
          <p:cNvSpPr txBox="1"/>
          <p:nvPr/>
        </p:nvSpPr>
        <p:spPr>
          <a:xfrm>
            <a:off x="868680" y="960120"/>
            <a:ext cx="10607040" cy="412805"/>
          </a:xfrm>
          <a:prstGeom prst="rect">
            <a:avLst/>
          </a:prstGeom>
          <a:noFill/>
        </p:spPr>
        <p:txBody>
          <a:bodyPr wrap="square" lIns="0" tIns="0" rIns="0" bIns="0" anchor="t">
            <a:spAutoFit/>
          </a:bodyPr>
          <a:lstStyle/>
          <a:p>
            <a:pPr>
              <a:lnSpc>
                <a:spcPct val="102000"/>
              </a:lnSpc>
              <a:spcAft>
                <a:spcPts val="600"/>
              </a:spcAft>
            </a:pPr>
            <a:r>
              <a:rPr lang="en-US" sz="2800" b="1" noProof="1">
                <a:solidFill>
                  <a:srgbClr val="1D3557"/>
                </a:solidFill>
                <a:latin typeface="Georgia"/>
              </a:rPr>
              <a:t>Saturation and Residual Authority: Design Choice</a:t>
            </a:r>
            <a:r>
              <a:rPr lang="en-GB" dirty="0"/>
              <a:t> </a:t>
            </a:r>
            <a:endParaRPr lang="en-US" sz="2800" b="1" noProof="1">
              <a:solidFill>
                <a:srgbClr val="1D3557"/>
              </a:solidFill>
              <a:latin typeface="Georgia"/>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72DF973-C274-B706-D4F8-BEA59B2926F3}"/>
                  </a:ext>
                </a:extLst>
              </p:cNvPr>
              <p:cNvSpPr txBox="1"/>
              <p:nvPr/>
            </p:nvSpPr>
            <p:spPr>
              <a:xfrm>
                <a:off x="792675" y="1372925"/>
                <a:ext cx="10832397" cy="1569660"/>
              </a:xfrm>
              <a:prstGeom prst="rect">
                <a:avLst/>
              </a:prstGeom>
              <a:noFill/>
            </p:spPr>
            <p:txBody>
              <a:bodyPr wrap="square" rtlCol="0">
                <a:spAutoFit/>
              </a:bodyPr>
              <a:lstStyle/>
              <a:p>
                <a:r>
                  <a:rPr lang="en-GB" sz="1600" dirty="0">
                    <a:solidFill>
                      <a:srgbClr val="495A66"/>
                    </a:solidFill>
                  </a:rPr>
                  <a:t>The residual authority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𝑉</m:t>
                    </m:r>
                    <m:r>
                      <a:rPr lang="it-IT" sz="1600" b="0" i="1" smtClean="0">
                        <a:solidFill>
                          <a:srgbClr val="495A66"/>
                        </a:solidFill>
                        <a:latin typeface="Cambria Math" panose="02040503050406030204" pitchFamily="18" charset="0"/>
                        <a:ea typeface="Cambria Math" panose="02040503050406030204" pitchFamily="18" charset="0"/>
                      </a:rPr>
                      <m:t>=0.3×</m:t>
                    </m:r>
                    <m:sSub>
                      <m:sSubPr>
                        <m:ctrlPr>
                          <a:rPr lang="it-IT" sz="1600" b="0" i="1" smtClean="0">
                            <a:solidFill>
                              <a:srgbClr val="495A66"/>
                            </a:solidFill>
                            <a:latin typeface="Cambria Math" panose="02040503050406030204" pitchFamily="18" charset="0"/>
                            <a:ea typeface="Cambria Math" panose="02040503050406030204" pitchFamily="18" charset="0"/>
                          </a:rPr>
                        </m:ctrlPr>
                      </m:sSubPr>
                      <m:e>
                        <m:r>
                          <a:rPr lang="it-IT" sz="1600" b="0" i="1" smtClean="0">
                            <a:solidFill>
                              <a:srgbClr val="495A66"/>
                            </a:solidFill>
                            <a:latin typeface="Cambria Math" panose="02040503050406030204" pitchFamily="18" charset="0"/>
                            <a:ea typeface="Cambria Math" panose="02040503050406030204" pitchFamily="18" charset="0"/>
                          </a:rPr>
                          <m:t>𝑉</m:t>
                        </m:r>
                      </m:e>
                      <m:sub>
                        <m:r>
                          <a:rPr lang="it-IT" sz="1600" b="0" i="1" smtClean="0">
                            <a:solidFill>
                              <a:srgbClr val="495A66"/>
                            </a:solidFill>
                            <a:latin typeface="Cambria Math" panose="02040503050406030204" pitchFamily="18" charset="0"/>
                            <a:ea typeface="Cambria Math" panose="02040503050406030204" pitchFamily="18" charset="0"/>
                          </a:rPr>
                          <m:t>𝑚𝑎𝑥</m:t>
                        </m:r>
                      </m:sub>
                    </m:sSub>
                    <m:r>
                      <a:rPr lang="it-IT" sz="1600" b="0" i="1" smtClean="0">
                        <a:solidFill>
                          <a:srgbClr val="495A66"/>
                        </a:solidFill>
                        <a:latin typeface="Cambria Math" panose="02040503050406030204" pitchFamily="18" charset="0"/>
                        <a:ea typeface="Cambria Math" panose="02040503050406030204" pitchFamily="18" charset="0"/>
                      </a:rPr>
                      <m:t>=3.6 </m:t>
                    </m:r>
                    <m:r>
                      <a:rPr lang="it-IT" sz="1600" b="0" i="1" smtClean="0">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is a deliberate design choice, not an optimised hyperparameter. The reasoning is physical: the two corrections the PI is missing are the gravity compensation and the steady-state feedforward. Together they sum to at most </a:t>
                </a:r>
                <a14:m>
                  <m:oMath xmlns:m="http://schemas.openxmlformats.org/officeDocument/2006/math">
                    <m:r>
                      <a:rPr lang="en-GB" sz="1600" i="1" dirty="0" smtClean="0">
                        <a:solidFill>
                          <a:srgbClr val="495A66"/>
                        </a:solidFill>
                        <a:latin typeface="Cambria Math" panose="02040503050406030204" pitchFamily="18" charset="0"/>
                        <a:ea typeface="Cambria Math" panose="02040503050406030204" pitchFamily="18" charset="0"/>
                      </a:rPr>
                      <m:t>4</m:t>
                    </m:r>
                    <m:r>
                      <a:rPr lang="it-IT" sz="1600" b="0" i="1" dirty="0" smtClean="0">
                        <a:solidFill>
                          <a:srgbClr val="495A66"/>
                        </a:solidFill>
                        <a:latin typeface="Cambria Math" panose="02040503050406030204" pitchFamily="18" charset="0"/>
                        <a:ea typeface="Cambria Math" panose="02040503050406030204" pitchFamily="18" charset="0"/>
                      </a:rPr>
                      <m:t>−5</m:t>
                    </m:r>
                    <m:r>
                      <a:rPr lang="it-IT" sz="1600" i="1">
                        <a:solidFill>
                          <a:srgbClr val="495A66"/>
                        </a:solidFill>
                        <a:latin typeface="Cambria Math" panose="02040503050406030204" pitchFamily="18" charset="0"/>
                        <a:ea typeface="Cambria Math" panose="02040503050406030204" pitchFamily="18" charset="0"/>
                      </a:rPr>
                      <m:t> </m:t>
                    </m:r>
                    <m:r>
                      <a:rPr lang="it-IT" sz="1600" i="1">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comfortably within the </a:t>
                </a:r>
                <a14:m>
                  <m:oMath xmlns:m="http://schemas.openxmlformats.org/officeDocument/2006/math">
                    <m:r>
                      <a:rPr lang="it-IT" sz="1600" i="1" smtClean="0">
                        <a:solidFill>
                          <a:srgbClr val="495A66"/>
                        </a:solidFill>
                        <a:latin typeface="Cambria Math" panose="02040503050406030204" pitchFamily="18" charset="0"/>
                        <a:ea typeface="Cambria Math" panose="02040503050406030204" pitchFamily="18" charset="0"/>
                      </a:rPr>
                      <m:t>±</m:t>
                    </m:r>
                    <m:r>
                      <a:rPr lang="it-IT" sz="1600" i="1">
                        <a:solidFill>
                          <a:srgbClr val="495A66"/>
                        </a:solidFill>
                        <a:latin typeface="Cambria Math" panose="02040503050406030204" pitchFamily="18" charset="0"/>
                        <a:ea typeface="Cambria Math" panose="02040503050406030204" pitchFamily="18" charset="0"/>
                      </a:rPr>
                      <m:t>3.6 </m:t>
                    </m:r>
                    <m:r>
                      <a:rPr lang="it-IT" sz="1600" i="1">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window. Setting </a:t>
                </a:r>
                <a:r>
                  <a:rPr lang="el-GR" sz="1600" dirty="0">
                    <a:solidFill>
                      <a:srgbClr val="495A66"/>
                    </a:solidFill>
                  </a:rPr>
                  <a:t>δ </a:t>
                </a:r>
                <a:r>
                  <a:rPr lang="en-GB" sz="1600" dirty="0">
                    <a:solidFill>
                      <a:srgbClr val="495A66"/>
                    </a:solidFill>
                  </a:rPr>
                  <a:t>too small would prevent the policy from correcting what the PI misses; setting it too large would let the policy override the baseline and risk destabilising the loop. 30% is the conservative choice that covers the physically meaningful corrections while keeping the PI in charge.</a:t>
                </a:r>
              </a:p>
              <a:p>
                <a:r>
                  <a:rPr lang="en-GB" sz="1600" dirty="0">
                    <a:solidFill>
                      <a:srgbClr val="495A66"/>
                    </a:solidFill>
                  </a:rPr>
                  <a:t>The saturation is managed at three levels:</a:t>
                </a:r>
              </a:p>
            </p:txBody>
          </p:sp>
        </mc:Choice>
        <mc:Fallback xmlns="">
          <p:sp>
            <p:nvSpPr>
              <p:cNvPr id="5" name="TextBox 4">
                <a:extLst>
                  <a:ext uri="{FF2B5EF4-FFF2-40B4-BE49-F238E27FC236}">
                    <a16:creationId xmlns:a16="http://schemas.microsoft.com/office/drawing/2014/main" id="{772DF973-C274-B706-D4F8-BEA59B2926F3}"/>
                  </a:ext>
                </a:extLst>
              </p:cNvPr>
              <p:cNvSpPr txBox="1">
                <a:spLocks noRot="1" noChangeAspect="1" noMove="1" noResize="1" noEditPoints="1" noAdjustHandles="1" noChangeArrowheads="1" noChangeShapeType="1" noTextEdit="1"/>
              </p:cNvSpPr>
              <p:nvPr/>
            </p:nvSpPr>
            <p:spPr>
              <a:xfrm>
                <a:off x="792675" y="1372925"/>
                <a:ext cx="10832397" cy="1569660"/>
              </a:xfrm>
              <a:prstGeom prst="rect">
                <a:avLst/>
              </a:prstGeom>
              <a:blipFill>
                <a:blip r:embed="rId2"/>
                <a:stretch>
                  <a:fillRect l="-234" t="-1613" r="-585" b="-4032"/>
                </a:stretch>
              </a:blipFill>
            </p:spPr>
            <p:txBody>
              <a:bodyPr/>
              <a:lstStyle/>
              <a:p>
                <a:r>
                  <a:rPr lang="en-US">
                    <a:noFill/>
                  </a:rPr>
                  <a:t> </a:t>
                </a:r>
              </a:p>
            </p:txBody>
          </p:sp>
        </mc:Fallback>
      </mc:AlternateContent>
      <p:sp>
        <p:nvSpPr>
          <p:cNvPr id="7" name="Rounded Rectangle 6">
            <a:extLst>
              <a:ext uri="{FF2B5EF4-FFF2-40B4-BE49-F238E27FC236}">
                <a16:creationId xmlns:a16="http://schemas.microsoft.com/office/drawing/2014/main" id="{EAACB81B-9527-FFFD-51B7-121C9881557D}"/>
              </a:ext>
            </a:extLst>
          </p:cNvPr>
          <p:cNvSpPr/>
          <p:nvPr/>
        </p:nvSpPr>
        <p:spPr>
          <a:xfrm>
            <a:off x="868680" y="3146860"/>
            <a:ext cx="3375661" cy="1862028"/>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8" name="Rectangle 7">
            <a:extLst>
              <a:ext uri="{FF2B5EF4-FFF2-40B4-BE49-F238E27FC236}">
                <a16:creationId xmlns:a16="http://schemas.microsoft.com/office/drawing/2014/main" id="{4728EFA1-C5C6-85D9-5075-34D6C9F2FE22}"/>
              </a:ext>
            </a:extLst>
          </p:cNvPr>
          <p:cNvSpPr/>
          <p:nvPr/>
        </p:nvSpPr>
        <p:spPr>
          <a:xfrm>
            <a:off x="861061" y="3146859"/>
            <a:ext cx="53911" cy="1862027"/>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4C3F119-D183-C7DC-8A65-B4C43C11AFDF}"/>
                  </a:ext>
                </a:extLst>
              </p:cNvPr>
              <p:cNvSpPr txBox="1"/>
              <p:nvPr/>
            </p:nvSpPr>
            <p:spPr>
              <a:xfrm>
                <a:off x="1069847" y="3311451"/>
                <a:ext cx="3081023" cy="1208536"/>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noProof="1">
                    <a:solidFill>
                      <a:srgbClr val="2A9D8F"/>
                    </a:solidFill>
                    <a:latin typeface="Consolas"/>
                  </a:rPr>
                  <a:t>Architecture</a:t>
                </a:r>
                <a:endParaRPr lang="en-US" sz="1000" b="0" noProof="1">
                  <a:solidFill>
                    <a:srgbClr val="2A9D8F"/>
                  </a:solidFill>
                  <a:latin typeface="Consolas"/>
                </a:endParaRPr>
              </a:p>
              <a:p>
                <a:pPr>
                  <a:spcAft>
                    <a:spcPts val="600"/>
                  </a:spcAft>
                </a:pPr>
                <a:r>
                  <a:rPr lang="en-GB" sz="1600" b="1" dirty="0">
                    <a:solidFill>
                      <a:srgbClr val="1D3456"/>
                    </a:solidFill>
                    <a:latin typeface="Georgia" panose="02040502050405020303" pitchFamily="18" charset="0"/>
                  </a:rPr>
                  <a:t>tanh bounds </a:t>
                </a:r>
                <a:r>
                  <a:rPr lang="el-GR" sz="1600" b="1" dirty="0">
                    <a:solidFill>
                      <a:srgbClr val="1D3456"/>
                    </a:solidFill>
                    <a:latin typeface="Georgia" panose="02040502050405020303" pitchFamily="18" charset="0"/>
                  </a:rPr>
                  <a:t>Δ</a:t>
                </a:r>
                <a:r>
                  <a:rPr lang="en-GB" sz="1600" b="1" dirty="0">
                    <a:solidFill>
                      <a:srgbClr val="1D3456"/>
                    </a:solidFill>
                    <a:latin typeface="Georgia" panose="02040502050405020303" pitchFamily="18" charset="0"/>
                  </a:rPr>
                  <a:t>V</a:t>
                </a:r>
                <a:br>
                  <a:rPr lang="en-GB" sz="1200" dirty="0"/>
                </a:br>
                <a:r>
                  <a:rPr lang="en-GB" sz="1200" dirty="0">
                    <a:solidFill>
                      <a:srgbClr val="495A66"/>
                    </a:solidFill>
                  </a:rPr>
                  <a:t>The output neuron passes through </a:t>
                </a:r>
                <a:r>
                  <a:rPr lang="en-GB" sz="1200" i="1" dirty="0">
                    <a:solidFill>
                      <a:srgbClr val="495A66"/>
                    </a:solidFill>
                  </a:rPr>
                  <a:t>tanh</a:t>
                </a:r>
                <a:r>
                  <a:rPr lang="en-GB" sz="1200" dirty="0">
                    <a:solidFill>
                      <a:srgbClr val="495A66"/>
                    </a:solidFill>
                  </a:rPr>
                  <a:t>, so </a:t>
                </a:r>
                <a14:m>
                  <m:oMath xmlns:m="http://schemas.openxmlformats.org/officeDocument/2006/math">
                    <m:r>
                      <a:rPr lang="it-IT" sz="1200" b="0" i="1" smtClean="0">
                        <a:solidFill>
                          <a:srgbClr val="495A66"/>
                        </a:solidFill>
                        <a:latin typeface="Cambria Math" panose="02040503050406030204" pitchFamily="18" charset="0"/>
                      </a:rPr>
                      <m:t>𝑎</m:t>
                    </m:r>
                    <m:r>
                      <a:rPr lang="it-IT" sz="1200" b="0" i="1" smtClean="0">
                        <a:solidFill>
                          <a:srgbClr val="495A66"/>
                        </a:solidFill>
                        <a:latin typeface="Cambria Math" panose="02040503050406030204" pitchFamily="18" charset="0"/>
                        <a:ea typeface="Cambria Math" panose="02040503050406030204" pitchFamily="18" charset="0"/>
                      </a:rPr>
                      <m:t>∈(−1,+1)</m:t>
                    </m:r>
                  </m:oMath>
                </a14:m>
                <a:r>
                  <a:rPr lang="en-GB" sz="1200" dirty="0">
                    <a:solidFill>
                      <a:srgbClr val="495A66"/>
                    </a:solidFill>
                  </a:rPr>
                  <a:t> always and </a:t>
                </a:r>
                <a14:m>
                  <m:oMath xmlns:m="http://schemas.openxmlformats.org/officeDocument/2006/math">
                    <m:d>
                      <m:dPr>
                        <m:begChr m:val="|"/>
                        <m:endChr m:val="|"/>
                        <m:ctrlPr>
                          <a:rPr lang="en-GB" sz="1200" i="1" smtClean="0">
                            <a:solidFill>
                              <a:srgbClr val="495A66"/>
                            </a:solidFill>
                            <a:latin typeface="Cambria Math" panose="02040503050406030204" pitchFamily="18" charset="0"/>
                            <a:ea typeface="Cambria Math" panose="02040503050406030204" pitchFamily="18" charset="0"/>
                          </a:rPr>
                        </m:ctrlPr>
                      </m:dPr>
                      <m:e>
                        <m:r>
                          <a:rPr lang="en-GB" sz="1200" i="1">
                            <a:solidFill>
                              <a:srgbClr val="495A66"/>
                            </a:solidFill>
                            <a:latin typeface="Cambria Math" panose="02040503050406030204" pitchFamily="18" charset="0"/>
                            <a:ea typeface="Cambria Math" panose="02040503050406030204" pitchFamily="18" charset="0"/>
                          </a:rPr>
                          <m:t>∆</m:t>
                        </m:r>
                        <m:r>
                          <a:rPr lang="it-IT" sz="1200" i="1">
                            <a:solidFill>
                              <a:srgbClr val="495A66"/>
                            </a:solidFill>
                            <a:latin typeface="Cambria Math" panose="02040503050406030204" pitchFamily="18" charset="0"/>
                            <a:ea typeface="Cambria Math" panose="02040503050406030204" pitchFamily="18" charset="0"/>
                          </a:rPr>
                          <m:t>𝑉</m:t>
                        </m:r>
                      </m:e>
                    </m:d>
                    <m:r>
                      <a:rPr lang="it-IT" sz="1200" b="0" i="1" smtClean="0">
                        <a:solidFill>
                          <a:srgbClr val="495A66"/>
                        </a:solidFill>
                        <a:latin typeface="Cambria Math" panose="02040503050406030204" pitchFamily="18" charset="0"/>
                        <a:ea typeface="Cambria Math" panose="02040503050406030204" pitchFamily="18" charset="0"/>
                      </a:rPr>
                      <m:t>=</m:t>
                    </m:r>
                    <m:r>
                      <a:rPr lang="it-IT" sz="1200" b="0" i="1" smtClean="0">
                        <a:solidFill>
                          <a:srgbClr val="495A66"/>
                        </a:solidFill>
                        <a:latin typeface="Cambria Math" panose="02040503050406030204" pitchFamily="18" charset="0"/>
                        <a:ea typeface="Cambria Math" panose="02040503050406030204" pitchFamily="18" charset="0"/>
                      </a:rPr>
                      <m:t>𝛿</m:t>
                    </m:r>
                    <m:d>
                      <m:dPr>
                        <m:begChr m:val="|"/>
                        <m:endChr m:val="|"/>
                        <m:ctrlPr>
                          <a:rPr lang="it-IT" sz="1200" b="0" i="1" smtClean="0">
                            <a:solidFill>
                              <a:srgbClr val="495A66"/>
                            </a:solidFill>
                            <a:latin typeface="Cambria Math" panose="02040503050406030204" pitchFamily="18" charset="0"/>
                            <a:ea typeface="Cambria Math" panose="02040503050406030204" pitchFamily="18" charset="0"/>
                          </a:rPr>
                        </m:ctrlPr>
                      </m:dPr>
                      <m:e>
                        <m:r>
                          <a:rPr lang="it-IT" sz="1200" b="0" i="1" smtClean="0">
                            <a:solidFill>
                              <a:srgbClr val="495A66"/>
                            </a:solidFill>
                            <a:latin typeface="Cambria Math" panose="02040503050406030204" pitchFamily="18" charset="0"/>
                            <a:ea typeface="Cambria Math" panose="02040503050406030204" pitchFamily="18" charset="0"/>
                          </a:rPr>
                          <m:t>𝑎</m:t>
                        </m:r>
                      </m:e>
                    </m:d>
                    <m:r>
                      <a:rPr lang="it-IT" sz="1200" b="0" i="1" smtClean="0">
                        <a:solidFill>
                          <a:srgbClr val="495A66"/>
                        </a:solidFill>
                        <a:latin typeface="Cambria Math" panose="02040503050406030204" pitchFamily="18" charset="0"/>
                        <a:ea typeface="Cambria Math" panose="02040503050406030204" pitchFamily="18" charset="0"/>
                      </a:rPr>
                      <m:t>&lt;3.6 </m:t>
                    </m:r>
                    <m:r>
                      <a:rPr lang="it-IT" sz="1200" b="0" i="1" smtClean="0">
                        <a:solidFill>
                          <a:srgbClr val="495A66"/>
                        </a:solidFill>
                        <a:latin typeface="Cambria Math" panose="02040503050406030204" pitchFamily="18" charset="0"/>
                        <a:ea typeface="Cambria Math" panose="02040503050406030204" pitchFamily="18" charset="0"/>
                      </a:rPr>
                      <m:t>𝑉</m:t>
                    </m:r>
                  </m:oMath>
                </a14:m>
                <a:r>
                  <a:rPr lang="en-GB" sz="1200" dirty="0">
                    <a:solidFill>
                      <a:srgbClr val="495A66"/>
                    </a:solidFill>
                  </a:rPr>
                  <a:t> regardless of weight values. The policy cannot saturate the residual channel even if it tries</a:t>
                </a:r>
                <a:r>
                  <a:rPr lang="en-GB" sz="1200" dirty="0"/>
                  <a:t>.</a:t>
                </a:r>
                <a:endParaRPr lang="en-US" sz="1200" b="0" noProof="1">
                  <a:solidFill>
                    <a:srgbClr val="495A66"/>
                  </a:solidFill>
                  <a:latin typeface="Calibri"/>
                </a:endParaRPr>
              </a:p>
            </p:txBody>
          </p:sp>
        </mc:Choice>
        <mc:Fallback xmlns="">
          <p:sp>
            <p:nvSpPr>
              <p:cNvPr id="9" name="TextBox 8">
                <a:extLst>
                  <a:ext uri="{FF2B5EF4-FFF2-40B4-BE49-F238E27FC236}">
                    <a16:creationId xmlns:a16="http://schemas.microsoft.com/office/drawing/2014/main" id="{A4C3F119-D183-C7DC-8A65-B4C43C11AFDF}"/>
                  </a:ext>
                </a:extLst>
              </p:cNvPr>
              <p:cNvSpPr txBox="1">
                <a:spLocks noRot="1" noChangeAspect="1" noMove="1" noResize="1" noEditPoints="1" noAdjustHandles="1" noChangeArrowheads="1" noChangeShapeType="1" noTextEdit="1"/>
              </p:cNvSpPr>
              <p:nvPr/>
            </p:nvSpPr>
            <p:spPr>
              <a:xfrm>
                <a:off x="1069847" y="3311451"/>
                <a:ext cx="3081023" cy="1208536"/>
              </a:xfrm>
              <a:prstGeom prst="rect">
                <a:avLst/>
              </a:prstGeom>
              <a:blipFill>
                <a:blip r:embed="rId3"/>
                <a:stretch>
                  <a:fillRect l="-4115" t="-2083" b="-6250"/>
                </a:stretch>
              </a:blipFill>
            </p:spPr>
            <p:txBody>
              <a:bodyPr/>
              <a:lstStyle/>
              <a:p>
                <a:r>
                  <a:rPr lang="en-US">
                    <a:noFill/>
                  </a:rPr>
                  <a:t> </a:t>
                </a:r>
              </a:p>
            </p:txBody>
          </p:sp>
        </mc:Fallback>
      </mc:AlternateContent>
      <p:sp>
        <p:nvSpPr>
          <p:cNvPr id="10" name="Rounded Rectangle 9">
            <a:extLst>
              <a:ext uri="{FF2B5EF4-FFF2-40B4-BE49-F238E27FC236}">
                <a16:creationId xmlns:a16="http://schemas.microsoft.com/office/drawing/2014/main" id="{AA64A035-A3EC-F7BE-02E9-6786BF611F8F}"/>
              </a:ext>
            </a:extLst>
          </p:cNvPr>
          <p:cNvSpPr/>
          <p:nvPr/>
        </p:nvSpPr>
        <p:spPr>
          <a:xfrm>
            <a:off x="4480560" y="3146860"/>
            <a:ext cx="3383280" cy="1862028"/>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1" name="Rectangle 10">
            <a:extLst>
              <a:ext uri="{FF2B5EF4-FFF2-40B4-BE49-F238E27FC236}">
                <a16:creationId xmlns:a16="http://schemas.microsoft.com/office/drawing/2014/main" id="{62B40994-E6B0-863B-9EC5-9A7C9AE8AD15}"/>
              </a:ext>
            </a:extLst>
          </p:cNvPr>
          <p:cNvSpPr/>
          <p:nvPr/>
        </p:nvSpPr>
        <p:spPr>
          <a:xfrm>
            <a:off x="4472941" y="3146860"/>
            <a:ext cx="53911" cy="1862028"/>
          </a:xfrm>
          <a:prstGeom prst="rect">
            <a:avLst/>
          </a:prstGeom>
          <a:solidFill>
            <a:srgbClr val="1D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FF08BDB-AFE6-3D0F-E1AA-06157B6B731A}"/>
                  </a:ext>
                </a:extLst>
              </p:cNvPr>
              <p:cNvSpPr txBox="1"/>
              <p:nvPr/>
            </p:nvSpPr>
            <p:spPr>
              <a:xfrm>
                <a:off x="4681728" y="3311451"/>
                <a:ext cx="3017520" cy="1315553"/>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noProof="1">
                    <a:solidFill>
                      <a:srgbClr val="1D3557"/>
                    </a:solidFill>
                    <a:latin typeface="Consolas"/>
                  </a:rPr>
                  <a:t>Control Law </a:t>
                </a:r>
              </a:p>
              <a:p>
                <a:pPr>
                  <a:lnSpc>
                    <a:spcPct val="112000"/>
                  </a:lnSpc>
                  <a:spcAft>
                    <a:spcPts val="400"/>
                  </a:spcAft>
                </a:pPr>
                <a:r>
                  <a:rPr lang="en-GB" sz="1600" b="1" dirty="0">
                    <a:solidFill>
                      <a:srgbClr val="1D3456"/>
                    </a:solidFill>
                    <a:latin typeface="Georgia" panose="02040502050405020303" pitchFamily="18" charset="0"/>
                  </a:rPr>
                  <a:t>Hard clip before the motor</a:t>
                </a:r>
                <a:r>
                  <a:rPr lang="en-GB" sz="1000" dirty="0"/>
                  <a:t> </a:t>
                </a:r>
                <a14:m>
                  <m:oMath xmlns:m="http://schemas.openxmlformats.org/officeDocument/2006/math">
                    <m:r>
                      <a:rPr lang="it-IT" sz="1200" b="0" i="1" smtClean="0">
                        <a:solidFill>
                          <a:srgbClr val="495A66"/>
                        </a:solidFill>
                        <a:latin typeface="Cambria Math" panose="02040503050406030204" pitchFamily="18" charset="0"/>
                      </a:rPr>
                      <m:t>𝑐𝑙𝑖𝑝</m:t>
                    </m:r>
                    <m:d>
                      <m:dPr>
                        <m:ctrlPr>
                          <a:rPr lang="it-IT" sz="1200" b="0" i="1" smtClean="0">
                            <a:solidFill>
                              <a:srgbClr val="495A66"/>
                            </a:solidFill>
                            <a:latin typeface="Cambria Math" panose="02040503050406030204" pitchFamily="18" charset="0"/>
                          </a:rPr>
                        </m:ctrlPr>
                      </m:dPr>
                      <m:e>
                        <m:sSub>
                          <m:sSubPr>
                            <m:ctrlPr>
                              <a:rPr lang="it-IT" sz="1200" b="0" i="1" smtClean="0">
                                <a:solidFill>
                                  <a:srgbClr val="495A66"/>
                                </a:solidFill>
                                <a:latin typeface="Cambria Math" panose="02040503050406030204" pitchFamily="18" charset="0"/>
                              </a:rPr>
                            </m:ctrlPr>
                          </m:sSubPr>
                          <m:e>
                            <m:r>
                              <a:rPr lang="it-IT" sz="1200" b="0" i="1" smtClean="0">
                                <a:solidFill>
                                  <a:srgbClr val="495A66"/>
                                </a:solidFill>
                                <a:latin typeface="Cambria Math" panose="02040503050406030204" pitchFamily="18" charset="0"/>
                              </a:rPr>
                              <m:t>𝑉</m:t>
                            </m:r>
                          </m:e>
                          <m:sub>
                            <m:r>
                              <a:rPr lang="it-IT" sz="1200" b="0" i="1" smtClean="0">
                                <a:solidFill>
                                  <a:srgbClr val="495A66"/>
                                </a:solidFill>
                                <a:latin typeface="Cambria Math" panose="02040503050406030204" pitchFamily="18" charset="0"/>
                              </a:rPr>
                              <m:t>𝑏𝑎𝑠𝑒</m:t>
                            </m:r>
                          </m:sub>
                        </m:sSub>
                        <m:r>
                          <a:rPr lang="it-IT" sz="1200" b="0" i="1" smtClean="0">
                            <a:solidFill>
                              <a:srgbClr val="495A66"/>
                            </a:solidFill>
                            <a:latin typeface="Cambria Math" panose="02040503050406030204" pitchFamily="18" charset="0"/>
                          </a:rPr>
                          <m:t>+</m:t>
                        </m:r>
                        <m:r>
                          <a:rPr lang="it-IT" sz="1200" b="0" i="1" smtClean="0">
                            <a:solidFill>
                              <a:srgbClr val="495A66"/>
                            </a:solidFill>
                            <a:latin typeface="Cambria Math" panose="02040503050406030204" pitchFamily="18" charset="0"/>
                            <a:ea typeface="Cambria Math" panose="02040503050406030204" pitchFamily="18" charset="0"/>
                          </a:rPr>
                          <m:t>∆</m:t>
                        </m:r>
                        <m:r>
                          <a:rPr lang="it-IT" sz="1200" b="0" i="1" smtClean="0">
                            <a:solidFill>
                              <a:srgbClr val="495A66"/>
                            </a:solidFill>
                            <a:latin typeface="Cambria Math" panose="02040503050406030204" pitchFamily="18" charset="0"/>
                            <a:ea typeface="Cambria Math" panose="02040503050406030204" pitchFamily="18" charset="0"/>
                          </a:rPr>
                          <m:t>𝑉</m:t>
                        </m:r>
                        <m:r>
                          <a:rPr lang="it-IT" sz="1200" b="0" i="1" smtClean="0">
                            <a:solidFill>
                              <a:srgbClr val="495A66"/>
                            </a:solidFill>
                            <a:latin typeface="Cambria Math" panose="02040503050406030204" pitchFamily="18" charset="0"/>
                            <a:ea typeface="Cambria Math" panose="02040503050406030204" pitchFamily="18" charset="0"/>
                          </a:rPr>
                          <m:t>, −12, +12</m:t>
                        </m:r>
                      </m:e>
                    </m:d>
                  </m:oMath>
                </a14:m>
                <a:r>
                  <a:rPr lang="en-GB" sz="1200" dirty="0">
                    <a:solidFill>
                      <a:srgbClr val="495A66"/>
                    </a:solidFill>
                  </a:rPr>
                  <a:t>, PI and policy are summed first, then clipped. Neither component alone can push the motor beyond the hardware rail.</a:t>
                </a:r>
                <a:endParaRPr lang="en-US" sz="1200" b="0" noProof="1">
                  <a:solidFill>
                    <a:srgbClr val="1D3557"/>
                  </a:solidFill>
                </a:endParaRPr>
              </a:p>
            </p:txBody>
          </p:sp>
        </mc:Choice>
        <mc:Fallback xmlns="">
          <p:sp>
            <p:nvSpPr>
              <p:cNvPr id="12" name="TextBox 11">
                <a:extLst>
                  <a:ext uri="{FF2B5EF4-FFF2-40B4-BE49-F238E27FC236}">
                    <a16:creationId xmlns:a16="http://schemas.microsoft.com/office/drawing/2014/main" id="{3FF08BDB-AFE6-3D0F-E1AA-06157B6B731A}"/>
                  </a:ext>
                </a:extLst>
              </p:cNvPr>
              <p:cNvSpPr txBox="1">
                <a:spLocks noRot="1" noChangeAspect="1" noMove="1" noResize="1" noEditPoints="1" noAdjustHandles="1" noChangeArrowheads="1" noChangeShapeType="1" noTextEdit="1"/>
              </p:cNvSpPr>
              <p:nvPr/>
            </p:nvSpPr>
            <p:spPr>
              <a:xfrm>
                <a:off x="4681728" y="3311451"/>
                <a:ext cx="3017520" cy="1315553"/>
              </a:xfrm>
              <a:prstGeom prst="rect">
                <a:avLst/>
              </a:prstGeom>
              <a:blipFill>
                <a:blip r:embed="rId4"/>
                <a:stretch>
                  <a:fillRect l="-3766" t="-1905" r="-2092" b="-5714"/>
                </a:stretch>
              </a:blipFill>
            </p:spPr>
            <p:txBody>
              <a:bodyPr/>
              <a:lstStyle/>
              <a:p>
                <a:r>
                  <a:rPr lang="en-US">
                    <a:noFill/>
                  </a:rPr>
                  <a:t> </a:t>
                </a:r>
              </a:p>
            </p:txBody>
          </p:sp>
        </mc:Fallback>
      </mc:AlternateContent>
      <p:sp>
        <p:nvSpPr>
          <p:cNvPr id="13" name="Rounded Rectangle 12">
            <a:extLst>
              <a:ext uri="{FF2B5EF4-FFF2-40B4-BE49-F238E27FC236}">
                <a16:creationId xmlns:a16="http://schemas.microsoft.com/office/drawing/2014/main" id="{42B6A7A7-8A70-D059-40D6-02B0C57B73AF}"/>
              </a:ext>
            </a:extLst>
          </p:cNvPr>
          <p:cNvSpPr/>
          <p:nvPr/>
        </p:nvSpPr>
        <p:spPr>
          <a:xfrm>
            <a:off x="8092440" y="3146859"/>
            <a:ext cx="3383280" cy="1862029"/>
          </a:xfrm>
          <a:prstGeom prst="roundRect">
            <a:avLst>
              <a:gd name="adj" fmla="val 6000"/>
            </a:avLst>
          </a:prstGeom>
          <a:solidFill>
            <a:srgbClr val="FFFFFF"/>
          </a:solidFill>
          <a:ln w="12700">
            <a:solidFill>
              <a:srgbClr val="D9D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4" name="Rectangle 13">
            <a:extLst>
              <a:ext uri="{FF2B5EF4-FFF2-40B4-BE49-F238E27FC236}">
                <a16:creationId xmlns:a16="http://schemas.microsoft.com/office/drawing/2014/main" id="{90FDB919-8C9D-D820-BCA3-7AE521BAC091}"/>
              </a:ext>
            </a:extLst>
          </p:cNvPr>
          <p:cNvSpPr/>
          <p:nvPr/>
        </p:nvSpPr>
        <p:spPr>
          <a:xfrm>
            <a:off x="8084821" y="3146859"/>
            <a:ext cx="53911" cy="1862029"/>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CC9B0AB-0584-38B9-9A32-97AE974C6F39}"/>
                  </a:ext>
                </a:extLst>
              </p:cNvPr>
              <p:cNvSpPr txBox="1"/>
              <p:nvPr/>
            </p:nvSpPr>
            <p:spPr>
              <a:xfrm>
                <a:off x="8293608" y="3311451"/>
                <a:ext cx="3017520" cy="1554336"/>
              </a:xfrm>
              <a:prstGeom prst="rect">
                <a:avLst/>
              </a:prstGeom>
              <a:noFill/>
            </p:spPr>
            <p:txBody>
              <a:bodyPr wrap="square" lIns="0" tIns="0" rIns="0" bIns="0" anchor="t">
                <a:spAutoFit/>
              </a:bodyPr>
              <a:lstStyle/>
              <a:p>
                <a:pPr algn="l">
                  <a:lnSpc>
                    <a:spcPct val="112000"/>
                  </a:lnSpc>
                  <a:spcBef>
                    <a:spcPts val="0"/>
                  </a:spcBef>
                  <a:spcAft>
                    <a:spcPts val="400"/>
                  </a:spcAft>
                </a:pPr>
                <a:r>
                  <a:rPr lang="en-US" sz="1000" b="0" noProof="1">
                    <a:solidFill>
                      <a:srgbClr val="E07A5F"/>
                    </a:solidFill>
                    <a:latin typeface="Consolas"/>
                  </a:rPr>
                  <a:t>PI anti-windup</a:t>
                </a:r>
              </a:p>
              <a:p>
                <a:pPr>
                  <a:lnSpc>
                    <a:spcPct val="112000"/>
                  </a:lnSpc>
                  <a:spcAft>
                    <a:spcPts val="400"/>
                  </a:spcAft>
                </a:pPr>
                <a:r>
                  <a:rPr lang="en-GB" sz="1600" b="1" dirty="0">
                    <a:solidFill>
                      <a:srgbClr val="1D3456"/>
                    </a:solidFill>
                    <a:latin typeface="Georgia" panose="02040502050405020303" pitchFamily="18" charset="0"/>
                  </a:rPr>
                  <a:t>Prevents integrator blow-up</a:t>
                </a:r>
                <a:br>
                  <a:rPr lang="en-GB" sz="1000" dirty="0"/>
                </a:br>
                <a:r>
                  <a:rPr lang="en-GB" sz="1200" dirty="0">
                    <a:solidFill>
                      <a:srgbClr val="495A66"/>
                    </a:solidFill>
                  </a:rPr>
                  <a:t>The integrator is clamped so </a:t>
                </a:r>
                <a14:m>
                  <m:oMath xmlns:m="http://schemas.openxmlformats.org/officeDocument/2006/math">
                    <m:sSub>
                      <m:sSubPr>
                        <m:ctrlPr>
                          <a:rPr lang="en-GB" sz="1200" i="1" smtClean="0">
                            <a:solidFill>
                              <a:srgbClr val="495A66"/>
                            </a:solidFill>
                            <a:latin typeface="Cambria Math" panose="02040503050406030204" pitchFamily="18" charset="0"/>
                          </a:rPr>
                        </m:ctrlPr>
                      </m:sSubPr>
                      <m:e>
                        <m:r>
                          <a:rPr lang="it-IT" sz="1200" b="0" i="1" smtClean="0">
                            <a:solidFill>
                              <a:srgbClr val="495A66"/>
                            </a:solidFill>
                            <a:latin typeface="Cambria Math" panose="02040503050406030204" pitchFamily="18" charset="0"/>
                          </a:rPr>
                          <m:t>𝐾</m:t>
                        </m:r>
                      </m:e>
                      <m:sub>
                        <m:r>
                          <a:rPr lang="it-IT" sz="1200" b="0" i="1" smtClean="0">
                            <a:solidFill>
                              <a:srgbClr val="495A66"/>
                            </a:solidFill>
                            <a:latin typeface="Cambria Math" panose="02040503050406030204" pitchFamily="18" charset="0"/>
                          </a:rPr>
                          <m:t>𝑖</m:t>
                        </m:r>
                      </m:sub>
                    </m:sSub>
                    <m:nary>
                      <m:naryPr>
                        <m:limLoc m:val="undOvr"/>
                        <m:subHide m:val="on"/>
                        <m:supHide m:val="on"/>
                        <m:ctrlPr>
                          <a:rPr lang="en-GB" sz="1200" i="1" smtClean="0">
                            <a:solidFill>
                              <a:srgbClr val="495A66"/>
                            </a:solidFill>
                            <a:latin typeface="Cambria Math" panose="02040503050406030204" pitchFamily="18" charset="0"/>
                          </a:rPr>
                        </m:ctrlPr>
                      </m:naryPr>
                      <m:sub/>
                      <m:sup/>
                      <m:e>
                        <m:r>
                          <a:rPr lang="it-IT" sz="1200" b="0" i="1" smtClean="0">
                            <a:solidFill>
                              <a:srgbClr val="495A66"/>
                            </a:solidFill>
                            <a:latin typeface="Cambria Math" panose="02040503050406030204" pitchFamily="18" charset="0"/>
                          </a:rPr>
                          <m:t>𝑒</m:t>
                        </m:r>
                        <m:r>
                          <a:rPr lang="it-IT" sz="1200" b="0" i="1" smtClean="0">
                            <a:solidFill>
                              <a:srgbClr val="495A66"/>
                            </a:solidFill>
                            <a:latin typeface="Cambria Math" panose="02040503050406030204" pitchFamily="18" charset="0"/>
                          </a:rPr>
                          <m:t> </m:t>
                        </m:r>
                        <m:r>
                          <a:rPr lang="it-IT" sz="1200" b="0" i="1" smtClean="0">
                            <a:solidFill>
                              <a:srgbClr val="495A66"/>
                            </a:solidFill>
                            <a:latin typeface="Cambria Math" panose="02040503050406030204" pitchFamily="18" charset="0"/>
                          </a:rPr>
                          <m:t>𝑑𝑡</m:t>
                        </m:r>
                        <m:r>
                          <a:rPr lang="it-IT" sz="1200" b="0" i="1" smtClean="0">
                            <a:solidFill>
                              <a:srgbClr val="495A66"/>
                            </a:solidFill>
                            <a:latin typeface="Cambria Math" panose="02040503050406030204" pitchFamily="18" charset="0"/>
                            <a:ea typeface="Cambria Math" panose="02040503050406030204" pitchFamily="18" charset="0"/>
                          </a:rPr>
                          <m:t>≤±</m:t>
                        </m:r>
                        <m:sSub>
                          <m:sSubPr>
                            <m:ctrlPr>
                              <a:rPr lang="it-IT" sz="1200" b="0" i="1" smtClean="0">
                                <a:solidFill>
                                  <a:srgbClr val="495A66"/>
                                </a:solidFill>
                                <a:latin typeface="Cambria Math" panose="02040503050406030204" pitchFamily="18" charset="0"/>
                                <a:ea typeface="Cambria Math" panose="02040503050406030204" pitchFamily="18" charset="0"/>
                              </a:rPr>
                            </m:ctrlPr>
                          </m:sSubPr>
                          <m:e>
                            <m:r>
                              <a:rPr lang="it-IT" sz="1200" b="0" i="1" smtClean="0">
                                <a:solidFill>
                                  <a:srgbClr val="495A66"/>
                                </a:solidFill>
                                <a:latin typeface="Cambria Math" panose="02040503050406030204" pitchFamily="18" charset="0"/>
                                <a:ea typeface="Cambria Math" panose="02040503050406030204" pitchFamily="18" charset="0"/>
                              </a:rPr>
                              <m:t>𝑉</m:t>
                            </m:r>
                          </m:e>
                          <m:sub>
                            <m:r>
                              <a:rPr lang="it-IT" sz="1200" b="0" i="1" smtClean="0">
                                <a:solidFill>
                                  <a:srgbClr val="495A66"/>
                                </a:solidFill>
                                <a:latin typeface="Cambria Math" panose="02040503050406030204" pitchFamily="18" charset="0"/>
                                <a:ea typeface="Cambria Math" panose="02040503050406030204" pitchFamily="18" charset="0"/>
                              </a:rPr>
                              <m:t>𝑚𝑎𝑥</m:t>
                            </m:r>
                          </m:sub>
                        </m:sSub>
                      </m:e>
                    </m:nary>
                  </m:oMath>
                </a14:m>
                <a:r>
                  <a:rPr lang="en-GB" sz="1200" dirty="0">
                    <a:solidFill>
                      <a:srgbClr val="495A66"/>
                    </a:solidFill>
                  </a:rPr>
                  <a:t>. Without this, a sustained error during a transient would wind the integrator to an arbitrarily large value, causing a slow oscillatory recovery once the error clears.</a:t>
                </a:r>
                <a:endParaRPr lang="en-US" sz="1200" b="0" noProof="1">
                  <a:solidFill>
                    <a:srgbClr val="495A66"/>
                  </a:solidFill>
                  <a:latin typeface="Consolas"/>
                </a:endParaRPr>
              </a:p>
            </p:txBody>
          </p:sp>
        </mc:Choice>
        <mc:Fallback xmlns="">
          <p:sp>
            <p:nvSpPr>
              <p:cNvPr id="15" name="TextBox 14">
                <a:extLst>
                  <a:ext uri="{FF2B5EF4-FFF2-40B4-BE49-F238E27FC236}">
                    <a16:creationId xmlns:a16="http://schemas.microsoft.com/office/drawing/2014/main" id="{CCC9B0AB-0584-38B9-9A32-97AE974C6F39}"/>
                  </a:ext>
                </a:extLst>
              </p:cNvPr>
              <p:cNvSpPr txBox="1">
                <a:spLocks noRot="1" noChangeAspect="1" noMove="1" noResize="1" noEditPoints="1" noAdjustHandles="1" noChangeArrowheads="1" noChangeShapeType="1" noTextEdit="1"/>
              </p:cNvSpPr>
              <p:nvPr/>
            </p:nvSpPr>
            <p:spPr>
              <a:xfrm>
                <a:off x="8293608" y="3311451"/>
                <a:ext cx="3017520" cy="1554336"/>
              </a:xfrm>
              <a:prstGeom prst="rect">
                <a:avLst/>
              </a:prstGeom>
              <a:blipFill>
                <a:blip r:embed="rId5"/>
                <a:stretch>
                  <a:fillRect l="-4202" t="-1613" r="-3782" b="-40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6E7B8EB-B0B0-8B39-9607-9E8201DAB50E}"/>
                  </a:ext>
                </a:extLst>
              </p:cNvPr>
              <p:cNvSpPr txBox="1"/>
              <p:nvPr/>
            </p:nvSpPr>
            <p:spPr>
              <a:xfrm>
                <a:off x="790194" y="5213162"/>
                <a:ext cx="10764012" cy="1096198"/>
              </a:xfrm>
              <a:prstGeom prst="rect">
                <a:avLst/>
              </a:prstGeom>
              <a:noFill/>
            </p:spPr>
            <p:txBody>
              <a:bodyPr wrap="square" rtlCol="0">
                <a:spAutoFit/>
              </a:bodyPr>
              <a:lstStyle/>
              <a:p>
                <a:r>
                  <a:rPr lang="en-GB" sz="1600" dirty="0">
                    <a:solidFill>
                      <a:srgbClr val="495A66"/>
                    </a:solidFill>
                  </a:rPr>
                  <a:t>In our operating regime (references up to 12 rad/s), the total voltage touches the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12 </m:t>
                    </m:r>
                    <m:r>
                      <a:rPr lang="it-IT" sz="1600" b="0" i="1" smtClean="0">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rail for only 0.1–0.4 % of the time, brief spikes at step changes. Saturation is not a limiting factor here. For higher speeds where rail contact becomes frequent, a saturation-aware observation mode is available: the state gains a seventh feature </a:t>
                </a:r>
                <a14:m>
                  <m:oMath xmlns:m="http://schemas.openxmlformats.org/officeDocument/2006/math">
                    <m:sSub>
                      <m:sSubPr>
                        <m:ctrlPr>
                          <a:rPr lang="en-GB" sz="1600" i="1" smtClean="0">
                            <a:solidFill>
                              <a:srgbClr val="495A66"/>
                            </a:solidFill>
                            <a:latin typeface="Cambria Math" panose="02040503050406030204" pitchFamily="18" charset="0"/>
                          </a:rPr>
                        </m:ctrlPr>
                      </m:sSubPr>
                      <m:e>
                        <m:r>
                          <a:rPr lang="it-IT" sz="1600" b="0" i="1" smtClean="0">
                            <a:solidFill>
                              <a:srgbClr val="495A66"/>
                            </a:solidFill>
                            <a:latin typeface="Cambria Math" panose="02040503050406030204" pitchFamily="18" charset="0"/>
                          </a:rPr>
                          <m:t>𝑉</m:t>
                        </m:r>
                      </m:e>
                      <m:sub>
                        <m:r>
                          <a:rPr lang="it-IT" sz="1600" b="0" i="1" smtClean="0">
                            <a:solidFill>
                              <a:srgbClr val="495A66"/>
                            </a:solidFill>
                            <a:latin typeface="Cambria Math" panose="02040503050406030204" pitchFamily="18" charset="0"/>
                          </a:rPr>
                          <m:t>𝑝𝑟𝑒𝑣</m:t>
                        </m:r>
                      </m:sub>
                    </m:sSub>
                    <m:r>
                      <a:rPr lang="it-IT" sz="1600" b="0" i="1" smtClean="0">
                        <a:solidFill>
                          <a:srgbClr val="495A66"/>
                        </a:solidFill>
                        <a:latin typeface="Cambria Math" panose="02040503050406030204" pitchFamily="18" charset="0"/>
                      </a:rPr>
                      <m:t>/</m:t>
                    </m:r>
                    <m:sSub>
                      <m:sSubPr>
                        <m:ctrlPr>
                          <a:rPr lang="it-IT" sz="1600" b="0" i="1" smtClean="0">
                            <a:solidFill>
                              <a:srgbClr val="495A66"/>
                            </a:solidFill>
                            <a:latin typeface="Cambria Math" panose="02040503050406030204" pitchFamily="18" charset="0"/>
                          </a:rPr>
                        </m:ctrlPr>
                      </m:sSubPr>
                      <m:e>
                        <m:r>
                          <a:rPr lang="it-IT" sz="1600" b="0" i="1" smtClean="0">
                            <a:solidFill>
                              <a:srgbClr val="495A66"/>
                            </a:solidFill>
                            <a:latin typeface="Cambria Math" panose="02040503050406030204" pitchFamily="18" charset="0"/>
                          </a:rPr>
                          <m:t>𝑉</m:t>
                        </m:r>
                      </m:e>
                      <m:sub>
                        <m:r>
                          <a:rPr lang="it-IT" sz="1600" b="0" i="1" smtClean="0">
                            <a:solidFill>
                              <a:srgbClr val="495A66"/>
                            </a:solidFill>
                            <a:latin typeface="Cambria Math" panose="02040503050406030204" pitchFamily="18" charset="0"/>
                          </a:rPr>
                          <m:t>𝑚𝑎𝑥</m:t>
                        </m:r>
                      </m:sub>
                    </m:sSub>
                  </m:oMath>
                </a14:m>
                <a:r>
                  <a:rPr lang="en-GB" sz="1600" dirty="0">
                    <a:solidFill>
                      <a:srgbClr val="495A66"/>
                    </a:solidFill>
                  </a:rPr>
                  <a:t>, the policy can sense the rail and avoid wasting effort against it</a:t>
                </a:r>
                <a:endParaRPr lang="en-US" sz="1600" dirty="0">
                  <a:solidFill>
                    <a:srgbClr val="495A66"/>
                  </a:solidFill>
                </a:endParaRPr>
              </a:p>
            </p:txBody>
          </p:sp>
        </mc:Choice>
        <mc:Fallback xmlns="">
          <p:sp>
            <p:nvSpPr>
              <p:cNvPr id="16" name="TextBox 15">
                <a:extLst>
                  <a:ext uri="{FF2B5EF4-FFF2-40B4-BE49-F238E27FC236}">
                    <a16:creationId xmlns:a16="http://schemas.microsoft.com/office/drawing/2014/main" id="{26E7B8EB-B0B0-8B39-9607-9E8201DAB50E}"/>
                  </a:ext>
                </a:extLst>
              </p:cNvPr>
              <p:cNvSpPr txBox="1">
                <a:spLocks noRot="1" noChangeAspect="1" noMove="1" noResize="1" noEditPoints="1" noAdjustHandles="1" noChangeArrowheads="1" noChangeShapeType="1" noTextEdit="1"/>
              </p:cNvSpPr>
              <p:nvPr/>
            </p:nvSpPr>
            <p:spPr>
              <a:xfrm>
                <a:off x="790194" y="5213162"/>
                <a:ext cx="10764012" cy="1096198"/>
              </a:xfrm>
              <a:prstGeom prst="rect">
                <a:avLst/>
              </a:prstGeom>
              <a:blipFill>
                <a:blip r:embed="rId6"/>
                <a:stretch>
                  <a:fillRect l="-354" t="-2299" r="-472" b="-5747"/>
                </a:stretch>
              </a:blipFill>
            </p:spPr>
            <p:txBody>
              <a:bodyPr/>
              <a:lstStyle/>
              <a:p>
                <a:r>
                  <a:rPr lang="en-US">
                    <a:noFill/>
                  </a:rPr>
                  <a:t> </a:t>
                </a:r>
              </a:p>
            </p:txBody>
          </p:sp>
        </mc:Fallback>
      </mc:AlternateContent>
    </p:spTree>
    <p:extLst>
      <p:ext uri="{BB962C8B-B14F-4D97-AF65-F5344CB8AC3E}">
        <p14:creationId xmlns:p14="http://schemas.microsoft.com/office/powerpoint/2010/main" val="2858993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D52E3186-EA00-C2E7-AFE0-3595CD270A5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134B9A0-2453-5530-E20F-66A39EB25D6C}"/>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E2781A92-61B2-A517-2F56-DF6E37033ED1}"/>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0B4CF013-D369-6EA4-A158-8C37B64C44F2}"/>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B7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673E50A2-43BD-AF58-B1F8-9180AB23A50E}"/>
              </a:ext>
            </a:extLst>
          </p:cNvPr>
          <p:cNvSpPr txBox="1"/>
          <p:nvPr/>
        </p:nvSpPr>
        <p:spPr>
          <a:xfrm>
            <a:off x="868680" y="960120"/>
            <a:ext cx="10607040" cy="412805"/>
          </a:xfrm>
          <a:prstGeom prst="rect">
            <a:avLst/>
          </a:prstGeom>
          <a:noFill/>
        </p:spPr>
        <p:txBody>
          <a:bodyPr wrap="square" lIns="0" tIns="0" rIns="0" bIns="0" anchor="t">
            <a:spAutoFit/>
          </a:bodyPr>
          <a:lstStyle/>
          <a:p>
            <a:pPr algn="l">
              <a:lnSpc>
                <a:spcPct val="102000"/>
              </a:lnSpc>
              <a:spcBef>
                <a:spcPts val="0"/>
              </a:spcBef>
              <a:spcAft>
                <a:spcPts val="600"/>
              </a:spcAft>
            </a:pPr>
            <a:r>
              <a:rPr lang="en-US" sz="2800" b="1" noProof="1">
                <a:solidFill>
                  <a:srgbClr val="1D3557"/>
                </a:solidFill>
                <a:latin typeface="Georgia"/>
              </a:rPr>
              <a:t>Machine Learning Validation: Train Vs Test set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13898AC-13E8-CD52-9489-A13168668366}"/>
                  </a:ext>
                </a:extLst>
              </p:cNvPr>
              <p:cNvSpPr txBox="1"/>
              <p:nvPr/>
            </p:nvSpPr>
            <p:spPr>
              <a:xfrm>
                <a:off x="792675" y="1372925"/>
                <a:ext cx="10832397" cy="1815882"/>
              </a:xfrm>
              <a:prstGeom prst="rect">
                <a:avLst/>
              </a:prstGeom>
              <a:noFill/>
            </p:spPr>
            <p:txBody>
              <a:bodyPr wrap="square" rtlCol="0">
                <a:spAutoFit/>
              </a:bodyPr>
              <a:lstStyle/>
              <a:p>
                <a:r>
                  <a:rPr lang="en-GB" sz="1600" dirty="0">
                    <a:solidFill>
                      <a:srgbClr val="495A66"/>
                    </a:solidFill>
                  </a:rPr>
                  <a:t>This is a regression problem, the network outputs a continuous voltage correction, not a class label. We report four metrics on the tracking error </a:t>
                </a:r>
                <a14:m>
                  <m:oMath xmlns:m="http://schemas.openxmlformats.org/officeDocument/2006/math">
                    <m:r>
                      <a:rPr lang="it-IT" sz="1600" b="0" i="1" smtClean="0">
                        <a:solidFill>
                          <a:srgbClr val="495A66"/>
                        </a:solidFill>
                        <a:latin typeface="Cambria Math" panose="02040503050406030204" pitchFamily="18" charset="0"/>
                      </a:rPr>
                      <m:t>𝑒</m:t>
                    </m:r>
                    <m:r>
                      <a:rPr lang="it-IT" sz="1600" b="0" i="1" smtClean="0">
                        <a:solidFill>
                          <a:srgbClr val="495A66"/>
                        </a:solidFill>
                        <a:latin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𝜔</m:t>
                    </m:r>
                    <m:r>
                      <a:rPr lang="it-IT" sz="1600" b="0" i="1" smtClean="0">
                        <a:solidFill>
                          <a:srgbClr val="495A66"/>
                        </a:solidFill>
                        <a:latin typeface="Cambria Math" panose="02040503050406030204" pitchFamily="18" charset="0"/>
                        <a:ea typeface="Cambria Math" panose="02040503050406030204" pitchFamily="18" charset="0"/>
                      </a:rPr>
                      <m:t>−</m:t>
                    </m:r>
                    <m:sSup>
                      <m:sSupPr>
                        <m:ctrlPr>
                          <a:rPr lang="it-IT" sz="1600" b="0" i="1" smtClean="0">
                            <a:solidFill>
                              <a:srgbClr val="495A66"/>
                            </a:solidFill>
                            <a:latin typeface="Cambria Math" panose="02040503050406030204" pitchFamily="18" charset="0"/>
                            <a:ea typeface="Cambria Math" panose="02040503050406030204" pitchFamily="18" charset="0"/>
                          </a:rPr>
                        </m:ctrlPr>
                      </m:sSupPr>
                      <m:e>
                        <m:r>
                          <a:rPr lang="it-IT" sz="1600" b="0" i="1" smtClean="0">
                            <a:solidFill>
                              <a:srgbClr val="495A66"/>
                            </a:solidFill>
                            <a:latin typeface="Cambria Math" panose="02040503050406030204" pitchFamily="18" charset="0"/>
                            <a:ea typeface="Cambria Math" panose="02040503050406030204" pitchFamily="18" charset="0"/>
                          </a:rPr>
                          <m:t>𝜔</m:t>
                        </m:r>
                      </m:e>
                      <m:sup>
                        <m:r>
                          <a:rPr lang="it-IT" sz="1600" b="0" i="1" smtClean="0">
                            <a:solidFill>
                              <a:srgbClr val="495A66"/>
                            </a:solidFill>
                            <a:latin typeface="Cambria Math" panose="02040503050406030204" pitchFamily="18" charset="0"/>
                            <a:ea typeface="Cambria Math" panose="02040503050406030204" pitchFamily="18" charset="0"/>
                          </a:rPr>
                          <m:t>∗</m:t>
                        </m:r>
                      </m:sup>
                    </m:sSup>
                  </m:oMath>
                </a14:m>
                <a:r>
                  <a:rPr lang="en-GB" sz="1600" dirty="0">
                    <a:solidFill>
                      <a:srgbClr val="495A66"/>
                    </a:solidFill>
                  </a:rPr>
                  <a:t>:</a:t>
                </a:r>
              </a:p>
              <a:p>
                <a:r>
                  <a:rPr lang="en-US" sz="1600" b="1" noProof="1">
                    <a:solidFill>
                      <a:srgbClr val="1D3557"/>
                    </a:solidFill>
                  </a:rPr>
                  <a:t>— </a:t>
                </a:r>
                <a:r>
                  <a:rPr lang="en-GB" sz="1600" dirty="0">
                    <a:solidFill>
                      <a:srgbClr val="495A66"/>
                    </a:solidFill>
                  </a:rPr>
                  <a:t>MAE, mean absolute error: average magnitude of the tracking error</a:t>
                </a:r>
              </a:p>
              <a:p>
                <a:r>
                  <a:rPr lang="en-US" sz="1600" b="1" noProof="1">
                    <a:solidFill>
                      <a:srgbClr val="E07A5F"/>
                    </a:solidFill>
                  </a:rPr>
                  <a:t>— </a:t>
                </a:r>
                <a:r>
                  <a:rPr lang="en-GB" sz="1600" dirty="0">
                    <a:solidFill>
                      <a:srgbClr val="495A66"/>
                    </a:solidFill>
                  </a:rPr>
                  <a:t>RMSE, root mean squared error: primary control metric, penalises large deviations more</a:t>
                </a:r>
              </a:p>
              <a:p>
                <a:r>
                  <a:rPr lang="en-US" sz="1600" b="1" noProof="1">
                    <a:solidFill>
                      <a:srgbClr val="2A9D8F"/>
                    </a:solidFill>
                  </a:rPr>
                  <a:t>— </a:t>
                </a:r>
                <a:r>
                  <a:rPr lang="en-GB" sz="1600" dirty="0">
                    <a:solidFill>
                      <a:srgbClr val="495A66"/>
                    </a:solidFill>
                  </a:rPr>
                  <a:t>R², fraction of the reference variance explained by the achieved speed; defined only for time-varying references</a:t>
                </a:r>
              </a:p>
              <a:p>
                <a:r>
                  <a:rPr lang="en-US" sz="1600" b="1" noProof="1">
                    <a:solidFill>
                      <a:schemeClr val="accent4">
                        <a:lumMod val="75000"/>
                      </a:schemeClr>
                    </a:solidFill>
                  </a:rPr>
                  <a:t>—</a:t>
                </a:r>
                <a:r>
                  <a:rPr lang="en-US" sz="1600" b="1" noProof="1">
                    <a:solidFill>
                      <a:srgbClr val="2A9D8F"/>
                    </a:solidFill>
                  </a:rPr>
                  <a:t> </a:t>
                </a:r>
                <a:r>
                  <a:rPr lang="en-GB" sz="1600" dirty="0">
                    <a:solidFill>
                      <a:srgbClr val="495A66"/>
                    </a:solidFill>
                  </a:rPr>
                  <a:t>in-band %,  fraction of time with </a:t>
                </a:r>
                <a14:m>
                  <m:oMath xmlns:m="http://schemas.openxmlformats.org/officeDocument/2006/math">
                    <m:d>
                      <m:dPr>
                        <m:begChr m:val="|"/>
                        <m:endChr m:val="|"/>
                        <m:ctrlPr>
                          <a:rPr lang="en-GB" sz="1600" i="1" smtClean="0">
                            <a:solidFill>
                              <a:srgbClr val="495A66"/>
                            </a:solidFill>
                            <a:latin typeface="Cambria Math" panose="02040503050406030204" pitchFamily="18" charset="0"/>
                          </a:rPr>
                        </m:ctrlPr>
                      </m:dPr>
                      <m:e>
                        <m:r>
                          <a:rPr lang="it-IT" sz="1600" b="0" i="1" smtClean="0">
                            <a:solidFill>
                              <a:srgbClr val="495A66"/>
                            </a:solidFill>
                            <a:latin typeface="Cambria Math" panose="02040503050406030204" pitchFamily="18" charset="0"/>
                          </a:rPr>
                          <m:t>𝑒</m:t>
                        </m:r>
                      </m:e>
                    </m:d>
                    <m:r>
                      <a:rPr lang="en-GB" sz="1600" i="1" smtClean="0">
                        <a:solidFill>
                          <a:srgbClr val="495A66"/>
                        </a:solidFill>
                        <a:latin typeface="Cambria Math" panose="02040503050406030204" pitchFamily="18" charset="0"/>
                        <a:ea typeface="Cambria Math" panose="02040503050406030204" pitchFamily="18" charset="0"/>
                      </a:rPr>
                      <m:t>&lt;</m:t>
                    </m:r>
                    <m:r>
                      <a:rPr lang="it-IT" sz="1600" b="0" i="1" smtClean="0">
                        <a:solidFill>
                          <a:srgbClr val="495A66"/>
                        </a:solidFill>
                        <a:latin typeface="Cambria Math" panose="02040503050406030204" pitchFamily="18" charset="0"/>
                        <a:ea typeface="Cambria Math" panose="02040503050406030204" pitchFamily="18" charset="0"/>
                      </a:rPr>
                      <m:t>0,5 </m:t>
                    </m:r>
                    <m:r>
                      <a:rPr lang="it-IT" sz="1600" b="0" i="1" smtClean="0">
                        <a:solidFill>
                          <a:srgbClr val="495A66"/>
                        </a:solidFill>
                        <a:latin typeface="Cambria Math" panose="02040503050406030204" pitchFamily="18" charset="0"/>
                        <a:ea typeface="Cambria Math" panose="02040503050406030204" pitchFamily="18" charset="0"/>
                      </a:rPr>
                      <m:t>𝑟𝑎𝑑</m:t>
                    </m:r>
                    <m:r>
                      <a:rPr lang="it-IT" sz="1600" b="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𝑠</m:t>
                    </m:r>
                  </m:oMath>
                </a14:m>
                <a:r>
                  <a:rPr lang="en-GB" sz="1600" dirty="0">
                    <a:solidFill>
                      <a:srgbClr val="495A66"/>
                    </a:solidFill>
                  </a:rPr>
                  <a:t>; the honest analogue of "accuracy" for a continuous tracking task</a:t>
                </a:r>
              </a:p>
              <a:p>
                <a:endParaRPr lang="en-US" sz="1600" dirty="0">
                  <a:solidFill>
                    <a:srgbClr val="495A66"/>
                  </a:solidFill>
                </a:endParaRPr>
              </a:p>
            </p:txBody>
          </p:sp>
        </mc:Choice>
        <mc:Fallback xmlns="">
          <p:sp>
            <p:nvSpPr>
              <p:cNvPr id="5" name="TextBox 4">
                <a:extLst>
                  <a:ext uri="{FF2B5EF4-FFF2-40B4-BE49-F238E27FC236}">
                    <a16:creationId xmlns:a16="http://schemas.microsoft.com/office/drawing/2014/main" id="{813898AC-13E8-CD52-9489-A13168668366}"/>
                  </a:ext>
                </a:extLst>
              </p:cNvPr>
              <p:cNvSpPr txBox="1">
                <a:spLocks noRot="1" noChangeAspect="1" noMove="1" noResize="1" noEditPoints="1" noAdjustHandles="1" noChangeArrowheads="1" noChangeShapeType="1" noTextEdit="1"/>
              </p:cNvSpPr>
              <p:nvPr/>
            </p:nvSpPr>
            <p:spPr>
              <a:xfrm>
                <a:off x="792675" y="1372925"/>
                <a:ext cx="10832397" cy="1815882"/>
              </a:xfrm>
              <a:prstGeom prst="rect">
                <a:avLst/>
              </a:prstGeom>
              <a:blipFill>
                <a:blip r:embed="rId3"/>
                <a:stretch>
                  <a:fillRect l="-234" t="-1389"/>
                </a:stretch>
              </a:blipFill>
            </p:spPr>
            <p:txBody>
              <a:bodyPr/>
              <a:lstStyle/>
              <a:p>
                <a:r>
                  <a:rPr lang="en-US">
                    <a:noFill/>
                  </a:rPr>
                  <a:t> </a:t>
                </a:r>
              </a:p>
            </p:txBody>
          </p:sp>
        </mc:Fallback>
      </mc:AlternateContent>
      <p:graphicFrame>
        <p:nvGraphicFramePr>
          <p:cNvPr id="15" name="Table 14">
            <a:extLst>
              <a:ext uri="{FF2B5EF4-FFF2-40B4-BE49-F238E27FC236}">
                <a16:creationId xmlns:a16="http://schemas.microsoft.com/office/drawing/2014/main" id="{0C05EE68-E50E-C94B-7D45-D458A65F1CF5}"/>
              </a:ext>
            </a:extLst>
          </p:cNvPr>
          <p:cNvGraphicFramePr>
            <a:graphicFrameLocks noGrp="1"/>
          </p:cNvGraphicFramePr>
          <p:nvPr>
            <p:extLst>
              <p:ext uri="{D42A27DB-BD31-4B8C-83A1-F6EECF244321}">
                <p14:modId xmlns:p14="http://schemas.microsoft.com/office/powerpoint/2010/main" val="1692381663"/>
              </p:ext>
            </p:extLst>
          </p:nvPr>
        </p:nvGraphicFramePr>
        <p:xfrm>
          <a:off x="1132200" y="3429000"/>
          <a:ext cx="10080000" cy="1234440"/>
        </p:xfrm>
        <a:graphic>
          <a:graphicData uri="http://schemas.openxmlformats.org/drawingml/2006/table">
            <a:tbl>
              <a:tblPr>
                <a:tableStyleId>{5C22544A-7EE6-4342-B048-85BDC9FD1C3A}</a:tableStyleId>
              </a:tblPr>
              <a:tblGrid>
                <a:gridCol w="2016000">
                  <a:extLst>
                    <a:ext uri="{9D8B030D-6E8A-4147-A177-3AD203B41FA5}">
                      <a16:colId xmlns:a16="http://schemas.microsoft.com/office/drawing/2014/main" val="20000"/>
                    </a:ext>
                  </a:extLst>
                </a:gridCol>
                <a:gridCol w="2016000">
                  <a:extLst>
                    <a:ext uri="{9D8B030D-6E8A-4147-A177-3AD203B41FA5}">
                      <a16:colId xmlns:a16="http://schemas.microsoft.com/office/drawing/2014/main" val="20001"/>
                    </a:ext>
                  </a:extLst>
                </a:gridCol>
                <a:gridCol w="2016000">
                  <a:extLst>
                    <a:ext uri="{9D8B030D-6E8A-4147-A177-3AD203B41FA5}">
                      <a16:colId xmlns:a16="http://schemas.microsoft.com/office/drawing/2014/main" val="3123090793"/>
                    </a:ext>
                  </a:extLst>
                </a:gridCol>
                <a:gridCol w="2016000">
                  <a:extLst>
                    <a:ext uri="{9D8B030D-6E8A-4147-A177-3AD203B41FA5}">
                      <a16:colId xmlns:a16="http://schemas.microsoft.com/office/drawing/2014/main" val="1251604277"/>
                    </a:ext>
                  </a:extLst>
                </a:gridCol>
                <a:gridCol w="2016000">
                  <a:extLst>
                    <a:ext uri="{9D8B030D-6E8A-4147-A177-3AD203B41FA5}">
                      <a16:colId xmlns:a16="http://schemas.microsoft.com/office/drawing/2014/main" val="2435101031"/>
                    </a:ext>
                  </a:extLst>
                </a:gridCol>
              </a:tblGrid>
              <a:tr h="411480">
                <a:tc>
                  <a:txBody>
                    <a:bodyPr/>
                    <a:lstStyle/>
                    <a:p>
                      <a:r>
                        <a:rPr lang="en-US" sz="1200" b="1" noProof="1">
                          <a:solidFill>
                            <a:srgbClr val="1D3557"/>
                          </a:solidFill>
                          <a:latin typeface="+mn-lt"/>
                        </a:rPr>
                        <a:t>Set</a:t>
                      </a:r>
                    </a:p>
                  </a:txBody>
                  <a:tcPr marL="73152" marT="27432" marB="27432" anchor="ctr">
                    <a:solidFill>
                      <a:srgbClr val="FBFAF6"/>
                    </a:solidFill>
                  </a:tcPr>
                </a:tc>
                <a:tc>
                  <a:txBody>
                    <a:bodyPr/>
                    <a:lstStyle/>
                    <a:p>
                      <a:r>
                        <a:rPr lang="en-US" sz="1200" b="1" noProof="1">
                          <a:solidFill>
                            <a:srgbClr val="4A5A66"/>
                          </a:solidFill>
                          <a:latin typeface="+mn-lt"/>
                        </a:rPr>
                        <a:t>MAE</a:t>
                      </a:r>
                    </a:p>
                  </a:txBody>
                  <a:tcPr marL="73152" marT="27432" marB="27432" anchor="ctr">
                    <a:solidFill>
                      <a:srgbClr val="FBFAF6"/>
                    </a:solidFill>
                  </a:tcPr>
                </a:tc>
                <a:tc>
                  <a:txBody>
                    <a:bodyPr/>
                    <a:lstStyle/>
                    <a:p>
                      <a:r>
                        <a:rPr lang="en-US" sz="1200" b="1" noProof="1">
                          <a:solidFill>
                            <a:srgbClr val="4A5A66"/>
                          </a:solidFill>
                          <a:latin typeface="+mn-lt"/>
                        </a:rPr>
                        <a:t>RMSE</a:t>
                      </a:r>
                    </a:p>
                  </a:txBody>
                  <a:tcPr marL="73152" marT="27432" marB="27432" anchor="ctr">
                    <a:solidFill>
                      <a:srgbClr val="FBFAF6"/>
                    </a:solidFill>
                  </a:tcPr>
                </a:tc>
                <a:tc>
                  <a:txBody>
                    <a:bodyPr/>
                    <a:lstStyle/>
                    <a:p>
                      <a:r>
                        <a:rPr lang="en-US" sz="1200" b="1" noProof="1">
                          <a:solidFill>
                            <a:srgbClr val="4A5A66"/>
                          </a:solidFill>
                          <a:latin typeface="+mn-lt"/>
                        </a:rPr>
                        <a:t>R2</a:t>
                      </a:r>
                    </a:p>
                  </a:txBody>
                  <a:tcPr marL="73152" marT="27432" marB="27432" anchor="ctr">
                    <a:solidFill>
                      <a:srgbClr val="FBFAF6"/>
                    </a:solidFill>
                  </a:tcPr>
                </a:tc>
                <a:tc>
                  <a:txBody>
                    <a:bodyPr/>
                    <a:lstStyle/>
                    <a:p>
                      <a:r>
                        <a:rPr lang="en-US" sz="1200" b="1" noProof="1">
                          <a:solidFill>
                            <a:srgbClr val="4A5A66"/>
                          </a:solidFill>
                          <a:latin typeface="+mn-lt"/>
                        </a:rPr>
                        <a:t>In-band %</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r>
                        <a:rPr lang="en-US" sz="1200" b="0" noProof="1">
                          <a:solidFill>
                            <a:srgbClr val="1D3557"/>
                          </a:solidFill>
                          <a:latin typeface="+mn-lt"/>
                        </a:rPr>
                        <a:t>Train (12 references)</a:t>
                      </a:r>
                    </a:p>
                  </a:txBody>
                  <a:tcPr marL="73152" marT="27432" marB="27432" anchor="ctr">
                    <a:solidFill>
                      <a:srgbClr val="FBFAF6"/>
                    </a:solidFill>
                  </a:tcPr>
                </a:tc>
                <a:tc>
                  <a:txBody>
                    <a:bodyPr/>
                    <a:lstStyle/>
                    <a:p>
                      <a:r>
                        <a:rPr lang="en-US" sz="1200" b="0" noProof="1">
                          <a:solidFill>
                            <a:srgbClr val="495A66"/>
                          </a:solidFill>
                          <a:latin typeface="+mn-lt"/>
                        </a:rPr>
                        <a:t>0.069</a:t>
                      </a:r>
                    </a:p>
                  </a:txBody>
                  <a:tcPr marL="73152" marT="27432" marB="27432" anchor="ctr">
                    <a:solidFill>
                      <a:srgbClr val="FBFAF6"/>
                    </a:solidFill>
                  </a:tcPr>
                </a:tc>
                <a:tc>
                  <a:txBody>
                    <a:bodyPr/>
                    <a:lstStyle/>
                    <a:p>
                      <a:r>
                        <a:rPr lang="en-US" sz="1200" b="0" noProof="1">
                          <a:solidFill>
                            <a:srgbClr val="495A66"/>
                          </a:solidFill>
                          <a:latin typeface="+mn-lt"/>
                        </a:rPr>
                        <a:t>0.292</a:t>
                      </a:r>
                    </a:p>
                  </a:txBody>
                  <a:tcPr marL="73152" marT="27432" marB="27432" anchor="ctr">
                    <a:solidFill>
                      <a:srgbClr val="FBFAF6"/>
                    </a:solidFill>
                  </a:tcPr>
                </a:tc>
                <a:tc>
                  <a:txBody>
                    <a:bodyPr/>
                    <a:lstStyle/>
                    <a:p>
                      <a:r>
                        <a:rPr lang="en-US" sz="1200" b="0" noProof="1">
                          <a:solidFill>
                            <a:srgbClr val="495A66"/>
                          </a:solidFill>
                          <a:latin typeface="+mn-lt"/>
                        </a:rPr>
                        <a:t>0.955</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99.7%</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r>
                        <a:rPr lang="en-US" sz="1200" b="0" i="0" noProof="1">
                          <a:solidFill>
                            <a:srgbClr val="1D3557"/>
                          </a:solidFill>
                          <a:latin typeface="+mn-lt"/>
                        </a:rPr>
                        <a:t>Test (7 held-out)</a:t>
                      </a:r>
                    </a:p>
                  </a:txBody>
                  <a:tcPr marL="73152" marT="27432" marB="27432" anchor="ctr">
                    <a:solidFill>
                      <a:srgbClr val="FBFAF6"/>
                    </a:solidFill>
                  </a:tcPr>
                </a:tc>
                <a:tc>
                  <a:txBody>
                    <a:bodyPr/>
                    <a:lstStyle/>
                    <a:p>
                      <a:r>
                        <a:rPr lang="en-US" sz="1200" b="0" noProof="1">
                          <a:solidFill>
                            <a:srgbClr val="4A5A66"/>
                          </a:solidFill>
                          <a:latin typeface="+mn-lt"/>
                        </a:rPr>
                        <a:t>0.080</a:t>
                      </a:r>
                    </a:p>
                  </a:txBody>
                  <a:tcPr marL="73152" marT="27432" marB="27432" anchor="ctr">
                    <a:solidFill>
                      <a:srgbClr val="FBFAF6"/>
                    </a:solidFill>
                  </a:tcPr>
                </a:tc>
                <a:tc>
                  <a:txBody>
                    <a:bodyPr/>
                    <a:lstStyle/>
                    <a:p>
                      <a:r>
                        <a:rPr lang="en-US" sz="1200" b="0" noProof="1">
                          <a:solidFill>
                            <a:srgbClr val="495A66"/>
                          </a:solidFill>
                          <a:latin typeface="+mn-lt"/>
                        </a:rPr>
                        <a:t>0.240</a:t>
                      </a:r>
                    </a:p>
                  </a:txBody>
                  <a:tcPr marL="73152" marT="27432" marB="27432" anchor="ctr">
                    <a:solidFill>
                      <a:srgbClr val="FBFAF6"/>
                    </a:solidFill>
                  </a:tcPr>
                </a:tc>
                <a:tc>
                  <a:txBody>
                    <a:bodyPr/>
                    <a:lstStyle/>
                    <a:p>
                      <a:r>
                        <a:rPr lang="en-US" sz="1200" b="0" noProof="1">
                          <a:solidFill>
                            <a:srgbClr val="495A66"/>
                          </a:solidFill>
                          <a:latin typeface="+mn-lt"/>
                        </a:rPr>
                        <a:t>0.996</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bl>
          </a:graphicData>
        </a:graphic>
      </p:graphicFrame>
      <p:sp>
        <p:nvSpPr>
          <p:cNvPr id="16" name="Rounded Rectangle 15">
            <a:extLst>
              <a:ext uri="{FF2B5EF4-FFF2-40B4-BE49-F238E27FC236}">
                <a16:creationId xmlns:a16="http://schemas.microsoft.com/office/drawing/2014/main" id="{913C3B33-4832-5E3F-08C5-521E708F3BFC}"/>
              </a:ext>
            </a:extLst>
          </p:cNvPr>
          <p:cNvSpPr/>
          <p:nvPr/>
        </p:nvSpPr>
        <p:spPr>
          <a:xfrm>
            <a:off x="868679" y="5109882"/>
            <a:ext cx="10875301" cy="1134006"/>
          </a:xfrm>
          <a:prstGeom prst="roundRect">
            <a:avLst>
              <a:gd name="adj" fmla="val 6000"/>
            </a:avLst>
          </a:prstGeom>
          <a:solidFill>
            <a:srgbClr val="E7F2F0"/>
          </a:solidFill>
          <a:ln w="12700">
            <a:solidFill>
              <a:srgbClr val="E7F2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7" name="Rectangle 16">
            <a:extLst>
              <a:ext uri="{FF2B5EF4-FFF2-40B4-BE49-F238E27FC236}">
                <a16:creationId xmlns:a16="http://schemas.microsoft.com/office/drawing/2014/main" id="{533162AF-8A51-BD8F-DD98-11AC58FA3027}"/>
              </a:ext>
            </a:extLst>
          </p:cNvPr>
          <p:cNvSpPr/>
          <p:nvPr/>
        </p:nvSpPr>
        <p:spPr>
          <a:xfrm>
            <a:off x="868679" y="5109882"/>
            <a:ext cx="45719" cy="113400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8" name="TextBox 17">
            <a:extLst>
              <a:ext uri="{FF2B5EF4-FFF2-40B4-BE49-F238E27FC236}">
                <a16:creationId xmlns:a16="http://schemas.microsoft.com/office/drawing/2014/main" id="{32FD3207-F921-A873-A408-96D217C1652A}"/>
              </a:ext>
            </a:extLst>
          </p:cNvPr>
          <p:cNvSpPr txBox="1"/>
          <p:nvPr/>
        </p:nvSpPr>
        <p:spPr>
          <a:xfrm>
            <a:off x="1069848" y="5299406"/>
            <a:ext cx="10222992" cy="1020279"/>
          </a:xfrm>
          <a:prstGeom prst="rect">
            <a:avLst/>
          </a:prstGeom>
          <a:noFill/>
        </p:spPr>
        <p:txBody>
          <a:bodyPr wrap="square" lIns="0" tIns="0" rIns="0" bIns="0" anchor="ctr">
            <a:spAutoFit/>
          </a:bodyPr>
          <a:lstStyle/>
          <a:p>
            <a:pPr>
              <a:lnSpc>
                <a:spcPct val="112000"/>
              </a:lnSpc>
            </a:pPr>
            <a:r>
              <a:rPr lang="en-US" sz="1500" b="1" noProof="1">
                <a:solidFill>
                  <a:srgbClr val="1D3557"/>
                </a:solidFill>
                <a:latin typeface="Georgia"/>
              </a:rPr>
              <a:t>Result. </a:t>
            </a:r>
            <a:r>
              <a:rPr lang="en-GB" sz="1500" dirty="0">
                <a:solidFill>
                  <a:srgbClr val="495A66"/>
                </a:solidFill>
              </a:rPr>
              <a:t>Test error is no worse than train on every metric, the policy has not memorised the training references, it has learned a general control strategy. R2 improves on the test set because held-out references are smoother and easier to track than the random multi-step profiles used during training. The gap between train and test RMSE goes in the safe direction: no overfitting</a:t>
            </a:r>
            <a:r>
              <a:rPr lang="en-GB" sz="1500" i="1" dirty="0">
                <a:solidFill>
                  <a:srgbClr val="495A66"/>
                </a:solidFill>
              </a:rPr>
              <a:t>.</a:t>
            </a:r>
            <a:endParaRPr lang="en-US" sz="1500" noProof="1">
              <a:solidFill>
                <a:srgbClr val="495A66"/>
              </a:solidFill>
            </a:endParaRPr>
          </a:p>
          <a:p>
            <a:pPr>
              <a:lnSpc>
                <a:spcPct val="112000"/>
              </a:lnSpc>
            </a:pPr>
            <a:endParaRPr lang="en-US" sz="1500" b="0" noProof="1">
              <a:solidFill>
                <a:srgbClr val="4A5A66"/>
              </a:solidFill>
              <a:latin typeface="Calibri"/>
            </a:endParaRPr>
          </a:p>
        </p:txBody>
      </p:sp>
    </p:spTree>
    <p:extLst>
      <p:ext uri="{BB962C8B-B14F-4D97-AF65-F5344CB8AC3E}">
        <p14:creationId xmlns:p14="http://schemas.microsoft.com/office/powerpoint/2010/main" val="3465759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754A797F-1558-4034-8904-241FBF17C6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A8DAAEF-82B6-6C2B-5872-D278BFF69D28}"/>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1E4EC752-2CAC-1293-9C3B-3FDBF0BBF816}"/>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12671021-4B72-6449-FFF6-DA5E292E15E9}"/>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B8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4B3CDAFE-3748-55F6-252F-948C988C6658}"/>
              </a:ext>
            </a:extLst>
          </p:cNvPr>
          <p:cNvSpPr txBox="1"/>
          <p:nvPr/>
        </p:nvSpPr>
        <p:spPr>
          <a:xfrm>
            <a:off x="868680" y="960120"/>
            <a:ext cx="10607040" cy="412805"/>
          </a:xfrm>
          <a:prstGeom prst="rect">
            <a:avLst/>
          </a:prstGeom>
          <a:noFill/>
        </p:spPr>
        <p:txBody>
          <a:bodyPr wrap="square" lIns="0" tIns="0" rIns="0" bIns="0" anchor="t">
            <a:spAutoFit/>
          </a:bodyPr>
          <a:lstStyle/>
          <a:p>
            <a:pPr>
              <a:lnSpc>
                <a:spcPct val="102000"/>
              </a:lnSpc>
              <a:spcAft>
                <a:spcPts val="600"/>
              </a:spcAft>
            </a:pPr>
            <a:r>
              <a:rPr lang="en-US" sz="2800" b="1" noProof="1">
                <a:solidFill>
                  <a:srgbClr val="1D3557"/>
                </a:solidFill>
                <a:latin typeface="Georgia"/>
              </a:rPr>
              <a:t>Ablation Study: Network Depth and Seed Robustness</a:t>
            </a:r>
          </a:p>
        </p:txBody>
      </p:sp>
      <p:sp>
        <p:nvSpPr>
          <p:cNvPr id="5" name="TextBox 4">
            <a:extLst>
              <a:ext uri="{FF2B5EF4-FFF2-40B4-BE49-F238E27FC236}">
                <a16:creationId xmlns:a16="http://schemas.microsoft.com/office/drawing/2014/main" id="{CB565417-C77E-FA39-EBAC-E57A3750CAFF}"/>
              </a:ext>
            </a:extLst>
          </p:cNvPr>
          <p:cNvSpPr txBox="1"/>
          <p:nvPr/>
        </p:nvSpPr>
        <p:spPr>
          <a:xfrm>
            <a:off x="756001" y="1372925"/>
            <a:ext cx="10832397" cy="830997"/>
          </a:xfrm>
          <a:prstGeom prst="rect">
            <a:avLst/>
          </a:prstGeom>
          <a:noFill/>
        </p:spPr>
        <p:txBody>
          <a:bodyPr wrap="square" rtlCol="0">
            <a:spAutoFit/>
          </a:bodyPr>
          <a:lstStyle/>
          <a:p>
            <a:r>
              <a:rPr lang="en-GB" sz="1600" dirty="0">
                <a:solidFill>
                  <a:srgbClr val="495A66"/>
                </a:solidFill>
              </a:rPr>
              <a:t>To verify that the architecture choice is not arbitrary and the results are not seed-dependent, we trained 3 architectures × 3 random seeds = 9 independent models and evaluated each on the held-out test set. All models use the same reward, hyperparameters and training budget (300k steps).</a:t>
            </a:r>
            <a:endParaRPr lang="en-US" sz="1600" dirty="0">
              <a:solidFill>
                <a:srgbClr val="495A66"/>
              </a:solidFill>
            </a:endParaRPr>
          </a:p>
        </p:txBody>
      </p:sp>
      <mc:AlternateContent xmlns:mc="http://schemas.openxmlformats.org/markup-compatibility/2006">
        <mc:Choice xmlns:a14="http://schemas.microsoft.com/office/drawing/2010/main" Requires="a14">
          <p:graphicFrame>
            <p:nvGraphicFramePr>
              <p:cNvPr id="15" name="Table 14">
                <a:extLst>
                  <a:ext uri="{FF2B5EF4-FFF2-40B4-BE49-F238E27FC236}">
                    <a16:creationId xmlns:a16="http://schemas.microsoft.com/office/drawing/2014/main" id="{CDAC3E55-D1F1-3C3C-4C69-5F364CDEEEB9}"/>
                  </a:ext>
                </a:extLst>
              </p:cNvPr>
              <p:cNvGraphicFramePr>
                <a:graphicFrameLocks noGrp="1"/>
              </p:cNvGraphicFramePr>
              <p:nvPr>
                <p:extLst>
                  <p:ext uri="{D42A27DB-BD31-4B8C-83A1-F6EECF244321}">
                    <p14:modId xmlns:p14="http://schemas.microsoft.com/office/powerpoint/2010/main" val="2485419590"/>
                  </p:ext>
                </p:extLst>
              </p:nvPr>
            </p:nvGraphicFramePr>
            <p:xfrm>
              <a:off x="2064000" y="2406435"/>
              <a:ext cx="8064000" cy="1684728"/>
            </p:xfrm>
            <a:graphic>
              <a:graphicData uri="http://schemas.openxmlformats.org/drawingml/2006/table">
                <a:tbl>
                  <a:tblPr>
                    <a:tableStyleId>{5C22544A-7EE6-4342-B048-85BDC9FD1C3A}</a:tableStyleId>
                  </a:tblPr>
                  <a:tblGrid>
                    <a:gridCol w="2016000">
                      <a:extLst>
                        <a:ext uri="{9D8B030D-6E8A-4147-A177-3AD203B41FA5}">
                          <a16:colId xmlns:a16="http://schemas.microsoft.com/office/drawing/2014/main" val="20000"/>
                        </a:ext>
                      </a:extLst>
                    </a:gridCol>
                    <a:gridCol w="2016000">
                      <a:extLst>
                        <a:ext uri="{9D8B030D-6E8A-4147-A177-3AD203B41FA5}">
                          <a16:colId xmlns:a16="http://schemas.microsoft.com/office/drawing/2014/main" val="3123090793"/>
                        </a:ext>
                      </a:extLst>
                    </a:gridCol>
                    <a:gridCol w="2016000">
                      <a:extLst>
                        <a:ext uri="{9D8B030D-6E8A-4147-A177-3AD203B41FA5}">
                          <a16:colId xmlns:a16="http://schemas.microsoft.com/office/drawing/2014/main" val="1251604277"/>
                        </a:ext>
                      </a:extLst>
                    </a:gridCol>
                    <a:gridCol w="2016000">
                      <a:extLst>
                        <a:ext uri="{9D8B030D-6E8A-4147-A177-3AD203B41FA5}">
                          <a16:colId xmlns:a16="http://schemas.microsoft.com/office/drawing/2014/main" val="2435101031"/>
                        </a:ext>
                      </a:extLst>
                    </a:gridCol>
                  </a:tblGrid>
                  <a:tr h="432000">
                    <a:tc>
                      <a:txBody>
                        <a:bodyPr/>
                        <a:lstStyle/>
                        <a:p>
                          <a:r>
                            <a:rPr lang="en-US" sz="1200" b="1" noProof="1">
                              <a:solidFill>
                                <a:srgbClr val="1D3557"/>
                              </a:solidFill>
                              <a:latin typeface="+mn-lt"/>
                            </a:rPr>
                            <a:t>Architecture</a:t>
                          </a:r>
                        </a:p>
                      </a:txBody>
                      <a:tcPr marL="73152" marT="27432" marB="27432" anchor="ctr">
                        <a:solidFill>
                          <a:srgbClr val="FBFAF6"/>
                        </a:solidFill>
                      </a:tcPr>
                    </a:tc>
                    <a:tc>
                      <a:txBody>
                        <a:bodyPr/>
                        <a:lstStyle/>
                        <a:p>
                          <a:r>
                            <a:rPr lang="en-US" sz="1200" b="1" noProof="1">
                              <a:solidFill>
                                <a:srgbClr val="4A5A66"/>
                              </a:solidFill>
                              <a:latin typeface="+mn-lt"/>
                            </a:rPr>
                            <a:t>RMSE</a:t>
                          </a:r>
                        </a:p>
                      </a:txBody>
                      <a:tcPr marL="73152" marT="27432" marB="27432" anchor="ctr">
                        <a:solidFill>
                          <a:srgbClr val="FBFAF6"/>
                        </a:solidFill>
                      </a:tcPr>
                    </a:tc>
                    <a:tc>
                      <a:txBody>
                        <a:bodyPr/>
                        <a:lstStyle/>
                        <a:p>
                          <a:r>
                            <a:rPr lang="en-US" sz="1200" b="1" noProof="1">
                              <a:solidFill>
                                <a:srgbClr val="4A5A66"/>
                              </a:solidFill>
                              <a:latin typeface="+mn-lt"/>
                            </a:rPr>
                            <a:t>R2</a:t>
                          </a:r>
                        </a:p>
                      </a:txBody>
                      <a:tcPr marL="73152" marT="27432" marB="27432" anchor="ctr">
                        <a:solidFill>
                          <a:srgbClr val="FBFAF6"/>
                        </a:solidFill>
                      </a:tcPr>
                    </a:tc>
                    <a:tc>
                      <a:txBody>
                        <a:bodyPr/>
                        <a:lstStyle/>
                        <a:p>
                          <a:r>
                            <a:rPr lang="en-US" sz="1200" b="1" noProof="1">
                              <a:solidFill>
                                <a:srgbClr val="4A5A66"/>
                              </a:solidFill>
                              <a:latin typeface="+mn-lt"/>
                            </a:rPr>
                            <a:t>In-band %</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r>
                            <a:rPr lang="en-US" sz="1200" b="0" noProof="1">
                              <a:solidFill>
                                <a:srgbClr val="1D3557"/>
                              </a:solidFill>
                              <a:latin typeface="+mn-lt"/>
                            </a:rPr>
                            <a:t>MLP [64]</a:t>
                          </a:r>
                        </a:p>
                      </a:txBody>
                      <a:tcPr marL="73152" marT="27432" marB="27432" anchor="ctr">
                        <a:solidFill>
                          <a:srgbClr val="FBFAF6"/>
                        </a:solidFill>
                      </a:tcPr>
                    </a:tc>
                    <a:tc>
                      <a:txBody>
                        <a:bodyPr/>
                        <a:lstStyle/>
                        <a:p>
                          <a:pPr algn="l"/>
                          <a14:m>
                            <m:oMathPara xmlns:m="http://schemas.openxmlformats.org/officeDocument/2006/math">
                              <m:oMathParaPr>
                                <m:jc m:val="left"/>
                              </m:oMathParaPr>
                              <m:oMath xmlns:m="http://schemas.openxmlformats.org/officeDocument/2006/math">
                                <m:r>
                                  <a:rPr lang="it-IT" sz="1200" b="0" i="1" noProof="1" smtClean="0">
                                    <a:solidFill>
                                      <a:srgbClr val="495A66"/>
                                    </a:solidFill>
                                    <a:latin typeface="Cambria Math" panose="02040503050406030204" pitchFamily="18" charset="0"/>
                                  </a:rPr>
                                  <m:t>0.238</m:t>
                                </m:r>
                                <m:r>
                                  <a:rPr lang="it-IT" sz="1200" b="0" i="1" noProof="1" smtClean="0">
                                    <a:solidFill>
                                      <a:srgbClr val="495A66"/>
                                    </a:solidFill>
                                    <a:latin typeface="Cambria Math" panose="02040503050406030204" pitchFamily="18" charset="0"/>
                                    <a:ea typeface="Cambria Math" panose="02040503050406030204" pitchFamily="18" charset="0"/>
                                  </a:rPr>
                                  <m:t>±0.001</m:t>
                                </m:r>
                              </m:oMath>
                            </m:oMathPara>
                          </a14:m>
                          <a:endParaRPr lang="en-US" sz="1200" b="0" noProof="1">
                            <a:solidFill>
                              <a:srgbClr val="495A66"/>
                            </a:solidFill>
                            <a:latin typeface="+mn-lt"/>
                          </a:endParaRPr>
                        </a:p>
                      </a:txBody>
                      <a:tcPr marL="73152" marT="27432" marB="27432" anchor="ctr">
                        <a:solidFill>
                          <a:srgbClr val="FBFAF6"/>
                        </a:solidFill>
                      </a:tcPr>
                    </a:tc>
                    <a:tc>
                      <a:txBody>
                        <a:bodyPr/>
                        <a:lstStyle/>
                        <a:p>
                          <a:r>
                            <a:rPr lang="en-US" sz="1200" b="0" noProof="1">
                              <a:solidFill>
                                <a:srgbClr val="495A66"/>
                              </a:solidFill>
                              <a:latin typeface="+mn-lt"/>
                            </a:rPr>
                            <a:t>0.996</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11480">
                    <a:tc>
                      <a:txBody>
                        <a:bodyPr/>
                        <a:lstStyle/>
                        <a:p>
                          <a:r>
                            <a:rPr lang="en-US" sz="1200" b="0" i="0" noProof="1">
                              <a:solidFill>
                                <a:srgbClr val="1D3557"/>
                              </a:solidFill>
                              <a:latin typeface="+mn-lt"/>
                            </a:rPr>
                            <a:t>MLP [256,256]</a:t>
                          </a:r>
                        </a:p>
                      </a:txBody>
                      <a:tcPr marL="73152" marT="27432" marB="27432" anchor="ctr">
                        <a:solidFill>
                          <a:srgbClr val="FBFA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it-IT" sz="1200" b="0" i="1" noProof="1" smtClean="0">
                                    <a:solidFill>
                                      <a:srgbClr val="495A66"/>
                                    </a:solidFill>
                                    <a:latin typeface="Cambria Math" panose="02040503050406030204" pitchFamily="18" charset="0"/>
                                  </a:rPr>
                                  <m:t>0.256</m:t>
                                </m:r>
                                <m:r>
                                  <a:rPr lang="it-IT" sz="1200" b="0" i="1" noProof="1" smtClean="0">
                                    <a:solidFill>
                                      <a:srgbClr val="495A66"/>
                                    </a:solidFill>
                                    <a:latin typeface="Cambria Math" panose="02040503050406030204" pitchFamily="18" charset="0"/>
                                    <a:ea typeface="Cambria Math" panose="02040503050406030204" pitchFamily="18" charset="0"/>
                                  </a:rPr>
                                  <m:t>±0.004</m:t>
                                </m:r>
                              </m:oMath>
                            </m:oMathPara>
                          </a14:m>
                          <a:endParaRPr lang="en-US" sz="1200" b="0" noProof="1">
                            <a:solidFill>
                              <a:srgbClr val="495A66"/>
                            </a:solidFill>
                            <a:latin typeface="+mn-lt"/>
                          </a:endParaRPr>
                        </a:p>
                        <a:p>
                          <a:pPr algn="l"/>
                          <a:endParaRPr lang="en-US" sz="1200" b="0" noProof="1">
                            <a:solidFill>
                              <a:srgbClr val="495A66"/>
                            </a:solidFill>
                            <a:latin typeface="+mn-lt"/>
                          </a:endParaRPr>
                        </a:p>
                      </a:txBody>
                      <a:tcPr marL="73152" marT="27432" marB="27432" anchor="ctr">
                        <a:solidFill>
                          <a:srgbClr val="FBFAF6"/>
                        </a:solidFill>
                      </a:tcPr>
                    </a:tc>
                    <a:tc>
                      <a:txBody>
                        <a:bodyPr/>
                        <a:lstStyle/>
                        <a:p>
                          <a:r>
                            <a:rPr lang="en-US" sz="1200" b="0" noProof="1">
                              <a:solidFill>
                                <a:srgbClr val="495A66"/>
                              </a:solidFill>
                              <a:latin typeface="+mn-lt"/>
                            </a:rPr>
                            <a:t>0.995</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114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noProof="1">
                              <a:solidFill>
                                <a:srgbClr val="1D3557"/>
                              </a:solidFill>
                              <a:latin typeface="+mn-lt"/>
                            </a:rPr>
                            <a:t>MLP [256,256, 256]</a:t>
                          </a:r>
                        </a:p>
                        <a:p>
                          <a:endParaRPr lang="en-US" sz="1200" b="0" i="0" noProof="1">
                            <a:solidFill>
                              <a:srgbClr val="1D3557"/>
                            </a:solidFill>
                            <a:latin typeface="+mn-lt"/>
                          </a:endParaRPr>
                        </a:p>
                      </a:txBody>
                      <a:tcPr marL="73152" marT="27432" marB="27432" anchor="ctr">
                        <a:solidFill>
                          <a:srgbClr val="FBFA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it-IT" sz="1200" b="0" i="1" noProof="1" smtClean="0">
                                    <a:solidFill>
                                      <a:srgbClr val="495A66"/>
                                    </a:solidFill>
                                    <a:latin typeface="Cambria Math" panose="02040503050406030204" pitchFamily="18" charset="0"/>
                                  </a:rPr>
                                  <m:t>0.247</m:t>
                                </m:r>
                                <m:r>
                                  <a:rPr lang="it-IT" sz="1200" b="0" i="1" noProof="1" smtClean="0">
                                    <a:solidFill>
                                      <a:srgbClr val="495A66"/>
                                    </a:solidFill>
                                    <a:latin typeface="Cambria Math" panose="02040503050406030204" pitchFamily="18" charset="0"/>
                                    <a:ea typeface="Cambria Math" panose="02040503050406030204" pitchFamily="18" charset="0"/>
                                  </a:rPr>
                                  <m:t>±0.001</m:t>
                                </m:r>
                              </m:oMath>
                            </m:oMathPara>
                          </a14:m>
                          <a:endParaRPr lang="en-US" sz="1200" b="0" noProof="1">
                            <a:solidFill>
                              <a:srgbClr val="495A66"/>
                            </a:solidFill>
                            <a:latin typeface="+mn-lt"/>
                          </a:endParaRPr>
                        </a:p>
                        <a:p>
                          <a:pPr algn="l"/>
                          <a:endParaRPr lang="en-US" sz="1200" b="0" noProof="1">
                            <a:solidFill>
                              <a:srgbClr val="495A66"/>
                            </a:solidFill>
                            <a:latin typeface="+mn-lt"/>
                          </a:endParaRPr>
                        </a:p>
                      </a:txBody>
                      <a:tcPr marL="73152" marT="27432" marB="27432" anchor="ctr">
                        <a:solidFill>
                          <a:srgbClr val="FBFAF6"/>
                        </a:solidFill>
                      </a:tcPr>
                    </a:tc>
                    <a:tc>
                      <a:txBody>
                        <a:bodyPr/>
                        <a:lstStyle/>
                        <a:p>
                          <a:r>
                            <a:rPr lang="en-US" sz="1200" b="0" noProof="1">
                              <a:solidFill>
                                <a:srgbClr val="495A66"/>
                              </a:solidFill>
                              <a:latin typeface="+mn-lt"/>
                            </a:rPr>
                            <a:t>0.996</a:t>
                          </a:r>
                        </a:p>
                      </a:txBody>
                      <a:tcPr marL="73152" marT="27432" marB="27432" anchor="ctr">
                        <a:solidFill>
                          <a:srgbClr val="FBFAF6"/>
                        </a:solidFill>
                      </a:tcPr>
                    </a:tc>
                    <a:tc>
                      <a:txBody>
                        <a:bodyPr/>
                        <a:lstStyle/>
                        <a:p>
                          <a:r>
                            <a:rPr lang="en-US" sz="1200" b="0" noProof="1">
                              <a:solidFill>
                                <a:srgbClr val="495A66"/>
                              </a:solidFill>
                              <a:latin typeface="+mn-lt"/>
                            </a:rPr>
                            <a:t>99.8%</a:t>
                          </a:r>
                        </a:p>
                      </a:txBody>
                      <a:tcPr marL="73152" marT="27432" marB="27432" anchor="ctr">
                        <a:solidFill>
                          <a:srgbClr val="FBFAF6"/>
                        </a:solidFill>
                      </a:tcPr>
                    </a:tc>
                    <a:extLst>
                      <a:ext uri="{0D108BD9-81ED-4DB2-BD59-A6C34878D82A}">
                        <a16:rowId xmlns:a16="http://schemas.microsoft.com/office/drawing/2014/main" val="3088058039"/>
                      </a:ext>
                    </a:extLst>
                  </a:tr>
                </a:tbl>
              </a:graphicData>
            </a:graphic>
          </p:graphicFrame>
        </mc:Choice>
        <mc:Fallback>
          <p:graphicFrame>
            <p:nvGraphicFramePr>
              <p:cNvPr id="15" name="Table 14">
                <a:extLst>
                  <a:ext uri="{FF2B5EF4-FFF2-40B4-BE49-F238E27FC236}">
                    <a16:creationId xmlns:a16="http://schemas.microsoft.com/office/drawing/2014/main" id="{CDAC3E55-D1F1-3C3C-4C69-5F364CDEEEB9}"/>
                  </a:ext>
                </a:extLst>
              </p:cNvPr>
              <p:cNvGraphicFramePr>
                <a:graphicFrameLocks noGrp="1"/>
              </p:cNvGraphicFramePr>
              <p:nvPr>
                <p:extLst>
                  <p:ext uri="{D42A27DB-BD31-4B8C-83A1-F6EECF244321}">
                    <p14:modId xmlns:p14="http://schemas.microsoft.com/office/powerpoint/2010/main" val="2485419590"/>
                  </p:ext>
                </p:extLst>
              </p:nvPr>
            </p:nvGraphicFramePr>
            <p:xfrm>
              <a:off x="2064000" y="2406435"/>
              <a:ext cx="8064000" cy="1684728"/>
            </p:xfrm>
            <a:graphic>
              <a:graphicData uri="http://schemas.openxmlformats.org/drawingml/2006/table">
                <a:tbl>
                  <a:tblPr>
                    <a:tableStyleId>{5C22544A-7EE6-4342-B048-85BDC9FD1C3A}</a:tableStyleId>
                  </a:tblPr>
                  <a:tblGrid>
                    <a:gridCol w="2016000">
                      <a:extLst>
                        <a:ext uri="{9D8B030D-6E8A-4147-A177-3AD203B41FA5}">
                          <a16:colId xmlns:a16="http://schemas.microsoft.com/office/drawing/2014/main" val="20000"/>
                        </a:ext>
                      </a:extLst>
                    </a:gridCol>
                    <a:gridCol w="2016000">
                      <a:extLst>
                        <a:ext uri="{9D8B030D-6E8A-4147-A177-3AD203B41FA5}">
                          <a16:colId xmlns:a16="http://schemas.microsoft.com/office/drawing/2014/main" val="3123090793"/>
                        </a:ext>
                      </a:extLst>
                    </a:gridCol>
                    <a:gridCol w="2016000">
                      <a:extLst>
                        <a:ext uri="{9D8B030D-6E8A-4147-A177-3AD203B41FA5}">
                          <a16:colId xmlns:a16="http://schemas.microsoft.com/office/drawing/2014/main" val="1251604277"/>
                        </a:ext>
                      </a:extLst>
                    </a:gridCol>
                    <a:gridCol w="2016000">
                      <a:extLst>
                        <a:ext uri="{9D8B030D-6E8A-4147-A177-3AD203B41FA5}">
                          <a16:colId xmlns:a16="http://schemas.microsoft.com/office/drawing/2014/main" val="2435101031"/>
                        </a:ext>
                      </a:extLst>
                    </a:gridCol>
                  </a:tblGrid>
                  <a:tr h="432000">
                    <a:tc>
                      <a:txBody>
                        <a:bodyPr/>
                        <a:lstStyle/>
                        <a:p>
                          <a:r>
                            <a:rPr lang="en-US" sz="1200" b="1" noProof="1">
                              <a:solidFill>
                                <a:srgbClr val="1D3557"/>
                              </a:solidFill>
                              <a:latin typeface="+mn-lt"/>
                            </a:rPr>
                            <a:t>Architecture</a:t>
                          </a:r>
                        </a:p>
                      </a:txBody>
                      <a:tcPr marL="73152" marT="27432" marB="27432" anchor="ctr">
                        <a:solidFill>
                          <a:srgbClr val="FBFAF6"/>
                        </a:solidFill>
                      </a:tcPr>
                    </a:tc>
                    <a:tc>
                      <a:txBody>
                        <a:bodyPr/>
                        <a:lstStyle/>
                        <a:p>
                          <a:r>
                            <a:rPr lang="en-US" sz="1200" b="1" noProof="1">
                              <a:solidFill>
                                <a:srgbClr val="4A5A66"/>
                              </a:solidFill>
                              <a:latin typeface="+mn-lt"/>
                            </a:rPr>
                            <a:t>RMSE</a:t>
                          </a:r>
                        </a:p>
                      </a:txBody>
                      <a:tcPr marL="73152" marT="27432" marB="27432" anchor="ctr">
                        <a:solidFill>
                          <a:srgbClr val="FBFAF6"/>
                        </a:solidFill>
                      </a:tcPr>
                    </a:tc>
                    <a:tc>
                      <a:txBody>
                        <a:bodyPr/>
                        <a:lstStyle/>
                        <a:p>
                          <a:r>
                            <a:rPr lang="en-US" sz="1200" b="1" noProof="1">
                              <a:solidFill>
                                <a:srgbClr val="4A5A66"/>
                              </a:solidFill>
                              <a:latin typeface="+mn-lt"/>
                            </a:rPr>
                            <a:t>R2</a:t>
                          </a:r>
                        </a:p>
                      </a:txBody>
                      <a:tcPr marL="73152" marT="27432" marB="27432" anchor="ctr">
                        <a:solidFill>
                          <a:srgbClr val="FBFAF6"/>
                        </a:solidFill>
                      </a:tcPr>
                    </a:tc>
                    <a:tc>
                      <a:txBody>
                        <a:bodyPr/>
                        <a:lstStyle/>
                        <a:p>
                          <a:r>
                            <a:rPr lang="en-US" sz="1200" b="1" noProof="1">
                              <a:solidFill>
                                <a:srgbClr val="4A5A66"/>
                              </a:solidFill>
                              <a:latin typeface="+mn-lt"/>
                            </a:rPr>
                            <a:t>In-band %</a:t>
                          </a:r>
                        </a:p>
                      </a:txBody>
                      <a:tcPr marL="73152" marT="27432" marB="27432" anchor="ctr">
                        <a:solidFill>
                          <a:srgbClr val="FBFAF6"/>
                        </a:solidFill>
                      </a:tcPr>
                    </a:tc>
                    <a:extLst>
                      <a:ext uri="{0D108BD9-81ED-4DB2-BD59-A6C34878D82A}">
                        <a16:rowId xmlns:a16="http://schemas.microsoft.com/office/drawing/2014/main" val="10000"/>
                      </a:ext>
                    </a:extLst>
                  </a:tr>
                  <a:tr h="411480">
                    <a:tc>
                      <a:txBody>
                        <a:bodyPr/>
                        <a:lstStyle/>
                        <a:p>
                          <a:r>
                            <a:rPr lang="en-US" sz="1200" b="0" noProof="1">
                              <a:solidFill>
                                <a:srgbClr val="1D3557"/>
                              </a:solidFill>
                              <a:latin typeface="+mn-lt"/>
                            </a:rPr>
                            <a:t>MLP [64]</a:t>
                          </a:r>
                        </a:p>
                      </a:txBody>
                      <a:tcPr marL="73152" marT="27432" marB="27432" anchor="ctr">
                        <a:solidFill>
                          <a:srgbClr val="FBFAF6"/>
                        </a:solidFill>
                      </a:tcPr>
                    </a:tc>
                    <a:tc>
                      <a:txBody>
                        <a:bodyPr/>
                        <a:lstStyle/>
                        <a:p>
                          <a:endParaRPr lang="en-IT"/>
                        </a:p>
                      </a:txBody>
                      <a:tcPr marL="73152" marT="27432" marB="27432" anchor="ctr">
                        <a:blipFill>
                          <a:blip r:embed="rId3"/>
                          <a:stretch>
                            <a:fillRect l="-100629" t="-106061" r="-200629" b="-206061"/>
                          </a:stretch>
                        </a:blipFill>
                      </a:tcPr>
                    </a:tc>
                    <a:tc>
                      <a:txBody>
                        <a:bodyPr/>
                        <a:lstStyle/>
                        <a:p>
                          <a:r>
                            <a:rPr lang="en-US" sz="1200" b="0" noProof="1">
                              <a:solidFill>
                                <a:srgbClr val="495A66"/>
                              </a:solidFill>
                              <a:latin typeface="+mn-lt"/>
                            </a:rPr>
                            <a:t>0.996</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20624">
                    <a:tc>
                      <a:txBody>
                        <a:bodyPr/>
                        <a:lstStyle/>
                        <a:p>
                          <a:r>
                            <a:rPr lang="en-US" sz="1200" b="0" i="0" noProof="1">
                              <a:solidFill>
                                <a:srgbClr val="1D3557"/>
                              </a:solidFill>
                              <a:latin typeface="+mn-lt"/>
                            </a:rPr>
                            <a:t>MLP [256,256]</a:t>
                          </a:r>
                        </a:p>
                      </a:txBody>
                      <a:tcPr marL="73152" marT="27432" marB="27432" anchor="ctr">
                        <a:solidFill>
                          <a:srgbClr val="FBFAF6"/>
                        </a:solidFill>
                      </a:tcPr>
                    </a:tc>
                    <a:tc>
                      <a:txBody>
                        <a:bodyPr/>
                        <a:lstStyle/>
                        <a:p>
                          <a:endParaRPr lang="en-IT"/>
                        </a:p>
                      </a:txBody>
                      <a:tcPr marL="73152" marT="27432" marB="27432" anchor="ctr">
                        <a:blipFill>
                          <a:blip r:embed="rId3"/>
                          <a:stretch>
                            <a:fillRect l="-100629" t="-200000" r="-200629" b="-100000"/>
                          </a:stretch>
                        </a:blipFill>
                      </a:tcPr>
                    </a:tc>
                    <a:tc>
                      <a:txBody>
                        <a:bodyPr/>
                        <a:lstStyle/>
                        <a:p>
                          <a:r>
                            <a:rPr lang="en-US" sz="1200" b="0" noProof="1">
                              <a:solidFill>
                                <a:srgbClr val="495A66"/>
                              </a:solidFill>
                              <a:latin typeface="+mn-lt"/>
                            </a:rPr>
                            <a:t>0.995</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2062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noProof="1">
                              <a:solidFill>
                                <a:srgbClr val="1D3557"/>
                              </a:solidFill>
                              <a:latin typeface="+mn-lt"/>
                            </a:rPr>
                            <a:t>MLP [256,256, 256]</a:t>
                          </a:r>
                        </a:p>
                        <a:p>
                          <a:endParaRPr lang="en-US" sz="1200" b="0" i="0" noProof="1">
                            <a:solidFill>
                              <a:srgbClr val="1D3557"/>
                            </a:solidFill>
                            <a:latin typeface="+mn-lt"/>
                          </a:endParaRPr>
                        </a:p>
                      </a:txBody>
                      <a:tcPr marL="73152" marT="27432" marB="27432" anchor="ctr">
                        <a:solidFill>
                          <a:srgbClr val="FBFAF6"/>
                        </a:solidFill>
                      </a:tcPr>
                    </a:tc>
                    <a:tc>
                      <a:txBody>
                        <a:bodyPr/>
                        <a:lstStyle/>
                        <a:p>
                          <a:endParaRPr lang="en-IT"/>
                        </a:p>
                      </a:txBody>
                      <a:tcPr marL="73152" marT="27432" marB="27432" anchor="ctr">
                        <a:blipFill>
                          <a:blip r:embed="rId3"/>
                          <a:stretch>
                            <a:fillRect l="-100629" t="-309091" r="-200629" b="-3030"/>
                          </a:stretch>
                        </a:blipFill>
                      </a:tcPr>
                    </a:tc>
                    <a:tc>
                      <a:txBody>
                        <a:bodyPr/>
                        <a:lstStyle/>
                        <a:p>
                          <a:r>
                            <a:rPr lang="en-US" sz="1200" b="0" noProof="1">
                              <a:solidFill>
                                <a:srgbClr val="495A66"/>
                              </a:solidFill>
                              <a:latin typeface="+mn-lt"/>
                            </a:rPr>
                            <a:t>0.996</a:t>
                          </a:r>
                        </a:p>
                      </a:txBody>
                      <a:tcPr marL="73152" marT="27432" marB="27432" anchor="ctr">
                        <a:solidFill>
                          <a:srgbClr val="FBFAF6"/>
                        </a:solidFill>
                      </a:tcPr>
                    </a:tc>
                    <a:tc>
                      <a:txBody>
                        <a:bodyPr/>
                        <a:lstStyle/>
                        <a:p>
                          <a:r>
                            <a:rPr lang="en-US" sz="1200" b="0" noProof="1">
                              <a:solidFill>
                                <a:srgbClr val="495A66"/>
                              </a:solidFill>
                              <a:latin typeface="+mn-lt"/>
                            </a:rPr>
                            <a:t>99.8%</a:t>
                          </a:r>
                        </a:p>
                      </a:txBody>
                      <a:tcPr marL="73152" marT="27432" marB="27432" anchor="ctr">
                        <a:solidFill>
                          <a:srgbClr val="FBFAF6"/>
                        </a:solidFill>
                      </a:tcPr>
                    </a:tc>
                    <a:extLst>
                      <a:ext uri="{0D108BD9-81ED-4DB2-BD59-A6C34878D82A}">
                        <a16:rowId xmlns:a16="http://schemas.microsoft.com/office/drawing/2014/main" val="3088058039"/>
                      </a:ext>
                    </a:extLst>
                  </a:tr>
                </a:tbl>
              </a:graphicData>
            </a:graphic>
          </p:graphicFrame>
        </mc:Fallback>
      </mc:AlternateContent>
      <p:sp>
        <p:nvSpPr>
          <p:cNvPr id="7" name="Rounded Rectangle 6">
            <a:extLst>
              <a:ext uri="{FF2B5EF4-FFF2-40B4-BE49-F238E27FC236}">
                <a16:creationId xmlns:a16="http://schemas.microsoft.com/office/drawing/2014/main" id="{01C2A33C-5BE3-1B15-4311-EB7BDB700032}"/>
              </a:ext>
            </a:extLst>
          </p:cNvPr>
          <p:cNvSpPr/>
          <p:nvPr/>
        </p:nvSpPr>
        <p:spPr>
          <a:xfrm>
            <a:off x="868679" y="4288585"/>
            <a:ext cx="10875300" cy="868680"/>
          </a:xfrm>
          <a:prstGeom prst="roundRect">
            <a:avLst>
              <a:gd name="adj" fmla="val 6000"/>
            </a:avLst>
          </a:prstGeom>
          <a:solidFill>
            <a:srgbClr val="FAECE7"/>
          </a:solidFill>
          <a:ln w="12700">
            <a:solidFill>
              <a:srgbClr val="FAEC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8" name="Rectangle 7">
            <a:extLst>
              <a:ext uri="{FF2B5EF4-FFF2-40B4-BE49-F238E27FC236}">
                <a16:creationId xmlns:a16="http://schemas.microsoft.com/office/drawing/2014/main" id="{9439AFD0-CD79-0779-A297-017C52594942}"/>
              </a:ext>
            </a:extLst>
          </p:cNvPr>
          <p:cNvSpPr/>
          <p:nvPr/>
        </p:nvSpPr>
        <p:spPr>
          <a:xfrm>
            <a:off x="868679" y="4288585"/>
            <a:ext cx="38100" cy="868680"/>
          </a:xfrm>
          <a:prstGeom prst="rect">
            <a:avLst/>
          </a:prstGeom>
          <a:solidFill>
            <a:srgbClr val="E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9" name="TextBox 8">
            <a:extLst>
              <a:ext uri="{FF2B5EF4-FFF2-40B4-BE49-F238E27FC236}">
                <a16:creationId xmlns:a16="http://schemas.microsoft.com/office/drawing/2014/main" id="{7A27D5D5-B146-D3BB-8FF6-707BBA21CD40}"/>
              </a:ext>
            </a:extLst>
          </p:cNvPr>
          <p:cNvSpPr txBox="1"/>
          <p:nvPr/>
        </p:nvSpPr>
        <p:spPr>
          <a:xfrm>
            <a:off x="1069847" y="4342050"/>
            <a:ext cx="10222992" cy="761747"/>
          </a:xfrm>
          <a:prstGeom prst="rect">
            <a:avLst/>
          </a:prstGeom>
          <a:noFill/>
        </p:spPr>
        <p:txBody>
          <a:bodyPr wrap="square" lIns="0" tIns="0" rIns="0" bIns="0" anchor="ctr">
            <a:spAutoFit/>
          </a:bodyPr>
          <a:lstStyle/>
          <a:p>
            <a:pPr>
              <a:lnSpc>
                <a:spcPct val="112000"/>
              </a:lnSpc>
            </a:pPr>
            <a:r>
              <a:rPr lang="en-GB" sz="1500" b="1" dirty="0">
                <a:latin typeface="Georgia" panose="02040502050405020303" pitchFamily="18" charset="0"/>
              </a:rPr>
              <a:t>Depth does not help. </a:t>
            </a:r>
            <a:r>
              <a:rPr lang="en-GB" sz="1500" dirty="0">
                <a:solidFill>
                  <a:srgbClr val="495A66"/>
                </a:solidFill>
              </a:rPr>
              <a:t>The smallest network achieves the lowest RMSE. Adding layers and parameters makes performance slightly worse, the residual is a smooth, low-dimensional function that a shallow network approximates just as well, with less risk of overfitting the training distribution.</a:t>
            </a:r>
            <a:endParaRPr lang="en-US" sz="1500" b="0" noProof="1">
              <a:solidFill>
                <a:srgbClr val="495A66"/>
              </a:solidFill>
              <a:latin typeface="Calibri"/>
            </a:endParaRPr>
          </a:p>
        </p:txBody>
      </p:sp>
      <p:sp>
        <p:nvSpPr>
          <p:cNvPr id="10" name="Rounded Rectangle 9">
            <a:extLst>
              <a:ext uri="{FF2B5EF4-FFF2-40B4-BE49-F238E27FC236}">
                <a16:creationId xmlns:a16="http://schemas.microsoft.com/office/drawing/2014/main" id="{32FA7291-40B3-6D0D-8823-84517B21666A}"/>
              </a:ext>
            </a:extLst>
          </p:cNvPr>
          <p:cNvSpPr/>
          <p:nvPr/>
        </p:nvSpPr>
        <p:spPr>
          <a:xfrm>
            <a:off x="868679" y="5375208"/>
            <a:ext cx="10875301" cy="868680"/>
          </a:xfrm>
          <a:prstGeom prst="roundRect">
            <a:avLst>
              <a:gd name="adj" fmla="val 6000"/>
            </a:avLst>
          </a:prstGeom>
          <a:solidFill>
            <a:srgbClr val="E7F2F0"/>
          </a:solidFill>
          <a:ln w="12700">
            <a:solidFill>
              <a:srgbClr val="E7F2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1" name="Rectangle 10">
            <a:extLst>
              <a:ext uri="{FF2B5EF4-FFF2-40B4-BE49-F238E27FC236}">
                <a16:creationId xmlns:a16="http://schemas.microsoft.com/office/drawing/2014/main" id="{31F5680E-0826-6B02-C890-52B8D47CA384}"/>
              </a:ext>
            </a:extLst>
          </p:cNvPr>
          <p:cNvSpPr/>
          <p:nvPr/>
        </p:nvSpPr>
        <p:spPr>
          <a:xfrm>
            <a:off x="868680" y="5375208"/>
            <a:ext cx="38100" cy="8686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2" name="TextBox 11">
            <a:extLst>
              <a:ext uri="{FF2B5EF4-FFF2-40B4-BE49-F238E27FC236}">
                <a16:creationId xmlns:a16="http://schemas.microsoft.com/office/drawing/2014/main" id="{D7DAAD7A-1744-AF1C-8A19-15595B5EDA0B}"/>
              </a:ext>
            </a:extLst>
          </p:cNvPr>
          <p:cNvSpPr txBox="1"/>
          <p:nvPr/>
        </p:nvSpPr>
        <p:spPr>
          <a:xfrm>
            <a:off x="1069848" y="5428672"/>
            <a:ext cx="10222992" cy="761747"/>
          </a:xfrm>
          <a:prstGeom prst="rect">
            <a:avLst/>
          </a:prstGeom>
          <a:noFill/>
        </p:spPr>
        <p:txBody>
          <a:bodyPr wrap="square" lIns="0" tIns="0" rIns="0" bIns="0" anchor="ctr">
            <a:spAutoFit/>
          </a:bodyPr>
          <a:lstStyle/>
          <a:p>
            <a:pPr>
              <a:lnSpc>
                <a:spcPct val="112000"/>
              </a:lnSpc>
            </a:pPr>
            <a:r>
              <a:rPr lang="en-GB" sz="1500" b="1" dirty="0">
                <a:latin typeface="Georgia" panose="02040502050405020303" pitchFamily="18" charset="0"/>
              </a:rPr>
              <a:t>The result is robust, not lucky. </a:t>
            </a:r>
            <a:r>
              <a:rPr lang="en-GB" sz="1500" dirty="0">
                <a:solidFill>
                  <a:srgbClr val="495A66"/>
                </a:solidFill>
              </a:rPr>
              <a:t>The per-seed standard deviation for [64] is ±0.001, negligible. The [256,256] network shows higher variance (±0.004), meaning deeper models are more sensitive to initialisation. The multi-seed experiment confirms that the improvement over pure PI is a structural property of the residual architecture, not an artefact of a fortunate random seed.</a:t>
            </a:r>
            <a:endParaRPr lang="en-US" sz="1500" b="0" noProof="1">
              <a:solidFill>
                <a:srgbClr val="495A66"/>
              </a:solidFill>
              <a:latin typeface="Calibri"/>
            </a:endParaRPr>
          </a:p>
        </p:txBody>
      </p:sp>
    </p:spTree>
    <p:extLst>
      <p:ext uri="{BB962C8B-B14F-4D97-AF65-F5344CB8AC3E}">
        <p14:creationId xmlns:p14="http://schemas.microsoft.com/office/powerpoint/2010/main" val="1179052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EFB242D5-9A75-6E58-55C2-F07F7D51EFF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3631F00-246A-219F-9791-832746D2F748}"/>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B065122D-4992-AD31-A49E-82766351C956}"/>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2AD068D5-2971-BC26-715E-4381B9A63513}"/>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B9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F9B8C954-E679-282C-BC1D-9D247DC32D21}"/>
              </a:ext>
            </a:extLst>
          </p:cNvPr>
          <p:cNvSpPr txBox="1"/>
          <p:nvPr/>
        </p:nvSpPr>
        <p:spPr>
          <a:xfrm>
            <a:off x="868680" y="960120"/>
            <a:ext cx="10607040" cy="412805"/>
          </a:xfrm>
          <a:prstGeom prst="rect">
            <a:avLst/>
          </a:prstGeom>
          <a:noFill/>
        </p:spPr>
        <p:txBody>
          <a:bodyPr wrap="square" lIns="0" tIns="0" rIns="0" bIns="0" anchor="t">
            <a:spAutoFit/>
          </a:bodyPr>
          <a:lstStyle/>
          <a:p>
            <a:pPr>
              <a:lnSpc>
                <a:spcPct val="102000"/>
              </a:lnSpc>
              <a:spcAft>
                <a:spcPts val="600"/>
              </a:spcAft>
            </a:pPr>
            <a:r>
              <a:rPr lang="en-US" sz="2800" b="1" noProof="1">
                <a:solidFill>
                  <a:srgbClr val="1D3557"/>
                </a:solidFill>
                <a:latin typeface="Georgia"/>
              </a:rPr>
              <a:t>Closed-Loop Performance: Benchmark</a:t>
            </a:r>
          </a:p>
        </p:txBody>
      </p:sp>
      <p:sp>
        <p:nvSpPr>
          <p:cNvPr id="5" name="TextBox 4">
            <a:extLst>
              <a:ext uri="{FF2B5EF4-FFF2-40B4-BE49-F238E27FC236}">
                <a16:creationId xmlns:a16="http://schemas.microsoft.com/office/drawing/2014/main" id="{E2C5A523-85A1-B864-50B4-C6ED3CACCFE9}"/>
              </a:ext>
            </a:extLst>
          </p:cNvPr>
          <p:cNvSpPr txBox="1"/>
          <p:nvPr/>
        </p:nvSpPr>
        <p:spPr>
          <a:xfrm>
            <a:off x="756001" y="1372925"/>
            <a:ext cx="10832397" cy="830997"/>
          </a:xfrm>
          <a:prstGeom prst="rect">
            <a:avLst/>
          </a:prstGeom>
          <a:noFill/>
        </p:spPr>
        <p:txBody>
          <a:bodyPr wrap="square" rtlCol="0">
            <a:spAutoFit/>
          </a:bodyPr>
          <a:lstStyle/>
          <a:p>
            <a:r>
              <a:rPr lang="en-GB" sz="1600" dirty="0">
                <a:solidFill>
                  <a:srgbClr val="495A66"/>
                </a:solidFill>
              </a:rPr>
              <a:t>All three controllers run on the same simulated plant, same references, same noise model. Performance is measured on the held-out test set, 7 references never seen during training, to avoid any information leak between the RL training and the evaluation.</a:t>
            </a:r>
            <a:endParaRPr lang="en-US" sz="1600" dirty="0">
              <a:solidFill>
                <a:srgbClr val="495A66"/>
              </a:solidFill>
            </a:endParaRPr>
          </a:p>
        </p:txBody>
      </p:sp>
      <p:graphicFrame>
        <p:nvGraphicFramePr>
          <p:cNvPr id="15" name="Table 14">
            <a:extLst>
              <a:ext uri="{FF2B5EF4-FFF2-40B4-BE49-F238E27FC236}">
                <a16:creationId xmlns:a16="http://schemas.microsoft.com/office/drawing/2014/main" id="{D2022E52-B73A-EAB9-7422-9621BA187BAB}"/>
              </a:ext>
            </a:extLst>
          </p:cNvPr>
          <p:cNvGraphicFramePr>
            <a:graphicFrameLocks noGrp="1"/>
          </p:cNvGraphicFramePr>
          <p:nvPr>
            <p:extLst>
              <p:ext uri="{D42A27DB-BD31-4B8C-83A1-F6EECF244321}">
                <p14:modId xmlns:p14="http://schemas.microsoft.com/office/powerpoint/2010/main" val="4073435588"/>
              </p:ext>
            </p:extLst>
          </p:nvPr>
        </p:nvGraphicFramePr>
        <p:xfrm>
          <a:off x="2064000" y="2421865"/>
          <a:ext cx="8064000" cy="1728000"/>
        </p:xfrm>
        <a:graphic>
          <a:graphicData uri="http://schemas.openxmlformats.org/drawingml/2006/table">
            <a:tbl>
              <a:tblPr>
                <a:tableStyleId>{5C22544A-7EE6-4342-B048-85BDC9FD1C3A}</a:tableStyleId>
              </a:tblPr>
              <a:tblGrid>
                <a:gridCol w="1612800">
                  <a:extLst>
                    <a:ext uri="{9D8B030D-6E8A-4147-A177-3AD203B41FA5}">
                      <a16:colId xmlns:a16="http://schemas.microsoft.com/office/drawing/2014/main" val="20000"/>
                    </a:ext>
                  </a:extLst>
                </a:gridCol>
                <a:gridCol w="1612800">
                  <a:extLst>
                    <a:ext uri="{9D8B030D-6E8A-4147-A177-3AD203B41FA5}">
                      <a16:colId xmlns:a16="http://schemas.microsoft.com/office/drawing/2014/main" val="2457836061"/>
                    </a:ext>
                  </a:extLst>
                </a:gridCol>
                <a:gridCol w="1612800">
                  <a:extLst>
                    <a:ext uri="{9D8B030D-6E8A-4147-A177-3AD203B41FA5}">
                      <a16:colId xmlns:a16="http://schemas.microsoft.com/office/drawing/2014/main" val="3123090793"/>
                    </a:ext>
                  </a:extLst>
                </a:gridCol>
                <a:gridCol w="1612800">
                  <a:extLst>
                    <a:ext uri="{9D8B030D-6E8A-4147-A177-3AD203B41FA5}">
                      <a16:colId xmlns:a16="http://schemas.microsoft.com/office/drawing/2014/main" val="1251604277"/>
                    </a:ext>
                  </a:extLst>
                </a:gridCol>
                <a:gridCol w="1612800">
                  <a:extLst>
                    <a:ext uri="{9D8B030D-6E8A-4147-A177-3AD203B41FA5}">
                      <a16:colId xmlns:a16="http://schemas.microsoft.com/office/drawing/2014/main" val="2435101031"/>
                    </a:ext>
                  </a:extLst>
                </a:gridCol>
              </a:tblGrid>
              <a:tr h="432000">
                <a:tc>
                  <a:txBody>
                    <a:bodyPr/>
                    <a:lstStyle/>
                    <a:p>
                      <a:r>
                        <a:rPr lang="en-US" sz="1200" b="1" noProof="1">
                          <a:solidFill>
                            <a:srgbClr val="1D3557"/>
                          </a:solidFill>
                          <a:latin typeface="+mn-lt"/>
                        </a:rPr>
                        <a:t>Controller</a:t>
                      </a:r>
                    </a:p>
                  </a:txBody>
                  <a:tcPr marL="73152" marT="27432" marB="27432" anchor="ctr">
                    <a:solidFill>
                      <a:srgbClr val="FBFAF6"/>
                    </a:solidFill>
                  </a:tcPr>
                </a:tc>
                <a:tc>
                  <a:txBody>
                    <a:bodyPr/>
                    <a:lstStyle/>
                    <a:p>
                      <a:r>
                        <a:rPr lang="en-US" sz="1200" b="1" noProof="1">
                          <a:solidFill>
                            <a:srgbClr val="1D3557"/>
                          </a:solidFill>
                          <a:latin typeface="+mn-lt"/>
                        </a:rPr>
                        <a:t>MAE</a:t>
                      </a:r>
                    </a:p>
                  </a:txBody>
                  <a:tcPr marL="73152" marT="27432" marB="27432" anchor="ctr">
                    <a:solidFill>
                      <a:srgbClr val="FBFAF6"/>
                    </a:solidFill>
                  </a:tcPr>
                </a:tc>
                <a:tc>
                  <a:txBody>
                    <a:bodyPr/>
                    <a:lstStyle/>
                    <a:p>
                      <a:r>
                        <a:rPr lang="en-US" sz="1200" b="1" noProof="1">
                          <a:solidFill>
                            <a:srgbClr val="4A5A66"/>
                          </a:solidFill>
                          <a:latin typeface="+mn-lt"/>
                        </a:rPr>
                        <a:t>RMSE</a:t>
                      </a:r>
                    </a:p>
                  </a:txBody>
                  <a:tcPr marL="73152" marT="27432" marB="27432" anchor="ctr">
                    <a:solidFill>
                      <a:srgbClr val="FBFAF6"/>
                    </a:solidFill>
                  </a:tcPr>
                </a:tc>
                <a:tc>
                  <a:txBody>
                    <a:bodyPr/>
                    <a:lstStyle/>
                    <a:p>
                      <a:r>
                        <a:rPr lang="en-US" sz="1200" b="1" noProof="1">
                          <a:solidFill>
                            <a:srgbClr val="4A5A66"/>
                          </a:solidFill>
                          <a:latin typeface="+mn-lt"/>
                        </a:rPr>
                        <a:t>R2</a:t>
                      </a:r>
                    </a:p>
                  </a:txBody>
                  <a:tcPr marL="73152" marT="27432" marB="27432" anchor="ctr">
                    <a:solidFill>
                      <a:srgbClr val="FBFAF6"/>
                    </a:solidFill>
                  </a:tcPr>
                </a:tc>
                <a:tc>
                  <a:txBody>
                    <a:bodyPr/>
                    <a:lstStyle/>
                    <a:p>
                      <a:r>
                        <a:rPr lang="en-US" sz="1200" b="1" noProof="1">
                          <a:solidFill>
                            <a:srgbClr val="4A5A66"/>
                          </a:solidFill>
                          <a:latin typeface="+mn-lt"/>
                        </a:rPr>
                        <a:t>In-band %</a:t>
                      </a:r>
                    </a:p>
                  </a:txBody>
                  <a:tcPr marL="73152" marT="27432" marB="27432" anchor="ctr">
                    <a:solidFill>
                      <a:srgbClr val="FBFAF6"/>
                    </a:solidFill>
                  </a:tcPr>
                </a:tc>
                <a:extLst>
                  <a:ext uri="{0D108BD9-81ED-4DB2-BD59-A6C34878D82A}">
                    <a16:rowId xmlns:a16="http://schemas.microsoft.com/office/drawing/2014/main" val="10000"/>
                  </a:ext>
                </a:extLst>
              </a:tr>
              <a:tr h="432000">
                <a:tc>
                  <a:txBody>
                    <a:bodyPr/>
                    <a:lstStyle/>
                    <a:p>
                      <a:r>
                        <a:rPr lang="en-US" sz="1200" b="0" noProof="1">
                          <a:solidFill>
                            <a:srgbClr val="1D3557"/>
                          </a:solidFill>
                          <a:latin typeface="+mn-lt"/>
                        </a:rPr>
                        <a:t>PI (Baseline)</a:t>
                      </a:r>
                    </a:p>
                  </a:txBody>
                  <a:tcPr marL="73152" marT="27432" marB="27432" anchor="ctr">
                    <a:solidFill>
                      <a:srgbClr val="FBFAF6"/>
                    </a:solidFill>
                  </a:tcPr>
                </a:tc>
                <a:tc>
                  <a:txBody>
                    <a:bodyPr/>
                    <a:lstStyle/>
                    <a:p>
                      <a:r>
                        <a:rPr lang="en-US" sz="1200" b="0" noProof="1">
                          <a:solidFill>
                            <a:srgbClr val="1D3557"/>
                          </a:solidFill>
                          <a:latin typeface="+mn-lt"/>
                        </a:rPr>
                        <a:t>0.281</a:t>
                      </a:r>
                    </a:p>
                  </a:txBody>
                  <a:tcPr marL="73152" marT="27432" marB="27432" anchor="ctr">
                    <a:solidFill>
                      <a:srgbClr val="FBFAF6"/>
                    </a:solidFill>
                  </a:tcPr>
                </a:tc>
                <a:tc>
                  <a:txBody>
                    <a:bodyPr/>
                    <a:lstStyle/>
                    <a:p>
                      <a:pPr algn="l"/>
                      <a:r>
                        <a:rPr lang="en-US" sz="1200" b="0" noProof="1">
                          <a:solidFill>
                            <a:srgbClr val="495A66"/>
                          </a:solidFill>
                          <a:latin typeface="+mn-lt"/>
                        </a:rPr>
                        <a:t>0.411</a:t>
                      </a:r>
                    </a:p>
                  </a:txBody>
                  <a:tcPr marL="73152" marT="27432" marB="27432" anchor="ctr">
                    <a:solidFill>
                      <a:srgbClr val="FBFAF6"/>
                    </a:solidFill>
                  </a:tcPr>
                </a:tc>
                <a:tc>
                  <a:txBody>
                    <a:bodyPr/>
                    <a:lstStyle/>
                    <a:p>
                      <a:r>
                        <a:rPr lang="en-US" sz="1200" b="0" noProof="1">
                          <a:solidFill>
                            <a:srgbClr val="495A66"/>
                          </a:solidFill>
                          <a:latin typeface="+mn-lt"/>
                        </a:rPr>
                        <a:t>0.988</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85.2%</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1"/>
                  </a:ext>
                </a:extLst>
              </a:tr>
              <a:tr h="432000">
                <a:tc>
                  <a:txBody>
                    <a:bodyPr/>
                    <a:lstStyle/>
                    <a:p>
                      <a:r>
                        <a:rPr lang="en-US" sz="1200" b="0" i="0" noProof="1">
                          <a:solidFill>
                            <a:srgbClr val="1D3557"/>
                          </a:solidFill>
                          <a:latin typeface="+mn-lt"/>
                        </a:rPr>
                        <a:t>PI + poly + grav</a:t>
                      </a:r>
                    </a:p>
                  </a:txBody>
                  <a:tcPr marL="73152" marT="27432" marB="27432" anchor="ctr">
                    <a:solidFill>
                      <a:srgbClr val="FBFAF6"/>
                    </a:solidFill>
                  </a:tcPr>
                </a:tc>
                <a:tc>
                  <a:txBody>
                    <a:bodyPr/>
                    <a:lstStyle/>
                    <a:p>
                      <a:r>
                        <a:rPr lang="en-US" sz="1200" b="0" i="0" noProof="1">
                          <a:solidFill>
                            <a:srgbClr val="1D3557"/>
                          </a:solidFill>
                          <a:latin typeface="+mn-lt"/>
                        </a:rPr>
                        <a:t>0.046</a:t>
                      </a:r>
                    </a:p>
                  </a:txBody>
                  <a:tcPr marL="73152" marT="27432" marB="27432" anchor="ctr">
                    <a:solidFill>
                      <a:srgbClr val="FBFA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noProof="1">
                          <a:solidFill>
                            <a:srgbClr val="495A66"/>
                          </a:solidFill>
                          <a:latin typeface="+mn-lt"/>
                        </a:rPr>
                        <a:t>0.222</a:t>
                      </a:r>
                    </a:p>
                  </a:txBody>
                  <a:tcPr marL="73152" marT="27432" marB="27432" anchor="ctr">
                    <a:solidFill>
                      <a:srgbClr val="FBFAF6"/>
                    </a:solidFill>
                  </a:tcPr>
                </a:tc>
                <a:tc>
                  <a:txBody>
                    <a:bodyPr/>
                    <a:lstStyle/>
                    <a:p>
                      <a:r>
                        <a:rPr lang="en-US" sz="1200" b="0" noProof="1">
                          <a:solidFill>
                            <a:srgbClr val="495A66"/>
                          </a:solidFill>
                          <a:latin typeface="+mn-lt"/>
                        </a:rPr>
                        <a:t>0.997</a:t>
                      </a:r>
                    </a:p>
                  </a:txBody>
                  <a:tcPr marL="73152" marT="27432" marB="27432" anchor="ctr">
                    <a:solidFill>
                      <a:srgbClr val="FBFAF6"/>
                    </a:solidFill>
                  </a:tcPr>
                </a:tc>
                <a:tc>
                  <a:txBody>
                    <a:bodyPr/>
                    <a:lstStyle/>
                    <a:p>
                      <a:r>
                        <a:rPr lang="en-GB" sz="1200" b="0" i="0" kern="1200" noProof="1">
                          <a:solidFill>
                            <a:srgbClr val="495A66"/>
                          </a:solidFill>
                          <a:effectLst/>
                          <a:latin typeface="+mn-lt"/>
                          <a:ea typeface="+mn-ea"/>
                          <a:cs typeface="+mn-cs"/>
                        </a:rPr>
                        <a:t>99.8%</a:t>
                      </a:r>
                      <a:endParaRPr lang="en-US" sz="1200" b="0" noProof="1">
                        <a:solidFill>
                          <a:srgbClr val="495A66"/>
                        </a:solidFill>
                        <a:latin typeface="+mn-lt"/>
                      </a:endParaRPr>
                    </a:p>
                  </a:txBody>
                  <a:tcPr marL="73152" marT="27432" marB="27432" anchor="ctr">
                    <a:solidFill>
                      <a:srgbClr val="FBFAF6"/>
                    </a:solidFill>
                  </a:tcPr>
                </a:tc>
                <a:extLst>
                  <a:ext uri="{0D108BD9-81ED-4DB2-BD59-A6C34878D82A}">
                    <a16:rowId xmlns:a16="http://schemas.microsoft.com/office/drawing/2014/main" val="10002"/>
                  </a:ext>
                </a:extLst>
              </a:tr>
              <a:tr h="43200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noProof="1">
                          <a:solidFill>
                            <a:srgbClr val="1D3557"/>
                          </a:solidFill>
                          <a:latin typeface="+mn-lt"/>
                        </a:rPr>
                        <a:t>RL residual</a:t>
                      </a:r>
                    </a:p>
                    <a:p>
                      <a:endParaRPr lang="en-US" sz="1200" b="0" i="0" noProof="1">
                        <a:solidFill>
                          <a:srgbClr val="1D3557"/>
                        </a:solidFill>
                        <a:latin typeface="+mn-lt"/>
                      </a:endParaRPr>
                    </a:p>
                  </a:txBody>
                  <a:tcPr marL="73152" marT="27432" marB="27432" anchor="ctr">
                    <a:solidFill>
                      <a:srgbClr val="FBFAF6"/>
                    </a:solidFill>
                  </a:tcPr>
                </a:tc>
                <a:tc>
                  <a:txBody>
                    <a:bodyPr/>
                    <a:lstStyle/>
                    <a:p>
                      <a:r>
                        <a:rPr lang="en-US" sz="1200" b="0" i="0" noProof="1">
                          <a:solidFill>
                            <a:srgbClr val="1D3557"/>
                          </a:solidFill>
                          <a:latin typeface="+mn-lt"/>
                        </a:rPr>
                        <a:t>0.078</a:t>
                      </a:r>
                    </a:p>
                  </a:txBody>
                  <a:tcPr marL="73152" marT="27432" marB="27432" anchor="ctr">
                    <a:solidFill>
                      <a:srgbClr val="FBFA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noProof="1">
                          <a:solidFill>
                            <a:srgbClr val="495A66"/>
                          </a:solidFill>
                          <a:latin typeface="+mn-lt"/>
                        </a:rPr>
                        <a:t>0.240</a:t>
                      </a:r>
                    </a:p>
                  </a:txBody>
                  <a:tcPr marL="73152" marT="27432" marB="27432" anchor="ctr">
                    <a:solidFill>
                      <a:srgbClr val="FBFAF6"/>
                    </a:solidFill>
                  </a:tcPr>
                </a:tc>
                <a:tc>
                  <a:txBody>
                    <a:bodyPr/>
                    <a:lstStyle/>
                    <a:p>
                      <a:r>
                        <a:rPr lang="en-US" sz="1200" b="0" noProof="1">
                          <a:solidFill>
                            <a:srgbClr val="495A66"/>
                          </a:solidFill>
                          <a:latin typeface="+mn-lt"/>
                        </a:rPr>
                        <a:t>0.997</a:t>
                      </a:r>
                    </a:p>
                  </a:txBody>
                  <a:tcPr marL="73152" marT="27432" marB="27432" anchor="ctr">
                    <a:solidFill>
                      <a:srgbClr val="FBFAF6"/>
                    </a:solidFill>
                  </a:tcPr>
                </a:tc>
                <a:tc>
                  <a:txBody>
                    <a:bodyPr/>
                    <a:lstStyle/>
                    <a:p>
                      <a:r>
                        <a:rPr lang="en-US" sz="1200" b="0" noProof="1">
                          <a:solidFill>
                            <a:srgbClr val="495A66"/>
                          </a:solidFill>
                          <a:latin typeface="+mn-lt"/>
                        </a:rPr>
                        <a:t>99.8%</a:t>
                      </a:r>
                    </a:p>
                  </a:txBody>
                  <a:tcPr marL="73152" marT="27432" marB="27432" anchor="ctr">
                    <a:solidFill>
                      <a:srgbClr val="FBFAF6"/>
                    </a:solidFill>
                  </a:tcPr>
                </a:tc>
                <a:extLst>
                  <a:ext uri="{0D108BD9-81ED-4DB2-BD59-A6C34878D82A}">
                    <a16:rowId xmlns:a16="http://schemas.microsoft.com/office/drawing/2014/main" val="3088058039"/>
                  </a:ext>
                </a:extLst>
              </a:tr>
            </a:tbl>
          </a:graphicData>
        </a:graphic>
      </p:graphicFrame>
      <p:sp>
        <p:nvSpPr>
          <p:cNvPr id="9" name="TextBox 8">
            <a:extLst>
              <a:ext uri="{FF2B5EF4-FFF2-40B4-BE49-F238E27FC236}">
                <a16:creationId xmlns:a16="http://schemas.microsoft.com/office/drawing/2014/main" id="{6C3C9868-1E28-728E-AC25-0D8D4080F776}"/>
              </a:ext>
            </a:extLst>
          </p:cNvPr>
          <p:cNvSpPr txBox="1"/>
          <p:nvPr/>
        </p:nvSpPr>
        <p:spPr>
          <a:xfrm>
            <a:off x="868680" y="4657959"/>
            <a:ext cx="10222992" cy="1475789"/>
          </a:xfrm>
          <a:prstGeom prst="rect">
            <a:avLst/>
          </a:prstGeom>
          <a:noFill/>
        </p:spPr>
        <p:txBody>
          <a:bodyPr wrap="square" lIns="0" tIns="0" rIns="0" bIns="0" anchor="ctr">
            <a:spAutoFit/>
          </a:bodyPr>
          <a:lstStyle/>
          <a:p>
            <a:r>
              <a:rPr lang="en-GB" sz="1600" dirty="0">
                <a:solidFill>
                  <a:srgbClr val="495A66"/>
                </a:solidFill>
              </a:rPr>
              <a:t>RL residual reduces the pure PI tracking error by 75% (RMSE 0.411 → 0.240) and closes most of the gap to the strong classical baseline (0.240 vs 0.222), without any knowledge of the motor parameters or the gravity model. The in-band percentage jumps from 85% to 99.8%, matching the feedforward controller exactly on that metric.</a:t>
            </a:r>
          </a:p>
          <a:p>
            <a:r>
              <a:rPr lang="en-GB" sz="1600" dirty="0">
                <a:solidFill>
                  <a:srgbClr val="495A66"/>
                </a:solidFill>
              </a:rPr>
              <a:t>The residual does not fully match PI + poly + </a:t>
            </a:r>
            <a:r>
              <a:rPr lang="en-GB" sz="1600" dirty="0" err="1">
                <a:solidFill>
                  <a:srgbClr val="495A66"/>
                </a:solidFill>
              </a:rPr>
              <a:t>grav</a:t>
            </a:r>
            <a:r>
              <a:rPr lang="en-GB" sz="1600" dirty="0">
                <a:solidFill>
                  <a:srgbClr val="495A66"/>
                </a:solidFill>
              </a:rPr>
              <a:t> on RMSE. This is expected: the classical controller uses the exact physical model; the policy approximates it from data alone. The remaining gap (0.018 rad/s) is the cost of being model-free.</a:t>
            </a:r>
          </a:p>
          <a:p>
            <a:pPr>
              <a:lnSpc>
                <a:spcPct val="112000"/>
              </a:lnSpc>
            </a:pPr>
            <a:endParaRPr lang="en-US" sz="1500" b="0" noProof="1">
              <a:solidFill>
                <a:srgbClr val="495A66"/>
              </a:solidFill>
              <a:latin typeface="Calibri"/>
            </a:endParaRPr>
          </a:p>
        </p:txBody>
      </p:sp>
    </p:spTree>
    <p:extLst>
      <p:ext uri="{BB962C8B-B14F-4D97-AF65-F5344CB8AC3E}">
        <p14:creationId xmlns:p14="http://schemas.microsoft.com/office/powerpoint/2010/main" val="3184594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844CB6EA-7400-E1A2-B112-D8A1D401592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645BF6E-C3B9-B4EC-6EDF-6FFF15DE97B4}"/>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DA63C865-9852-1A38-EE76-EA6F47EDA4E4}"/>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89B44395-9B0A-5F7D-D929-7264E50F4C6E}"/>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B10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51A69FF7-17E4-9694-5841-17ACDEB28076}"/>
              </a:ext>
            </a:extLst>
          </p:cNvPr>
          <p:cNvSpPr txBox="1"/>
          <p:nvPr/>
        </p:nvSpPr>
        <p:spPr>
          <a:xfrm>
            <a:off x="868680" y="960120"/>
            <a:ext cx="10607040" cy="412805"/>
          </a:xfrm>
          <a:prstGeom prst="rect">
            <a:avLst/>
          </a:prstGeom>
          <a:noFill/>
        </p:spPr>
        <p:txBody>
          <a:bodyPr wrap="square" lIns="0" tIns="0" rIns="0" bIns="0" anchor="t">
            <a:spAutoFit/>
          </a:bodyPr>
          <a:lstStyle/>
          <a:p>
            <a:pPr>
              <a:lnSpc>
                <a:spcPct val="102000"/>
              </a:lnSpc>
              <a:spcAft>
                <a:spcPts val="600"/>
              </a:spcAft>
            </a:pPr>
            <a:r>
              <a:rPr lang="en-US" sz="2800" b="1" noProof="1">
                <a:solidFill>
                  <a:srgbClr val="1D3557"/>
                </a:solidFill>
                <a:latin typeface="Georgia"/>
              </a:rPr>
              <a:t>Closed-Loop Performance: Controller Comparison </a:t>
            </a:r>
          </a:p>
        </p:txBody>
      </p:sp>
      <p:sp>
        <p:nvSpPr>
          <p:cNvPr id="9" name="TextBox 8">
            <a:extLst>
              <a:ext uri="{FF2B5EF4-FFF2-40B4-BE49-F238E27FC236}">
                <a16:creationId xmlns:a16="http://schemas.microsoft.com/office/drawing/2014/main" id="{CF3CC242-9CC9-DD82-17A1-89A798008D70}"/>
              </a:ext>
            </a:extLst>
          </p:cNvPr>
          <p:cNvSpPr txBox="1"/>
          <p:nvPr/>
        </p:nvSpPr>
        <p:spPr>
          <a:xfrm>
            <a:off x="7882801" y="3044671"/>
            <a:ext cx="4047345" cy="1948290"/>
          </a:xfrm>
          <a:prstGeom prst="rect">
            <a:avLst/>
          </a:prstGeom>
          <a:noFill/>
        </p:spPr>
        <p:txBody>
          <a:bodyPr wrap="square" lIns="0" tIns="0" rIns="0" bIns="0" anchor="ctr">
            <a:spAutoFit/>
          </a:bodyPr>
          <a:lstStyle/>
          <a:p>
            <a:pPr>
              <a:lnSpc>
                <a:spcPct val="112000"/>
              </a:lnSpc>
            </a:pPr>
            <a:r>
              <a:rPr lang="en-GB" sz="1600" dirty="0">
                <a:solidFill>
                  <a:srgbClr val="495A66"/>
                </a:solidFill>
              </a:rPr>
              <a:t>Each panel shows the achieved speed (blue) against the reference (dashed red) for one controller and one reference profile. RL Residual follows the reference closely on the quintic trajectory, where the PI alone shows a persistent steady-state offset, the learned </a:t>
            </a:r>
            <a:r>
              <a:rPr lang="el-GR" sz="1600" dirty="0">
                <a:solidFill>
                  <a:srgbClr val="495A66"/>
                </a:solidFill>
              </a:rPr>
              <a:t>Δ</a:t>
            </a:r>
            <a:r>
              <a:rPr lang="en-GB" sz="1600" dirty="0">
                <a:solidFill>
                  <a:srgbClr val="495A66"/>
                </a:solidFill>
              </a:rPr>
              <a:t>V compensates what the integrator cannot correct fast enough</a:t>
            </a:r>
            <a:r>
              <a:rPr lang="en-GB" dirty="0"/>
              <a:t>.</a:t>
            </a:r>
            <a:endParaRPr lang="en-US" sz="1500" b="0" noProof="1">
              <a:solidFill>
                <a:srgbClr val="495A66"/>
              </a:solidFill>
              <a:latin typeface="Calibri"/>
            </a:endParaRPr>
          </a:p>
        </p:txBody>
      </p:sp>
      <p:pic>
        <p:nvPicPr>
          <p:cNvPr id="8" name="Picture 7">
            <a:extLst>
              <a:ext uri="{FF2B5EF4-FFF2-40B4-BE49-F238E27FC236}">
                <a16:creationId xmlns:a16="http://schemas.microsoft.com/office/drawing/2014/main" id="{8042DBA8-E192-2122-52A5-55F80E80B872}"/>
              </a:ext>
            </a:extLst>
          </p:cNvPr>
          <p:cNvPicPr>
            <a:picLocks noChangeAspect="1"/>
          </p:cNvPicPr>
          <p:nvPr/>
        </p:nvPicPr>
        <p:blipFill>
          <a:blip r:embed="rId3"/>
          <a:stretch>
            <a:fillRect/>
          </a:stretch>
        </p:blipFill>
        <p:spPr>
          <a:xfrm>
            <a:off x="868680" y="1495010"/>
            <a:ext cx="6730149" cy="5047612"/>
          </a:xfrm>
          <a:prstGeom prst="rect">
            <a:avLst/>
          </a:prstGeom>
        </p:spPr>
      </p:pic>
    </p:spTree>
    <p:extLst>
      <p:ext uri="{BB962C8B-B14F-4D97-AF65-F5344CB8AC3E}">
        <p14:creationId xmlns:p14="http://schemas.microsoft.com/office/powerpoint/2010/main" val="2394737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a:extLst>
            <a:ext uri="{FF2B5EF4-FFF2-40B4-BE49-F238E27FC236}">
              <a16:creationId xmlns:a16="http://schemas.microsoft.com/office/drawing/2014/main" id="{F2CA31CA-23CC-760C-A5CC-A3E19F9A77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BB8BC75-C582-B545-AE84-F06D66A4E104}"/>
              </a:ext>
            </a:extLst>
          </p:cNvPr>
          <p:cNvSpPr/>
          <p:nvPr/>
        </p:nvSpPr>
        <p:spPr>
          <a:xfrm>
            <a:off x="566928" y="502920"/>
            <a:ext cx="17780" cy="5852160"/>
          </a:xfrm>
          <a:prstGeom prst="rect">
            <a:avLst/>
          </a:prstGeom>
          <a:solidFill>
            <a:srgbClr val="D9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3" name="Rectangle 2">
            <a:extLst>
              <a:ext uri="{FF2B5EF4-FFF2-40B4-BE49-F238E27FC236}">
                <a16:creationId xmlns:a16="http://schemas.microsoft.com/office/drawing/2014/main" id="{F0CAF183-05B9-CA8C-6858-E543CCB47B94}"/>
              </a:ext>
            </a:extLst>
          </p:cNvPr>
          <p:cNvSpPr/>
          <p:nvPr/>
        </p:nvSpPr>
        <p:spPr>
          <a:xfrm>
            <a:off x="566928" y="502920"/>
            <a:ext cx="30480" cy="56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D59325BD-8D16-DD0B-75D9-566C80770962}"/>
              </a:ext>
            </a:extLst>
          </p:cNvPr>
          <p:cNvSpPr txBox="1"/>
          <p:nvPr/>
        </p:nvSpPr>
        <p:spPr>
          <a:xfrm>
            <a:off x="868680" y="548640"/>
            <a:ext cx="10607040" cy="169277"/>
          </a:xfrm>
          <a:prstGeom prst="rect">
            <a:avLst/>
          </a:prstGeom>
          <a:noFill/>
        </p:spPr>
        <p:txBody>
          <a:bodyPr wrap="square" lIns="0" tIns="0" rIns="0" bIns="0" anchor="t">
            <a:spAutoFit/>
          </a:bodyPr>
          <a:lstStyle/>
          <a:p>
            <a:pPr>
              <a:lnSpc>
                <a:spcPct val="100000"/>
              </a:lnSpc>
            </a:pPr>
            <a:r>
              <a:rPr lang="en-US" sz="1100" b="1" noProof="1">
                <a:solidFill>
                  <a:srgbClr val="E07A5F"/>
                </a:solidFill>
                <a:latin typeface="Consolas"/>
              </a:rPr>
              <a:t>B11  </a:t>
            </a:r>
            <a:r>
              <a:rPr lang="en-US" sz="1100" noProof="1">
                <a:solidFill>
                  <a:srgbClr val="2A9D8F"/>
                </a:solidFill>
                <a:latin typeface="Consolas"/>
              </a:rPr>
              <a:t>RESIDUAL REINFORCEMENT LEARNING - Validation</a:t>
            </a:r>
          </a:p>
        </p:txBody>
      </p:sp>
      <p:sp>
        <p:nvSpPr>
          <p:cNvPr id="6" name="TextBox 5">
            <a:extLst>
              <a:ext uri="{FF2B5EF4-FFF2-40B4-BE49-F238E27FC236}">
                <a16:creationId xmlns:a16="http://schemas.microsoft.com/office/drawing/2014/main" id="{6E4792B4-A221-A87C-63A7-980BDFCA75FE}"/>
              </a:ext>
            </a:extLst>
          </p:cNvPr>
          <p:cNvSpPr txBox="1"/>
          <p:nvPr/>
        </p:nvSpPr>
        <p:spPr>
          <a:xfrm>
            <a:off x="868680" y="960120"/>
            <a:ext cx="10607040" cy="412805"/>
          </a:xfrm>
          <a:prstGeom prst="rect">
            <a:avLst/>
          </a:prstGeom>
          <a:noFill/>
        </p:spPr>
        <p:txBody>
          <a:bodyPr wrap="square" lIns="0" tIns="0" rIns="0" bIns="0" anchor="t">
            <a:spAutoFit/>
          </a:bodyPr>
          <a:lstStyle/>
          <a:p>
            <a:pPr>
              <a:lnSpc>
                <a:spcPct val="102000"/>
              </a:lnSpc>
              <a:spcAft>
                <a:spcPts val="600"/>
              </a:spcAft>
            </a:pPr>
            <a:r>
              <a:rPr lang="en-US" sz="2800" b="1" noProof="1">
                <a:solidFill>
                  <a:srgbClr val="1D3557"/>
                </a:solidFill>
                <a:latin typeface="Georgia"/>
              </a:rPr>
              <a:t>Closed-Loop Performance: Voltage Decomposition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1F83517-970F-5E23-80AB-20BA43DBB05F}"/>
                  </a:ext>
                </a:extLst>
              </p:cNvPr>
              <p:cNvSpPr txBox="1"/>
              <p:nvPr/>
            </p:nvSpPr>
            <p:spPr>
              <a:xfrm>
                <a:off x="756001" y="1372925"/>
                <a:ext cx="10832397" cy="861774"/>
              </a:xfrm>
              <a:prstGeom prst="rect">
                <a:avLst/>
              </a:prstGeom>
              <a:noFill/>
            </p:spPr>
            <p:txBody>
              <a:bodyPr wrap="square" rtlCol="0">
                <a:spAutoFit/>
              </a:bodyPr>
              <a:lstStyle/>
              <a:p>
                <a:r>
                  <a:rPr lang="en-GB" sz="1600" dirty="0">
                    <a:solidFill>
                      <a:srgbClr val="495A66"/>
                    </a:solidFill>
                  </a:rPr>
                  <a:t>Total motor voltage for each controller. Bottom: the RL residual split into </a:t>
                </a:r>
                <a14:m>
                  <m:oMath xmlns:m="http://schemas.openxmlformats.org/officeDocument/2006/math">
                    <m:sSub>
                      <m:sSubPr>
                        <m:ctrlPr>
                          <a:rPr lang="en-GB" sz="1600" i="1" smtClean="0">
                            <a:solidFill>
                              <a:srgbClr val="495A66"/>
                            </a:solidFill>
                            <a:latin typeface="Cambria Math" panose="02040503050406030204" pitchFamily="18" charset="0"/>
                          </a:rPr>
                        </m:ctrlPr>
                      </m:sSubPr>
                      <m:e>
                        <m:r>
                          <a:rPr lang="it-IT" sz="1600" b="0" i="1" smtClean="0">
                            <a:solidFill>
                              <a:srgbClr val="495A66"/>
                            </a:solidFill>
                            <a:latin typeface="Cambria Math" panose="02040503050406030204" pitchFamily="18" charset="0"/>
                          </a:rPr>
                          <m:t>𝑉</m:t>
                        </m:r>
                      </m:e>
                      <m:sub>
                        <m:r>
                          <a:rPr lang="it-IT" sz="1600" b="0" i="1" smtClean="0">
                            <a:solidFill>
                              <a:srgbClr val="495A66"/>
                            </a:solidFill>
                            <a:latin typeface="Cambria Math" panose="02040503050406030204" pitchFamily="18" charset="0"/>
                          </a:rPr>
                          <m:t>𝑏𝑎𝑠𝑒</m:t>
                        </m:r>
                      </m:sub>
                    </m:sSub>
                  </m:oMath>
                </a14:m>
                <a:r>
                  <a:rPr lang="en-GB" sz="1600" dirty="0">
                    <a:solidFill>
                      <a:srgbClr val="495A66"/>
                    </a:solidFill>
                  </a:rPr>
                  <a:t> (PI baseline, blue) and </a:t>
                </a:r>
                <a14:m>
                  <m:oMath xmlns:m="http://schemas.openxmlformats.org/officeDocument/2006/math">
                    <m:r>
                      <a:rPr lang="en-GB" sz="1600" i="1" smtClean="0">
                        <a:solidFill>
                          <a:srgbClr val="495A66"/>
                        </a:solidFill>
                        <a:latin typeface="Cambria Math" panose="02040503050406030204" pitchFamily="18" charset="0"/>
                        <a:ea typeface="Cambria Math" panose="02040503050406030204" pitchFamily="18" charset="0"/>
                      </a:rPr>
                      <m:t>∆</m:t>
                    </m:r>
                    <m:r>
                      <a:rPr lang="it-IT" sz="1600" b="0" i="1" smtClean="0">
                        <a:solidFill>
                          <a:srgbClr val="495A66"/>
                        </a:solidFill>
                        <a:latin typeface="Cambria Math" panose="02040503050406030204" pitchFamily="18" charset="0"/>
                        <a:ea typeface="Cambria Math" panose="02040503050406030204" pitchFamily="18" charset="0"/>
                      </a:rPr>
                      <m:t>𝑉</m:t>
                    </m:r>
                  </m:oMath>
                </a14:m>
                <a:r>
                  <a:rPr lang="en-GB" sz="1600" dirty="0">
                    <a:solidFill>
                      <a:srgbClr val="495A66"/>
                    </a:solidFill>
                  </a:rPr>
                  <a:t> (learned correction, orange). During transients </a:t>
                </a:r>
                <a:r>
                  <a:rPr lang="el-GR" sz="1600" dirty="0">
                    <a:solidFill>
                      <a:srgbClr val="495A66"/>
                    </a:solidFill>
                  </a:rPr>
                  <a:t>Δ</a:t>
                </a:r>
                <a:r>
                  <a:rPr lang="en-GB" sz="1600" dirty="0">
                    <a:solidFill>
                      <a:srgbClr val="495A66"/>
                    </a:solidFill>
                  </a:rPr>
                  <a:t>V is the dominant term, so the policy has implicitly learned the feedforward and gravity compensation that the PI baseline cannot provide</a:t>
                </a:r>
                <a:r>
                  <a:rPr lang="en-GB" dirty="0"/>
                  <a:t>.</a:t>
                </a:r>
                <a:endParaRPr lang="en-US" sz="1600" dirty="0">
                  <a:solidFill>
                    <a:srgbClr val="495A66"/>
                  </a:solidFill>
                </a:endParaRPr>
              </a:p>
            </p:txBody>
          </p:sp>
        </mc:Choice>
        <mc:Fallback xmlns="">
          <p:sp>
            <p:nvSpPr>
              <p:cNvPr id="5" name="TextBox 4">
                <a:extLst>
                  <a:ext uri="{FF2B5EF4-FFF2-40B4-BE49-F238E27FC236}">
                    <a16:creationId xmlns:a16="http://schemas.microsoft.com/office/drawing/2014/main" id="{31F83517-970F-5E23-80AB-20BA43DBB05F}"/>
                  </a:ext>
                </a:extLst>
              </p:cNvPr>
              <p:cNvSpPr txBox="1">
                <a:spLocks noRot="1" noChangeAspect="1" noMove="1" noResize="1" noEditPoints="1" noAdjustHandles="1" noChangeArrowheads="1" noChangeShapeType="1" noTextEdit="1"/>
              </p:cNvSpPr>
              <p:nvPr/>
            </p:nvSpPr>
            <p:spPr>
              <a:xfrm>
                <a:off x="756001" y="1372925"/>
                <a:ext cx="10832397" cy="861774"/>
              </a:xfrm>
              <a:prstGeom prst="rect">
                <a:avLst/>
              </a:prstGeom>
              <a:blipFill>
                <a:blip r:embed="rId3"/>
                <a:stretch>
                  <a:fillRect l="-234" t="-2899" b="-8696"/>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E814B86B-754B-C3A1-2337-06AEF231051B}"/>
              </a:ext>
            </a:extLst>
          </p:cNvPr>
          <p:cNvPicPr>
            <a:picLocks noChangeAspect="1"/>
          </p:cNvPicPr>
          <p:nvPr/>
        </p:nvPicPr>
        <p:blipFill>
          <a:blip r:embed="rId4"/>
          <a:stretch>
            <a:fillRect/>
          </a:stretch>
        </p:blipFill>
        <p:spPr>
          <a:xfrm>
            <a:off x="3286245" y="2234699"/>
            <a:ext cx="5601161" cy="4356459"/>
          </a:xfrm>
          <a:prstGeom prst="rect">
            <a:avLst/>
          </a:prstGeom>
        </p:spPr>
      </p:pic>
    </p:spTree>
    <p:extLst>
      <p:ext uri="{BB962C8B-B14F-4D97-AF65-F5344CB8AC3E}">
        <p14:creationId xmlns:p14="http://schemas.microsoft.com/office/powerpoint/2010/main" val="20058009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1753</TotalTime>
  <Words>2385</Words>
  <Application>Microsoft Macintosh PowerPoint</Application>
  <PresentationFormat>Widescreen</PresentationFormat>
  <Paragraphs>218</Paragraphs>
  <Slides>11</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Arial</vt:lpstr>
      <vt:lpstr>Calibri</vt:lpstr>
      <vt:lpstr>Cambria Math</vt:lpstr>
      <vt:lpstr>Consolas</vt:lpstr>
      <vt:lpstr>Georgia</vt:lpstr>
      <vt:lpstr>Helvetica Neue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Alessandro Carlino</cp:lastModifiedBy>
  <cp:revision>98</cp:revision>
  <dcterms:created xsi:type="dcterms:W3CDTF">2013-01-27T09:14:16Z</dcterms:created>
  <dcterms:modified xsi:type="dcterms:W3CDTF">2026-06-26T08:41:59Z</dcterms:modified>
  <cp:category/>
</cp:coreProperties>
</file>