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2A9D8F"/>
                </a:solidFill>
                <a:latin typeface="Consolas"/>
              </a:rPr>
              <a:t>AI IN ELECTRICAL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7589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1D3557"/>
                </a:solidFill>
                <a:latin typeface="Georgia"/>
              </a:rPr>
              <a:t>[Presentation 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4A5A66"/>
                </a:solidFill>
                <a:latin typeface="Calibri"/>
              </a:rPr>
              <a:t>[Short subtitle — one sentence describing the project]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3557"/>
                </a:solidFill>
                <a:latin typeface="Consolas"/>
              </a:rPr>
              <a:t>[Author 1]  ·  [Author 2]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A66"/>
                </a:solidFill>
                <a:latin typeface="Consolas"/>
              </a:rPr>
              <a:t>[Author 3]  ·  [Author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406908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3557"/>
                </a:solidFill>
                <a:latin typeface="Consolas"/>
              </a:rPr>
              <a:t>Course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A66"/>
                </a:solidFill>
                <a:latin typeface="Consolas"/>
              </a:rPr>
              <a:t>AI in Electrical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06908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3557"/>
                </a:solidFill>
                <a:latin typeface="Consolas"/>
              </a:rPr>
              <a:t>[University]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A66"/>
                </a:solidFill>
                <a:latin typeface="Consolas"/>
              </a:rPr>
              <a:t>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2A9D8F"/>
                </a:solidFill>
                <a:latin typeface="Consolas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32688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Outline.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75104"/>
            <a:ext cx="41513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D3557"/>
                </a:solidFill>
                <a:latin typeface="Georgia"/>
              </a:rPr>
              <a:t>Physical setup &amp; dataset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Two-inertia servo ODE, chirp training excitation, multisine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828800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75104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1975104"/>
            <a:ext cx="41513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D3557"/>
                </a:solidFill>
                <a:latin typeface="Georgia"/>
              </a:rPr>
              <a:t>ML1 — Motor identification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[Friend's section] Sparse identification of motor 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01568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547872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47872"/>
            <a:ext cx="41513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D3557"/>
                </a:solidFill>
                <a:latin typeface="Georgia"/>
              </a:rPr>
              <a:t>ML2 — Backlash compensation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GRU, CNN, TCN: per-window normalisation, architectures,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401568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3547872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3547872"/>
            <a:ext cx="41513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D3557"/>
                </a:solidFill>
                <a:latin typeface="Georgia"/>
              </a:rPr>
              <a:t>Conclusion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Key numbers, takeaways, and future directions.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01  </a:t>
            </a:r>
            <a:r>
              <a:rPr sz="1100">
                <a:solidFill>
                  <a:srgbClr val="2A9D8F"/>
                </a:solidFill>
                <a:latin typeface="Consolas"/>
              </a:rPr>
              <a:t>PHYSICAL SETUP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557"/>
                </a:solidFill>
                <a:latin typeface="Georgia"/>
              </a:rPr>
              <a:t>[Physical setup &amp; dataset]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02  </a:t>
            </a:r>
            <a:r>
              <a:rPr sz="1100">
                <a:solidFill>
                  <a:srgbClr val="2A9D8F"/>
                </a:solidFill>
                <a:latin typeface="Consolas"/>
              </a:rPr>
              <a:t>ML1 — MOTOR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557"/>
                </a:solidFill>
                <a:latin typeface="Georgia"/>
              </a:rPr>
              <a:t>[ML1 — motor identification]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02  </a:t>
            </a:r>
            <a:r>
              <a:rPr sz="1100">
                <a:solidFill>
                  <a:srgbClr val="2A9D8F"/>
                </a:solidFill>
                <a:latin typeface="Consolas"/>
              </a:rPr>
              <a:t>ML1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557"/>
                </a:solidFill>
                <a:latin typeface="Georgia"/>
              </a:rPr>
              <a:t>[ML1 — results &amp; validation]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03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Per-window velocity normalisation.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4A5A66"/>
                </a:solidFill>
                <a:latin typeface="Calibri"/>
              </a:rPr>
              <a:t>Backlash error ≈ damper lag ∝ motor velocity. The chirp (train) is 2.4× faster than the multisine (test). A fixed </a:t>
            </a:r>
            <a:r>
              <a:rPr sz="1380" b="0">
                <a:solidFill>
                  <a:srgbClr val="1D3557"/>
                </a:solidFill>
                <a:latin typeface="Consolas"/>
              </a:rPr>
              <a:t>error_std</a:t>
            </a:r>
            <a:r>
              <a:rPr sz="1500" b="0">
                <a:solidFill>
                  <a:srgbClr val="4A5A66"/>
                </a:solidFill>
                <a:latin typeface="Calibri"/>
              </a:rPr>
              <a:t> from training causes 2.3× over-correction on test — all models score </a:t>
            </a:r>
            <a:r>
              <a:rPr sz="1500" b="1">
                <a:solidFill>
                  <a:srgbClr val="1C2B36"/>
                </a:solidFill>
                <a:latin typeface="Calibri"/>
              </a:rPr>
              <a:t>worse than rigid coupling</a:t>
            </a:r>
            <a:r>
              <a:rPr sz="1500" b="0">
                <a:solidFill>
                  <a:srgbClr val="4A5A66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33472"/>
            <a:ext cx="10607040" cy="1463040"/>
          </a:xfrm>
          <a:prstGeom prst="roundRect">
            <a:avLst>
              <a:gd name="adj" fmla="val 6000"/>
            </a:avLst>
          </a:prstGeom>
          <a:solidFill>
            <a:srgbClr val="F4F1E9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633472"/>
            <a:ext cx="38100" cy="14630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74320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local_vel  =  std( diff(enc_m_window) )          ← velocity proxy per window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enc_m_rel[t]  =  (enc_m[t] − enc_m[t₀]) / local_vel   ← input feature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y_norm  =  (θ_l − enc_m/N) / (local_vel / N)            ← target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pred_error  =  model_output × (local_vel / N)            ← denorm at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106070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Both input and target scale with the </a:t>
            </a:r>
            <a:r>
              <a:rPr sz="1500" b="1">
                <a:solidFill>
                  <a:srgbClr val="1C2B36"/>
                </a:solidFill>
                <a:latin typeface="Calibri"/>
              </a:rPr>
              <a:t>same local speed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the ratio is constant across train and test.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After the fix, normalised-target std ratio train vs test: </a:t>
            </a:r>
            <a:r>
              <a:rPr sz="1500" b="1">
                <a:solidFill>
                  <a:srgbClr val="1C2B36"/>
                </a:solidFill>
                <a:latin typeface="Calibri"/>
              </a:rPr>
              <a:t>1.06×</a:t>
            </a:r>
            <a:r>
              <a:rPr sz="1500" b="0">
                <a:solidFill>
                  <a:srgbClr val="4A5A66"/>
                </a:solidFill>
                <a:latin typeface="Calibri"/>
              </a:rPr>
              <a:t>  (was 2.3×).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Window W = 64 steps = 64 ms provides enough velocity history without excessive delay.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04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MODEL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Three architectures, three context lengths.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331720"/>
            <a:ext cx="38100" cy="187451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496312"/>
            <a:ext cx="30175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A9D8F"/>
                </a:solidFill>
                <a:latin typeface="Consolas"/>
              </a:rPr>
              <a:t>GRU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557"/>
                </a:solidFill>
                <a:latin typeface="Georgia"/>
              </a:rPr>
              <a:t>GRU  (3 489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Recurrent hidden state h accumulates </a:t>
            </a:r>
            <a:r>
              <a:rPr sz="1200" b="1">
                <a:solidFill>
                  <a:srgbClr val="1C2B36"/>
                </a:solidFill>
                <a:latin typeface="Calibri"/>
              </a:rPr>
              <a:t>64 ms</a:t>
            </a:r>
            <a:r>
              <a:rPr sz="1200" b="0">
                <a:solidFill>
                  <a:srgbClr val="4A5A66"/>
                </a:solidFill>
                <a:latin typeface="Calibri"/>
              </a:rPr>
              <a:t> of context. hidden = 32, 1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3172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331720"/>
            <a:ext cx="38100" cy="1874519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496312"/>
            <a:ext cx="30175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D3557"/>
                </a:solidFill>
                <a:latin typeface="Consolas"/>
              </a:rPr>
              <a:t>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557"/>
                </a:solidFill>
                <a:latin typeface="Georgia"/>
              </a:rPr>
              <a:t>CNN  (8 801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Stack of valid 1-D convolutions. Receptive field = </a:t>
            </a:r>
            <a:r>
              <a:rPr sz="1200" b="1">
                <a:solidFill>
                  <a:srgbClr val="1C2B36"/>
                </a:solidFill>
                <a:latin typeface="Calibri"/>
              </a:rPr>
              <a:t>15 ms</a:t>
            </a:r>
            <a:r>
              <a:rPr sz="1200" b="0">
                <a:solidFill>
                  <a:srgbClr val="4A5A66"/>
                </a:solidFill>
                <a:latin typeface="Calibri"/>
              </a:rPr>
              <a:t>. channels = 32, k = 8, depth =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33172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331720"/>
            <a:ext cx="38100" cy="187451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2496312"/>
            <a:ext cx="30175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E07A5F"/>
                </a:solidFill>
                <a:latin typeface="Consolas"/>
              </a:rPr>
              <a:t>TCN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557"/>
                </a:solidFill>
                <a:latin typeface="Georgia"/>
              </a:rPr>
              <a:t>TCN  (33 153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Dilated causal convolutions. Receptive field = </a:t>
            </a:r>
            <a:r>
              <a:rPr sz="1200" b="1">
                <a:solidFill>
                  <a:srgbClr val="1C2B36"/>
                </a:solidFill>
                <a:latin typeface="Calibri"/>
              </a:rPr>
              <a:t>91 ms</a:t>
            </a:r>
            <a:r>
              <a:rPr sz="1200" b="0">
                <a:solidFill>
                  <a:srgbClr val="4A5A66"/>
                </a:solidFill>
                <a:latin typeface="Calibri"/>
              </a:rPr>
              <a:t>. channels = 32, k = 4, 4 levels.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4A5A66"/>
                </a:solidFill>
                <a:latin typeface="Calibri"/>
              </a:rPr>
              <a:t>All models: input </a:t>
            </a:r>
            <a:r>
              <a:rPr sz="1288" b="0">
                <a:solidFill>
                  <a:srgbClr val="1D3557"/>
                </a:solidFill>
                <a:latin typeface="Consolas"/>
              </a:rPr>
              <a:t>(B, 64, 2)</a:t>
            </a:r>
            <a:r>
              <a:rPr sz="1400" b="0">
                <a:solidFill>
                  <a:srgbClr val="4A5A66"/>
                </a:solidFill>
                <a:latin typeface="Calibri"/>
              </a:rPr>
              <a:t> — [enc_m_rel, pwm_norm] — output scalar per-window normalised error. Loss: MSE. Optimiser: Adam lr = 1e-3.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76672"/>
            <a:ext cx="10607040" cy="804672"/>
          </a:xfrm>
          <a:prstGeom prst="roundRect">
            <a:avLst>
              <a:gd name="adj" fmla="val 6000"/>
            </a:avLst>
          </a:prstGeom>
          <a:solidFill>
            <a:srgbClr val="F4F1E9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5376672"/>
            <a:ext cx="38100" cy="80467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5486400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RF_CNN  =  (k−1) × depth × 2 + 1  =  15 steps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RF_TCN  =  (k−1) × (2^levels − 1) × 2 + 1  =  91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05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RESULTS  (TEST SET, 30 S MULTISINE)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TCN +48 %, GRU +29 % vs rigid coupling.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011680"/>
          <a:ext cx="1060704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5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Rigid coupling  —  enc_m / N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0.102 mrad   (0.0058°)    —   reference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Output encoder  —  enc_o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0.323 mrad   (0.0185°)   −217 %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CNN  —  valid conv, RF = 15 ms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0.117 mrad   (0.0067°)   −14.8 %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36"/>
                          </a:solidFill>
                          <a:latin typeface="Consolas"/>
                        </a:rPr>
                        <a:t>GRU</a:t>
                      </a:r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  —  W = 64 ms, hidden 32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0.072 mrad   (0.0041°)   </a:t>
                      </a:r>
                      <a:r>
                        <a:rPr sz="1300" b="1">
                          <a:solidFill>
                            <a:srgbClr val="1C2B36"/>
                          </a:solidFill>
                          <a:latin typeface="Calibri"/>
                        </a:rPr>
                        <a:t>+29.4 %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36"/>
                          </a:solidFill>
                          <a:latin typeface="Consolas"/>
                        </a:rPr>
                        <a:t>TCN 🏆</a:t>
                      </a:r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  —  dilated, RF = 91 ms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0.052 mrad   (0.0030°)   </a:t>
                      </a:r>
                      <a:r>
                        <a:rPr sz="1300" b="1">
                          <a:solidFill>
                            <a:srgbClr val="1C2B36"/>
                          </a:solidFill>
                          <a:latin typeface="Calibri"/>
                        </a:rPr>
                        <a:t>+48.4 %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52628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12700">
            <a:solidFill>
              <a:srgbClr val="FA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4526280"/>
            <a:ext cx="38100" cy="86868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4617720"/>
            <a:ext cx="1022299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D3557"/>
                </a:solidFill>
                <a:latin typeface="Georgia"/>
              </a:rPr>
              <a:t>Why CNN fails.  </a:t>
            </a:r>
            <a:r>
              <a:rPr sz="1500" b="0">
                <a:solidFill>
                  <a:srgbClr val="4A5A66"/>
                </a:solidFill>
                <a:latin typeface="Calibri"/>
              </a:rPr>
              <a:t>Its 15 ms receptive field cannot estimate velocity from a </a:t>
            </a:r>
            <a:r>
              <a:rPr sz="1500" b="1">
                <a:solidFill>
                  <a:srgbClr val="1C2B36"/>
                </a:solidFill>
                <a:latin typeface="Calibri"/>
              </a:rPr>
              <a:t>noisy quantised encoder</a:t>
            </a:r>
            <a:r>
              <a:rPr sz="1500" b="0">
                <a:solidFill>
                  <a:srgbClr val="4A5A66"/>
                </a:solidFill>
                <a:latin typeface="Calibri"/>
              </a:rPr>
              <a:t>. GRU (64 ms) and TCN (91 ms) are long enough to smooth the quantisation noise and measure velocity accurately.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4A5A66"/>
                </a:solidFill>
                <a:latin typeface="Calibri"/>
              </a:rPr>
              <a:t>Error is </a:t>
            </a:r>
            <a:r>
              <a:rPr sz="1400" b="1">
                <a:solidFill>
                  <a:srgbClr val="1C2B36"/>
                </a:solidFill>
                <a:latin typeface="Calibri"/>
              </a:rPr>
              <a:t>damper-induced lag</a:t>
            </a:r>
            <a:r>
              <a:rPr sz="1400" b="0">
                <a:solidFill>
                  <a:srgbClr val="4A5A66"/>
                </a:solidFill>
                <a:latin typeface="Calibri"/>
              </a:rPr>
              <a:t> proportional to motor velocity. A longer context gives a better velocity estimate — which directly explains the receptive-field ordering.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06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COMPARISON FIGURE  (ZOOM 2–5 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D3557"/>
                </a:solidFill>
                <a:latin typeface="Georgia"/>
              </a:rPr>
              <a:t>TCN tracks the true backlash error closely.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114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True backlash error (dashed) stays within </a:t>
            </a:r>
            <a:r>
              <a:rPr sz="1500" b="1">
                <a:solidFill>
                  <a:srgbClr val="1C2B36"/>
                </a:solidFill>
                <a:latin typeface="Calibri"/>
              </a:rPr>
              <a:t>±0.6 mrad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damper lag, not dead-zone hysteresis.</a:t>
            </a:r>
          </a:p>
          <a:p>
            <a:pPr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TCN </a:t>
            </a:r>
            <a:r>
              <a:rPr sz="1500" b="1">
                <a:solidFill>
                  <a:srgbClr val="1C2B36"/>
                </a:solidFill>
                <a:latin typeface="Calibri"/>
              </a:rPr>
              <a:t>follows the oscillation</a:t>
            </a:r>
            <a:r>
              <a:rPr sz="1500" b="0">
                <a:solidFill>
                  <a:srgbClr val="4A5A66"/>
                </a:solidFill>
                <a:latin typeface="Calibri"/>
              </a:rPr>
              <a:t>; GRU close behind; CNN adds noise instead of removing it.</a:t>
            </a:r>
          </a:p>
          <a:p>
            <a:pPr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Rigid coupling error oscillates in phase with motor velocity — confirming the </a:t>
            </a:r>
            <a:r>
              <a:rPr sz="1500" b="1">
                <a:solidFill>
                  <a:srgbClr val="1C2B36"/>
                </a:solidFill>
                <a:latin typeface="Calibri"/>
              </a:rPr>
              <a:t>v-proportional</a:t>
            </a:r>
            <a:r>
              <a:rPr sz="1500" b="0">
                <a:solidFill>
                  <a:srgbClr val="4A5A66"/>
                </a:solidFill>
                <a:latin typeface="Calibri"/>
              </a:rPr>
              <a:t> mechanism.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234440"/>
            <a:ext cx="6126480" cy="36854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arison_backlash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380744"/>
            <a:ext cx="5833872" cy="29356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58384" y="4362083"/>
            <a:ext cx="5833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A66"/>
                </a:solidFill>
                <a:latin typeface="Consolas"/>
              </a:rPr>
              <a:t>Fig. 1 — backlash residual and estimation error, zoom 2–5 s (test set, multisine).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07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557"/>
                </a:solidFill>
                <a:latin typeface="Georgia"/>
              </a:rPr>
              <a:t>The gear spring never fires.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4A5A66"/>
                </a:solidFill>
                <a:latin typeface="Calibri"/>
              </a:rPr>
              <a:t>In the simulation, </a:t>
            </a:r>
            <a:r>
              <a:rPr sz="1380" b="0">
                <a:solidFill>
                  <a:srgbClr val="1D3557"/>
                </a:solidFill>
                <a:latin typeface="Consolas"/>
              </a:rPr>
              <a:t>T_mesh = kg·dz + cg·(ω_m − N·ω_l)</a:t>
            </a:r>
            <a:r>
              <a:rPr sz="1500" b="0">
                <a:solidFill>
                  <a:srgbClr val="4A5A66"/>
                </a:solidFill>
                <a:latin typeface="Calibri"/>
              </a:rPr>
              <a:t>. The spring </a:t>
            </a:r>
            <a:r>
              <a:rPr sz="1380" b="0">
                <a:solidFill>
                  <a:srgbClr val="1D3557"/>
                </a:solidFill>
                <a:latin typeface="Consolas"/>
              </a:rPr>
              <a:t>kg·dz</a:t>
            </a:r>
            <a:r>
              <a:rPr sz="1500" b="0">
                <a:solidFill>
                  <a:srgbClr val="4A5A66"/>
                </a:solidFill>
                <a:latin typeface="Calibri"/>
              </a:rPr>
              <a:t> fires only when |φ| &gt; gap_motor = 1 rad. But φ = θ_m − N·θ_l stays within </a:t>
            </a:r>
            <a:r>
              <a:rPr sz="1500" b="1">
                <a:solidFill>
                  <a:srgbClr val="1C2B36"/>
                </a:solidFill>
                <a:latin typeface="Calibri"/>
              </a:rPr>
              <a:t>±0.03 rad</a:t>
            </a:r>
            <a:r>
              <a:rPr sz="1500" b="0">
                <a:solidFill>
                  <a:srgbClr val="4A5A66"/>
                </a:solidFill>
                <a:latin typeface="Calibri"/>
              </a:rPr>
              <a:t> throughout all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4297680" cy="1225296"/>
          </a:xfrm>
          <a:prstGeom prst="roundRect">
            <a:avLst>
              <a:gd name="adj" fmla="val 6000"/>
            </a:avLst>
          </a:prstGeom>
          <a:solidFill>
            <a:srgbClr val="F4F1E9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0" y="1828800"/>
            <a:ext cx="38100" cy="122529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0608" y="1938528"/>
            <a:ext cx="3931920" cy="1042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φ  =  θ_m − N·θ_l  ≤  0.03 rad   «   gap_motor = 1.0 rad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→  dz = 0   →   T_mesh = cg·(ω_m − N·ω_l)   always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D3557"/>
                </a:solidFill>
                <a:latin typeface="Consolas"/>
              </a:rPr>
              <a:t>τ_l = Jl / (N²·η·cg)  =  5e-3 / 42.5  ≈  0.12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54864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The task is </a:t>
            </a:r>
            <a:r>
              <a:rPr sz="1500" b="1">
                <a:solidFill>
                  <a:srgbClr val="1C2B36"/>
                </a:solidFill>
                <a:latin typeface="Calibri"/>
              </a:rPr>
              <a:t>predicting damper lag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proportional to velocity — not dead-zone hysteresis.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sz="1500" b="1">
                <a:solidFill>
                  <a:srgbClr val="1C2B36"/>
                </a:solidFill>
                <a:latin typeface="Calibri"/>
              </a:rPr>
              <a:t>Longer context</a:t>
            </a:r>
            <a:r>
              <a:rPr sz="1500" b="0">
                <a:solidFill>
                  <a:srgbClr val="4A5A66"/>
                </a:solidFill>
                <a:latin typeface="Calibri"/>
              </a:rPr>
              <a:t> improves the velocity estimate from noisy quantised encoder data.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TCN (91 ms) &gt; GRU (64 ms) &gt; CNN (15 ms) — result follows directly from context length.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0644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E7F2F0"/>
          </a:solidFill>
          <a:ln w="12700">
            <a:solidFill>
              <a:srgbClr val="E7F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5806440"/>
            <a:ext cx="38100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5897880"/>
            <a:ext cx="1022299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D3557"/>
                </a:solidFill>
                <a:latin typeface="Georgia"/>
              </a:rPr>
              <a:t>Next step.  </a:t>
            </a:r>
            <a:r>
              <a:rPr sz="1500" b="0">
                <a:solidFill>
                  <a:srgbClr val="4A5A66"/>
                </a:solidFill>
                <a:latin typeface="Calibri"/>
              </a:rPr>
              <a:t>Reduce the output gap to 0.001 rad so the spring activates — that would stress-test </a:t>
            </a:r>
            <a:r>
              <a:rPr sz="1500" b="1">
                <a:solidFill>
                  <a:srgbClr val="1C2B36"/>
                </a:solidFill>
                <a:latin typeface="Calibri"/>
              </a:rPr>
              <a:t>hysteresis learning</a:t>
            </a:r>
            <a:r>
              <a:rPr sz="1500" b="0">
                <a:solidFill>
                  <a:srgbClr val="4A5A66"/>
                </a:solidFill>
                <a:latin typeface="Calibri"/>
              </a:rPr>
              <a:t> and likely widen the gap between GRU and TCN.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08  </a:t>
            </a:r>
            <a:r>
              <a:rPr sz="1100">
                <a:solidFill>
                  <a:srgbClr val="2A9D8F"/>
                </a:solidFill>
                <a:latin typeface="Consola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D3557"/>
                </a:solidFill>
                <a:latin typeface="Georgia"/>
              </a:rPr>
              <a:t>[Conclusion]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Riad ATTOU</cp:lastModifiedBy>
  <cp:revision>2</cp:revision>
  <dcterms:created xsi:type="dcterms:W3CDTF">2013-01-27T09:14:16Z</dcterms:created>
  <dcterms:modified xsi:type="dcterms:W3CDTF">2026-06-24T13:49:31Z</dcterms:modified>
  <cp:category/>
</cp:coreProperties>
</file>