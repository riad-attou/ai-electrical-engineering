
<file path=[Content_Types].xml><?xml version="1.0" encoding="utf-8"?>
<Types xmlns="http://schemas.openxmlformats.org/package/2006/content-types">
  <Default Extension="bin" ContentType="application/vnd.openxmlformats-officedocument.oleObject"/>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8" r:id="rId2"/>
    <p:sldId id="279" r:id="rId3"/>
    <p:sldId id="280" r:id="rId4"/>
    <p:sldId id="283" r:id="rId5"/>
    <p:sldId id="284" r:id="rId6"/>
    <p:sldId id="285" r:id="rId7"/>
    <p:sldId id="286" r:id="rId8"/>
    <p:sldId id="278" r:id="rId9"/>
    <p:sldId id="259" r:id="rId10"/>
    <p:sldId id="260" r:id="rId11"/>
    <p:sldId id="269" r:id="rId12"/>
    <p:sldId id="271" r:id="rId13"/>
    <p:sldId id="277" r:id="rId14"/>
    <p:sldId id="272" r:id="rId15"/>
    <p:sldId id="273" r:id="rId16"/>
    <p:sldId id="274" r:id="rId17"/>
    <p:sldId id="275"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7A5F"/>
    <a:srgbClr val="289D8F"/>
    <a:srgbClr val="1D3456"/>
    <a:srgbClr val="495A66"/>
    <a:srgbClr val="2BB5A5"/>
    <a:srgbClr val="35E9D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3" autoAdjust="0"/>
    <p:restoredTop sz="94726"/>
  </p:normalViewPr>
  <p:slideViewPr>
    <p:cSldViewPr snapToGrid="0" snapToObjects="1">
      <p:cViewPr>
        <p:scale>
          <a:sx n="75" d="100"/>
          <a:sy n="75" d="100"/>
        </p:scale>
        <p:origin x="1392" y="7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627E84-D2AA-6141-A287-75DE22FFF9BC}" type="datetimeFigureOut">
              <a:rPr lang="en-US" smtClean="0"/>
              <a:t>6/29/2026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D98A5-68E3-3A4A-A4C9-A2BAE67B4762}" type="slidenum">
              <a:rPr lang="en-US" smtClean="0"/>
              <a:t>‹#›</a:t>
            </a:fld>
            <a:endParaRPr lang="en-US" dirty="0"/>
          </a:p>
        </p:txBody>
      </p:sp>
    </p:spTree>
    <p:extLst>
      <p:ext uri="{BB962C8B-B14F-4D97-AF65-F5344CB8AC3E}">
        <p14:creationId xmlns:p14="http://schemas.microsoft.com/office/powerpoint/2010/main" val="3598079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h-TH"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D98A5-68E3-3A4A-A4C9-A2BAE67B4762}" type="slidenum">
              <a:rPr lang="en-US" smtClean="0"/>
              <a:t>9</a:t>
            </a:fld>
            <a:endParaRPr lang="en-US" dirty="0"/>
          </a:p>
        </p:txBody>
      </p:sp>
    </p:spTree>
    <p:extLst>
      <p:ext uri="{BB962C8B-B14F-4D97-AF65-F5344CB8AC3E}">
        <p14:creationId xmlns:p14="http://schemas.microsoft.com/office/powerpoint/2010/main" val="160107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h-TH"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D98A5-68E3-3A4A-A4C9-A2BAE67B4762}" type="slidenum">
              <a:rPr lang="en-US" smtClean="0"/>
              <a:t>14</a:t>
            </a:fld>
            <a:endParaRPr lang="en-US" dirty="0"/>
          </a:p>
        </p:txBody>
      </p:sp>
    </p:spTree>
    <p:extLst>
      <p:ext uri="{BB962C8B-B14F-4D97-AF65-F5344CB8AC3E}">
        <p14:creationId xmlns:p14="http://schemas.microsoft.com/office/powerpoint/2010/main" val="1935214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F74D0-B207-AC86-B11A-65600542B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90758-0CBB-AF28-2171-D1CB7F23EDB1}"/>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08B7E1F7-4659-4114-5682-0887F82C6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90B0E5-8EB2-F150-6BBB-424CD630912E}"/>
              </a:ext>
            </a:extLst>
          </p:cNvPr>
          <p:cNvSpPr>
            <a:spLocks noGrp="1"/>
          </p:cNvSpPr>
          <p:nvPr>
            <p:ph type="sldNum" sz="quarter" idx="5"/>
          </p:nvPr>
        </p:nvSpPr>
        <p:spPr/>
        <p:txBody>
          <a:bodyPr/>
          <a:lstStyle/>
          <a:p>
            <a:fld id="{D40D98A5-68E3-3A4A-A4C9-A2BAE67B4762}" type="slidenum">
              <a:rPr lang="en-US" smtClean="0"/>
              <a:t>15</a:t>
            </a:fld>
            <a:endParaRPr lang="en-US" dirty="0"/>
          </a:p>
        </p:txBody>
      </p:sp>
    </p:spTree>
    <p:extLst>
      <p:ext uri="{BB962C8B-B14F-4D97-AF65-F5344CB8AC3E}">
        <p14:creationId xmlns:p14="http://schemas.microsoft.com/office/powerpoint/2010/main" val="2087082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2FE5-A636-5AC3-AD8A-A70E5E725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40BB4-2310-3AFE-A62C-78E763B7F7F8}"/>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FC96589A-25DA-E970-0B8D-54E17B085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02E534-223F-7F4D-FB25-03FBD89700FD}"/>
              </a:ext>
            </a:extLst>
          </p:cNvPr>
          <p:cNvSpPr>
            <a:spLocks noGrp="1"/>
          </p:cNvSpPr>
          <p:nvPr>
            <p:ph type="sldNum" sz="quarter" idx="5"/>
          </p:nvPr>
        </p:nvSpPr>
        <p:spPr/>
        <p:txBody>
          <a:bodyPr/>
          <a:lstStyle/>
          <a:p>
            <a:fld id="{D40D98A5-68E3-3A4A-A4C9-A2BAE67B4762}" type="slidenum">
              <a:rPr lang="en-US" smtClean="0"/>
              <a:t>16</a:t>
            </a:fld>
            <a:endParaRPr lang="en-US" dirty="0"/>
          </a:p>
        </p:txBody>
      </p:sp>
    </p:spTree>
    <p:extLst>
      <p:ext uri="{BB962C8B-B14F-4D97-AF65-F5344CB8AC3E}">
        <p14:creationId xmlns:p14="http://schemas.microsoft.com/office/powerpoint/2010/main" val="203967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A640-77A3-8AC4-C75F-5A81BB673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8B5DF-D2B2-9FFF-0CC4-604F2E8B900D}"/>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8070800B-6DC8-D3A5-FF43-96D902E66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0CBA8D-FC32-EE58-C56F-EE6B41FEBB3B}"/>
              </a:ext>
            </a:extLst>
          </p:cNvPr>
          <p:cNvSpPr>
            <a:spLocks noGrp="1"/>
          </p:cNvSpPr>
          <p:nvPr>
            <p:ph type="sldNum" sz="quarter" idx="5"/>
          </p:nvPr>
        </p:nvSpPr>
        <p:spPr/>
        <p:txBody>
          <a:bodyPr/>
          <a:lstStyle/>
          <a:p>
            <a:fld id="{D40D98A5-68E3-3A4A-A4C9-A2BAE67B4762}" type="slidenum">
              <a:rPr lang="en-US" smtClean="0"/>
              <a:t>17</a:t>
            </a:fld>
            <a:endParaRPr lang="en-US" dirty="0"/>
          </a:p>
        </p:txBody>
      </p:sp>
    </p:spTree>
    <p:extLst>
      <p:ext uri="{BB962C8B-B14F-4D97-AF65-F5344CB8AC3E}">
        <p14:creationId xmlns:p14="http://schemas.microsoft.com/office/powerpoint/2010/main" val="2503845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F23E-E80D-6ED2-D18B-4EF18FC30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A91CA-106F-AE16-E121-0F6B9E02D5C5}"/>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373F878D-EB80-3913-E285-898107613E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C6DAD-1796-B20C-DD0C-465D04D7B055}"/>
              </a:ext>
            </a:extLst>
          </p:cNvPr>
          <p:cNvSpPr>
            <a:spLocks noGrp="1"/>
          </p:cNvSpPr>
          <p:nvPr>
            <p:ph type="sldNum" sz="quarter" idx="5"/>
          </p:nvPr>
        </p:nvSpPr>
        <p:spPr/>
        <p:txBody>
          <a:bodyPr/>
          <a:lstStyle/>
          <a:p>
            <a:fld id="{D40D98A5-68E3-3A4A-A4C9-A2BAE67B4762}" type="slidenum">
              <a:rPr lang="en-US" smtClean="0"/>
              <a:t>18</a:t>
            </a:fld>
            <a:endParaRPr lang="en-US" dirty="0"/>
          </a:p>
        </p:txBody>
      </p:sp>
    </p:spTree>
    <p:extLst>
      <p:ext uri="{BB962C8B-B14F-4D97-AF65-F5344CB8AC3E}">
        <p14:creationId xmlns:p14="http://schemas.microsoft.com/office/powerpoint/2010/main" val="151985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oleObject" Target="../embeddings/oleObject3.bin"/><Relationship Id="rId3" Type="http://schemas.openxmlformats.org/officeDocument/2006/relationships/slideLayout" Target="../slideLayouts/slideLayout7.xml"/><Relationship Id="rId7" Type="http://schemas.openxmlformats.org/officeDocument/2006/relationships/image" Target="../media/image4.png"/><Relationship Id="rId12" Type="http://schemas.openxmlformats.org/officeDocument/2006/relationships/image" Target="../media/image6.wmf"/><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11" Type="http://schemas.openxmlformats.org/officeDocument/2006/relationships/oleObject" Target="../embeddings/oleObject2.bin"/><Relationship Id="rId5" Type="http://schemas.openxmlformats.org/officeDocument/2006/relationships/image" Target="../media/image2.png"/><Relationship Id="rId10" Type="http://schemas.openxmlformats.org/officeDocument/2006/relationships/image" Target="../media/image5.wmf"/><Relationship Id="rId4" Type="http://schemas.openxmlformats.org/officeDocument/2006/relationships/image" Target="../media/image1.png"/><Relationship Id="rId9" Type="http://schemas.openxmlformats.org/officeDocument/2006/relationships/oleObject" Target="../embeddings/oleObject1.bin"/><Relationship Id="rId14" Type="http://schemas.openxmlformats.org/officeDocument/2006/relationships/image" Target="../media/image7.wmf"/></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slideLayout" Target="../slideLayouts/slideLayout7.xml"/><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video" Target="../media/media2.mp4"/><Relationship Id="rId16" Type="http://schemas.openxmlformats.org/officeDocument/2006/relationships/image" Target="../media/image17.png"/><Relationship Id="rId1" Type="http://schemas.microsoft.com/office/2007/relationships/media" Target="../media/media2.mp4"/><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5.wmf"/><Relationship Id="rId15" Type="http://schemas.openxmlformats.org/officeDocument/2006/relationships/image" Target="../media/image16.wmf"/><Relationship Id="rId10" Type="http://schemas.openxmlformats.org/officeDocument/2006/relationships/image" Target="../media/image13.png"/><Relationship Id="rId4" Type="http://schemas.openxmlformats.org/officeDocument/2006/relationships/oleObject" Target="../embeddings/oleObject1.bin"/><Relationship Id="rId9" Type="http://schemas.openxmlformats.org/officeDocument/2006/relationships/image" Target="../media/image12.png"/><Relationship Id="rId1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9.wmf"/><Relationship Id="rId18" Type="http://schemas.openxmlformats.org/officeDocument/2006/relationships/image" Target="../media/image21.wmf"/><Relationship Id="rId3" Type="http://schemas.openxmlformats.org/officeDocument/2006/relationships/image" Target="../media/image5.wmf"/><Relationship Id="rId21" Type="http://schemas.openxmlformats.org/officeDocument/2006/relationships/image" Target="../media/image24.png"/><Relationship Id="rId7" Type="http://schemas.openxmlformats.org/officeDocument/2006/relationships/image" Target="../media/image21.png"/><Relationship Id="rId12" Type="http://schemas.openxmlformats.org/officeDocument/2006/relationships/oleObject" Target="../embeddings/oleObject6.bin"/><Relationship Id="rId17" Type="http://schemas.openxmlformats.org/officeDocument/2006/relationships/oleObject" Target="../embeddings/oleObject8.bin"/><Relationship Id="rId2" Type="http://schemas.openxmlformats.org/officeDocument/2006/relationships/oleObject" Target="../embeddings/oleObject1.bin"/><Relationship Id="rId16" Type="http://schemas.openxmlformats.org/officeDocument/2006/relationships/image" Target="../media/image20.wmf"/><Relationship Id="rId20" Type="http://schemas.openxmlformats.org/officeDocument/2006/relationships/image" Target="../media/image22.wmf"/><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18.wmf"/><Relationship Id="rId5" Type="http://schemas.openxmlformats.org/officeDocument/2006/relationships/image" Target="../media/image10.png"/><Relationship Id="rId15" Type="http://schemas.openxmlformats.org/officeDocument/2006/relationships/oleObject" Target="../embeddings/oleObject7.bin"/><Relationship Id="rId10" Type="http://schemas.openxmlformats.org/officeDocument/2006/relationships/oleObject" Target="../embeddings/oleObject5.bin"/><Relationship Id="rId19" Type="http://schemas.openxmlformats.org/officeDocument/2006/relationships/oleObject" Target="../embeddings/oleObject9.bin"/><Relationship Id="rId4" Type="http://schemas.openxmlformats.org/officeDocument/2006/relationships/image" Target="../media/image19.png"/><Relationship Id="rId9" Type="http://schemas.openxmlformats.org/officeDocument/2006/relationships/image" Target="../media/image23.png"/><Relationship Id="rId14" Type="http://schemas.openxmlformats.org/officeDocument/2006/relationships/image" Target="../media/image26.png"/><Relationship Id="rId22"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9.wmf"/><Relationship Id="rId18" Type="http://schemas.openxmlformats.org/officeDocument/2006/relationships/image" Target="../media/image21.wmf"/><Relationship Id="rId3" Type="http://schemas.openxmlformats.org/officeDocument/2006/relationships/image" Target="../media/image5.wmf"/><Relationship Id="rId21" Type="http://schemas.openxmlformats.org/officeDocument/2006/relationships/image" Target="../media/image27.png"/><Relationship Id="rId7" Type="http://schemas.openxmlformats.org/officeDocument/2006/relationships/image" Target="../media/image21.png"/><Relationship Id="rId12" Type="http://schemas.openxmlformats.org/officeDocument/2006/relationships/oleObject" Target="../embeddings/oleObject6.bin"/><Relationship Id="rId17" Type="http://schemas.openxmlformats.org/officeDocument/2006/relationships/oleObject" Target="../embeddings/oleObject8.bin"/><Relationship Id="rId2" Type="http://schemas.openxmlformats.org/officeDocument/2006/relationships/oleObject" Target="../embeddings/oleObject1.bin"/><Relationship Id="rId16" Type="http://schemas.openxmlformats.org/officeDocument/2006/relationships/image" Target="../media/image20.wmf"/><Relationship Id="rId20" Type="http://schemas.openxmlformats.org/officeDocument/2006/relationships/image" Target="../media/image22.wmf"/><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18.wmf"/><Relationship Id="rId5" Type="http://schemas.openxmlformats.org/officeDocument/2006/relationships/image" Target="../media/image10.png"/><Relationship Id="rId15" Type="http://schemas.openxmlformats.org/officeDocument/2006/relationships/oleObject" Target="../embeddings/oleObject7.bin"/><Relationship Id="rId10" Type="http://schemas.openxmlformats.org/officeDocument/2006/relationships/oleObject" Target="../embeddings/oleObject5.bin"/><Relationship Id="rId19" Type="http://schemas.openxmlformats.org/officeDocument/2006/relationships/oleObject" Target="../embeddings/oleObject9.bin"/><Relationship Id="rId4" Type="http://schemas.openxmlformats.org/officeDocument/2006/relationships/image" Target="../media/image19.png"/><Relationship Id="rId9" Type="http://schemas.openxmlformats.org/officeDocument/2006/relationships/image" Target="../media/image23.png"/><Relationship Id="rId14" Type="http://schemas.openxmlformats.org/officeDocument/2006/relationships/image" Target="../media/image26.png"/><Relationship Id="rId22"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wmf"/><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10.pn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png"/></Relationships>
</file>

<file path=ppt/slides/_rels/slide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44.png"/><Relationship Id="rId10" Type="http://schemas.openxmlformats.org/officeDocument/2006/relationships/image" Target="../media/image42.png"/><Relationship Id="rId4" Type="http://schemas.openxmlformats.org/officeDocument/2006/relationships/image" Target="../media/image26.png"/><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9.bin"/><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0.png"/><Relationship Id="rId7" Type="http://schemas.openxmlformats.org/officeDocument/2006/relationships/image" Target="../media/image51.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4.png"/><Relationship Id="rId5" Type="http://schemas.openxmlformats.org/officeDocument/2006/relationships/image" Target="../media/image36.png"/><Relationship Id="rId10" Type="http://schemas.openxmlformats.org/officeDocument/2006/relationships/image" Target="../media/image53.png"/><Relationship Id="rId4" Type="http://schemas.openxmlformats.org/officeDocument/2006/relationships/image" Target="../media/image35.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0.png"/><Relationship Id="rId4" Type="http://schemas.openxmlformats.org/officeDocument/2006/relationships/image" Target="../media/image1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7.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1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A1  </a:t>
            </a:r>
            <a:r>
              <a:rPr lang="en-US" sz="1100" b="1" noProof="1">
                <a:solidFill>
                  <a:srgbClr val="2A9D8F"/>
                </a:solidFill>
                <a:latin typeface="Consolas"/>
              </a:rPr>
              <a:t>Vertical Pendulum Control</a:t>
            </a:r>
            <a:r>
              <a:rPr lang="en-US" sz="1100" noProof="1">
                <a:solidFill>
                  <a:srgbClr val="2A9D8F"/>
                </a:solidFill>
                <a:latin typeface="Consolas"/>
              </a:rPr>
              <a:t> - Introduction</a:t>
            </a:r>
          </a:p>
        </p:txBody>
      </p:sp>
      <p:sp>
        <p:nvSpPr>
          <p:cNvPr id="62" name="TextBox 61">
            <a:extLst>
              <a:ext uri="{FF2B5EF4-FFF2-40B4-BE49-F238E27FC236}">
                <a16:creationId xmlns:a16="http://schemas.microsoft.com/office/drawing/2014/main" id="{94F8AA02-4EDF-E48D-5C80-B00E2F9F72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Problem Formulation</a:t>
            </a:r>
          </a:p>
        </p:txBody>
      </p:sp>
      <p:sp>
        <p:nvSpPr>
          <p:cNvPr id="63" name="TextBox 62">
            <a:extLst>
              <a:ext uri="{FF2B5EF4-FFF2-40B4-BE49-F238E27FC236}">
                <a16:creationId xmlns:a16="http://schemas.microsoft.com/office/drawing/2014/main" id="{269A41D6-6C3E-66BA-CD58-07C035DE5429}"/>
              </a:ext>
            </a:extLst>
          </p:cNvPr>
          <p:cNvSpPr txBox="1"/>
          <p:nvPr/>
        </p:nvSpPr>
        <p:spPr>
          <a:xfrm>
            <a:off x="906780" y="1461856"/>
            <a:ext cx="10970278" cy="775597"/>
          </a:xfrm>
          <a:prstGeom prst="rect">
            <a:avLst/>
          </a:prstGeom>
          <a:noFill/>
        </p:spPr>
        <p:txBody>
          <a:bodyPr wrap="square" lIns="0" tIns="0" rIns="0" bIns="0" anchor="t">
            <a:spAutoFit/>
          </a:bodyPr>
          <a:lstStyle/>
          <a:p>
            <a:pPr>
              <a:lnSpc>
                <a:spcPct val="120000"/>
              </a:lnSpc>
            </a:pPr>
            <a:r>
              <a:rPr lang="th-TH" sz="1400" dirty="0"/>
              <a:t>Our work focused on the speed control of a brushed DC motor with a vertical pendulum using several control techniques. To make the project accessible and easy to understand, we used Python to derive the system dynamics by modeling the mathematical equations and validated the correctness of the mathematical model using Simulink Multibody.</a:t>
            </a:r>
            <a:endParaRPr lang="en-US" sz="1400" noProof="1">
              <a:solidFill>
                <a:srgbClr val="1D3557"/>
              </a:solidFill>
            </a:endParaRPr>
          </a:p>
        </p:txBody>
      </p:sp>
      <mc:AlternateContent xmlns:mc="http://schemas.openxmlformats.org/markup-compatibility/2006" xmlns:a14="http://schemas.microsoft.com/office/drawing/2010/main">
        <mc:Choice Requires="a14">
          <p:graphicFrame>
            <p:nvGraphicFramePr>
              <p:cNvPr id="68" name="Table 67">
                <a:extLst>
                  <a:ext uri="{FF2B5EF4-FFF2-40B4-BE49-F238E27FC236}">
                    <a16:creationId xmlns:a16="http://schemas.microsoft.com/office/drawing/2014/main" id="{23321865-6DE8-7F96-8782-E4168BE9C3FE}"/>
                  </a:ext>
                </a:extLst>
              </p:cNvPr>
              <p:cNvGraphicFramePr>
                <a:graphicFrameLocks noGrp="1"/>
              </p:cNvGraphicFramePr>
              <p:nvPr>
                <p:extLst>
                  <p:ext uri="{D42A27DB-BD31-4B8C-83A1-F6EECF244321}">
                    <p14:modId xmlns:p14="http://schemas.microsoft.com/office/powerpoint/2010/main" val="2602769045"/>
                  </p:ext>
                </p:extLst>
              </p:nvPr>
            </p:nvGraphicFramePr>
            <p:xfrm>
              <a:off x="8935661" y="2161072"/>
              <a:ext cx="2960389" cy="3291840"/>
            </p:xfrm>
            <a:graphic>
              <a:graphicData uri="http://schemas.openxmlformats.org/drawingml/2006/table">
                <a:tbl>
                  <a:tblPr>
                    <a:tableStyleId>{5C22544A-7EE6-4342-B048-85BDC9FD1C3A}</a:tableStyleId>
                  </a:tblPr>
                  <a:tblGrid>
                    <a:gridCol w="633361">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993528">
                      <a:extLst>
                        <a:ext uri="{9D8B030D-6E8A-4147-A177-3AD203B41FA5}">
                          <a16:colId xmlns:a16="http://schemas.microsoft.com/office/drawing/2014/main" val="1959305102"/>
                        </a:ext>
                      </a:extLst>
                    </a:gridCol>
                  </a:tblGrid>
                  <a:tr h="411480">
                    <a:tc>
                      <a:txBody>
                        <a:bodyPr/>
                        <a:lstStyle/>
                        <a:p>
                          <a:pPr algn="ctr"/>
                          <a:r>
                            <a:rPr lang="en-US" sz="1200" b="0" noProof="1">
                              <a:solidFill>
                                <a:srgbClr val="1D3557"/>
                              </a:solidFill>
                              <a:latin typeface="+mn-lt"/>
                            </a:rPr>
                            <a:t>Symbol</a:t>
                          </a:r>
                        </a:p>
                      </a:txBody>
                      <a:tcPr marL="73152" marT="27432" marB="27432" anchor="ctr">
                        <a:solidFill>
                          <a:srgbClr val="FBFAF6"/>
                        </a:solidFill>
                      </a:tcPr>
                    </a:tc>
                    <a:tc>
                      <a:txBody>
                        <a:bodyPr/>
                        <a:lstStyle/>
                        <a:p>
                          <a:pPr algn="ctr"/>
                          <a:r>
                            <a:rPr lang="en-US" sz="1200" b="0" noProof="1">
                              <a:solidFill>
                                <a:srgbClr val="4A5A66"/>
                              </a:solidFill>
                              <a:latin typeface="+mn-lt"/>
                            </a:rPr>
                            <a:t>Description</a:t>
                          </a:r>
                        </a:p>
                      </a:txBody>
                      <a:tcPr marL="73152" marT="27432" marB="27432" anchor="ctr">
                        <a:solidFill>
                          <a:srgbClr val="FBFAF6"/>
                        </a:solidFill>
                      </a:tcPr>
                    </a:tc>
                    <a:tc>
                      <a:txBody>
                        <a:bodyPr/>
                        <a:lstStyle/>
                        <a:p>
                          <a:pPr algn="ctr"/>
                          <a:r>
                            <a:rPr lang="en-US" sz="1200" b="0" noProof="1">
                              <a:solidFill>
                                <a:srgbClr val="4A5A66"/>
                              </a:solidFill>
                              <a:latin typeface="+mn-lt"/>
                            </a:rPr>
                            <a:t>Value</a:t>
                          </a:r>
                        </a:p>
                      </a:txBody>
                      <a:tcPr marL="73152" marT="27432" marB="27432" anchor="ctr">
                        <a:solidFill>
                          <a:srgbClr val="FBFAF6"/>
                        </a:solidFill>
                      </a:tcPr>
                    </a:tc>
                    <a:extLst>
                      <a:ext uri="{0D108BD9-81ED-4DB2-BD59-A6C34878D82A}">
                        <a16:rowId xmlns:a16="http://schemas.microsoft.com/office/drawing/2014/main" val="2612851237"/>
                      </a:ext>
                    </a:extLst>
                  </a:tr>
                  <a:tr h="411480">
                    <a:tc>
                      <a:txBody>
                        <a:bodyPr/>
                        <a:lstStyle/>
                        <a:p>
                          <a:pPr algn="ctr"/>
                          <a:r>
                            <a:rPr lang="en-US" sz="1200" b="0" noProof="1">
                              <a:solidFill>
                                <a:srgbClr val="1D3557"/>
                              </a:solidFill>
                              <a:latin typeface="+mn-lt"/>
                            </a:rPr>
                            <a:t>L</a:t>
                          </a:r>
                        </a:p>
                      </a:txBody>
                      <a:tcPr marL="73152" marT="27432" marB="27432" anchor="ctr">
                        <a:solidFill>
                          <a:srgbClr val="FBFAF6"/>
                        </a:solidFill>
                      </a:tcPr>
                    </a:tc>
                    <a:tc>
                      <a:txBody>
                        <a:bodyPr/>
                        <a:lstStyle/>
                        <a:p>
                          <a:r>
                            <a:rPr lang="en-US" sz="1200" b="0" noProof="1">
                              <a:solidFill>
                                <a:srgbClr val="4A5A66"/>
                              </a:solidFill>
                              <a:latin typeface="+mn-lt"/>
                            </a:rPr>
                            <a:t>Motor inductance</a:t>
                          </a:r>
                        </a:p>
                      </a:txBody>
                      <a:tcPr marL="73152" marT="27432" marB="27432" anchor="ctr">
                        <a:solidFill>
                          <a:srgbClr val="FBFAF6"/>
                        </a:solidFill>
                      </a:tcPr>
                    </a:tc>
                    <a:tc>
                      <a:txBody>
                        <a:bodyPr/>
                        <a:lstStyle/>
                        <a:p>
                          <a:pPr algn="ctr"/>
                          <a:r>
                            <a:rPr lang="en-US" sz="1200" b="0" noProof="1">
                              <a:solidFill>
                                <a:srgbClr val="4A5A66"/>
                              </a:solidFill>
                              <a:latin typeface="+mn-lt"/>
                            </a:rPr>
                            <a:t>4.0e-3</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pPr/>
                          <a14:m>
                            <m:oMathPara xmlns:m="http://schemas.openxmlformats.org/officeDocument/2006/math">
                              <m:oMathParaPr>
                                <m:jc m:val="centerGroup"/>
                              </m:oMathParaPr>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𝑉</m:t>
                                    </m:r>
                                  </m:e>
                                  <m:sub>
                                    <m:r>
                                      <a:rPr lang="en-US" sz="1200" b="0" i="1" noProof="1" smtClean="0">
                                        <a:solidFill>
                                          <a:srgbClr val="1D3557"/>
                                        </a:solidFill>
                                        <a:latin typeface="Cambria Math" panose="02040503050406030204" pitchFamily="18" charset="0"/>
                                      </a:rPr>
                                      <m:t>𝑖𝑛</m:t>
                                    </m:r>
                                  </m:sub>
                                </m:sSub>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Input voltage</a:t>
                          </a:r>
                        </a:p>
                      </a:txBody>
                      <a:tcPr marL="73152" marT="27432" marB="27432" anchor="ctr">
                        <a:solidFill>
                          <a:srgbClr val="FBFAF6"/>
                        </a:solidFill>
                      </a:tcPr>
                    </a:tc>
                    <a:tc>
                      <a:txBody>
                        <a:bodyPr/>
                        <a:lstStyle/>
                        <a:p>
                          <a:pPr algn="ctr"/>
                          <a:r>
                            <a:rPr lang="en-US" sz="1200" b="0" noProof="1">
                              <a:solidFill>
                                <a:srgbClr val="4A5A66"/>
                              </a:solidFill>
                              <a:latin typeface="+mn-lt"/>
                            </a:rPr>
                            <a:t>[-12.0, 12.0]</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lgn="ctr"/>
                          <a:r>
                            <a:rPr lang="en-US" sz="1200" b="0" noProof="1">
                              <a:solidFill>
                                <a:srgbClr val="1D3557"/>
                              </a:solidFill>
                              <a:latin typeface="+mn-lt"/>
                            </a:rPr>
                            <a:t>R</a:t>
                          </a:r>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Motor Resistancce</a:t>
                          </a:r>
                        </a:p>
                      </a:txBody>
                      <a:tcPr marL="73152" marT="27432" marB="27432" anchor="ctr">
                        <a:solidFill>
                          <a:srgbClr val="FBFAF6"/>
                        </a:solidFill>
                      </a:tcPr>
                    </a:tc>
                    <a:tc>
                      <a:txBody>
                        <a:bodyPr/>
                        <a:lstStyle/>
                        <a:p>
                          <a:pPr algn="ctr"/>
                          <a:r>
                            <a:rPr lang="en-US" sz="1200" b="0" noProof="1">
                              <a:solidFill>
                                <a:srgbClr val="4A5A66"/>
                              </a:solidFill>
                              <a:latin typeface="+mn-lt"/>
                            </a:rPr>
                            <a:t>3.0</a:t>
                          </a: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algn="ctr"/>
                          <a14:m>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𝐾</m:t>
                                  </m:r>
                                </m:e>
                                <m:sub>
                                  <m:r>
                                    <a:rPr lang="en-US" sz="1200" b="0" i="1" noProof="1" smtClean="0">
                                      <a:solidFill>
                                        <a:srgbClr val="1D3557"/>
                                      </a:solidFill>
                                      <a:latin typeface="Cambria Math" panose="02040503050406030204" pitchFamily="18" charset="0"/>
                                    </a:rPr>
                                    <m:t>𝑏</m:t>
                                  </m:r>
                                </m:sub>
                              </m:sSub>
                            </m:oMath>
                          </a14:m>
                          <a:r>
                            <a:rPr lang="en-US" sz="1200" b="0" noProof="1">
                              <a:solidFill>
                                <a:srgbClr val="1D3557"/>
                              </a:solidFill>
                              <a:latin typeface="+mn-lt"/>
                            </a:rPr>
                            <a:t>, </a:t>
                          </a:r>
                          <a14:m>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𝐾</m:t>
                                  </m:r>
                                </m:e>
                                <m:sub>
                                  <m:r>
                                    <a:rPr lang="en-US" sz="1200" b="0" i="1" noProof="1" smtClean="0">
                                      <a:solidFill>
                                        <a:srgbClr val="1D3557"/>
                                      </a:solidFill>
                                      <a:latin typeface="Cambria Math" panose="02040503050406030204" pitchFamily="18" charset="0"/>
                                    </a:rPr>
                                    <m:t>𝑡</m:t>
                                  </m:r>
                                </m:sub>
                              </m:sSub>
                            </m:oMath>
                          </a14:m>
                          <a:endParaRPr lang="en-US" sz="1200" b="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Motor Constant</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𝐽</m:t>
                                    </m:r>
                                  </m:e>
                                  <m:sub>
                                    <m:r>
                                      <a:rPr lang="en-US" sz="1200" b="0" i="1" noProof="1" smtClean="0">
                                        <a:solidFill>
                                          <a:srgbClr val="1D3557"/>
                                        </a:solidFill>
                                        <a:latin typeface="Cambria Math" panose="02040503050406030204" pitchFamily="18" charset="0"/>
                                      </a:rPr>
                                      <m:t>𝑒𝑓</m:t>
                                    </m:r>
                                  </m:sub>
                                </m:sSub>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Total Inertia</a:t>
                          </a:r>
                        </a:p>
                      </a:txBody>
                      <a:tcPr marL="73152" marT="27432" marB="27432" anchor="ctr">
                        <a:solidFill>
                          <a:srgbClr val="FBFAF6"/>
                        </a:solidFill>
                      </a:tcPr>
                    </a:tc>
                    <a:tc>
                      <a:txBody>
                        <a:bodyPr/>
                        <a:lstStyle/>
                        <a:p>
                          <a:pPr algn="ctr"/>
                          <a:r>
                            <a:rPr lang="en-US" sz="1200" b="0" noProof="1">
                              <a:solidFill>
                                <a:srgbClr val="4A5A66"/>
                              </a:solidFill>
                              <a:latin typeface="+mn-lt"/>
                            </a:rPr>
                            <a:t>7.04e-5</a:t>
                          </a: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pPr algn="ctr"/>
                          <a:r>
                            <a:rPr lang="en-US" sz="1200" b="0" i="0" noProof="1">
                              <a:solidFill>
                                <a:srgbClr val="495A66"/>
                              </a:solidFill>
                              <a:latin typeface="+mn-lt"/>
                            </a:rPr>
                            <a:t>m</a:t>
                          </a:r>
                        </a:p>
                      </a:txBody>
                      <a:tcPr marL="73152" marT="27432" marB="27432" anchor="ctr">
                        <a:solidFill>
                          <a:srgbClr val="FBFAF6"/>
                        </a:solidFill>
                      </a:tcPr>
                    </a:tc>
                    <a:tc>
                      <a:txBody>
                        <a:bodyPr/>
                        <a:lstStyle/>
                        <a:p>
                          <a:r>
                            <a:rPr lang="en-US" sz="1200" b="0" i="0" kern="1200" dirty="0">
                              <a:solidFill>
                                <a:srgbClr val="495A66"/>
                              </a:solidFill>
                              <a:effectLst/>
                              <a:latin typeface="+mn-lt"/>
                              <a:ea typeface="+mn-ea"/>
                              <a:cs typeface="+mn-cs"/>
                            </a:rPr>
                            <a:t>End effector mass</a:t>
                          </a:r>
                          <a:endParaRPr lang="en-US" sz="1200" b="1" noProof="1">
                            <a:solidFill>
                              <a:srgbClr val="495A66"/>
                            </a:solidFill>
                            <a:latin typeface="+mn-lt"/>
                          </a:endParaRP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3264284527"/>
                      </a:ext>
                    </a:extLst>
                  </a:tr>
                  <a:tr h="41148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noProof="1" smtClean="0">
                                        <a:solidFill>
                                          <a:srgbClr val="495A66"/>
                                        </a:solidFill>
                                        <a:latin typeface="Cambria Math" panose="02040503050406030204" pitchFamily="18" charset="0"/>
                                      </a:rPr>
                                    </m:ctrlPr>
                                  </m:sSubPr>
                                  <m:e>
                                    <m:r>
                                      <a:rPr lang="en-US" sz="1200" b="0" i="1" noProof="1" smtClean="0">
                                        <a:solidFill>
                                          <a:srgbClr val="495A66"/>
                                        </a:solidFill>
                                        <a:latin typeface="Cambria Math" panose="02040503050406030204" pitchFamily="18" charset="0"/>
                                      </a:rPr>
                                      <m:t>𝑙</m:t>
                                    </m:r>
                                  </m:e>
                                  <m:sub>
                                    <m:r>
                                      <a:rPr lang="en-US" sz="1200" b="0" i="1" noProof="1" smtClean="0">
                                        <a:solidFill>
                                          <a:srgbClr val="495A66"/>
                                        </a:solidFill>
                                        <a:latin typeface="Cambria Math" panose="02040503050406030204" pitchFamily="18" charset="0"/>
                                      </a:rPr>
                                      <m:t>𝑐𝑚</m:t>
                                    </m:r>
                                  </m:sub>
                                </m:sSub>
                              </m:oMath>
                            </m:oMathPara>
                          </a14:m>
                          <a:endParaRPr lang="en-US" sz="1200" b="0" i="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Rod length</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0.1</a:t>
                          </a:r>
                        </a:p>
                      </a:txBody>
                      <a:tcPr marL="73152" marT="27432" marB="27432" anchor="ctr">
                        <a:solidFill>
                          <a:srgbClr val="FBFAF6"/>
                        </a:solidFill>
                      </a:tcPr>
                    </a:tc>
                    <a:extLst>
                      <a:ext uri="{0D108BD9-81ED-4DB2-BD59-A6C34878D82A}">
                        <a16:rowId xmlns:a16="http://schemas.microsoft.com/office/drawing/2014/main" val="39505957"/>
                      </a:ext>
                    </a:extLst>
                  </a:tr>
                </a:tbl>
              </a:graphicData>
            </a:graphic>
          </p:graphicFrame>
        </mc:Choice>
        <mc:Fallback xmlns="">
          <p:graphicFrame>
            <p:nvGraphicFramePr>
              <p:cNvPr id="68" name="Table 67">
                <a:extLst>
                  <a:ext uri="{FF2B5EF4-FFF2-40B4-BE49-F238E27FC236}">
                    <a16:creationId xmlns:a16="http://schemas.microsoft.com/office/drawing/2014/main" id="{23321865-6DE8-7F96-8782-E4168BE9C3FE}"/>
                  </a:ext>
                </a:extLst>
              </p:cNvPr>
              <p:cNvGraphicFramePr>
                <a:graphicFrameLocks noGrp="1"/>
              </p:cNvGraphicFramePr>
              <p:nvPr>
                <p:extLst>
                  <p:ext uri="{D42A27DB-BD31-4B8C-83A1-F6EECF244321}">
                    <p14:modId xmlns:p14="http://schemas.microsoft.com/office/powerpoint/2010/main" val="2602769045"/>
                  </p:ext>
                </p:extLst>
              </p:nvPr>
            </p:nvGraphicFramePr>
            <p:xfrm>
              <a:off x="8935661" y="2161072"/>
              <a:ext cx="2960389" cy="3291840"/>
            </p:xfrm>
            <a:graphic>
              <a:graphicData uri="http://schemas.openxmlformats.org/drawingml/2006/table">
                <a:tbl>
                  <a:tblPr>
                    <a:tableStyleId>{5C22544A-7EE6-4342-B048-85BDC9FD1C3A}</a:tableStyleId>
                  </a:tblPr>
                  <a:tblGrid>
                    <a:gridCol w="633361">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993528">
                      <a:extLst>
                        <a:ext uri="{9D8B030D-6E8A-4147-A177-3AD203B41FA5}">
                          <a16:colId xmlns:a16="http://schemas.microsoft.com/office/drawing/2014/main" val="1959305102"/>
                        </a:ext>
                      </a:extLst>
                    </a:gridCol>
                  </a:tblGrid>
                  <a:tr h="411480">
                    <a:tc>
                      <a:txBody>
                        <a:bodyPr/>
                        <a:lstStyle/>
                        <a:p>
                          <a:pPr algn="ctr"/>
                          <a:r>
                            <a:rPr lang="en-US" sz="1200" b="0" noProof="1">
                              <a:solidFill>
                                <a:srgbClr val="1D3557"/>
                              </a:solidFill>
                              <a:latin typeface="+mn-lt"/>
                            </a:rPr>
                            <a:t>Symbol</a:t>
                          </a:r>
                        </a:p>
                      </a:txBody>
                      <a:tcPr marL="73152" marT="27432" marB="27432" anchor="ctr">
                        <a:solidFill>
                          <a:srgbClr val="FBFAF6"/>
                        </a:solidFill>
                      </a:tcPr>
                    </a:tc>
                    <a:tc>
                      <a:txBody>
                        <a:bodyPr/>
                        <a:lstStyle/>
                        <a:p>
                          <a:pPr algn="ctr"/>
                          <a:r>
                            <a:rPr lang="en-US" sz="1200" b="0" noProof="1">
                              <a:solidFill>
                                <a:srgbClr val="4A5A66"/>
                              </a:solidFill>
                              <a:latin typeface="+mn-lt"/>
                            </a:rPr>
                            <a:t>Description</a:t>
                          </a:r>
                        </a:p>
                      </a:txBody>
                      <a:tcPr marL="73152" marT="27432" marB="27432" anchor="ctr">
                        <a:solidFill>
                          <a:srgbClr val="FBFAF6"/>
                        </a:solidFill>
                      </a:tcPr>
                    </a:tc>
                    <a:tc>
                      <a:txBody>
                        <a:bodyPr/>
                        <a:lstStyle/>
                        <a:p>
                          <a:pPr algn="ctr"/>
                          <a:r>
                            <a:rPr lang="en-US" sz="1200" b="0" noProof="1">
                              <a:solidFill>
                                <a:srgbClr val="4A5A66"/>
                              </a:solidFill>
                              <a:latin typeface="+mn-lt"/>
                            </a:rPr>
                            <a:t>Value</a:t>
                          </a:r>
                        </a:p>
                      </a:txBody>
                      <a:tcPr marL="73152" marT="27432" marB="27432" anchor="ctr">
                        <a:solidFill>
                          <a:srgbClr val="FBFAF6"/>
                        </a:solidFill>
                      </a:tcPr>
                    </a:tc>
                    <a:extLst>
                      <a:ext uri="{0D108BD9-81ED-4DB2-BD59-A6C34878D82A}">
                        <a16:rowId xmlns:a16="http://schemas.microsoft.com/office/drawing/2014/main" val="2612851237"/>
                      </a:ext>
                    </a:extLst>
                  </a:tr>
                  <a:tr h="411480">
                    <a:tc>
                      <a:txBody>
                        <a:bodyPr/>
                        <a:lstStyle/>
                        <a:p>
                          <a:pPr algn="ctr"/>
                          <a:r>
                            <a:rPr lang="en-US" sz="1200" b="0" noProof="1">
                              <a:solidFill>
                                <a:srgbClr val="1D3557"/>
                              </a:solidFill>
                              <a:latin typeface="+mn-lt"/>
                            </a:rPr>
                            <a:t>L</a:t>
                          </a:r>
                        </a:p>
                      </a:txBody>
                      <a:tcPr marL="73152" marT="27432" marB="27432" anchor="ctr">
                        <a:solidFill>
                          <a:srgbClr val="FBFAF6"/>
                        </a:solidFill>
                      </a:tcPr>
                    </a:tc>
                    <a:tc>
                      <a:txBody>
                        <a:bodyPr/>
                        <a:lstStyle/>
                        <a:p>
                          <a:r>
                            <a:rPr lang="en-US" sz="1200" b="0" noProof="1">
                              <a:solidFill>
                                <a:srgbClr val="4A5A66"/>
                              </a:solidFill>
                              <a:latin typeface="+mn-lt"/>
                            </a:rPr>
                            <a:t>Motor inductance</a:t>
                          </a:r>
                        </a:p>
                      </a:txBody>
                      <a:tcPr marL="73152" marT="27432" marB="27432" anchor="ctr">
                        <a:solidFill>
                          <a:srgbClr val="FBFAF6"/>
                        </a:solidFill>
                      </a:tcPr>
                    </a:tc>
                    <a:tc>
                      <a:txBody>
                        <a:bodyPr/>
                        <a:lstStyle/>
                        <a:p>
                          <a:pPr algn="ctr"/>
                          <a:r>
                            <a:rPr lang="en-US" sz="1200" b="0" noProof="1">
                              <a:solidFill>
                                <a:srgbClr val="4A5A66"/>
                              </a:solidFill>
                              <a:latin typeface="+mn-lt"/>
                            </a:rPr>
                            <a:t>4.0e-3</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endParaRPr lang="th-TH"/>
                        </a:p>
                      </a:txBody>
                      <a:tcPr marL="73152" marT="27432" marB="27432" anchor="ctr">
                        <a:blipFill>
                          <a:blip r:embed="rId4"/>
                          <a:stretch>
                            <a:fillRect l="-962" t="-200000" r="-370192" b="-500000"/>
                          </a:stretch>
                        </a:blipFill>
                      </a:tcPr>
                    </a:tc>
                    <a:tc>
                      <a:txBody>
                        <a:bodyPr/>
                        <a:lstStyle/>
                        <a:p>
                          <a:r>
                            <a:rPr lang="en-US" sz="1200" b="0" noProof="1">
                              <a:solidFill>
                                <a:srgbClr val="4A5A66"/>
                              </a:solidFill>
                              <a:latin typeface="+mn-lt"/>
                            </a:rPr>
                            <a:t>Input voltage</a:t>
                          </a:r>
                        </a:p>
                      </a:txBody>
                      <a:tcPr marL="73152" marT="27432" marB="27432" anchor="ctr">
                        <a:solidFill>
                          <a:srgbClr val="FBFAF6"/>
                        </a:solidFill>
                      </a:tcPr>
                    </a:tc>
                    <a:tc>
                      <a:txBody>
                        <a:bodyPr/>
                        <a:lstStyle/>
                        <a:p>
                          <a:pPr algn="ctr"/>
                          <a:r>
                            <a:rPr lang="en-US" sz="1200" b="0" noProof="1">
                              <a:solidFill>
                                <a:srgbClr val="4A5A66"/>
                              </a:solidFill>
                              <a:latin typeface="+mn-lt"/>
                            </a:rPr>
                            <a:t>[-12.0, 12.0]</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lgn="ctr"/>
                          <a:r>
                            <a:rPr lang="en-US" sz="1200" b="0" noProof="1">
                              <a:solidFill>
                                <a:srgbClr val="1D3557"/>
                              </a:solidFill>
                              <a:latin typeface="+mn-lt"/>
                            </a:rPr>
                            <a:t>R</a:t>
                          </a:r>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Motor Resistancce</a:t>
                          </a:r>
                        </a:p>
                      </a:txBody>
                      <a:tcPr marL="73152" marT="27432" marB="27432" anchor="ctr">
                        <a:solidFill>
                          <a:srgbClr val="FBFAF6"/>
                        </a:solidFill>
                      </a:tcPr>
                    </a:tc>
                    <a:tc>
                      <a:txBody>
                        <a:bodyPr/>
                        <a:lstStyle/>
                        <a:p>
                          <a:pPr algn="ctr"/>
                          <a:r>
                            <a:rPr lang="en-US" sz="1200" b="0" noProof="1">
                              <a:solidFill>
                                <a:srgbClr val="4A5A66"/>
                              </a:solidFill>
                              <a:latin typeface="+mn-lt"/>
                            </a:rPr>
                            <a:t>3.0</a:t>
                          </a: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endParaRPr lang="th-TH"/>
                        </a:p>
                      </a:txBody>
                      <a:tcPr marL="73152" marT="27432" marB="27432" anchor="ctr">
                        <a:blipFill>
                          <a:blip r:embed="rId4"/>
                          <a:stretch>
                            <a:fillRect l="-962" t="-405970" r="-370192" b="-305970"/>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Motor Constant</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endParaRPr lang="th-TH"/>
                        </a:p>
                      </a:txBody>
                      <a:tcPr marL="73152" marT="27432" marB="27432" anchor="ctr">
                        <a:blipFill>
                          <a:blip r:embed="rId4"/>
                          <a:stretch>
                            <a:fillRect l="-962" t="-498529" r="-370192" b="-201471"/>
                          </a:stretch>
                        </a:blipFill>
                      </a:tcPr>
                    </a:tc>
                    <a:tc>
                      <a:txBody>
                        <a:bodyPr/>
                        <a:lstStyle/>
                        <a:p>
                          <a:r>
                            <a:rPr lang="en-US" sz="1200" b="0" noProof="1">
                              <a:solidFill>
                                <a:srgbClr val="4A5A66"/>
                              </a:solidFill>
                              <a:latin typeface="+mn-lt"/>
                            </a:rPr>
                            <a:t>Total Inertia</a:t>
                          </a:r>
                        </a:p>
                      </a:txBody>
                      <a:tcPr marL="73152" marT="27432" marB="27432" anchor="ctr">
                        <a:solidFill>
                          <a:srgbClr val="FBFAF6"/>
                        </a:solidFill>
                      </a:tcPr>
                    </a:tc>
                    <a:tc>
                      <a:txBody>
                        <a:bodyPr/>
                        <a:lstStyle/>
                        <a:p>
                          <a:pPr algn="ctr"/>
                          <a:r>
                            <a:rPr lang="en-US" sz="1200" b="0" noProof="1">
                              <a:solidFill>
                                <a:srgbClr val="4A5A66"/>
                              </a:solidFill>
                              <a:latin typeface="+mn-lt"/>
                            </a:rPr>
                            <a:t>7.04e-5</a:t>
                          </a: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pPr algn="ctr"/>
                          <a:r>
                            <a:rPr lang="en-US" sz="1200" b="0" i="0" noProof="1">
                              <a:solidFill>
                                <a:srgbClr val="495A66"/>
                              </a:solidFill>
                              <a:latin typeface="+mn-lt"/>
                            </a:rPr>
                            <a:t>m</a:t>
                          </a:r>
                        </a:p>
                      </a:txBody>
                      <a:tcPr marL="73152" marT="27432" marB="27432" anchor="ctr">
                        <a:solidFill>
                          <a:srgbClr val="FBFAF6"/>
                        </a:solidFill>
                      </a:tcPr>
                    </a:tc>
                    <a:tc>
                      <a:txBody>
                        <a:bodyPr/>
                        <a:lstStyle/>
                        <a:p>
                          <a:r>
                            <a:rPr lang="en-US" sz="1200" b="0" i="0" kern="1200" dirty="0">
                              <a:solidFill>
                                <a:srgbClr val="495A66"/>
                              </a:solidFill>
                              <a:effectLst/>
                              <a:latin typeface="+mn-lt"/>
                              <a:ea typeface="+mn-ea"/>
                              <a:cs typeface="+mn-cs"/>
                            </a:rPr>
                            <a:t>End effector mass</a:t>
                          </a:r>
                          <a:endParaRPr lang="en-US" sz="1200" b="1" noProof="1">
                            <a:solidFill>
                              <a:srgbClr val="495A66"/>
                            </a:solidFill>
                            <a:latin typeface="+mn-lt"/>
                          </a:endParaRP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3264284527"/>
                      </a:ext>
                    </a:extLst>
                  </a:tr>
                  <a:tr h="411480">
                    <a:tc>
                      <a:txBody>
                        <a:bodyPr/>
                        <a:lstStyle/>
                        <a:p>
                          <a:endParaRPr lang="th-TH"/>
                        </a:p>
                      </a:txBody>
                      <a:tcPr marL="73152" marT="27432" marB="27432" anchor="ctr">
                        <a:blipFill>
                          <a:blip r:embed="rId4"/>
                          <a:stretch>
                            <a:fillRect l="-962" t="-697059" r="-370192" b="-2941"/>
                          </a:stretch>
                        </a:blipFill>
                      </a:tcPr>
                    </a:tc>
                    <a:tc>
                      <a:txBody>
                        <a:bodyPr/>
                        <a:lstStyle/>
                        <a:p>
                          <a:r>
                            <a:rPr lang="en-US" sz="1200" b="0" noProof="1">
                              <a:solidFill>
                                <a:srgbClr val="495A66"/>
                              </a:solidFill>
                              <a:latin typeface="+mn-lt"/>
                            </a:rPr>
                            <a:t>Rod length</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0.1</a:t>
                          </a:r>
                        </a:p>
                      </a:txBody>
                      <a:tcPr marL="73152" marT="27432" marB="27432" anchor="ctr">
                        <a:solidFill>
                          <a:srgbClr val="FBFAF6"/>
                        </a:solidFill>
                      </a:tcPr>
                    </a:tc>
                    <a:extLst>
                      <a:ext uri="{0D108BD9-81ED-4DB2-BD59-A6C34878D82A}">
                        <a16:rowId xmlns:a16="http://schemas.microsoft.com/office/drawing/2014/main" val="39505957"/>
                      </a:ext>
                    </a:extLst>
                  </a:tr>
                </a:tbl>
              </a:graphicData>
            </a:graphic>
          </p:graphicFrame>
        </mc:Fallback>
      </mc:AlternateContent>
      <p:pic>
        <p:nvPicPr>
          <p:cNvPr id="5" name="20260627-0703-22.6454049">
            <a:hlinkClick r:id="" action="ppaction://media"/>
            <a:extLst>
              <a:ext uri="{FF2B5EF4-FFF2-40B4-BE49-F238E27FC236}">
                <a16:creationId xmlns:a16="http://schemas.microsoft.com/office/drawing/2014/main" id="{A2B1766F-C7C8-960B-6241-727B8F88E8B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62650" y="2484916"/>
            <a:ext cx="3146331" cy="2663765"/>
          </a:xfrm>
          <a:prstGeom prst="rect">
            <a:avLst/>
          </a:prstGeom>
        </p:spPr>
      </p:pic>
      <p:pic>
        <p:nvPicPr>
          <p:cNvPr id="6" name="Picture 5">
            <a:extLst>
              <a:ext uri="{FF2B5EF4-FFF2-40B4-BE49-F238E27FC236}">
                <a16:creationId xmlns:a16="http://schemas.microsoft.com/office/drawing/2014/main" id="{895FB6E7-070A-A08B-7BF0-A6790AE51D0B}"/>
              </a:ext>
            </a:extLst>
          </p:cNvPr>
          <p:cNvPicPr>
            <a:picLocks noChangeAspect="1"/>
          </p:cNvPicPr>
          <p:nvPr/>
        </p:nvPicPr>
        <p:blipFill>
          <a:blip r:embed="rId6"/>
          <a:stretch>
            <a:fillRect/>
          </a:stretch>
        </p:blipFill>
        <p:spPr>
          <a:xfrm>
            <a:off x="4610054" y="5706508"/>
            <a:ext cx="7378975" cy="971667"/>
          </a:xfrm>
          <a:prstGeom prst="rect">
            <a:avLst/>
          </a:prstGeom>
        </p:spPr>
      </p:pic>
      <p:cxnSp>
        <p:nvCxnSpPr>
          <p:cNvPr id="8" name="Straight Arrow Connector 7">
            <a:extLst>
              <a:ext uri="{FF2B5EF4-FFF2-40B4-BE49-F238E27FC236}">
                <a16:creationId xmlns:a16="http://schemas.microsoft.com/office/drawing/2014/main" id="{05C91524-7A58-AC70-9646-E62F0E73B9B1}"/>
              </a:ext>
            </a:extLst>
          </p:cNvPr>
          <p:cNvCxnSpPr>
            <a:cxnSpLocks/>
          </p:cNvCxnSpPr>
          <p:nvPr/>
        </p:nvCxnSpPr>
        <p:spPr>
          <a:xfrm>
            <a:off x="1340498" y="5710318"/>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ounded Rectangle 16">
            <a:extLst>
              <a:ext uri="{FF2B5EF4-FFF2-40B4-BE49-F238E27FC236}">
                <a16:creationId xmlns:a16="http://schemas.microsoft.com/office/drawing/2014/main" id="{F9F60AE9-D4FB-948E-B853-CB035493C576}"/>
              </a:ext>
            </a:extLst>
          </p:cNvPr>
          <p:cNvSpPr/>
          <p:nvPr/>
        </p:nvSpPr>
        <p:spPr>
          <a:xfrm>
            <a:off x="1989113" y="5470591"/>
            <a:ext cx="1748391" cy="475701"/>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Math model plant</a:t>
            </a:r>
          </a:p>
        </p:txBody>
      </p:sp>
      <p:sp>
        <p:nvSpPr>
          <p:cNvPr id="11" name="Rounded Rectangle 16">
            <a:extLst>
              <a:ext uri="{FF2B5EF4-FFF2-40B4-BE49-F238E27FC236}">
                <a16:creationId xmlns:a16="http://schemas.microsoft.com/office/drawing/2014/main" id="{9C18896D-19AF-1B42-09B8-6A50AC355202}"/>
              </a:ext>
            </a:extLst>
          </p:cNvPr>
          <p:cNvSpPr/>
          <p:nvPr/>
        </p:nvSpPr>
        <p:spPr>
          <a:xfrm>
            <a:off x="1970805" y="6178161"/>
            <a:ext cx="1748391" cy="475701"/>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noProof="1">
                <a:solidFill>
                  <a:srgbClr val="1D3456"/>
                </a:solidFill>
              </a:rPr>
              <a:t>       Simulink</a:t>
            </a:r>
          </a:p>
        </p:txBody>
      </p:sp>
      <p:cxnSp>
        <p:nvCxnSpPr>
          <p:cNvPr id="15" name="Straight Arrow Connector 14">
            <a:extLst>
              <a:ext uri="{FF2B5EF4-FFF2-40B4-BE49-F238E27FC236}">
                <a16:creationId xmlns:a16="http://schemas.microsoft.com/office/drawing/2014/main" id="{34E3325A-716F-208C-9DF0-D7C5AA8040E1}"/>
              </a:ext>
            </a:extLst>
          </p:cNvPr>
          <p:cNvCxnSpPr>
            <a:cxnSpLocks/>
            <a:endCxn id="11" idx="1"/>
          </p:cNvCxnSpPr>
          <p:nvPr/>
        </p:nvCxnSpPr>
        <p:spPr>
          <a:xfrm>
            <a:off x="1567042" y="6416012"/>
            <a:ext cx="403763"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F87CB7E-B7FE-2C36-4A7C-5E2FA560CCB7}"/>
              </a:ext>
            </a:extLst>
          </p:cNvPr>
          <p:cNvCxnSpPr>
            <a:cxnSpLocks/>
          </p:cNvCxnSpPr>
          <p:nvPr/>
        </p:nvCxnSpPr>
        <p:spPr>
          <a:xfrm>
            <a:off x="1573392" y="5706508"/>
            <a:ext cx="0" cy="70170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pic>
        <p:nvPicPr>
          <p:cNvPr id="1026" name="Picture 2" descr="MATLAB - Wikipedia">
            <a:extLst>
              <a:ext uri="{FF2B5EF4-FFF2-40B4-BE49-F238E27FC236}">
                <a16:creationId xmlns:a16="http://schemas.microsoft.com/office/drawing/2014/main" id="{BD5616FD-29BB-03BA-5243-6DD731E9BC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9226" y="6253372"/>
            <a:ext cx="363377" cy="3252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0CBC826-4B04-4549-F7D9-95E8E7688B47}"/>
                  </a:ext>
                </a:extLst>
              </p:cNvPr>
              <p:cNvSpPr txBox="1"/>
              <p:nvPr/>
            </p:nvSpPr>
            <p:spPr>
              <a:xfrm>
                <a:off x="1408049" y="5420226"/>
                <a:ext cx="4337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3.5 </m:t>
                      </m:r>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33" name="TextBox 32">
                <a:extLst>
                  <a:ext uri="{FF2B5EF4-FFF2-40B4-BE49-F238E27FC236}">
                    <a16:creationId xmlns:a16="http://schemas.microsoft.com/office/drawing/2014/main" id="{80CBC826-4B04-4549-F7D9-95E8E7688B47}"/>
                  </a:ext>
                </a:extLst>
              </p:cNvPr>
              <p:cNvSpPr txBox="1">
                <a:spLocks noRot="1" noChangeAspect="1" noMove="1" noResize="1" noEditPoints="1" noAdjustHandles="1" noChangeArrowheads="1" noChangeShapeType="1" noTextEdit="1"/>
              </p:cNvSpPr>
              <p:nvPr/>
            </p:nvSpPr>
            <p:spPr>
              <a:xfrm>
                <a:off x="1408049" y="5420226"/>
                <a:ext cx="433708" cy="215444"/>
              </a:xfrm>
              <a:prstGeom prst="rect">
                <a:avLst/>
              </a:prstGeom>
              <a:blipFill>
                <a:blip r:embed="rId8"/>
                <a:stretch>
                  <a:fillRect l="-8451" r="-7042" b="-8571"/>
                </a:stretch>
              </a:blipFill>
            </p:spPr>
            <p:txBody>
              <a:bodyPr/>
              <a:lstStyle/>
              <a:p>
                <a:r>
                  <a:rPr lang="th-TH">
                    <a:noFill/>
                  </a:rPr>
                  <a:t> </a:t>
                </a:r>
              </a:p>
            </p:txBody>
          </p:sp>
        </mc:Fallback>
      </mc:AlternateContent>
      <p:cxnSp>
        <p:nvCxnSpPr>
          <p:cNvPr id="34" name="Straight Arrow Connector 33">
            <a:extLst>
              <a:ext uri="{FF2B5EF4-FFF2-40B4-BE49-F238E27FC236}">
                <a16:creationId xmlns:a16="http://schemas.microsoft.com/office/drawing/2014/main" id="{95B4EB69-44B6-5DCA-FF8F-D3F8B7A19537}"/>
              </a:ext>
            </a:extLst>
          </p:cNvPr>
          <p:cNvCxnSpPr>
            <a:cxnSpLocks/>
          </p:cNvCxnSpPr>
          <p:nvPr/>
        </p:nvCxnSpPr>
        <p:spPr>
          <a:xfrm>
            <a:off x="3761112" y="5710318"/>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A321A8D-349C-CB28-4698-F41C6EDCD7C1}"/>
              </a:ext>
            </a:extLst>
          </p:cNvPr>
          <p:cNvCxnSpPr>
            <a:cxnSpLocks/>
          </p:cNvCxnSpPr>
          <p:nvPr/>
        </p:nvCxnSpPr>
        <p:spPr>
          <a:xfrm>
            <a:off x="3737504" y="6437767"/>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1" name="Object 40">
            <a:extLst>
              <a:ext uri="{FF2B5EF4-FFF2-40B4-BE49-F238E27FC236}">
                <a16:creationId xmlns:a16="http://schemas.microsoft.com/office/drawing/2014/main" id="{CCAED91B-8F91-A305-4FDE-71ECB08966BC}"/>
              </a:ext>
            </a:extLst>
          </p:cNvPr>
          <p:cNvGraphicFramePr>
            <a:graphicFrameLocks noChangeAspect="1"/>
          </p:cNvGraphicFramePr>
          <p:nvPr>
            <p:extLst>
              <p:ext uri="{D42A27DB-BD31-4B8C-83A1-F6EECF244321}">
                <p14:modId xmlns:p14="http://schemas.microsoft.com/office/powerpoint/2010/main" val="433576497"/>
              </p:ext>
            </p:extLst>
          </p:nvPr>
        </p:nvGraphicFramePr>
        <p:xfrm>
          <a:off x="6534150" y="3338513"/>
          <a:ext cx="139700" cy="228600"/>
        </p:xfrm>
        <a:graphic>
          <a:graphicData uri="http://schemas.openxmlformats.org/presentationml/2006/ole">
            <mc:AlternateContent xmlns:mc="http://schemas.openxmlformats.org/markup-compatibility/2006">
              <mc:Choice xmlns:v="urn:schemas-microsoft-com:vml" Requires="v">
                <p:oleObj name="Equation" r:id="rId9" imgW="139680" imgH="228600" progId="Equation.DSMT4">
                  <p:embed/>
                </p:oleObj>
              </mc:Choice>
              <mc:Fallback>
                <p:oleObj name="Equation" r:id="rId9" imgW="139680" imgH="228600" progId="Equation.DSMT4">
                  <p:embed/>
                  <p:pic>
                    <p:nvPicPr>
                      <p:cNvPr id="0" name=""/>
                      <p:cNvPicPr/>
                      <p:nvPr/>
                    </p:nvPicPr>
                    <p:blipFill>
                      <a:blip r:embed="rId10"/>
                      <a:stretch>
                        <a:fillRect/>
                      </a:stretch>
                    </p:blipFill>
                    <p:spPr>
                      <a:xfrm>
                        <a:off x="6534150" y="3338513"/>
                        <a:ext cx="139700" cy="228600"/>
                      </a:xfrm>
                      <a:prstGeom prst="rect">
                        <a:avLst/>
                      </a:prstGeom>
                    </p:spPr>
                  </p:pic>
                </p:oleObj>
              </mc:Fallback>
            </mc:AlternateContent>
          </a:graphicData>
        </a:graphic>
      </p:graphicFrame>
      <p:sp>
        <p:nvSpPr>
          <p:cNvPr id="42" name="TextBox 41">
            <a:extLst>
              <a:ext uri="{FF2B5EF4-FFF2-40B4-BE49-F238E27FC236}">
                <a16:creationId xmlns:a16="http://schemas.microsoft.com/office/drawing/2014/main" id="{B72E20B9-8014-56E6-A38A-A9C9EFB7FC0E}"/>
              </a:ext>
            </a:extLst>
          </p:cNvPr>
          <p:cNvSpPr txBox="1"/>
          <p:nvPr/>
        </p:nvSpPr>
        <p:spPr>
          <a:xfrm>
            <a:off x="4409726" y="2442959"/>
            <a:ext cx="3390665" cy="241285"/>
          </a:xfrm>
          <a:prstGeom prst="rect">
            <a:avLst/>
          </a:prstGeom>
          <a:noFill/>
        </p:spPr>
        <p:txBody>
          <a:bodyPr wrap="square" lIns="0" tIns="0" rIns="0" bIns="0" anchor="t">
            <a:spAutoFit/>
          </a:bodyPr>
          <a:lstStyle/>
          <a:p>
            <a:pPr>
              <a:lnSpc>
                <a:spcPct val="120000"/>
              </a:lnSpc>
            </a:pPr>
            <a:r>
              <a:rPr lang="en-US" sz="1400" b="1" noProof="1">
                <a:solidFill>
                  <a:srgbClr val="1D3557"/>
                </a:solidFill>
              </a:rPr>
              <a:t>Motor with vertical pendulum dynamic</a:t>
            </a:r>
          </a:p>
        </p:txBody>
      </p:sp>
      <p:sp>
        <p:nvSpPr>
          <p:cNvPr id="46" name="TextBox 45">
            <a:extLst>
              <a:ext uri="{FF2B5EF4-FFF2-40B4-BE49-F238E27FC236}">
                <a16:creationId xmlns:a16="http://schemas.microsoft.com/office/drawing/2014/main" id="{72CF1BA2-B081-951A-E13E-6C08C2018657}"/>
              </a:ext>
            </a:extLst>
          </p:cNvPr>
          <p:cNvSpPr txBox="1"/>
          <p:nvPr/>
        </p:nvSpPr>
        <p:spPr>
          <a:xfrm>
            <a:off x="4565346" y="2773175"/>
            <a:ext cx="4173419" cy="1533946"/>
          </a:xfrm>
          <a:prstGeom prst="rect">
            <a:avLst/>
          </a:prstGeom>
          <a:noFill/>
        </p:spPr>
        <p:txBody>
          <a:bodyPr wrap="square" lIns="0" tIns="0" rIns="0" bIns="0" anchor="t">
            <a:spAutoFit/>
          </a:bodyPr>
          <a:lstStyle/>
          <a:p>
            <a:pPr>
              <a:lnSpc>
                <a:spcPct val="120000"/>
              </a:lnSpc>
            </a:pPr>
            <a:r>
              <a:rPr lang="en-US" sz="1400" dirty="0"/>
              <a:t>Applying Kirchhoff's voltage law to the armature circuit:</a:t>
            </a:r>
          </a:p>
          <a:p>
            <a:pPr>
              <a:lnSpc>
                <a:spcPct val="120000"/>
              </a:lnSpc>
            </a:pPr>
            <a:endParaRPr lang="en-US" sz="1400" dirty="0"/>
          </a:p>
          <a:p>
            <a:pPr>
              <a:lnSpc>
                <a:spcPct val="120000"/>
              </a:lnSpc>
            </a:pPr>
            <a:endParaRPr lang="en-US" sz="1400" dirty="0"/>
          </a:p>
          <a:p>
            <a:pPr>
              <a:lnSpc>
                <a:spcPct val="120000"/>
              </a:lnSpc>
            </a:pPr>
            <a:endParaRPr lang="en-US" sz="1400" dirty="0"/>
          </a:p>
          <a:p>
            <a:pPr>
              <a:lnSpc>
                <a:spcPct val="120000"/>
              </a:lnSpc>
            </a:pPr>
            <a:r>
              <a:rPr lang="en-US" sz="1400" dirty="0"/>
              <a:t>The net torque balance on the motor shaft with an attached rod of mass</a:t>
            </a:r>
          </a:p>
        </p:txBody>
      </p:sp>
      <p:graphicFrame>
        <p:nvGraphicFramePr>
          <p:cNvPr id="47" name="Object 46">
            <a:extLst>
              <a:ext uri="{FF2B5EF4-FFF2-40B4-BE49-F238E27FC236}">
                <a16:creationId xmlns:a16="http://schemas.microsoft.com/office/drawing/2014/main" id="{705FB2E5-6584-CF97-1D24-A2EE1FE64A4F}"/>
              </a:ext>
            </a:extLst>
          </p:cNvPr>
          <p:cNvGraphicFramePr>
            <a:graphicFrameLocks noChangeAspect="1"/>
          </p:cNvGraphicFramePr>
          <p:nvPr>
            <p:extLst>
              <p:ext uri="{D42A27DB-BD31-4B8C-83A1-F6EECF244321}">
                <p14:modId xmlns:p14="http://schemas.microsoft.com/office/powerpoint/2010/main" val="3941117347"/>
              </p:ext>
            </p:extLst>
          </p:nvPr>
        </p:nvGraphicFramePr>
        <p:xfrm>
          <a:off x="4610054" y="3111500"/>
          <a:ext cx="1727200" cy="571500"/>
        </p:xfrm>
        <a:graphic>
          <a:graphicData uri="http://schemas.openxmlformats.org/presentationml/2006/ole">
            <mc:AlternateContent xmlns:mc="http://schemas.openxmlformats.org/markup-compatibility/2006">
              <mc:Choice xmlns:v="urn:schemas-microsoft-com:vml" Requires="v">
                <p:oleObj name="Equation" r:id="rId11" imgW="1726920" imgH="571320" progId="Equation.DSMT4">
                  <p:embed/>
                </p:oleObj>
              </mc:Choice>
              <mc:Fallback>
                <p:oleObj name="Equation" r:id="rId11" imgW="1726920" imgH="571320" progId="Equation.DSMT4">
                  <p:embed/>
                  <p:pic>
                    <p:nvPicPr>
                      <p:cNvPr id="0" name=""/>
                      <p:cNvPicPr/>
                      <p:nvPr/>
                    </p:nvPicPr>
                    <p:blipFill>
                      <a:blip r:embed="rId12"/>
                      <a:stretch>
                        <a:fillRect/>
                      </a:stretch>
                    </p:blipFill>
                    <p:spPr>
                      <a:xfrm>
                        <a:off x="4610054" y="3111500"/>
                        <a:ext cx="1727200" cy="571500"/>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45865715-8709-178D-2243-C131E2469F9D}"/>
              </a:ext>
            </a:extLst>
          </p:cNvPr>
          <p:cNvGraphicFramePr>
            <a:graphicFrameLocks noChangeAspect="1"/>
          </p:cNvGraphicFramePr>
          <p:nvPr>
            <p:extLst>
              <p:ext uri="{D42A27DB-BD31-4B8C-83A1-F6EECF244321}">
                <p14:modId xmlns:p14="http://schemas.microsoft.com/office/powerpoint/2010/main" val="2227816257"/>
              </p:ext>
            </p:extLst>
          </p:nvPr>
        </p:nvGraphicFramePr>
        <p:xfrm>
          <a:off x="4610054" y="4414838"/>
          <a:ext cx="2616200" cy="571500"/>
        </p:xfrm>
        <a:graphic>
          <a:graphicData uri="http://schemas.openxmlformats.org/presentationml/2006/ole">
            <mc:AlternateContent xmlns:mc="http://schemas.openxmlformats.org/markup-compatibility/2006">
              <mc:Choice xmlns:v="urn:schemas-microsoft-com:vml" Requires="v">
                <p:oleObj name="Equation" r:id="rId13" imgW="2616120" imgH="571320" progId="Equation.DSMT4">
                  <p:embed/>
                </p:oleObj>
              </mc:Choice>
              <mc:Fallback>
                <p:oleObj name="Equation" r:id="rId13" imgW="2616120" imgH="571320" progId="Equation.DSMT4">
                  <p:embed/>
                  <p:pic>
                    <p:nvPicPr>
                      <p:cNvPr id="0" name=""/>
                      <p:cNvPicPr/>
                      <p:nvPr/>
                    </p:nvPicPr>
                    <p:blipFill>
                      <a:blip r:embed="rId14"/>
                      <a:stretch>
                        <a:fillRect/>
                      </a:stretch>
                    </p:blipFill>
                    <p:spPr>
                      <a:xfrm>
                        <a:off x="4610054" y="4414838"/>
                        <a:ext cx="2616200" cy="5715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A2  </a:t>
            </a:r>
            <a:r>
              <a:rPr lang="en-US" sz="1100" b="1" noProof="1">
                <a:solidFill>
                  <a:srgbClr val="2A9D8F"/>
                </a:solidFill>
                <a:latin typeface="Consolas"/>
              </a:rPr>
              <a:t>Vertical Pendulum Control</a:t>
            </a:r>
            <a:r>
              <a:rPr lang="en-US" sz="1100" noProof="1">
                <a:solidFill>
                  <a:srgbClr val="2A9D8F"/>
                </a:solidFill>
                <a:latin typeface="Consolas"/>
              </a:rPr>
              <a:t> - Introduction</a:t>
            </a:r>
          </a:p>
        </p:txBody>
      </p:sp>
      <p:sp>
        <p:nvSpPr>
          <p:cNvPr id="62" name="TextBox 61">
            <a:extLst>
              <a:ext uri="{FF2B5EF4-FFF2-40B4-BE49-F238E27FC236}">
                <a16:creationId xmlns:a16="http://schemas.microsoft.com/office/drawing/2014/main" id="{94F8AA02-4EDF-E48D-5C80-B00E2F9F72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Classical Control</a:t>
            </a:r>
          </a:p>
        </p:txBody>
      </p:sp>
      <p:graphicFrame>
        <p:nvGraphicFramePr>
          <p:cNvPr id="41" name="Object 40">
            <a:extLst>
              <a:ext uri="{FF2B5EF4-FFF2-40B4-BE49-F238E27FC236}">
                <a16:creationId xmlns:a16="http://schemas.microsoft.com/office/drawing/2014/main" id="{CCAED91B-8F91-A305-4FDE-71ECB08966BC}"/>
              </a:ext>
            </a:extLst>
          </p:cNvPr>
          <p:cNvGraphicFramePr>
            <a:graphicFrameLocks noChangeAspect="1"/>
          </p:cNvGraphicFramePr>
          <p:nvPr>
            <p:extLst>
              <p:ext uri="{D42A27DB-BD31-4B8C-83A1-F6EECF244321}">
                <p14:modId xmlns:p14="http://schemas.microsoft.com/office/powerpoint/2010/main" val="2363767473"/>
              </p:ext>
            </p:extLst>
          </p:nvPr>
        </p:nvGraphicFramePr>
        <p:xfrm>
          <a:off x="6461561" y="2625651"/>
          <a:ext cx="139700" cy="228600"/>
        </p:xfrm>
        <a:graphic>
          <a:graphicData uri="http://schemas.openxmlformats.org/presentationml/2006/ole">
            <mc:AlternateContent xmlns:mc="http://schemas.openxmlformats.org/markup-compatibility/2006">
              <mc:Choice xmlns:v="urn:schemas-microsoft-com:vml" Requires="v">
                <p:oleObj name="Equation" r:id="rId4" imgW="139680" imgH="228600" progId="Equation.DSMT4">
                  <p:embed/>
                </p:oleObj>
              </mc:Choice>
              <mc:Fallback>
                <p:oleObj name="Equation" r:id="rId4" imgW="139680" imgH="228600" progId="Equation.DSMT4">
                  <p:embed/>
                  <p:pic>
                    <p:nvPicPr>
                      <p:cNvPr id="41" name="Object 40">
                        <a:extLst>
                          <a:ext uri="{FF2B5EF4-FFF2-40B4-BE49-F238E27FC236}">
                            <a16:creationId xmlns:a16="http://schemas.microsoft.com/office/drawing/2014/main" id="{CCAED91B-8F91-A305-4FDE-71ECB08966BC}"/>
                          </a:ext>
                        </a:extLst>
                      </p:cNvPr>
                      <p:cNvPicPr/>
                      <p:nvPr/>
                    </p:nvPicPr>
                    <p:blipFill>
                      <a:blip r:embed="rId5"/>
                      <a:stretch>
                        <a:fillRect/>
                      </a:stretch>
                    </p:blipFill>
                    <p:spPr>
                      <a:xfrm>
                        <a:off x="6461561" y="2625651"/>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E4258681-E236-223A-DEF1-FA5DD78CC9BC}"/>
              </a:ext>
            </a:extLst>
          </p:cNvPr>
          <p:cNvSpPr/>
          <p:nvPr/>
        </p:nvSpPr>
        <p:spPr>
          <a:xfrm>
            <a:off x="2036123" y="2560714"/>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0B82E056-1DCB-3D81-01FB-D4D716735852}"/>
              </a:ext>
            </a:extLst>
          </p:cNvPr>
          <p:cNvCxnSpPr>
            <a:cxnSpLocks/>
          </p:cNvCxnSpPr>
          <p:nvPr/>
        </p:nvCxnSpPr>
        <p:spPr>
          <a:xfrm>
            <a:off x="3140949" y="2807773"/>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3014C8-3576-C2EE-BC23-348549369764}"/>
                  </a:ext>
                </a:extLst>
              </p:cNvPr>
              <p:cNvSpPr txBox="1"/>
              <p:nvPr/>
            </p:nvSpPr>
            <p:spPr>
              <a:xfrm>
                <a:off x="3265091" y="2560714"/>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6F3014C8-3576-C2EE-BC23-348549369764}"/>
                  </a:ext>
                </a:extLst>
              </p:cNvPr>
              <p:cNvSpPr txBox="1">
                <a:spLocks noRot="1" noChangeAspect="1" noMove="1" noResize="1" noEditPoints="1" noAdjustHandles="1" noChangeArrowheads="1" noChangeShapeType="1" noTextEdit="1"/>
              </p:cNvSpPr>
              <p:nvPr/>
            </p:nvSpPr>
            <p:spPr>
              <a:xfrm>
                <a:off x="3265091" y="2560714"/>
                <a:ext cx="434799" cy="215444"/>
              </a:xfrm>
              <a:prstGeom prst="rect">
                <a:avLst/>
              </a:prstGeom>
              <a:blipFill>
                <a:blip r:embed="rId6"/>
                <a:stretch>
                  <a:fillRect l="-9859" r="-1408" b="-17143"/>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F20866D8-CA06-DD35-915A-B46D505330E8}"/>
              </a:ext>
            </a:extLst>
          </p:cNvPr>
          <p:cNvSpPr/>
          <p:nvPr/>
        </p:nvSpPr>
        <p:spPr>
          <a:xfrm>
            <a:off x="3850091" y="2672773"/>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AAD3D876-07B2-732E-9668-0161505C38C8}"/>
              </a:ext>
            </a:extLst>
          </p:cNvPr>
          <p:cNvSpPr txBox="1"/>
          <p:nvPr/>
        </p:nvSpPr>
        <p:spPr>
          <a:xfrm>
            <a:off x="3835050" y="2615774"/>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3823AE9-6AE3-7101-E0D2-277DE84CFEDB}"/>
                  </a:ext>
                </a:extLst>
              </p:cNvPr>
              <p:cNvSpPr txBox="1"/>
              <p:nvPr/>
            </p:nvSpPr>
            <p:spPr>
              <a:xfrm>
                <a:off x="4262341" y="2573172"/>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93823AE9-6AE3-7101-E0D2-277DE84CFEDB}"/>
                  </a:ext>
                </a:extLst>
              </p:cNvPr>
              <p:cNvSpPr txBox="1">
                <a:spLocks noRot="1" noChangeAspect="1" noMove="1" noResize="1" noEditPoints="1" noAdjustHandles="1" noChangeArrowheads="1" noChangeShapeType="1" noTextEdit="1"/>
              </p:cNvSpPr>
              <p:nvPr/>
            </p:nvSpPr>
            <p:spPr>
              <a:xfrm>
                <a:off x="4262341" y="2573172"/>
                <a:ext cx="157992" cy="215444"/>
              </a:xfrm>
              <a:prstGeom prst="rect">
                <a:avLst/>
              </a:prstGeom>
              <a:blipFill>
                <a:blip r:embed="rId7"/>
                <a:stretch>
                  <a:fillRect l="-26923" r="-19231"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F353305D-51DE-5BC1-1731-F736DB2DC8E3}"/>
              </a:ext>
            </a:extLst>
          </p:cNvPr>
          <p:cNvSpPr/>
          <p:nvPr/>
        </p:nvSpPr>
        <p:spPr>
          <a:xfrm>
            <a:off x="5501468" y="255536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F4E28CF7-B1E2-960A-3689-EB1272426E85}"/>
              </a:ext>
            </a:extLst>
          </p:cNvPr>
          <p:cNvCxnSpPr>
            <a:cxnSpLocks/>
          </p:cNvCxnSpPr>
          <p:nvPr/>
        </p:nvCxnSpPr>
        <p:spPr>
          <a:xfrm>
            <a:off x="6606294" y="2796182"/>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F72E701-555B-BE59-63B1-1E1E610B4D33}"/>
                  </a:ext>
                </a:extLst>
              </p:cNvPr>
              <p:cNvSpPr txBox="1"/>
              <p:nvPr/>
            </p:nvSpPr>
            <p:spPr>
              <a:xfrm>
                <a:off x="6921294" y="2568049"/>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0F72E701-555B-BE59-63B1-1E1E610B4D33}"/>
                  </a:ext>
                </a:extLst>
              </p:cNvPr>
              <p:cNvSpPr txBox="1">
                <a:spLocks noRot="1" noChangeAspect="1" noMove="1" noResize="1" noEditPoints="1" noAdjustHandles="1" noChangeArrowheads="1" noChangeShapeType="1" noTextEdit="1"/>
              </p:cNvSpPr>
              <p:nvPr/>
            </p:nvSpPr>
            <p:spPr>
              <a:xfrm>
                <a:off x="6921294" y="2568049"/>
                <a:ext cx="173894" cy="215444"/>
              </a:xfrm>
              <a:prstGeom prst="rect">
                <a:avLst/>
              </a:prstGeom>
              <a:blipFill>
                <a:blip r:embed="rId8"/>
                <a:stretch>
                  <a:fillRect l="-13793" r="-10345"/>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5674C1B9-F37E-BD10-983A-B05F9F3F0371}"/>
              </a:ext>
            </a:extLst>
          </p:cNvPr>
          <p:cNvSpPr/>
          <p:nvPr/>
        </p:nvSpPr>
        <p:spPr>
          <a:xfrm>
            <a:off x="1492499" y="2687485"/>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5890D9-4E3C-600D-A24E-5E2C18BA0EA4}"/>
                  </a:ext>
                </a:extLst>
              </p:cNvPr>
              <p:cNvSpPr txBox="1"/>
              <p:nvPr/>
            </p:nvSpPr>
            <p:spPr>
              <a:xfrm>
                <a:off x="1540135" y="2703575"/>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FA5890D9-4E3C-600D-A24E-5E2C18BA0EA4}"/>
                  </a:ext>
                </a:extLst>
              </p:cNvPr>
              <p:cNvSpPr txBox="1">
                <a:spLocks noRot="1" noChangeAspect="1" noMove="1" noResize="1" noEditPoints="1" noAdjustHandles="1" noChangeArrowheads="1" noChangeShapeType="1" noTextEdit="1"/>
              </p:cNvSpPr>
              <p:nvPr/>
            </p:nvSpPr>
            <p:spPr>
              <a:xfrm>
                <a:off x="1540135" y="2703575"/>
                <a:ext cx="174727" cy="215444"/>
              </a:xfrm>
              <a:prstGeom prst="rect">
                <a:avLst/>
              </a:prstGeom>
              <a:blipFill>
                <a:blip r:embed="rId9"/>
                <a:stretch>
                  <a:fillRect l="-32143" r="-28571" b="-16667"/>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46D04668-3D4C-44E5-6A92-2F5F266AE550}"/>
              </a:ext>
            </a:extLst>
          </p:cNvPr>
          <p:cNvCxnSpPr>
            <a:cxnSpLocks/>
          </p:cNvCxnSpPr>
          <p:nvPr/>
        </p:nvCxnSpPr>
        <p:spPr>
          <a:xfrm>
            <a:off x="6847927" y="2799000"/>
            <a:ext cx="0" cy="63000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E3046E-E61A-AA0F-13B4-546FACA07A60}"/>
              </a:ext>
            </a:extLst>
          </p:cNvPr>
          <p:cNvCxnSpPr>
            <a:cxnSpLocks/>
          </p:cNvCxnSpPr>
          <p:nvPr/>
        </p:nvCxnSpPr>
        <p:spPr>
          <a:xfrm>
            <a:off x="1627498" y="3429000"/>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CA4788A-95F3-3DC9-0148-37495AF35FDA}"/>
              </a:ext>
            </a:extLst>
          </p:cNvPr>
          <p:cNvCxnSpPr>
            <a:cxnSpLocks/>
          </p:cNvCxnSpPr>
          <p:nvPr/>
        </p:nvCxnSpPr>
        <p:spPr>
          <a:xfrm>
            <a:off x="1632641" y="2957486"/>
            <a:ext cx="0" cy="47151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ADF1287-4185-6692-091E-8CEF4E40ABA6}"/>
              </a:ext>
            </a:extLst>
          </p:cNvPr>
          <p:cNvCxnSpPr>
            <a:cxnSpLocks/>
          </p:cNvCxnSpPr>
          <p:nvPr/>
        </p:nvCxnSpPr>
        <p:spPr>
          <a:xfrm>
            <a:off x="843884" y="2814755"/>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C587742-C036-B3D1-4A58-7513C919D212}"/>
                  </a:ext>
                </a:extLst>
              </p:cNvPr>
              <p:cNvSpPr txBox="1"/>
              <p:nvPr/>
            </p:nvSpPr>
            <p:spPr>
              <a:xfrm>
                <a:off x="906780" y="2592329"/>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27" name="TextBox 26">
                <a:extLst>
                  <a:ext uri="{FF2B5EF4-FFF2-40B4-BE49-F238E27FC236}">
                    <a16:creationId xmlns:a16="http://schemas.microsoft.com/office/drawing/2014/main" id="{EC587742-C036-B3D1-4A58-7513C919D212}"/>
                  </a:ext>
                </a:extLst>
              </p:cNvPr>
              <p:cNvSpPr txBox="1">
                <a:spLocks noRot="1" noChangeAspect="1" noMove="1" noResize="1" noEditPoints="1" noAdjustHandles="1" noChangeArrowheads="1" noChangeShapeType="1" noTextEdit="1"/>
              </p:cNvSpPr>
              <p:nvPr/>
            </p:nvSpPr>
            <p:spPr>
              <a:xfrm>
                <a:off x="906780" y="2592329"/>
                <a:ext cx="243848" cy="215444"/>
              </a:xfrm>
              <a:prstGeom prst="rect">
                <a:avLst/>
              </a:prstGeom>
              <a:blipFill>
                <a:blip r:embed="rId10"/>
                <a:stretch>
                  <a:fillRect l="-1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4DEDDC96-D493-B3F3-BA6E-59E41C8EB3D8}"/>
                  </a:ext>
                </a:extLst>
              </p:cNvPr>
              <p:cNvSpPr/>
              <p:nvPr/>
            </p:nvSpPr>
            <p:spPr>
              <a:xfrm>
                <a:off x="4552091" y="2555360"/>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4DEDDC96-D493-B3F3-BA6E-59E41C8EB3D8}"/>
                  </a:ext>
                </a:extLst>
              </p:cNvPr>
              <p:cNvSpPr>
                <a:spLocks noRot="1" noChangeAspect="1" noMove="1" noResize="1" noEditPoints="1" noAdjustHandles="1" noChangeArrowheads="1" noChangeShapeType="1" noTextEdit="1"/>
              </p:cNvSpPr>
              <p:nvPr/>
            </p:nvSpPr>
            <p:spPr>
              <a:xfrm>
                <a:off x="4552091" y="2555360"/>
                <a:ext cx="679377" cy="479453"/>
              </a:xfrm>
              <a:prstGeom prst="roundRect">
                <a:avLst/>
              </a:prstGeom>
              <a:blipFill>
                <a:blip r:embed="rId11"/>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C5F5AD75-840C-CD71-5B97-FB191F8A41BA}"/>
              </a:ext>
            </a:extLst>
          </p:cNvPr>
          <p:cNvCxnSpPr>
            <a:cxnSpLocks/>
          </p:cNvCxnSpPr>
          <p:nvPr/>
        </p:nvCxnSpPr>
        <p:spPr>
          <a:xfrm>
            <a:off x="4120091" y="2799000"/>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586966E-B2D2-AA38-AFC8-C05804020F6B}"/>
              </a:ext>
            </a:extLst>
          </p:cNvPr>
          <p:cNvCxnSpPr>
            <a:cxnSpLocks/>
          </p:cNvCxnSpPr>
          <p:nvPr/>
        </p:nvCxnSpPr>
        <p:spPr>
          <a:xfrm>
            <a:off x="5231468" y="278861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566B186-E85C-CD11-4778-355BC7ABFD58}"/>
              </a:ext>
            </a:extLst>
          </p:cNvPr>
          <p:cNvCxnSpPr>
            <a:cxnSpLocks/>
          </p:cNvCxnSpPr>
          <p:nvPr/>
        </p:nvCxnSpPr>
        <p:spPr>
          <a:xfrm>
            <a:off x="1766123" y="2815580"/>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9" name="Picture 48">
            <a:extLst>
              <a:ext uri="{FF2B5EF4-FFF2-40B4-BE49-F238E27FC236}">
                <a16:creationId xmlns:a16="http://schemas.microsoft.com/office/drawing/2014/main" id="{ECF97964-BC3C-A817-5A59-36CBCA58B1CE}"/>
              </a:ext>
            </a:extLst>
          </p:cNvPr>
          <p:cNvPicPr>
            <a:picLocks noChangeAspect="1"/>
          </p:cNvPicPr>
          <p:nvPr/>
        </p:nvPicPr>
        <p:blipFill>
          <a:blip r:embed="rId12"/>
          <a:stretch>
            <a:fillRect/>
          </a:stretch>
        </p:blipFill>
        <p:spPr>
          <a:xfrm>
            <a:off x="1190752" y="4210735"/>
            <a:ext cx="4320783" cy="2127658"/>
          </a:xfrm>
          <a:prstGeom prst="rect">
            <a:avLst/>
          </a:prstGeom>
        </p:spPr>
      </p:pic>
      <p:pic>
        <p:nvPicPr>
          <p:cNvPr id="44" name="20260627-0813-33.3316910">
            <a:hlinkClick r:id="" action="ppaction://media"/>
            <a:extLst>
              <a:ext uri="{FF2B5EF4-FFF2-40B4-BE49-F238E27FC236}">
                <a16:creationId xmlns:a16="http://schemas.microsoft.com/office/drawing/2014/main" id="{419E5641-71AE-92B0-5503-10D5102E66E7}"/>
              </a:ext>
            </a:extLst>
          </p:cNvPr>
          <p:cNvPicPr>
            <a:picLocks noChangeAspect="1"/>
          </p:cNvPicPr>
          <p:nvPr>
            <a:videoFile r:link="rId2"/>
            <p:extLst>
              <p:ext uri="{DAA4B4D4-6D71-4841-9C94-3DE7FCFB9230}">
                <p14:media xmlns:p14="http://schemas.microsoft.com/office/powerpoint/2010/main" r:embed="rId1"/>
              </p:ext>
            </p:extLst>
          </p:nvPr>
        </p:nvPicPr>
        <p:blipFill>
          <a:blip r:embed="rId13"/>
          <a:stretch>
            <a:fillRect/>
          </a:stretch>
        </p:blipFill>
        <p:spPr>
          <a:xfrm>
            <a:off x="8514861" y="2098670"/>
            <a:ext cx="2137004" cy="1814809"/>
          </a:xfrm>
          <a:prstGeom prst="rect">
            <a:avLst/>
          </a:prstGeom>
        </p:spPr>
      </p:pic>
      <p:sp>
        <p:nvSpPr>
          <p:cNvPr id="52" name="TextBox 51">
            <a:extLst>
              <a:ext uri="{FF2B5EF4-FFF2-40B4-BE49-F238E27FC236}">
                <a16:creationId xmlns:a16="http://schemas.microsoft.com/office/drawing/2014/main" id="{A06D8102-1446-AAB0-D82B-743D062C4283}"/>
              </a:ext>
            </a:extLst>
          </p:cNvPr>
          <p:cNvSpPr txBox="1"/>
          <p:nvPr/>
        </p:nvSpPr>
        <p:spPr>
          <a:xfrm>
            <a:off x="906780" y="1461856"/>
            <a:ext cx="10970278" cy="2568075"/>
          </a:xfrm>
          <a:prstGeom prst="rect">
            <a:avLst/>
          </a:prstGeom>
          <a:noFill/>
        </p:spPr>
        <p:txBody>
          <a:bodyPr wrap="square" lIns="0" tIns="0" rIns="0" bIns="0" anchor="t">
            <a:spAutoFit/>
          </a:bodyPr>
          <a:lstStyle/>
          <a:p>
            <a:pPr>
              <a:lnSpc>
                <a:spcPct val="120000"/>
              </a:lnSpc>
            </a:pPr>
            <a:r>
              <a:rPr lang="en-US" sz="1400" noProof="1">
                <a:solidFill>
                  <a:srgbClr val="1D3557"/>
                </a:solidFill>
              </a:rPr>
              <a:t>The classical method commonly used for speed control is the PI controller. One of its advantages is that it can provide satisfactory performance even </a:t>
            </a:r>
            <a:r>
              <a:rPr lang="en-US" sz="1400" b="1" noProof="1">
                <a:solidFill>
                  <a:srgbClr val="1D3557"/>
                </a:solidFill>
              </a:rPr>
              <a:t>without a complete understanding of the plant model</a:t>
            </a:r>
            <a:r>
              <a:rPr lang="en-US" sz="1400" noProof="1">
                <a:solidFill>
                  <a:srgbClr val="1D3557"/>
                </a:solidFill>
              </a:rPr>
              <a:t>. However, this approach works well only for linear systems. In our case, the presence of the vertical pendulum introduces gravitational effects, making the system highly nonlinear.</a:t>
            </a: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r>
              <a:rPr lang="en-US" sz="1400" noProof="1">
                <a:solidFill>
                  <a:srgbClr val="1D3557"/>
                </a:solidFill>
              </a:rPr>
              <a:t>As a result, the performance of a conventional PI controller can be significantly degraded.</a:t>
            </a:r>
          </a:p>
        </p:txBody>
      </p:sp>
      <p:graphicFrame>
        <p:nvGraphicFramePr>
          <p:cNvPr id="53" name="Object 52">
            <a:extLst>
              <a:ext uri="{FF2B5EF4-FFF2-40B4-BE49-F238E27FC236}">
                <a16:creationId xmlns:a16="http://schemas.microsoft.com/office/drawing/2014/main" id="{33648926-8F76-A8E2-2487-627FB41A6C39}"/>
              </a:ext>
            </a:extLst>
          </p:cNvPr>
          <p:cNvGraphicFramePr>
            <a:graphicFrameLocks noChangeAspect="1"/>
          </p:cNvGraphicFramePr>
          <p:nvPr>
            <p:extLst>
              <p:ext uri="{D42A27DB-BD31-4B8C-83A1-F6EECF244321}">
                <p14:modId xmlns:p14="http://schemas.microsoft.com/office/powerpoint/2010/main" val="3796618369"/>
              </p:ext>
            </p:extLst>
          </p:nvPr>
        </p:nvGraphicFramePr>
        <p:xfrm>
          <a:off x="2459544" y="5378003"/>
          <a:ext cx="1574800" cy="342900"/>
        </p:xfrm>
        <a:graphic>
          <a:graphicData uri="http://schemas.openxmlformats.org/presentationml/2006/ole">
            <mc:AlternateContent xmlns:mc="http://schemas.openxmlformats.org/markup-compatibility/2006">
              <mc:Choice xmlns:v="urn:schemas-microsoft-com:vml" Requires="v">
                <p:oleObj name="Equation" r:id="rId14" imgW="1574640" imgH="342720" progId="Equation.DSMT4">
                  <p:embed/>
                </p:oleObj>
              </mc:Choice>
              <mc:Fallback>
                <p:oleObj name="Equation" r:id="rId14" imgW="1574640" imgH="342720" progId="Equation.DSMT4">
                  <p:embed/>
                  <p:pic>
                    <p:nvPicPr>
                      <p:cNvPr id="0" name=""/>
                      <p:cNvPicPr/>
                      <p:nvPr/>
                    </p:nvPicPr>
                    <p:blipFill>
                      <a:blip r:embed="rId15"/>
                      <a:stretch>
                        <a:fillRect/>
                      </a:stretch>
                    </p:blipFill>
                    <p:spPr>
                      <a:xfrm>
                        <a:off x="2459544" y="5378003"/>
                        <a:ext cx="1574800" cy="342900"/>
                      </a:xfrm>
                      <a:prstGeom prst="rect">
                        <a:avLst/>
                      </a:prstGeom>
                    </p:spPr>
                  </p:pic>
                </p:oleObj>
              </mc:Fallback>
            </mc:AlternateContent>
          </a:graphicData>
        </a:graphic>
      </p:graphicFrame>
      <p:pic>
        <p:nvPicPr>
          <p:cNvPr id="123" name="Picture 122">
            <a:extLst>
              <a:ext uri="{FF2B5EF4-FFF2-40B4-BE49-F238E27FC236}">
                <a16:creationId xmlns:a16="http://schemas.microsoft.com/office/drawing/2014/main" id="{E7356E15-28CA-EF79-8212-DE955190AEFA}"/>
              </a:ext>
            </a:extLst>
          </p:cNvPr>
          <p:cNvPicPr>
            <a:picLocks noChangeAspect="1"/>
          </p:cNvPicPr>
          <p:nvPr/>
        </p:nvPicPr>
        <p:blipFill>
          <a:blip r:embed="rId16"/>
          <a:stretch>
            <a:fillRect/>
          </a:stretch>
        </p:blipFill>
        <p:spPr>
          <a:xfrm>
            <a:off x="6313238" y="4184230"/>
            <a:ext cx="4403245" cy="2170850"/>
          </a:xfrm>
          <a:prstGeom prst="rect">
            <a:avLst/>
          </a:prstGeom>
        </p:spPr>
      </p:pic>
      <p:sp>
        <p:nvSpPr>
          <p:cNvPr id="126" name="TextBox 125">
            <a:extLst>
              <a:ext uri="{FF2B5EF4-FFF2-40B4-BE49-F238E27FC236}">
                <a16:creationId xmlns:a16="http://schemas.microsoft.com/office/drawing/2014/main" id="{E256D94C-26B2-BC8C-4A47-0946AABBCF31}"/>
              </a:ext>
            </a:extLst>
          </p:cNvPr>
          <p:cNvSpPr txBox="1"/>
          <p:nvPr/>
        </p:nvSpPr>
        <p:spPr>
          <a:xfrm>
            <a:off x="8439328" y="5656595"/>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0.322</a:t>
            </a:r>
          </a:p>
        </p:txBody>
      </p:sp>
    </p:spTree>
    <p:extLst>
      <p:ext uri="{BB962C8B-B14F-4D97-AF65-F5344CB8AC3E}">
        <p14:creationId xmlns:p14="http://schemas.microsoft.com/office/powerpoint/2010/main" val="175990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159"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4"/>
                </p:tgtEl>
              </p:cMediaNode>
            </p:video>
            <p:seq concurrent="1" nextAc="seek">
              <p:cTn id="8" restart="whenNotActive" fill="hold" evtFilter="cancelBubble" nodeType="interactiveSeq">
                <p:stCondLst>
                  <p:cond evt="onClick" delay="0">
                    <p:tgtEl>
                      <p:spTgt spid="4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4"/>
                                        </p:tgtEl>
                                      </p:cBhvr>
                                    </p:cmd>
                                  </p:childTnLst>
                                </p:cTn>
                              </p:par>
                            </p:childTnLst>
                          </p:cTn>
                        </p:par>
                      </p:childTnLst>
                    </p:cTn>
                  </p:par>
                </p:childTnLst>
              </p:cTn>
              <p:nextCondLst>
                <p:cond evt="onClick" delay="0">
                  <p:tgtEl>
                    <p:spTgt spid="4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1" name="Rounded Rectangle 73">
            <a:extLst>
              <a:ext uri="{FF2B5EF4-FFF2-40B4-BE49-F238E27FC236}">
                <a16:creationId xmlns:a16="http://schemas.microsoft.com/office/drawing/2014/main" id="{E7952BD0-BD21-D2F8-D29F-55070EC7AF9E}"/>
              </a:ext>
            </a:extLst>
          </p:cNvPr>
          <p:cNvSpPr/>
          <p:nvPr/>
        </p:nvSpPr>
        <p:spPr>
          <a:xfrm>
            <a:off x="790520" y="3987799"/>
            <a:ext cx="2414544" cy="241285"/>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cxnSp>
        <p:nvCxnSpPr>
          <p:cNvPr id="15" name="Straight Connector 14">
            <a:extLst>
              <a:ext uri="{FF2B5EF4-FFF2-40B4-BE49-F238E27FC236}">
                <a16:creationId xmlns:a16="http://schemas.microsoft.com/office/drawing/2014/main" id="{C8F93762-94DA-A841-B4A2-57527A8B93AE}"/>
              </a:ext>
            </a:extLst>
          </p:cNvPr>
          <p:cNvCxnSpPr>
            <a:cxnSpLocks/>
          </p:cNvCxnSpPr>
          <p:nvPr/>
        </p:nvCxnSpPr>
        <p:spPr>
          <a:xfrm flipV="1">
            <a:off x="1234972" y="2671556"/>
            <a:ext cx="0" cy="576319"/>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7CA18ED5-EBCE-151F-33A7-9C7C0FC24D06}"/>
              </a:ext>
            </a:extLst>
          </p:cNvPr>
          <p:cNvCxnSpPr>
            <a:cxnSpLocks/>
          </p:cNvCxnSpPr>
          <p:nvPr/>
        </p:nvCxnSpPr>
        <p:spPr>
          <a:xfrm flipV="1">
            <a:off x="6447877" y="2671556"/>
            <a:ext cx="0" cy="66499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A3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94F8AA02-4EDF-E48D-5C80-B00E2F9F72D7}"/>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Classical Control</a:t>
            </a:r>
          </a:p>
        </p:txBody>
      </p:sp>
      <p:sp>
        <p:nvSpPr>
          <p:cNvPr id="75" name="Rectangle 74">
            <a:extLst>
              <a:ext uri="{FF2B5EF4-FFF2-40B4-BE49-F238E27FC236}">
                <a16:creationId xmlns:a16="http://schemas.microsoft.com/office/drawing/2014/main" id="{995A9471-D833-E59A-0303-10C4A6E631B1}"/>
              </a:ext>
            </a:extLst>
          </p:cNvPr>
          <p:cNvSpPr/>
          <p:nvPr/>
        </p:nvSpPr>
        <p:spPr>
          <a:xfrm>
            <a:off x="790518" y="3987799"/>
            <a:ext cx="45719" cy="241285"/>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aphicFrame>
        <p:nvGraphicFramePr>
          <p:cNvPr id="41" name="Object 40">
            <a:extLst>
              <a:ext uri="{FF2B5EF4-FFF2-40B4-BE49-F238E27FC236}">
                <a16:creationId xmlns:a16="http://schemas.microsoft.com/office/drawing/2014/main" id="{CCAED91B-8F91-A305-4FDE-71ECB08966BC}"/>
              </a:ext>
            </a:extLst>
          </p:cNvPr>
          <p:cNvGraphicFramePr>
            <a:graphicFrameLocks noChangeAspect="1"/>
          </p:cNvGraphicFramePr>
          <p:nvPr>
            <p:extLst>
              <p:ext uri="{D42A27DB-BD31-4B8C-83A1-F6EECF244321}">
                <p14:modId xmlns:p14="http://schemas.microsoft.com/office/powerpoint/2010/main" val="2228564565"/>
              </p:ext>
            </p:extLst>
          </p:nvPr>
        </p:nvGraphicFramePr>
        <p:xfrm>
          <a:off x="6061511" y="3186041"/>
          <a:ext cx="139700" cy="228600"/>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41" name="Object 40">
                        <a:extLst>
                          <a:ext uri="{FF2B5EF4-FFF2-40B4-BE49-F238E27FC236}">
                            <a16:creationId xmlns:a16="http://schemas.microsoft.com/office/drawing/2014/main" id="{CCAED91B-8F91-A305-4FDE-71ECB08966BC}"/>
                          </a:ext>
                        </a:extLst>
                      </p:cNvPr>
                      <p:cNvPicPr/>
                      <p:nvPr/>
                    </p:nvPicPr>
                    <p:blipFill>
                      <a:blip r:embed="rId3"/>
                      <a:stretch>
                        <a:fillRect/>
                      </a:stretch>
                    </p:blipFill>
                    <p:spPr>
                      <a:xfrm>
                        <a:off x="6061511" y="3186041"/>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E4258681-E236-223A-DEF1-FA5DD78CC9BC}"/>
              </a:ext>
            </a:extLst>
          </p:cNvPr>
          <p:cNvSpPr/>
          <p:nvPr/>
        </p:nvSpPr>
        <p:spPr>
          <a:xfrm>
            <a:off x="1636073" y="3121104"/>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0B82E056-1DCB-3D81-01FB-D4D716735852}"/>
              </a:ext>
            </a:extLst>
          </p:cNvPr>
          <p:cNvCxnSpPr>
            <a:cxnSpLocks/>
          </p:cNvCxnSpPr>
          <p:nvPr/>
        </p:nvCxnSpPr>
        <p:spPr>
          <a:xfrm>
            <a:off x="2740899" y="3368163"/>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3014C8-3576-C2EE-BC23-348549369764}"/>
                  </a:ext>
                </a:extLst>
              </p:cNvPr>
              <p:cNvSpPr txBox="1"/>
              <p:nvPr/>
            </p:nvSpPr>
            <p:spPr>
              <a:xfrm>
                <a:off x="2865041" y="3121104"/>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6F3014C8-3576-C2EE-BC23-348549369764}"/>
                  </a:ext>
                </a:extLst>
              </p:cNvPr>
              <p:cNvSpPr txBox="1">
                <a:spLocks noRot="1" noChangeAspect="1" noMove="1" noResize="1" noEditPoints="1" noAdjustHandles="1" noChangeArrowheads="1" noChangeShapeType="1" noTextEdit="1"/>
              </p:cNvSpPr>
              <p:nvPr/>
            </p:nvSpPr>
            <p:spPr>
              <a:xfrm>
                <a:off x="2865041" y="3121104"/>
                <a:ext cx="434799" cy="215444"/>
              </a:xfrm>
              <a:prstGeom prst="rect">
                <a:avLst/>
              </a:prstGeom>
              <a:blipFill>
                <a:blip r:embed="rId4"/>
                <a:stretch>
                  <a:fillRect l="-9859" r="-1408" b="-14286"/>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F20866D8-CA06-DD35-915A-B46D505330E8}"/>
              </a:ext>
            </a:extLst>
          </p:cNvPr>
          <p:cNvSpPr/>
          <p:nvPr/>
        </p:nvSpPr>
        <p:spPr>
          <a:xfrm>
            <a:off x="3450041" y="3233163"/>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AAD3D876-07B2-732E-9668-0161505C38C8}"/>
              </a:ext>
            </a:extLst>
          </p:cNvPr>
          <p:cNvSpPr txBox="1"/>
          <p:nvPr/>
        </p:nvSpPr>
        <p:spPr>
          <a:xfrm>
            <a:off x="3438867" y="3177229"/>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3823AE9-6AE3-7101-E0D2-277DE84CFEDB}"/>
                  </a:ext>
                </a:extLst>
              </p:cNvPr>
              <p:cNvSpPr txBox="1"/>
              <p:nvPr/>
            </p:nvSpPr>
            <p:spPr>
              <a:xfrm>
                <a:off x="3862291" y="3133562"/>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93823AE9-6AE3-7101-E0D2-277DE84CFEDB}"/>
                  </a:ext>
                </a:extLst>
              </p:cNvPr>
              <p:cNvSpPr txBox="1">
                <a:spLocks noRot="1" noChangeAspect="1" noMove="1" noResize="1" noEditPoints="1" noAdjustHandles="1" noChangeArrowheads="1" noChangeShapeType="1" noTextEdit="1"/>
              </p:cNvSpPr>
              <p:nvPr/>
            </p:nvSpPr>
            <p:spPr>
              <a:xfrm>
                <a:off x="3862291" y="3133562"/>
                <a:ext cx="157992" cy="215444"/>
              </a:xfrm>
              <a:prstGeom prst="rect">
                <a:avLst/>
              </a:prstGeom>
              <a:blipFill>
                <a:blip r:embed="rId5"/>
                <a:stretch>
                  <a:fillRect l="-28000" r="-24000"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F353305D-51DE-5BC1-1731-F736DB2DC8E3}"/>
              </a:ext>
            </a:extLst>
          </p:cNvPr>
          <p:cNvSpPr/>
          <p:nvPr/>
        </p:nvSpPr>
        <p:spPr>
          <a:xfrm>
            <a:off x="5101418" y="311575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F4E28CF7-B1E2-960A-3689-EB1272426E85}"/>
              </a:ext>
            </a:extLst>
          </p:cNvPr>
          <p:cNvCxnSpPr>
            <a:cxnSpLocks/>
          </p:cNvCxnSpPr>
          <p:nvPr/>
        </p:nvCxnSpPr>
        <p:spPr>
          <a:xfrm>
            <a:off x="6206244" y="3356572"/>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F72E701-555B-BE59-63B1-1E1E610B4D33}"/>
                  </a:ext>
                </a:extLst>
              </p:cNvPr>
              <p:cNvSpPr txBox="1"/>
              <p:nvPr/>
            </p:nvSpPr>
            <p:spPr>
              <a:xfrm>
                <a:off x="6521244" y="3128439"/>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0F72E701-555B-BE59-63B1-1E1E610B4D33}"/>
                  </a:ext>
                </a:extLst>
              </p:cNvPr>
              <p:cNvSpPr txBox="1">
                <a:spLocks noRot="1" noChangeAspect="1" noMove="1" noResize="1" noEditPoints="1" noAdjustHandles="1" noChangeArrowheads="1" noChangeShapeType="1" noTextEdit="1"/>
              </p:cNvSpPr>
              <p:nvPr/>
            </p:nvSpPr>
            <p:spPr>
              <a:xfrm>
                <a:off x="6521244" y="3128439"/>
                <a:ext cx="173894" cy="215444"/>
              </a:xfrm>
              <a:prstGeom prst="rect">
                <a:avLst/>
              </a:prstGeom>
              <a:blipFill>
                <a:blip r:embed="rId6"/>
                <a:stretch>
                  <a:fillRect l="-17857" r="-10714"/>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5674C1B9-F37E-BD10-983A-B05F9F3F0371}"/>
              </a:ext>
            </a:extLst>
          </p:cNvPr>
          <p:cNvSpPr/>
          <p:nvPr/>
        </p:nvSpPr>
        <p:spPr>
          <a:xfrm>
            <a:off x="1092449" y="3247875"/>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5890D9-4E3C-600D-A24E-5E2C18BA0EA4}"/>
                  </a:ext>
                </a:extLst>
              </p:cNvPr>
              <p:cNvSpPr txBox="1"/>
              <p:nvPr/>
            </p:nvSpPr>
            <p:spPr>
              <a:xfrm>
                <a:off x="1140085" y="3263965"/>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FA5890D9-4E3C-600D-A24E-5E2C18BA0EA4}"/>
                  </a:ext>
                </a:extLst>
              </p:cNvPr>
              <p:cNvSpPr txBox="1">
                <a:spLocks noRot="1" noChangeAspect="1" noMove="1" noResize="1" noEditPoints="1" noAdjustHandles="1" noChangeArrowheads="1" noChangeShapeType="1" noTextEdit="1"/>
              </p:cNvSpPr>
              <p:nvPr/>
            </p:nvSpPr>
            <p:spPr>
              <a:xfrm>
                <a:off x="1140085" y="3263965"/>
                <a:ext cx="174727" cy="215444"/>
              </a:xfrm>
              <a:prstGeom prst="rect">
                <a:avLst/>
              </a:prstGeom>
              <a:blipFill>
                <a:blip r:embed="rId7"/>
                <a:stretch>
                  <a:fillRect l="-27586" r="-27586" b="-16667"/>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46D04668-3D4C-44E5-6A92-2F5F266AE550}"/>
              </a:ext>
            </a:extLst>
          </p:cNvPr>
          <p:cNvCxnSpPr>
            <a:cxnSpLocks/>
          </p:cNvCxnSpPr>
          <p:nvPr/>
        </p:nvCxnSpPr>
        <p:spPr>
          <a:xfrm>
            <a:off x="6447877" y="3359390"/>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E3046E-E61A-AA0F-13B4-546FACA07A60}"/>
              </a:ext>
            </a:extLst>
          </p:cNvPr>
          <p:cNvCxnSpPr>
            <a:cxnSpLocks/>
          </p:cNvCxnSpPr>
          <p:nvPr/>
        </p:nvCxnSpPr>
        <p:spPr>
          <a:xfrm>
            <a:off x="1227448" y="3817940"/>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CA4788A-95F3-3DC9-0148-37495AF35FDA}"/>
              </a:ext>
            </a:extLst>
          </p:cNvPr>
          <p:cNvCxnSpPr>
            <a:cxnSpLocks/>
          </p:cNvCxnSpPr>
          <p:nvPr/>
        </p:nvCxnSpPr>
        <p:spPr>
          <a:xfrm>
            <a:off x="1232591" y="3517876"/>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ADF1287-4185-6692-091E-8CEF4E40ABA6}"/>
              </a:ext>
            </a:extLst>
          </p:cNvPr>
          <p:cNvCxnSpPr>
            <a:cxnSpLocks/>
          </p:cNvCxnSpPr>
          <p:nvPr/>
        </p:nvCxnSpPr>
        <p:spPr>
          <a:xfrm>
            <a:off x="628654" y="3368163"/>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4DEDDC96-D493-B3F3-BA6E-59E41C8EB3D8}"/>
                  </a:ext>
                </a:extLst>
              </p:cNvPr>
              <p:cNvSpPr/>
              <p:nvPr/>
            </p:nvSpPr>
            <p:spPr>
              <a:xfrm>
                <a:off x="4152041" y="3115750"/>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4DEDDC96-D493-B3F3-BA6E-59E41C8EB3D8}"/>
                  </a:ext>
                </a:extLst>
              </p:cNvPr>
              <p:cNvSpPr>
                <a:spLocks noRot="1" noChangeAspect="1" noMove="1" noResize="1" noEditPoints="1" noAdjustHandles="1" noChangeArrowheads="1" noChangeShapeType="1" noTextEdit="1"/>
              </p:cNvSpPr>
              <p:nvPr/>
            </p:nvSpPr>
            <p:spPr>
              <a:xfrm>
                <a:off x="4152041" y="3115750"/>
                <a:ext cx="679377" cy="479453"/>
              </a:xfrm>
              <a:prstGeom prst="roundRect">
                <a:avLst/>
              </a:prstGeom>
              <a:blipFill>
                <a:blip r:embed="rId8"/>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C5F5AD75-840C-CD71-5B97-FB191F8A41BA}"/>
              </a:ext>
            </a:extLst>
          </p:cNvPr>
          <p:cNvCxnSpPr>
            <a:cxnSpLocks/>
          </p:cNvCxnSpPr>
          <p:nvPr/>
        </p:nvCxnSpPr>
        <p:spPr>
          <a:xfrm>
            <a:off x="3720041" y="3359390"/>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586966E-B2D2-AA38-AFC8-C05804020F6B}"/>
              </a:ext>
            </a:extLst>
          </p:cNvPr>
          <p:cNvCxnSpPr>
            <a:cxnSpLocks/>
          </p:cNvCxnSpPr>
          <p:nvPr/>
        </p:nvCxnSpPr>
        <p:spPr>
          <a:xfrm>
            <a:off x="4831418" y="334900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566B186-E85C-CD11-4778-355BC7ABFD58}"/>
              </a:ext>
            </a:extLst>
          </p:cNvPr>
          <p:cNvCxnSpPr>
            <a:cxnSpLocks/>
          </p:cNvCxnSpPr>
          <p:nvPr/>
        </p:nvCxnSpPr>
        <p:spPr>
          <a:xfrm>
            <a:off x="1366073" y="3375970"/>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A06D8102-1446-AAB0-D82B-743D062C4283}"/>
              </a:ext>
            </a:extLst>
          </p:cNvPr>
          <p:cNvSpPr txBox="1"/>
          <p:nvPr/>
        </p:nvSpPr>
        <p:spPr>
          <a:xfrm>
            <a:off x="906780" y="1303230"/>
            <a:ext cx="10970278" cy="1016881"/>
          </a:xfrm>
          <a:prstGeom prst="rect">
            <a:avLst/>
          </a:prstGeom>
          <a:noFill/>
        </p:spPr>
        <p:txBody>
          <a:bodyPr wrap="square" lIns="0" tIns="0" rIns="0" bIns="0" anchor="t">
            <a:spAutoFit/>
          </a:bodyPr>
          <a:lstStyle/>
          <a:p>
            <a:pPr>
              <a:lnSpc>
                <a:spcPct val="120000"/>
              </a:lnSpc>
            </a:pPr>
            <a:r>
              <a:rPr lang="en-US" sz="1400" noProof="1">
                <a:solidFill>
                  <a:srgbClr val="1D3557"/>
                </a:solidFill>
              </a:rPr>
              <a:t>To achieve better performance, we can improve the controller</a:t>
            </a:r>
            <a:r>
              <a:rPr lang="en-US" sz="1400" b="1" noProof="1">
                <a:solidFill>
                  <a:srgbClr val="1D3557"/>
                </a:solidFill>
              </a:rPr>
              <a:t> by understanding the dynamics of the system. This </a:t>
            </a:r>
            <a:r>
              <a:rPr lang="en-US" sz="1400" noProof="1">
                <a:solidFill>
                  <a:srgbClr val="1D3557"/>
                </a:solidFill>
              </a:rPr>
              <a:t>allows us to incorporate feedforward control. Specifically, a </a:t>
            </a:r>
            <a:r>
              <a:rPr lang="en-US" sz="1400" i="1" u="sng" noProof="1">
                <a:solidFill>
                  <a:srgbClr val="1D3557"/>
                </a:solidFill>
              </a:rPr>
              <a:t>disturbance feedforward term </a:t>
            </a:r>
            <a:r>
              <a:rPr lang="en-US" sz="1400" noProof="1">
                <a:solidFill>
                  <a:srgbClr val="1D3557"/>
                </a:solidFill>
              </a:rPr>
              <a:t>compensates for the gravitational effects, while a </a:t>
            </a:r>
            <a:r>
              <a:rPr lang="en-US" sz="1400" i="1" u="sng" noProof="1">
                <a:solidFill>
                  <a:srgbClr val="1D3557"/>
                </a:solidFill>
              </a:rPr>
              <a:t>reference feedforward term</a:t>
            </a:r>
            <a:r>
              <a:rPr lang="en-US" sz="1400" noProof="1">
                <a:solidFill>
                  <a:srgbClr val="1D3557"/>
                </a:solidFill>
              </a:rPr>
              <a:t> generates the required control input to drive the system toward the desired target. Unlike a PI controller, which reacts only after an error occurs, the reference feedforward term acts proactively, enabling faster and more accurate tracking when no disturbances are present.</a:t>
            </a:r>
          </a:p>
        </p:txBody>
      </p:sp>
      <p:sp>
        <p:nvSpPr>
          <p:cNvPr id="6" name="Rounded Rectangle 6">
            <a:extLst>
              <a:ext uri="{FF2B5EF4-FFF2-40B4-BE49-F238E27FC236}">
                <a16:creationId xmlns:a16="http://schemas.microsoft.com/office/drawing/2014/main" id="{0F5525DA-03D6-55A1-2115-95DD57018530}"/>
              </a:ext>
            </a:extLst>
          </p:cNvPr>
          <p:cNvSpPr/>
          <p:nvPr/>
        </p:nvSpPr>
        <p:spPr>
          <a:xfrm>
            <a:off x="1636073"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Reference feedforward</a:t>
            </a:r>
          </a:p>
        </p:txBody>
      </p:sp>
      <p:sp>
        <p:nvSpPr>
          <p:cNvPr id="8" name="Rounded Rectangle 6">
            <a:extLst>
              <a:ext uri="{FF2B5EF4-FFF2-40B4-BE49-F238E27FC236}">
                <a16:creationId xmlns:a16="http://schemas.microsoft.com/office/drawing/2014/main" id="{876A2788-FC7D-44D2-4781-76FC158CCB10}"/>
              </a:ext>
            </a:extLst>
          </p:cNvPr>
          <p:cNvSpPr/>
          <p:nvPr/>
        </p:nvSpPr>
        <p:spPr>
          <a:xfrm>
            <a:off x="3981138"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Disturbance feedforward</a:t>
            </a:r>
          </a:p>
        </p:txBody>
      </p:sp>
      <mc:AlternateContent xmlns:mc="http://schemas.openxmlformats.org/markup-compatibility/2006" xmlns:a14="http://schemas.microsoft.com/office/drawing/2010/main">
        <mc:Choice Requires="a14">
          <p:sp>
            <p:nvSpPr>
              <p:cNvPr id="10" name="Rounded Rectangle 6">
                <a:extLst>
                  <a:ext uri="{FF2B5EF4-FFF2-40B4-BE49-F238E27FC236}">
                    <a16:creationId xmlns:a16="http://schemas.microsoft.com/office/drawing/2014/main" id="{DC0A2E6F-CDEF-03C3-4E02-D7A23243CCF4}"/>
                  </a:ext>
                </a:extLst>
              </p:cNvPr>
              <p:cNvSpPr/>
              <p:nvPr/>
            </p:nvSpPr>
            <p:spPr>
              <a:xfrm>
                <a:off x="5408036" y="2444557"/>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10" name="Rounded Rectangle 6">
                <a:extLst>
                  <a:ext uri="{FF2B5EF4-FFF2-40B4-BE49-F238E27FC236}">
                    <a16:creationId xmlns:a16="http://schemas.microsoft.com/office/drawing/2014/main" id="{DC0A2E6F-CDEF-03C3-4E02-D7A23243CCF4}"/>
                  </a:ext>
                </a:extLst>
              </p:cNvPr>
              <p:cNvSpPr>
                <a:spLocks noRot="1" noChangeAspect="1" noMove="1" noResize="1" noEditPoints="1" noAdjustHandles="1" noChangeArrowheads="1" noChangeShapeType="1" noTextEdit="1"/>
              </p:cNvSpPr>
              <p:nvPr/>
            </p:nvSpPr>
            <p:spPr>
              <a:xfrm>
                <a:off x="5408036" y="2444557"/>
                <a:ext cx="562361" cy="479453"/>
              </a:xfrm>
              <a:prstGeom prst="roundRect">
                <a:avLst/>
              </a:prstGeom>
              <a:blipFill>
                <a:blip r:embed="rId9"/>
                <a:stretch>
                  <a:fillRect l="-92632" t="-152439" r="-92632" b="-209756"/>
                </a:stretch>
              </a:blipFill>
              <a:ln w="15875">
                <a:solidFill>
                  <a:srgbClr val="E07A5F"/>
                </a:solidFill>
              </a:ln>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D8DCEBC4-A50B-7034-8601-3897A9DB066E}"/>
              </a:ext>
            </a:extLst>
          </p:cNvPr>
          <p:cNvCxnSpPr>
            <a:cxnSpLocks/>
          </p:cNvCxnSpPr>
          <p:nvPr/>
        </p:nvCxnSpPr>
        <p:spPr>
          <a:xfrm flipH="1">
            <a:off x="1227448" y="2677141"/>
            <a:ext cx="408625" cy="0"/>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0F615EA-FF02-49C8-E100-8FEBF6F13644}"/>
              </a:ext>
            </a:extLst>
          </p:cNvPr>
          <p:cNvCxnSpPr>
            <a:cxnSpLocks/>
          </p:cNvCxnSpPr>
          <p:nvPr/>
        </p:nvCxnSpPr>
        <p:spPr>
          <a:xfrm flipH="1">
            <a:off x="2753568" y="2684283"/>
            <a:ext cx="546272" cy="5455"/>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820CE-3C65-EC0D-1A0E-8AB90387A181}"/>
              </a:ext>
            </a:extLst>
          </p:cNvPr>
          <p:cNvCxnSpPr>
            <a:cxnSpLocks/>
            <a:endCxn id="13" idx="1"/>
          </p:cNvCxnSpPr>
          <p:nvPr/>
        </p:nvCxnSpPr>
        <p:spPr>
          <a:xfrm>
            <a:off x="3287345" y="2671556"/>
            <a:ext cx="202237" cy="601148"/>
          </a:xfrm>
          <a:prstGeom prst="straightConnector1">
            <a:avLst/>
          </a:prstGeom>
          <a:ln>
            <a:solidFill>
              <a:srgbClr val="E07A5F"/>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5A511D76-DE9B-FB79-2B09-553F006E3F5D}"/>
              </a:ext>
            </a:extLst>
          </p:cNvPr>
          <p:cNvCxnSpPr>
            <a:cxnSpLocks/>
          </p:cNvCxnSpPr>
          <p:nvPr/>
        </p:nvCxnSpPr>
        <p:spPr>
          <a:xfrm flipH="1">
            <a:off x="5969751" y="2677011"/>
            <a:ext cx="478126"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413DE4A0-194B-3EF1-4B55-A1F855E1884A}"/>
              </a:ext>
            </a:extLst>
          </p:cNvPr>
          <p:cNvCxnSpPr>
            <a:cxnSpLocks/>
            <a:stCxn id="10" idx="1"/>
            <a:endCxn id="8" idx="3"/>
          </p:cNvCxnSpPr>
          <p:nvPr/>
        </p:nvCxnSpPr>
        <p:spPr>
          <a:xfrm flipH="1">
            <a:off x="5085964" y="2684284"/>
            <a:ext cx="3220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7B610CA1-E491-1BBF-4AEC-E5D50717B220}"/>
              </a:ext>
            </a:extLst>
          </p:cNvPr>
          <p:cNvCxnSpPr>
            <a:cxnSpLocks/>
            <a:endCxn id="13" idx="7"/>
          </p:cNvCxnSpPr>
          <p:nvPr/>
        </p:nvCxnSpPr>
        <p:spPr>
          <a:xfrm flipH="1">
            <a:off x="3680500" y="2684284"/>
            <a:ext cx="184391" cy="5884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97DF5EBA-F5AB-821E-6ECB-DA2050C61146}"/>
              </a:ext>
            </a:extLst>
          </p:cNvPr>
          <p:cNvCxnSpPr>
            <a:cxnSpLocks/>
            <a:stCxn id="8" idx="1"/>
          </p:cNvCxnSpPr>
          <p:nvPr/>
        </p:nvCxnSpPr>
        <p:spPr>
          <a:xfrm flipH="1">
            <a:off x="3858394" y="2684284"/>
            <a:ext cx="122744"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838DFF12-6C0F-FD21-70F3-3445571848EB}"/>
              </a:ext>
            </a:extLst>
          </p:cNvPr>
          <p:cNvSpPr txBox="1"/>
          <p:nvPr/>
        </p:nvSpPr>
        <p:spPr>
          <a:xfrm>
            <a:off x="919574" y="3956195"/>
            <a:ext cx="3390665" cy="241285"/>
          </a:xfrm>
          <a:prstGeom prst="rect">
            <a:avLst/>
          </a:prstGeom>
          <a:noFill/>
        </p:spPr>
        <p:txBody>
          <a:bodyPr wrap="square" lIns="0" tIns="0" rIns="0" bIns="0" anchor="t">
            <a:spAutoFit/>
          </a:bodyPr>
          <a:lstStyle/>
          <a:p>
            <a:pPr>
              <a:lnSpc>
                <a:spcPct val="120000"/>
              </a:lnSpc>
            </a:pPr>
            <a:r>
              <a:rPr lang="en-US" sz="1400" i="1" noProof="1">
                <a:solidFill>
                  <a:srgbClr val="1D3557"/>
                </a:solidFill>
              </a:rPr>
              <a:t>Feedforward Controller Design</a:t>
            </a:r>
          </a:p>
        </p:txBody>
      </p:sp>
      <p:sp>
        <p:nvSpPr>
          <p:cNvPr id="104" name="TextBox 103">
            <a:extLst>
              <a:ext uri="{FF2B5EF4-FFF2-40B4-BE49-F238E27FC236}">
                <a16:creationId xmlns:a16="http://schemas.microsoft.com/office/drawing/2014/main" id="{050682F8-2461-9D2B-0C93-993BCA8DAAFC}"/>
              </a:ext>
            </a:extLst>
          </p:cNvPr>
          <p:cNvSpPr txBox="1"/>
          <p:nvPr/>
        </p:nvSpPr>
        <p:spPr>
          <a:xfrm>
            <a:off x="836237" y="4395748"/>
            <a:ext cx="3390665"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From</a:t>
            </a:r>
          </a:p>
        </p:txBody>
      </p:sp>
      <p:graphicFrame>
        <p:nvGraphicFramePr>
          <p:cNvPr id="105" name="Object 104">
            <a:extLst>
              <a:ext uri="{FF2B5EF4-FFF2-40B4-BE49-F238E27FC236}">
                <a16:creationId xmlns:a16="http://schemas.microsoft.com/office/drawing/2014/main" id="{D5B1324B-E78F-1C8C-E9FF-16C09D49E7BC}"/>
              </a:ext>
            </a:extLst>
          </p:cNvPr>
          <p:cNvGraphicFramePr>
            <a:graphicFrameLocks noChangeAspect="1"/>
          </p:cNvGraphicFramePr>
          <p:nvPr>
            <p:extLst>
              <p:ext uri="{D42A27DB-BD31-4B8C-83A1-F6EECF244321}">
                <p14:modId xmlns:p14="http://schemas.microsoft.com/office/powerpoint/2010/main" val="2703205800"/>
              </p:ext>
            </p:extLst>
          </p:nvPr>
        </p:nvGraphicFramePr>
        <p:xfrm>
          <a:off x="1346913" y="4230641"/>
          <a:ext cx="1727200" cy="571500"/>
        </p:xfrm>
        <a:graphic>
          <a:graphicData uri="http://schemas.openxmlformats.org/presentationml/2006/ole">
            <mc:AlternateContent xmlns:mc="http://schemas.openxmlformats.org/markup-compatibility/2006">
              <mc:Choice xmlns:v="urn:schemas-microsoft-com:vml" Requires="v">
                <p:oleObj name="Equation" r:id="rId10" imgW="1726920" imgH="571320" progId="Equation.DSMT4">
                  <p:embed/>
                </p:oleObj>
              </mc:Choice>
              <mc:Fallback>
                <p:oleObj name="Equation" r:id="rId10" imgW="1726920" imgH="571320" progId="Equation.DSMT4">
                  <p:embed/>
                  <p:pic>
                    <p:nvPicPr>
                      <p:cNvPr id="47" name="Object 46">
                        <a:extLst>
                          <a:ext uri="{FF2B5EF4-FFF2-40B4-BE49-F238E27FC236}">
                            <a16:creationId xmlns:a16="http://schemas.microsoft.com/office/drawing/2014/main" id="{705FB2E5-6584-CF97-1D24-A2EE1FE64A4F}"/>
                          </a:ext>
                        </a:extLst>
                      </p:cNvPr>
                      <p:cNvPicPr/>
                      <p:nvPr/>
                    </p:nvPicPr>
                    <p:blipFill>
                      <a:blip r:embed="rId11"/>
                      <a:stretch>
                        <a:fillRect/>
                      </a:stretch>
                    </p:blipFill>
                    <p:spPr>
                      <a:xfrm>
                        <a:off x="1346913" y="4230641"/>
                        <a:ext cx="1727200" cy="571500"/>
                      </a:xfrm>
                      <a:prstGeom prst="rect">
                        <a:avLst/>
                      </a:prstGeom>
                    </p:spPr>
                  </p:pic>
                </p:oleObj>
              </mc:Fallback>
            </mc:AlternateContent>
          </a:graphicData>
        </a:graphic>
      </p:graphicFrame>
      <p:graphicFrame>
        <p:nvGraphicFramePr>
          <p:cNvPr id="106" name="Object 105">
            <a:extLst>
              <a:ext uri="{FF2B5EF4-FFF2-40B4-BE49-F238E27FC236}">
                <a16:creationId xmlns:a16="http://schemas.microsoft.com/office/drawing/2014/main" id="{C905C9AD-FC3B-97D3-D73B-F4D1CE538B90}"/>
              </a:ext>
            </a:extLst>
          </p:cNvPr>
          <p:cNvGraphicFramePr>
            <a:graphicFrameLocks noChangeAspect="1"/>
          </p:cNvGraphicFramePr>
          <p:nvPr>
            <p:extLst>
              <p:ext uri="{D42A27DB-BD31-4B8C-83A1-F6EECF244321}">
                <p14:modId xmlns:p14="http://schemas.microsoft.com/office/powerpoint/2010/main" val="3753158032"/>
              </p:ext>
            </p:extLst>
          </p:nvPr>
        </p:nvGraphicFramePr>
        <p:xfrm>
          <a:off x="3518651" y="4230810"/>
          <a:ext cx="2451100" cy="571500"/>
        </p:xfrm>
        <a:graphic>
          <a:graphicData uri="http://schemas.openxmlformats.org/presentationml/2006/ole">
            <mc:AlternateContent xmlns:mc="http://schemas.openxmlformats.org/markup-compatibility/2006">
              <mc:Choice xmlns:v="urn:schemas-microsoft-com:vml" Requires="v">
                <p:oleObj name="Equation" r:id="rId12" imgW="2450880" imgH="571320" progId="Equation.DSMT4">
                  <p:embed/>
                </p:oleObj>
              </mc:Choice>
              <mc:Fallback>
                <p:oleObj name="Equation" r:id="rId12" imgW="2450880" imgH="571320" progId="Equation.DSMT4">
                  <p:embed/>
                  <p:pic>
                    <p:nvPicPr>
                      <p:cNvPr id="48" name="Object 47">
                        <a:extLst>
                          <a:ext uri="{FF2B5EF4-FFF2-40B4-BE49-F238E27FC236}">
                            <a16:creationId xmlns:a16="http://schemas.microsoft.com/office/drawing/2014/main" id="{45865715-8709-178D-2243-C131E2469F9D}"/>
                          </a:ext>
                        </a:extLst>
                      </p:cNvPr>
                      <p:cNvPicPr/>
                      <p:nvPr/>
                    </p:nvPicPr>
                    <p:blipFill>
                      <a:blip r:embed="rId13"/>
                      <a:stretch>
                        <a:fillRect/>
                      </a:stretch>
                    </p:blipFill>
                    <p:spPr>
                      <a:xfrm>
                        <a:off x="3518651" y="4230810"/>
                        <a:ext cx="2451100" cy="571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BD544749-7598-687F-4622-DA8B9C7B9F00}"/>
                  </a:ext>
                </a:extLst>
              </p:cNvPr>
              <p:cNvSpPr txBox="1"/>
              <p:nvPr/>
            </p:nvSpPr>
            <p:spPr>
              <a:xfrm>
                <a:off x="799846" y="3069507"/>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08" name="TextBox 107">
                <a:extLst>
                  <a:ext uri="{FF2B5EF4-FFF2-40B4-BE49-F238E27FC236}">
                    <a16:creationId xmlns:a16="http://schemas.microsoft.com/office/drawing/2014/main" id="{BD544749-7598-687F-4622-DA8B9C7B9F00}"/>
                  </a:ext>
                </a:extLst>
              </p:cNvPr>
              <p:cNvSpPr txBox="1">
                <a:spLocks noRot="1" noChangeAspect="1" noMove="1" noResize="1" noEditPoints="1" noAdjustHandles="1" noChangeArrowheads="1" noChangeShapeType="1" noTextEdit="1"/>
              </p:cNvSpPr>
              <p:nvPr/>
            </p:nvSpPr>
            <p:spPr>
              <a:xfrm>
                <a:off x="799846" y="3069507"/>
                <a:ext cx="243848" cy="215444"/>
              </a:xfrm>
              <a:prstGeom prst="rect">
                <a:avLst/>
              </a:prstGeom>
              <a:blipFill>
                <a:blip r:embed="rId14"/>
                <a:stretch>
                  <a:fillRect l="-10000" r="-2500"/>
                </a:stretch>
              </a:blipFill>
            </p:spPr>
            <p:txBody>
              <a:bodyPr/>
              <a:lstStyle/>
              <a:p>
                <a:r>
                  <a:rPr lang="th-TH">
                    <a:noFill/>
                  </a:rPr>
                  <a:t> </a:t>
                </a:r>
              </a:p>
            </p:txBody>
          </p:sp>
        </mc:Fallback>
      </mc:AlternateContent>
      <p:sp>
        <p:nvSpPr>
          <p:cNvPr id="109" name="TextBox 108">
            <a:extLst>
              <a:ext uri="{FF2B5EF4-FFF2-40B4-BE49-F238E27FC236}">
                <a16:creationId xmlns:a16="http://schemas.microsoft.com/office/drawing/2014/main" id="{71C54B83-D0C4-84CA-4356-A75A65E16909}"/>
              </a:ext>
            </a:extLst>
          </p:cNvPr>
          <p:cNvSpPr txBox="1"/>
          <p:nvPr/>
        </p:nvSpPr>
        <p:spPr>
          <a:xfrm>
            <a:off x="3162581" y="4395748"/>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sp>
        <p:nvSpPr>
          <p:cNvPr id="113" name="TextBox 112">
            <a:extLst>
              <a:ext uri="{FF2B5EF4-FFF2-40B4-BE49-F238E27FC236}">
                <a16:creationId xmlns:a16="http://schemas.microsoft.com/office/drawing/2014/main" id="{105C1CBD-CE1C-35C7-1DA7-F813C79AFFDB}"/>
              </a:ext>
            </a:extLst>
          </p:cNvPr>
          <p:cNvSpPr txBox="1"/>
          <p:nvPr/>
        </p:nvSpPr>
        <p:spPr>
          <a:xfrm>
            <a:off x="836238" y="481430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Consider the steady-state condition where all derivatives vanish</a:t>
            </a:r>
          </a:p>
        </p:txBody>
      </p:sp>
      <p:graphicFrame>
        <p:nvGraphicFramePr>
          <p:cNvPr id="116" name="Object 115">
            <a:extLst>
              <a:ext uri="{FF2B5EF4-FFF2-40B4-BE49-F238E27FC236}">
                <a16:creationId xmlns:a16="http://schemas.microsoft.com/office/drawing/2014/main" id="{31E675F1-2AD8-008D-ADC6-1B73C1993BEA}"/>
              </a:ext>
            </a:extLst>
          </p:cNvPr>
          <p:cNvGraphicFramePr>
            <a:graphicFrameLocks noChangeAspect="1"/>
          </p:cNvGraphicFramePr>
          <p:nvPr>
            <p:extLst>
              <p:ext uri="{D42A27DB-BD31-4B8C-83A1-F6EECF244321}">
                <p14:modId xmlns:p14="http://schemas.microsoft.com/office/powerpoint/2010/main" val="4170531972"/>
              </p:ext>
            </p:extLst>
          </p:nvPr>
        </p:nvGraphicFramePr>
        <p:xfrm>
          <a:off x="836238" y="5145609"/>
          <a:ext cx="1206500" cy="292100"/>
        </p:xfrm>
        <a:graphic>
          <a:graphicData uri="http://schemas.openxmlformats.org/presentationml/2006/ole">
            <mc:AlternateContent xmlns:mc="http://schemas.openxmlformats.org/markup-compatibility/2006">
              <mc:Choice xmlns:v="urn:schemas-microsoft-com:vml" Requires="v">
                <p:oleObj name="Equation" r:id="rId15" imgW="1206360" imgH="291960" progId="Equation.DSMT4">
                  <p:embed/>
                </p:oleObj>
              </mc:Choice>
              <mc:Fallback>
                <p:oleObj name="Equation" r:id="rId15" imgW="1206360" imgH="291960" progId="Equation.DSMT4">
                  <p:embed/>
                  <p:pic>
                    <p:nvPicPr>
                      <p:cNvPr id="0" name=""/>
                      <p:cNvPicPr/>
                      <p:nvPr/>
                    </p:nvPicPr>
                    <p:blipFill>
                      <a:blip r:embed="rId16"/>
                      <a:stretch>
                        <a:fillRect/>
                      </a:stretch>
                    </p:blipFill>
                    <p:spPr>
                      <a:xfrm>
                        <a:off x="836238" y="5145609"/>
                        <a:ext cx="1206500" cy="292100"/>
                      </a:xfrm>
                      <a:prstGeom prst="rect">
                        <a:avLst/>
                      </a:prstGeom>
                    </p:spPr>
                  </p:pic>
                </p:oleObj>
              </mc:Fallback>
            </mc:AlternateContent>
          </a:graphicData>
        </a:graphic>
      </p:graphicFrame>
      <p:sp>
        <p:nvSpPr>
          <p:cNvPr id="117" name="TextBox 116">
            <a:extLst>
              <a:ext uri="{FF2B5EF4-FFF2-40B4-BE49-F238E27FC236}">
                <a16:creationId xmlns:a16="http://schemas.microsoft.com/office/drawing/2014/main" id="{0A12DCAA-2788-AB40-4D1B-3504205B658E}"/>
              </a:ext>
            </a:extLst>
          </p:cNvPr>
          <p:cNvSpPr txBox="1"/>
          <p:nvPr/>
        </p:nvSpPr>
        <p:spPr>
          <a:xfrm>
            <a:off x="2210513" y="5158497"/>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graphicFrame>
        <p:nvGraphicFramePr>
          <p:cNvPr id="119" name="Object 118">
            <a:extLst>
              <a:ext uri="{FF2B5EF4-FFF2-40B4-BE49-F238E27FC236}">
                <a16:creationId xmlns:a16="http://schemas.microsoft.com/office/drawing/2014/main" id="{9C87C0BB-6AE5-72E6-A4DC-586144F9DBDC}"/>
              </a:ext>
            </a:extLst>
          </p:cNvPr>
          <p:cNvGraphicFramePr>
            <a:graphicFrameLocks noChangeAspect="1"/>
          </p:cNvGraphicFramePr>
          <p:nvPr>
            <p:extLst>
              <p:ext uri="{D42A27DB-BD31-4B8C-83A1-F6EECF244321}">
                <p14:modId xmlns:p14="http://schemas.microsoft.com/office/powerpoint/2010/main" val="4134364331"/>
              </p:ext>
            </p:extLst>
          </p:nvPr>
        </p:nvGraphicFramePr>
        <p:xfrm>
          <a:off x="2670774" y="5145609"/>
          <a:ext cx="2070100" cy="292100"/>
        </p:xfrm>
        <a:graphic>
          <a:graphicData uri="http://schemas.openxmlformats.org/presentationml/2006/ole">
            <mc:AlternateContent xmlns:mc="http://schemas.openxmlformats.org/markup-compatibility/2006">
              <mc:Choice xmlns:v="urn:schemas-microsoft-com:vml" Requires="v">
                <p:oleObj name="Equation" r:id="rId17" imgW="2070000" imgH="291960" progId="Equation.DSMT4">
                  <p:embed/>
                </p:oleObj>
              </mc:Choice>
              <mc:Fallback>
                <p:oleObj name="Equation" r:id="rId17" imgW="2070000" imgH="291960" progId="Equation.DSMT4">
                  <p:embed/>
                  <p:pic>
                    <p:nvPicPr>
                      <p:cNvPr id="0" name=""/>
                      <p:cNvPicPr/>
                      <p:nvPr/>
                    </p:nvPicPr>
                    <p:blipFill>
                      <a:blip r:embed="rId18"/>
                      <a:stretch>
                        <a:fillRect/>
                      </a:stretch>
                    </p:blipFill>
                    <p:spPr>
                      <a:xfrm>
                        <a:off x="2670774" y="5145609"/>
                        <a:ext cx="2070100" cy="292100"/>
                      </a:xfrm>
                      <a:prstGeom prst="rect">
                        <a:avLst/>
                      </a:prstGeom>
                    </p:spPr>
                  </p:pic>
                </p:oleObj>
              </mc:Fallback>
            </mc:AlternateContent>
          </a:graphicData>
        </a:graphic>
      </p:graphicFrame>
      <p:sp>
        <p:nvSpPr>
          <p:cNvPr id="120" name="TextBox 119">
            <a:extLst>
              <a:ext uri="{FF2B5EF4-FFF2-40B4-BE49-F238E27FC236}">
                <a16:creationId xmlns:a16="http://schemas.microsoft.com/office/drawing/2014/main" id="{BCC143A9-2255-FA1B-F771-8FD9F8E6AF4F}"/>
              </a:ext>
            </a:extLst>
          </p:cNvPr>
          <p:cNvSpPr txBox="1"/>
          <p:nvPr/>
        </p:nvSpPr>
        <p:spPr>
          <a:xfrm>
            <a:off x="836238" y="553957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Solve this we will get the feedforward that can be written as</a:t>
            </a:r>
          </a:p>
        </p:txBody>
      </p:sp>
      <p:graphicFrame>
        <p:nvGraphicFramePr>
          <p:cNvPr id="121" name="Object 120">
            <a:extLst>
              <a:ext uri="{FF2B5EF4-FFF2-40B4-BE49-F238E27FC236}">
                <a16:creationId xmlns:a16="http://schemas.microsoft.com/office/drawing/2014/main" id="{A18146DE-38B6-92EF-ABE0-5C8BF6F87813}"/>
              </a:ext>
            </a:extLst>
          </p:cNvPr>
          <p:cNvGraphicFramePr>
            <a:graphicFrameLocks noChangeAspect="1"/>
          </p:cNvGraphicFramePr>
          <p:nvPr>
            <p:extLst>
              <p:ext uri="{D42A27DB-BD31-4B8C-83A1-F6EECF244321}">
                <p14:modId xmlns:p14="http://schemas.microsoft.com/office/powerpoint/2010/main" val="3974150601"/>
              </p:ext>
            </p:extLst>
          </p:nvPr>
        </p:nvGraphicFramePr>
        <p:xfrm>
          <a:off x="867526" y="5882726"/>
          <a:ext cx="2489200" cy="647700"/>
        </p:xfrm>
        <a:graphic>
          <a:graphicData uri="http://schemas.openxmlformats.org/presentationml/2006/ole">
            <mc:AlternateContent xmlns:mc="http://schemas.openxmlformats.org/markup-compatibility/2006">
              <mc:Choice xmlns:v="urn:schemas-microsoft-com:vml" Requires="v">
                <p:oleObj name="Equation" r:id="rId19" imgW="2489040" imgH="647640" progId="Equation.DSMT4">
                  <p:embed/>
                </p:oleObj>
              </mc:Choice>
              <mc:Fallback>
                <p:oleObj name="Equation" r:id="rId19" imgW="2489040" imgH="647640" progId="Equation.DSMT4">
                  <p:embed/>
                  <p:pic>
                    <p:nvPicPr>
                      <p:cNvPr id="0" name=""/>
                      <p:cNvPicPr/>
                      <p:nvPr/>
                    </p:nvPicPr>
                    <p:blipFill>
                      <a:blip r:embed="rId20"/>
                      <a:stretch>
                        <a:fillRect/>
                      </a:stretch>
                    </p:blipFill>
                    <p:spPr>
                      <a:xfrm>
                        <a:off x="867526" y="5882726"/>
                        <a:ext cx="2489200" cy="647700"/>
                      </a:xfrm>
                      <a:prstGeom prst="rect">
                        <a:avLst/>
                      </a:prstGeom>
                    </p:spPr>
                  </p:pic>
                </p:oleObj>
              </mc:Fallback>
            </mc:AlternateContent>
          </a:graphicData>
        </a:graphic>
      </p:graphicFrame>
      <p:sp>
        <p:nvSpPr>
          <p:cNvPr id="124" name="Rectangle 123">
            <a:extLst>
              <a:ext uri="{FF2B5EF4-FFF2-40B4-BE49-F238E27FC236}">
                <a16:creationId xmlns:a16="http://schemas.microsoft.com/office/drawing/2014/main" id="{F6A73FAC-A344-A866-E58E-3D73764EFFA9}"/>
              </a:ext>
            </a:extLst>
          </p:cNvPr>
          <p:cNvSpPr/>
          <p:nvPr/>
        </p:nvSpPr>
        <p:spPr>
          <a:xfrm rot="16200000" flipH="1">
            <a:off x="1621275" y="6082870"/>
            <a:ext cx="45719" cy="9408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5" name="Rectangle 124">
            <a:extLst>
              <a:ext uri="{FF2B5EF4-FFF2-40B4-BE49-F238E27FC236}">
                <a16:creationId xmlns:a16="http://schemas.microsoft.com/office/drawing/2014/main" id="{335D0ED0-D997-A0A8-19C9-7714FBAFC040}"/>
              </a:ext>
            </a:extLst>
          </p:cNvPr>
          <p:cNvSpPr/>
          <p:nvPr/>
        </p:nvSpPr>
        <p:spPr>
          <a:xfrm rot="16200000" flipH="1">
            <a:off x="2757342" y="6033647"/>
            <a:ext cx="45719" cy="103927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6" name="TextBox 125">
            <a:extLst>
              <a:ext uri="{FF2B5EF4-FFF2-40B4-BE49-F238E27FC236}">
                <a16:creationId xmlns:a16="http://schemas.microsoft.com/office/drawing/2014/main" id="{098C503F-79BC-16A4-3C9A-1881C02B69F2}"/>
              </a:ext>
            </a:extLst>
          </p:cNvPr>
          <p:cNvSpPr txBox="1"/>
          <p:nvPr/>
        </p:nvSpPr>
        <p:spPr>
          <a:xfrm>
            <a:off x="1292096" y="6584782"/>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Disturbance ffw</a:t>
            </a:r>
          </a:p>
        </p:txBody>
      </p:sp>
      <p:sp>
        <p:nvSpPr>
          <p:cNvPr id="127" name="TextBox 126">
            <a:extLst>
              <a:ext uri="{FF2B5EF4-FFF2-40B4-BE49-F238E27FC236}">
                <a16:creationId xmlns:a16="http://schemas.microsoft.com/office/drawing/2014/main" id="{46EBFBCF-CA12-12D4-46FC-8E0CFE921E6E}"/>
              </a:ext>
            </a:extLst>
          </p:cNvPr>
          <p:cNvSpPr txBox="1"/>
          <p:nvPr/>
        </p:nvSpPr>
        <p:spPr>
          <a:xfrm>
            <a:off x="2454422" y="6585957"/>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Reffernce ffw</a:t>
            </a:r>
          </a:p>
        </p:txBody>
      </p:sp>
      <p:pic>
        <p:nvPicPr>
          <p:cNvPr id="128" name="Picture 127">
            <a:extLst>
              <a:ext uri="{FF2B5EF4-FFF2-40B4-BE49-F238E27FC236}">
                <a16:creationId xmlns:a16="http://schemas.microsoft.com/office/drawing/2014/main" id="{BDB4F3CD-B7DF-C332-F437-8B91FD616276}"/>
              </a:ext>
            </a:extLst>
          </p:cNvPr>
          <p:cNvPicPr>
            <a:picLocks noChangeAspect="1"/>
          </p:cNvPicPr>
          <p:nvPr/>
        </p:nvPicPr>
        <p:blipFill>
          <a:blip r:embed="rId21"/>
          <a:stretch>
            <a:fillRect/>
          </a:stretch>
        </p:blipFill>
        <p:spPr>
          <a:xfrm>
            <a:off x="7423288" y="4692102"/>
            <a:ext cx="4445137" cy="2149235"/>
          </a:xfrm>
          <a:prstGeom prst="rect">
            <a:avLst/>
          </a:prstGeom>
        </p:spPr>
      </p:pic>
      <p:pic>
        <p:nvPicPr>
          <p:cNvPr id="129" name="Picture 128">
            <a:extLst>
              <a:ext uri="{FF2B5EF4-FFF2-40B4-BE49-F238E27FC236}">
                <a16:creationId xmlns:a16="http://schemas.microsoft.com/office/drawing/2014/main" id="{479712D4-5C47-0FF1-40D9-B0C2AA11FE3C}"/>
              </a:ext>
            </a:extLst>
          </p:cNvPr>
          <p:cNvPicPr>
            <a:picLocks noChangeAspect="1"/>
          </p:cNvPicPr>
          <p:nvPr/>
        </p:nvPicPr>
        <p:blipFill>
          <a:blip r:embed="rId22"/>
          <a:stretch>
            <a:fillRect/>
          </a:stretch>
        </p:blipFill>
        <p:spPr>
          <a:xfrm>
            <a:off x="7414404" y="2343723"/>
            <a:ext cx="4473414" cy="2199760"/>
          </a:xfrm>
          <a:prstGeom prst="rect">
            <a:avLst/>
          </a:prstGeom>
        </p:spPr>
      </p:pic>
      <p:sp>
        <p:nvSpPr>
          <p:cNvPr id="130" name="TextBox 129">
            <a:extLst>
              <a:ext uri="{FF2B5EF4-FFF2-40B4-BE49-F238E27FC236}">
                <a16:creationId xmlns:a16="http://schemas.microsoft.com/office/drawing/2014/main" id="{F2016FBF-3D14-C041-8D32-C8E853F31EDB}"/>
              </a:ext>
            </a:extLst>
          </p:cNvPr>
          <p:cNvSpPr txBox="1"/>
          <p:nvPr/>
        </p:nvSpPr>
        <p:spPr>
          <a:xfrm>
            <a:off x="9085281" y="3876222"/>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0.450</a:t>
            </a:r>
          </a:p>
        </p:txBody>
      </p:sp>
      <p:sp>
        <p:nvSpPr>
          <p:cNvPr id="131" name="TextBox 130">
            <a:extLst>
              <a:ext uri="{FF2B5EF4-FFF2-40B4-BE49-F238E27FC236}">
                <a16:creationId xmlns:a16="http://schemas.microsoft.com/office/drawing/2014/main" id="{4FE22F75-7ED6-3BC1-1543-FCF89D947081}"/>
              </a:ext>
            </a:extLst>
          </p:cNvPr>
          <p:cNvSpPr txBox="1"/>
          <p:nvPr/>
        </p:nvSpPr>
        <p:spPr>
          <a:xfrm>
            <a:off x="9700581" y="6188717"/>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0.279</a:t>
            </a:r>
          </a:p>
        </p:txBody>
      </p:sp>
    </p:spTree>
    <p:extLst>
      <p:ext uri="{BB962C8B-B14F-4D97-AF65-F5344CB8AC3E}">
        <p14:creationId xmlns:p14="http://schemas.microsoft.com/office/powerpoint/2010/main" val="1862035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4031A075-3EEC-012B-A09A-6653C887BACF}"/>
            </a:ext>
          </a:extLst>
        </p:cNvPr>
        <p:cNvGrpSpPr/>
        <p:nvPr/>
      </p:nvGrpSpPr>
      <p:grpSpPr>
        <a:xfrm>
          <a:off x="0" y="0"/>
          <a:ext cx="0" cy="0"/>
          <a:chOff x="0" y="0"/>
          <a:chExt cx="0" cy="0"/>
        </a:xfrm>
      </p:grpSpPr>
      <p:sp>
        <p:nvSpPr>
          <p:cNvPr id="101" name="Rounded Rectangle 73">
            <a:extLst>
              <a:ext uri="{FF2B5EF4-FFF2-40B4-BE49-F238E27FC236}">
                <a16:creationId xmlns:a16="http://schemas.microsoft.com/office/drawing/2014/main" id="{D82A15CA-12C7-6F50-6AE7-1A892E99BCEC}"/>
              </a:ext>
            </a:extLst>
          </p:cNvPr>
          <p:cNvSpPr/>
          <p:nvPr/>
        </p:nvSpPr>
        <p:spPr>
          <a:xfrm>
            <a:off x="790520" y="3987799"/>
            <a:ext cx="2414544" cy="241285"/>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cxnSp>
        <p:nvCxnSpPr>
          <p:cNvPr id="15" name="Straight Connector 14">
            <a:extLst>
              <a:ext uri="{FF2B5EF4-FFF2-40B4-BE49-F238E27FC236}">
                <a16:creationId xmlns:a16="http://schemas.microsoft.com/office/drawing/2014/main" id="{F0730D0B-C321-3105-56D9-9BC3AF19A540}"/>
              </a:ext>
            </a:extLst>
          </p:cNvPr>
          <p:cNvCxnSpPr>
            <a:cxnSpLocks/>
          </p:cNvCxnSpPr>
          <p:nvPr/>
        </p:nvCxnSpPr>
        <p:spPr>
          <a:xfrm flipV="1">
            <a:off x="1234972" y="2671556"/>
            <a:ext cx="0" cy="576319"/>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97194590-0B47-7DE3-456E-99BD07456B5D}"/>
              </a:ext>
            </a:extLst>
          </p:cNvPr>
          <p:cNvCxnSpPr>
            <a:cxnSpLocks/>
          </p:cNvCxnSpPr>
          <p:nvPr/>
        </p:nvCxnSpPr>
        <p:spPr>
          <a:xfrm flipV="1">
            <a:off x="6447877" y="2671556"/>
            <a:ext cx="0" cy="66499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9213D8E8-B694-03C0-0C0F-17E0BF8FE07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FA364F71-D9F3-2C66-644E-8A8066F0EE5E}"/>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DD8D06BA-A154-3857-17F7-A475D85CB9D3}"/>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A4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74B78315-F5D1-B861-8E69-ED49AC9E2753}"/>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Classical Control</a:t>
            </a:r>
          </a:p>
        </p:txBody>
      </p:sp>
      <p:sp>
        <p:nvSpPr>
          <p:cNvPr id="75" name="Rectangle 74">
            <a:extLst>
              <a:ext uri="{FF2B5EF4-FFF2-40B4-BE49-F238E27FC236}">
                <a16:creationId xmlns:a16="http://schemas.microsoft.com/office/drawing/2014/main" id="{EE9F6BB7-F520-5988-484A-86DB425C2E42}"/>
              </a:ext>
            </a:extLst>
          </p:cNvPr>
          <p:cNvSpPr/>
          <p:nvPr/>
        </p:nvSpPr>
        <p:spPr>
          <a:xfrm>
            <a:off x="790518" y="3987799"/>
            <a:ext cx="45719" cy="241285"/>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aphicFrame>
        <p:nvGraphicFramePr>
          <p:cNvPr id="41" name="Object 40">
            <a:extLst>
              <a:ext uri="{FF2B5EF4-FFF2-40B4-BE49-F238E27FC236}">
                <a16:creationId xmlns:a16="http://schemas.microsoft.com/office/drawing/2014/main" id="{CD779A87-BD96-54F9-B8C8-ECB5274E1591}"/>
              </a:ext>
            </a:extLst>
          </p:cNvPr>
          <p:cNvGraphicFramePr>
            <a:graphicFrameLocks noChangeAspect="1"/>
          </p:cNvGraphicFramePr>
          <p:nvPr/>
        </p:nvGraphicFramePr>
        <p:xfrm>
          <a:off x="6061511" y="3186041"/>
          <a:ext cx="139700" cy="228600"/>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41" name="Object 40">
                        <a:extLst>
                          <a:ext uri="{FF2B5EF4-FFF2-40B4-BE49-F238E27FC236}">
                            <a16:creationId xmlns:a16="http://schemas.microsoft.com/office/drawing/2014/main" id="{CCAED91B-8F91-A305-4FDE-71ECB08966BC}"/>
                          </a:ext>
                        </a:extLst>
                      </p:cNvPr>
                      <p:cNvPicPr/>
                      <p:nvPr/>
                    </p:nvPicPr>
                    <p:blipFill>
                      <a:blip r:embed="rId3"/>
                      <a:stretch>
                        <a:fillRect/>
                      </a:stretch>
                    </p:blipFill>
                    <p:spPr>
                      <a:xfrm>
                        <a:off x="6061511" y="3186041"/>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31DB2998-6A44-48E1-AD1C-B1FA66FC4124}"/>
              </a:ext>
            </a:extLst>
          </p:cNvPr>
          <p:cNvSpPr/>
          <p:nvPr/>
        </p:nvSpPr>
        <p:spPr>
          <a:xfrm>
            <a:off x="1636073" y="3121104"/>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61B0BA80-70ED-A391-4592-F82B56463CEB}"/>
              </a:ext>
            </a:extLst>
          </p:cNvPr>
          <p:cNvCxnSpPr>
            <a:cxnSpLocks/>
          </p:cNvCxnSpPr>
          <p:nvPr/>
        </p:nvCxnSpPr>
        <p:spPr>
          <a:xfrm>
            <a:off x="2740899" y="3368163"/>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332EA1A-5BA1-1D6B-BCEA-CFEED7A65EBB}"/>
                  </a:ext>
                </a:extLst>
              </p:cNvPr>
              <p:cNvSpPr txBox="1"/>
              <p:nvPr/>
            </p:nvSpPr>
            <p:spPr>
              <a:xfrm>
                <a:off x="2865041" y="3121104"/>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D332EA1A-5BA1-1D6B-BCEA-CFEED7A65EBB}"/>
                  </a:ext>
                </a:extLst>
              </p:cNvPr>
              <p:cNvSpPr txBox="1">
                <a:spLocks noRot="1" noChangeAspect="1" noMove="1" noResize="1" noEditPoints="1" noAdjustHandles="1" noChangeArrowheads="1" noChangeShapeType="1" noTextEdit="1"/>
              </p:cNvSpPr>
              <p:nvPr/>
            </p:nvSpPr>
            <p:spPr>
              <a:xfrm>
                <a:off x="2865041" y="3121104"/>
                <a:ext cx="434799" cy="215444"/>
              </a:xfrm>
              <a:prstGeom prst="rect">
                <a:avLst/>
              </a:prstGeom>
              <a:blipFill>
                <a:blip r:embed="rId4"/>
                <a:stretch>
                  <a:fillRect l="-9859" r="-1408" b="-14286"/>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0B443184-FE87-0884-7870-B5598548E46D}"/>
              </a:ext>
            </a:extLst>
          </p:cNvPr>
          <p:cNvSpPr/>
          <p:nvPr/>
        </p:nvSpPr>
        <p:spPr>
          <a:xfrm>
            <a:off x="3450041" y="3233163"/>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7B3E4AD2-0EF3-CBDD-120F-071505BEAB68}"/>
              </a:ext>
            </a:extLst>
          </p:cNvPr>
          <p:cNvSpPr txBox="1"/>
          <p:nvPr/>
        </p:nvSpPr>
        <p:spPr>
          <a:xfrm>
            <a:off x="3438867" y="3177229"/>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5304D53-404A-72DE-F99F-F43679F48130}"/>
                  </a:ext>
                </a:extLst>
              </p:cNvPr>
              <p:cNvSpPr txBox="1"/>
              <p:nvPr/>
            </p:nvSpPr>
            <p:spPr>
              <a:xfrm>
                <a:off x="3862291" y="3133562"/>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45304D53-404A-72DE-F99F-F43679F48130}"/>
                  </a:ext>
                </a:extLst>
              </p:cNvPr>
              <p:cNvSpPr txBox="1">
                <a:spLocks noRot="1" noChangeAspect="1" noMove="1" noResize="1" noEditPoints="1" noAdjustHandles="1" noChangeArrowheads="1" noChangeShapeType="1" noTextEdit="1"/>
              </p:cNvSpPr>
              <p:nvPr/>
            </p:nvSpPr>
            <p:spPr>
              <a:xfrm>
                <a:off x="3862291" y="3133562"/>
                <a:ext cx="157992" cy="215444"/>
              </a:xfrm>
              <a:prstGeom prst="rect">
                <a:avLst/>
              </a:prstGeom>
              <a:blipFill>
                <a:blip r:embed="rId5"/>
                <a:stretch>
                  <a:fillRect l="-28000" r="-24000"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A87B5033-4984-8224-5A01-74C3C1F1A825}"/>
              </a:ext>
            </a:extLst>
          </p:cNvPr>
          <p:cNvSpPr/>
          <p:nvPr/>
        </p:nvSpPr>
        <p:spPr>
          <a:xfrm>
            <a:off x="5101418" y="311575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8DC4EF66-EE30-7A23-F141-4CE9C25E99AA}"/>
              </a:ext>
            </a:extLst>
          </p:cNvPr>
          <p:cNvCxnSpPr>
            <a:cxnSpLocks/>
          </p:cNvCxnSpPr>
          <p:nvPr/>
        </p:nvCxnSpPr>
        <p:spPr>
          <a:xfrm>
            <a:off x="6206244" y="3356572"/>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47EFFD2-229A-E189-254F-6B73E53BB267}"/>
                  </a:ext>
                </a:extLst>
              </p:cNvPr>
              <p:cNvSpPr txBox="1"/>
              <p:nvPr/>
            </p:nvSpPr>
            <p:spPr>
              <a:xfrm>
                <a:off x="6521244" y="3128439"/>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047EFFD2-229A-E189-254F-6B73E53BB267}"/>
                  </a:ext>
                </a:extLst>
              </p:cNvPr>
              <p:cNvSpPr txBox="1">
                <a:spLocks noRot="1" noChangeAspect="1" noMove="1" noResize="1" noEditPoints="1" noAdjustHandles="1" noChangeArrowheads="1" noChangeShapeType="1" noTextEdit="1"/>
              </p:cNvSpPr>
              <p:nvPr/>
            </p:nvSpPr>
            <p:spPr>
              <a:xfrm>
                <a:off x="6521244" y="3128439"/>
                <a:ext cx="173894" cy="215444"/>
              </a:xfrm>
              <a:prstGeom prst="rect">
                <a:avLst/>
              </a:prstGeom>
              <a:blipFill>
                <a:blip r:embed="rId6"/>
                <a:stretch>
                  <a:fillRect l="-17857" r="-10714"/>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617C997F-9EB5-6E12-8F0B-0E163A1C5740}"/>
              </a:ext>
            </a:extLst>
          </p:cNvPr>
          <p:cNvSpPr/>
          <p:nvPr/>
        </p:nvSpPr>
        <p:spPr>
          <a:xfrm>
            <a:off x="1092449" y="3247875"/>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FBA6144-FDE5-DFFD-C7F9-CC73965E91D0}"/>
                  </a:ext>
                </a:extLst>
              </p:cNvPr>
              <p:cNvSpPr txBox="1"/>
              <p:nvPr/>
            </p:nvSpPr>
            <p:spPr>
              <a:xfrm>
                <a:off x="1140085" y="3263965"/>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3FBA6144-FDE5-DFFD-C7F9-CC73965E91D0}"/>
                  </a:ext>
                </a:extLst>
              </p:cNvPr>
              <p:cNvSpPr txBox="1">
                <a:spLocks noRot="1" noChangeAspect="1" noMove="1" noResize="1" noEditPoints="1" noAdjustHandles="1" noChangeArrowheads="1" noChangeShapeType="1" noTextEdit="1"/>
              </p:cNvSpPr>
              <p:nvPr/>
            </p:nvSpPr>
            <p:spPr>
              <a:xfrm>
                <a:off x="1140085" y="3263965"/>
                <a:ext cx="174727" cy="215444"/>
              </a:xfrm>
              <a:prstGeom prst="rect">
                <a:avLst/>
              </a:prstGeom>
              <a:blipFill>
                <a:blip r:embed="rId7"/>
                <a:stretch>
                  <a:fillRect l="-27586" r="-27586" b="-16667"/>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076DFAA6-5D22-6B37-B5EC-5DAAB43249F0}"/>
              </a:ext>
            </a:extLst>
          </p:cNvPr>
          <p:cNvCxnSpPr>
            <a:cxnSpLocks/>
          </p:cNvCxnSpPr>
          <p:nvPr/>
        </p:nvCxnSpPr>
        <p:spPr>
          <a:xfrm>
            <a:off x="6447877" y="3359390"/>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3F9760D-ACF5-E8EE-1070-BCB27F6A403F}"/>
              </a:ext>
            </a:extLst>
          </p:cNvPr>
          <p:cNvCxnSpPr>
            <a:cxnSpLocks/>
          </p:cNvCxnSpPr>
          <p:nvPr/>
        </p:nvCxnSpPr>
        <p:spPr>
          <a:xfrm>
            <a:off x="1227448" y="3817940"/>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4BD4382-1820-50B3-1002-F2C8A7EA2507}"/>
              </a:ext>
            </a:extLst>
          </p:cNvPr>
          <p:cNvCxnSpPr>
            <a:cxnSpLocks/>
          </p:cNvCxnSpPr>
          <p:nvPr/>
        </p:nvCxnSpPr>
        <p:spPr>
          <a:xfrm>
            <a:off x="1232591" y="3517876"/>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47C3DE0-D055-0232-6A6B-F4B63A342E4E}"/>
              </a:ext>
            </a:extLst>
          </p:cNvPr>
          <p:cNvCxnSpPr>
            <a:cxnSpLocks/>
          </p:cNvCxnSpPr>
          <p:nvPr/>
        </p:nvCxnSpPr>
        <p:spPr>
          <a:xfrm>
            <a:off x="628654" y="3368163"/>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68D87637-3BCD-2AA3-02E5-C9B551915F3F}"/>
                  </a:ext>
                </a:extLst>
              </p:cNvPr>
              <p:cNvSpPr/>
              <p:nvPr/>
            </p:nvSpPr>
            <p:spPr>
              <a:xfrm>
                <a:off x="4152041" y="3115750"/>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68D87637-3BCD-2AA3-02E5-C9B551915F3F}"/>
                  </a:ext>
                </a:extLst>
              </p:cNvPr>
              <p:cNvSpPr>
                <a:spLocks noRot="1" noChangeAspect="1" noMove="1" noResize="1" noEditPoints="1" noAdjustHandles="1" noChangeArrowheads="1" noChangeShapeType="1" noTextEdit="1"/>
              </p:cNvSpPr>
              <p:nvPr/>
            </p:nvSpPr>
            <p:spPr>
              <a:xfrm>
                <a:off x="4152041" y="3115750"/>
                <a:ext cx="679377" cy="479453"/>
              </a:xfrm>
              <a:prstGeom prst="roundRect">
                <a:avLst/>
              </a:prstGeom>
              <a:blipFill>
                <a:blip r:embed="rId8"/>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7B2CCF2D-CB7E-EFDE-8F99-5E6B3DE78782}"/>
              </a:ext>
            </a:extLst>
          </p:cNvPr>
          <p:cNvCxnSpPr>
            <a:cxnSpLocks/>
          </p:cNvCxnSpPr>
          <p:nvPr/>
        </p:nvCxnSpPr>
        <p:spPr>
          <a:xfrm>
            <a:off x="3720041" y="3359390"/>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B7DB970-92F5-7192-0080-2EE964994F36}"/>
              </a:ext>
            </a:extLst>
          </p:cNvPr>
          <p:cNvCxnSpPr>
            <a:cxnSpLocks/>
          </p:cNvCxnSpPr>
          <p:nvPr/>
        </p:nvCxnSpPr>
        <p:spPr>
          <a:xfrm>
            <a:off x="4831418" y="334900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2A09B107-B59F-2137-D081-F95383071461}"/>
              </a:ext>
            </a:extLst>
          </p:cNvPr>
          <p:cNvCxnSpPr>
            <a:cxnSpLocks/>
          </p:cNvCxnSpPr>
          <p:nvPr/>
        </p:nvCxnSpPr>
        <p:spPr>
          <a:xfrm>
            <a:off x="1366073" y="3375970"/>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1C019DBA-AA59-13B1-21FD-A0049DB2AE99}"/>
              </a:ext>
            </a:extLst>
          </p:cNvPr>
          <p:cNvSpPr txBox="1"/>
          <p:nvPr/>
        </p:nvSpPr>
        <p:spPr>
          <a:xfrm>
            <a:off x="906780" y="1303230"/>
            <a:ext cx="10970278" cy="1016881"/>
          </a:xfrm>
          <a:prstGeom prst="rect">
            <a:avLst/>
          </a:prstGeom>
          <a:noFill/>
        </p:spPr>
        <p:txBody>
          <a:bodyPr wrap="square" lIns="0" tIns="0" rIns="0" bIns="0" anchor="t">
            <a:spAutoFit/>
          </a:bodyPr>
          <a:lstStyle/>
          <a:p>
            <a:pPr>
              <a:lnSpc>
                <a:spcPct val="120000"/>
              </a:lnSpc>
            </a:pPr>
            <a:r>
              <a:rPr lang="en-US" sz="1400" noProof="1">
                <a:solidFill>
                  <a:srgbClr val="1D3557"/>
                </a:solidFill>
              </a:rPr>
              <a:t>To achieve better performance, we can improve the controller</a:t>
            </a:r>
            <a:r>
              <a:rPr lang="en-US" sz="1400" b="1" noProof="1">
                <a:solidFill>
                  <a:srgbClr val="1D3557"/>
                </a:solidFill>
              </a:rPr>
              <a:t> by understanding the dynamics of the system. This </a:t>
            </a:r>
            <a:r>
              <a:rPr lang="en-US" sz="1400" noProof="1">
                <a:solidFill>
                  <a:srgbClr val="1D3557"/>
                </a:solidFill>
              </a:rPr>
              <a:t>allows us to incorporate feedforward control. Specifically, a </a:t>
            </a:r>
            <a:r>
              <a:rPr lang="en-US" sz="1400" i="1" u="sng" noProof="1">
                <a:solidFill>
                  <a:srgbClr val="1D3557"/>
                </a:solidFill>
              </a:rPr>
              <a:t>disturbance feedforward term </a:t>
            </a:r>
            <a:r>
              <a:rPr lang="en-US" sz="1400" noProof="1">
                <a:solidFill>
                  <a:srgbClr val="1D3557"/>
                </a:solidFill>
              </a:rPr>
              <a:t>compensates for the gravitational effects, while a </a:t>
            </a:r>
            <a:r>
              <a:rPr lang="en-US" sz="1400" i="1" u="sng" noProof="1">
                <a:solidFill>
                  <a:srgbClr val="1D3557"/>
                </a:solidFill>
              </a:rPr>
              <a:t>reference feedforward term</a:t>
            </a:r>
            <a:r>
              <a:rPr lang="en-US" sz="1400" noProof="1">
                <a:solidFill>
                  <a:srgbClr val="1D3557"/>
                </a:solidFill>
              </a:rPr>
              <a:t> generates the required control input to drive the system toward the desired target. Unlike a PI controller, which reacts only after an error occurs, the reference feedforward term acts proactively, enabling faster and more accurate tracking when no disturbances are present.</a:t>
            </a:r>
          </a:p>
        </p:txBody>
      </p:sp>
      <p:sp>
        <p:nvSpPr>
          <p:cNvPr id="6" name="Rounded Rectangle 6">
            <a:extLst>
              <a:ext uri="{FF2B5EF4-FFF2-40B4-BE49-F238E27FC236}">
                <a16:creationId xmlns:a16="http://schemas.microsoft.com/office/drawing/2014/main" id="{6D2EFC15-61DE-AB0B-A96F-15F4085ED17D}"/>
              </a:ext>
            </a:extLst>
          </p:cNvPr>
          <p:cNvSpPr/>
          <p:nvPr/>
        </p:nvSpPr>
        <p:spPr>
          <a:xfrm>
            <a:off x="1636073"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Reference feedforward</a:t>
            </a:r>
          </a:p>
        </p:txBody>
      </p:sp>
      <p:sp>
        <p:nvSpPr>
          <p:cNvPr id="8" name="Rounded Rectangle 6">
            <a:extLst>
              <a:ext uri="{FF2B5EF4-FFF2-40B4-BE49-F238E27FC236}">
                <a16:creationId xmlns:a16="http://schemas.microsoft.com/office/drawing/2014/main" id="{FDDA7170-7090-84CD-35F5-8F8F99BAEBC3}"/>
              </a:ext>
            </a:extLst>
          </p:cNvPr>
          <p:cNvSpPr/>
          <p:nvPr/>
        </p:nvSpPr>
        <p:spPr>
          <a:xfrm>
            <a:off x="3981138"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Disturbance feedforward</a:t>
            </a:r>
          </a:p>
        </p:txBody>
      </p:sp>
      <mc:AlternateContent xmlns:mc="http://schemas.openxmlformats.org/markup-compatibility/2006" xmlns:a14="http://schemas.microsoft.com/office/drawing/2010/main">
        <mc:Choice Requires="a14">
          <p:sp>
            <p:nvSpPr>
              <p:cNvPr id="10" name="Rounded Rectangle 6">
                <a:extLst>
                  <a:ext uri="{FF2B5EF4-FFF2-40B4-BE49-F238E27FC236}">
                    <a16:creationId xmlns:a16="http://schemas.microsoft.com/office/drawing/2014/main" id="{F45CF711-6B5D-2E47-3F2F-C4B2061DAE25}"/>
                  </a:ext>
                </a:extLst>
              </p:cNvPr>
              <p:cNvSpPr/>
              <p:nvPr/>
            </p:nvSpPr>
            <p:spPr>
              <a:xfrm>
                <a:off x="5408036" y="2444557"/>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10" name="Rounded Rectangle 6">
                <a:extLst>
                  <a:ext uri="{FF2B5EF4-FFF2-40B4-BE49-F238E27FC236}">
                    <a16:creationId xmlns:a16="http://schemas.microsoft.com/office/drawing/2014/main" id="{F45CF711-6B5D-2E47-3F2F-C4B2061DAE25}"/>
                  </a:ext>
                </a:extLst>
              </p:cNvPr>
              <p:cNvSpPr>
                <a:spLocks noRot="1" noChangeAspect="1" noMove="1" noResize="1" noEditPoints="1" noAdjustHandles="1" noChangeArrowheads="1" noChangeShapeType="1" noTextEdit="1"/>
              </p:cNvSpPr>
              <p:nvPr/>
            </p:nvSpPr>
            <p:spPr>
              <a:xfrm>
                <a:off x="5408036" y="2444557"/>
                <a:ext cx="562361" cy="479453"/>
              </a:xfrm>
              <a:prstGeom prst="roundRect">
                <a:avLst/>
              </a:prstGeom>
              <a:blipFill>
                <a:blip r:embed="rId9"/>
                <a:stretch>
                  <a:fillRect l="-92632" t="-152439" r="-92632" b="-209756"/>
                </a:stretch>
              </a:blipFill>
              <a:ln w="15875">
                <a:solidFill>
                  <a:srgbClr val="E07A5F"/>
                </a:solidFill>
              </a:ln>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DDBF4178-5DFD-25F2-D7A1-2C02A594990E}"/>
              </a:ext>
            </a:extLst>
          </p:cNvPr>
          <p:cNvCxnSpPr>
            <a:cxnSpLocks/>
          </p:cNvCxnSpPr>
          <p:nvPr/>
        </p:nvCxnSpPr>
        <p:spPr>
          <a:xfrm flipH="1">
            <a:off x="1227448" y="2677141"/>
            <a:ext cx="408625" cy="0"/>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33A73E6-26B8-638A-AD21-CCCB55CBAADF}"/>
              </a:ext>
            </a:extLst>
          </p:cNvPr>
          <p:cNvCxnSpPr>
            <a:cxnSpLocks/>
          </p:cNvCxnSpPr>
          <p:nvPr/>
        </p:nvCxnSpPr>
        <p:spPr>
          <a:xfrm flipH="1">
            <a:off x="2753568" y="2684283"/>
            <a:ext cx="546272" cy="5455"/>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C3F36CD-9E40-5D8C-27A0-A3EAF5A49B45}"/>
              </a:ext>
            </a:extLst>
          </p:cNvPr>
          <p:cNvCxnSpPr>
            <a:cxnSpLocks/>
            <a:endCxn id="13" idx="1"/>
          </p:cNvCxnSpPr>
          <p:nvPr/>
        </p:nvCxnSpPr>
        <p:spPr>
          <a:xfrm>
            <a:off x="3287345" y="2671556"/>
            <a:ext cx="202237" cy="601148"/>
          </a:xfrm>
          <a:prstGeom prst="straightConnector1">
            <a:avLst/>
          </a:prstGeom>
          <a:ln>
            <a:solidFill>
              <a:srgbClr val="E07A5F"/>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2AA4CF1-7918-4CA5-D0ED-536E28CB710C}"/>
              </a:ext>
            </a:extLst>
          </p:cNvPr>
          <p:cNvCxnSpPr>
            <a:cxnSpLocks/>
          </p:cNvCxnSpPr>
          <p:nvPr/>
        </p:nvCxnSpPr>
        <p:spPr>
          <a:xfrm flipH="1">
            <a:off x="5969751" y="2677011"/>
            <a:ext cx="478126"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F1B5EA4-7047-E2C0-D890-3255247E2B2E}"/>
              </a:ext>
            </a:extLst>
          </p:cNvPr>
          <p:cNvCxnSpPr>
            <a:cxnSpLocks/>
            <a:stCxn id="10" idx="1"/>
            <a:endCxn id="8" idx="3"/>
          </p:cNvCxnSpPr>
          <p:nvPr/>
        </p:nvCxnSpPr>
        <p:spPr>
          <a:xfrm flipH="1">
            <a:off x="5085964" y="2684284"/>
            <a:ext cx="3220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4682A6F4-E1EF-3EA3-BDE3-78C6B18E1A03}"/>
              </a:ext>
            </a:extLst>
          </p:cNvPr>
          <p:cNvCxnSpPr>
            <a:cxnSpLocks/>
            <a:endCxn id="13" idx="7"/>
          </p:cNvCxnSpPr>
          <p:nvPr/>
        </p:nvCxnSpPr>
        <p:spPr>
          <a:xfrm flipH="1">
            <a:off x="3680500" y="2684284"/>
            <a:ext cx="184391" cy="5884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1F6C1B0-9E1D-93FC-89D2-309952CA2B84}"/>
              </a:ext>
            </a:extLst>
          </p:cNvPr>
          <p:cNvCxnSpPr>
            <a:cxnSpLocks/>
            <a:stCxn id="8" idx="1"/>
          </p:cNvCxnSpPr>
          <p:nvPr/>
        </p:nvCxnSpPr>
        <p:spPr>
          <a:xfrm flipH="1">
            <a:off x="3858394" y="2684284"/>
            <a:ext cx="122744"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2BBA71BE-28A7-C4D9-4CB4-6D1D42883338}"/>
              </a:ext>
            </a:extLst>
          </p:cNvPr>
          <p:cNvSpPr txBox="1"/>
          <p:nvPr/>
        </p:nvSpPr>
        <p:spPr>
          <a:xfrm>
            <a:off x="919574" y="3956195"/>
            <a:ext cx="3390665" cy="241285"/>
          </a:xfrm>
          <a:prstGeom prst="rect">
            <a:avLst/>
          </a:prstGeom>
          <a:noFill/>
        </p:spPr>
        <p:txBody>
          <a:bodyPr wrap="square" lIns="0" tIns="0" rIns="0" bIns="0" anchor="t">
            <a:spAutoFit/>
          </a:bodyPr>
          <a:lstStyle/>
          <a:p>
            <a:pPr>
              <a:lnSpc>
                <a:spcPct val="120000"/>
              </a:lnSpc>
            </a:pPr>
            <a:r>
              <a:rPr lang="en-US" sz="1400" i="1" noProof="1">
                <a:solidFill>
                  <a:srgbClr val="1D3557"/>
                </a:solidFill>
              </a:rPr>
              <a:t>Feedforward Controller Design</a:t>
            </a:r>
          </a:p>
        </p:txBody>
      </p:sp>
      <p:sp>
        <p:nvSpPr>
          <p:cNvPr id="104" name="TextBox 103">
            <a:extLst>
              <a:ext uri="{FF2B5EF4-FFF2-40B4-BE49-F238E27FC236}">
                <a16:creationId xmlns:a16="http://schemas.microsoft.com/office/drawing/2014/main" id="{386A14F3-FCAC-7F79-E047-E89A9D796831}"/>
              </a:ext>
            </a:extLst>
          </p:cNvPr>
          <p:cNvSpPr txBox="1"/>
          <p:nvPr/>
        </p:nvSpPr>
        <p:spPr>
          <a:xfrm>
            <a:off x="836237" y="4395748"/>
            <a:ext cx="3390665"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From</a:t>
            </a:r>
          </a:p>
        </p:txBody>
      </p:sp>
      <p:graphicFrame>
        <p:nvGraphicFramePr>
          <p:cNvPr id="105" name="Object 104">
            <a:extLst>
              <a:ext uri="{FF2B5EF4-FFF2-40B4-BE49-F238E27FC236}">
                <a16:creationId xmlns:a16="http://schemas.microsoft.com/office/drawing/2014/main" id="{DDDB3BA4-9887-64B5-1556-F407EDC0F55E}"/>
              </a:ext>
            </a:extLst>
          </p:cNvPr>
          <p:cNvGraphicFramePr>
            <a:graphicFrameLocks noChangeAspect="1"/>
          </p:cNvGraphicFramePr>
          <p:nvPr/>
        </p:nvGraphicFramePr>
        <p:xfrm>
          <a:off x="1346913" y="4230641"/>
          <a:ext cx="1727200" cy="571500"/>
        </p:xfrm>
        <a:graphic>
          <a:graphicData uri="http://schemas.openxmlformats.org/presentationml/2006/ole">
            <mc:AlternateContent xmlns:mc="http://schemas.openxmlformats.org/markup-compatibility/2006">
              <mc:Choice xmlns:v="urn:schemas-microsoft-com:vml" Requires="v">
                <p:oleObj name="Equation" r:id="rId10" imgW="1726920" imgH="571320" progId="Equation.DSMT4">
                  <p:embed/>
                </p:oleObj>
              </mc:Choice>
              <mc:Fallback>
                <p:oleObj name="Equation" r:id="rId10" imgW="1726920" imgH="571320" progId="Equation.DSMT4">
                  <p:embed/>
                  <p:pic>
                    <p:nvPicPr>
                      <p:cNvPr id="105" name="Object 104">
                        <a:extLst>
                          <a:ext uri="{FF2B5EF4-FFF2-40B4-BE49-F238E27FC236}">
                            <a16:creationId xmlns:a16="http://schemas.microsoft.com/office/drawing/2014/main" id="{D5B1324B-E78F-1C8C-E9FF-16C09D49E7BC}"/>
                          </a:ext>
                        </a:extLst>
                      </p:cNvPr>
                      <p:cNvPicPr/>
                      <p:nvPr/>
                    </p:nvPicPr>
                    <p:blipFill>
                      <a:blip r:embed="rId11"/>
                      <a:stretch>
                        <a:fillRect/>
                      </a:stretch>
                    </p:blipFill>
                    <p:spPr>
                      <a:xfrm>
                        <a:off x="1346913" y="4230641"/>
                        <a:ext cx="1727200" cy="571500"/>
                      </a:xfrm>
                      <a:prstGeom prst="rect">
                        <a:avLst/>
                      </a:prstGeom>
                    </p:spPr>
                  </p:pic>
                </p:oleObj>
              </mc:Fallback>
            </mc:AlternateContent>
          </a:graphicData>
        </a:graphic>
      </p:graphicFrame>
      <p:graphicFrame>
        <p:nvGraphicFramePr>
          <p:cNvPr id="106" name="Object 105">
            <a:extLst>
              <a:ext uri="{FF2B5EF4-FFF2-40B4-BE49-F238E27FC236}">
                <a16:creationId xmlns:a16="http://schemas.microsoft.com/office/drawing/2014/main" id="{08701429-42CC-A691-1C80-77AD76608276}"/>
              </a:ext>
            </a:extLst>
          </p:cNvPr>
          <p:cNvGraphicFramePr>
            <a:graphicFrameLocks noChangeAspect="1"/>
          </p:cNvGraphicFramePr>
          <p:nvPr/>
        </p:nvGraphicFramePr>
        <p:xfrm>
          <a:off x="3518651" y="4230810"/>
          <a:ext cx="2451100" cy="571500"/>
        </p:xfrm>
        <a:graphic>
          <a:graphicData uri="http://schemas.openxmlformats.org/presentationml/2006/ole">
            <mc:AlternateContent xmlns:mc="http://schemas.openxmlformats.org/markup-compatibility/2006">
              <mc:Choice xmlns:v="urn:schemas-microsoft-com:vml" Requires="v">
                <p:oleObj name="Equation" r:id="rId12" imgW="2450880" imgH="571320" progId="Equation.DSMT4">
                  <p:embed/>
                </p:oleObj>
              </mc:Choice>
              <mc:Fallback>
                <p:oleObj name="Equation" r:id="rId12" imgW="2450880" imgH="571320" progId="Equation.DSMT4">
                  <p:embed/>
                  <p:pic>
                    <p:nvPicPr>
                      <p:cNvPr id="106" name="Object 105">
                        <a:extLst>
                          <a:ext uri="{FF2B5EF4-FFF2-40B4-BE49-F238E27FC236}">
                            <a16:creationId xmlns:a16="http://schemas.microsoft.com/office/drawing/2014/main" id="{C905C9AD-FC3B-97D3-D73B-F4D1CE538B90}"/>
                          </a:ext>
                        </a:extLst>
                      </p:cNvPr>
                      <p:cNvPicPr/>
                      <p:nvPr/>
                    </p:nvPicPr>
                    <p:blipFill>
                      <a:blip r:embed="rId13"/>
                      <a:stretch>
                        <a:fillRect/>
                      </a:stretch>
                    </p:blipFill>
                    <p:spPr>
                      <a:xfrm>
                        <a:off x="3518651" y="4230810"/>
                        <a:ext cx="2451100" cy="571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E8AB334-ABAC-3FD0-C7FE-61A8267FDBC5}"/>
                  </a:ext>
                </a:extLst>
              </p:cNvPr>
              <p:cNvSpPr txBox="1"/>
              <p:nvPr/>
            </p:nvSpPr>
            <p:spPr>
              <a:xfrm>
                <a:off x="799846" y="3069507"/>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08" name="TextBox 107">
                <a:extLst>
                  <a:ext uri="{FF2B5EF4-FFF2-40B4-BE49-F238E27FC236}">
                    <a16:creationId xmlns:a16="http://schemas.microsoft.com/office/drawing/2014/main" id="{0E8AB334-ABAC-3FD0-C7FE-61A8267FDBC5}"/>
                  </a:ext>
                </a:extLst>
              </p:cNvPr>
              <p:cNvSpPr txBox="1">
                <a:spLocks noRot="1" noChangeAspect="1" noMove="1" noResize="1" noEditPoints="1" noAdjustHandles="1" noChangeArrowheads="1" noChangeShapeType="1" noTextEdit="1"/>
              </p:cNvSpPr>
              <p:nvPr/>
            </p:nvSpPr>
            <p:spPr>
              <a:xfrm>
                <a:off x="799846" y="3069507"/>
                <a:ext cx="243848" cy="215444"/>
              </a:xfrm>
              <a:prstGeom prst="rect">
                <a:avLst/>
              </a:prstGeom>
              <a:blipFill>
                <a:blip r:embed="rId14"/>
                <a:stretch>
                  <a:fillRect l="-10000" r="-2500"/>
                </a:stretch>
              </a:blipFill>
            </p:spPr>
            <p:txBody>
              <a:bodyPr/>
              <a:lstStyle/>
              <a:p>
                <a:r>
                  <a:rPr lang="th-TH">
                    <a:noFill/>
                  </a:rPr>
                  <a:t> </a:t>
                </a:r>
              </a:p>
            </p:txBody>
          </p:sp>
        </mc:Fallback>
      </mc:AlternateContent>
      <p:sp>
        <p:nvSpPr>
          <p:cNvPr id="109" name="TextBox 108">
            <a:extLst>
              <a:ext uri="{FF2B5EF4-FFF2-40B4-BE49-F238E27FC236}">
                <a16:creationId xmlns:a16="http://schemas.microsoft.com/office/drawing/2014/main" id="{EED01BDE-BEDD-226A-43EC-1AFE9AEB0F7B}"/>
              </a:ext>
            </a:extLst>
          </p:cNvPr>
          <p:cNvSpPr txBox="1"/>
          <p:nvPr/>
        </p:nvSpPr>
        <p:spPr>
          <a:xfrm>
            <a:off x="3162581" y="4395748"/>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sp>
        <p:nvSpPr>
          <p:cNvPr id="113" name="TextBox 112">
            <a:extLst>
              <a:ext uri="{FF2B5EF4-FFF2-40B4-BE49-F238E27FC236}">
                <a16:creationId xmlns:a16="http://schemas.microsoft.com/office/drawing/2014/main" id="{6CC1F7C7-8F06-4161-7FAE-1E88623327E1}"/>
              </a:ext>
            </a:extLst>
          </p:cNvPr>
          <p:cNvSpPr txBox="1"/>
          <p:nvPr/>
        </p:nvSpPr>
        <p:spPr>
          <a:xfrm>
            <a:off x="836238" y="481430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Consider the steady-state condition where all derivatives vanish</a:t>
            </a:r>
          </a:p>
        </p:txBody>
      </p:sp>
      <p:graphicFrame>
        <p:nvGraphicFramePr>
          <p:cNvPr id="116" name="Object 115">
            <a:extLst>
              <a:ext uri="{FF2B5EF4-FFF2-40B4-BE49-F238E27FC236}">
                <a16:creationId xmlns:a16="http://schemas.microsoft.com/office/drawing/2014/main" id="{47172786-78D9-D259-4CD5-08F9D4F47FE3}"/>
              </a:ext>
            </a:extLst>
          </p:cNvPr>
          <p:cNvGraphicFramePr>
            <a:graphicFrameLocks noChangeAspect="1"/>
          </p:cNvGraphicFramePr>
          <p:nvPr/>
        </p:nvGraphicFramePr>
        <p:xfrm>
          <a:off x="836238" y="5145609"/>
          <a:ext cx="1206500" cy="292100"/>
        </p:xfrm>
        <a:graphic>
          <a:graphicData uri="http://schemas.openxmlformats.org/presentationml/2006/ole">
            <mc:AlternateContent xmlns:mc="http://schemas.openxmlformats.org/markup-compatibility/2006">
              <mc:Choice xmlns:v="urn:schemas-microsoft-com:vml" Requires="v">
                <p:oleObj name="Equation" r:id="rId15" imgW="1206360" imgH="291960" progId="Equation.DSMT4">
                  <p:embed/>
                </p:oleObj>
              </mc:Choice>
              <mc:Fallback>
                <p:oleObj name="Equation" r:id="rId15" imgW="1206360" imgH="291960" progId="Equation.DSMT4">
                  <p:embed/>
                  <p:pic>
                    <p:nvPicPr>
                      <p:cNvPr id="116" name="Object 115">
                        <a:extLst>
                          <a:ext uri="{FF2B5EF4-FFF2-40B4-BE49-F238E27FC236}">
                            <a16:creationId xmlns:a16="http://schemas.microsoft.com/office/drawing/2014/main" id="{31E675F1-2AD8-008D-ADC6-1B73C1993BEA}"/>
                          </a:ext>
                        </a:extLst>
                      </p:cNvPr>
                      <p:cNvPicPr/>
                      <p:nvPr/>
                    </p:nvPicPr>
                    <p:blipFill>
                      <a:blip r:embed="rId16"/>
                      <a:stretch>
                        <a:fillRect/>
                      </a:stretch>
                    </p:blipFill>
                    <p:spPr>
                      <a:xfrm>
                        <a:off x="836238" y="5145609"/>
                        <a:ext cx="1206500" cy="292100"/>
                      </a:xfrm>
                      <a:prstGeom prst="rect">
                        <a:avLst/>
                      </a:prstGeom>
                    </p:spPr>
                  </p:pic>
                </p:oleObj>
              </mc:Fallback>
            </mc:AlternateContent>
          </a:graphicData>
        </a:graphic>
      </p:graphicFrame>
      <p:sp>
        <p:nvSpPr>
          <p:cNvPr id="117" name="TextBox 116">
            <a:extLst>
              <a:ext uri="{FF2B5EF4-FFF2-40B4-BE49-F238E27FC236}">
                <a16:creationId xmlns:a16="http://schemas.microsoft.com/office/drawing/2014/main" id="{08573DA6-CF12-C7D1-D230-0228419D46E6}"/>
              </a:ext>
            </a:extLst>
          </p:cNvPr>
          <p:cNvSpPr txBox="1"/>
          <p:nvPr/>
        </p:nvSpPr>
        <p:spPr>
          <a:xfrm>
            <a:off x="2210513" y="5158497"/>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graphicFrame>
        <p:nvGraphicFramePr>
          <p:cNvPr id="119" name="Object 118">
            <a:extLst>
              <a:ext uri="{FF2B5EF4-FFF2-40B4-BE49-F238E27FC236}">
                <a16:creationId xmlns:a16="http://schemas.microsoft.com/office/drawing/2014/main" id="{744D6172-D611-7535-BE3C-E1FEF95F6FC2}"/>
              </a:ext>
            </a:extLst>
          </p:cNvPr>
          <p:cNvGraphicFramePr>
            <a:graphicFrameLocks noChangeAspect="1"/>
          </p:cNvGraphicFramePr>
          <p:nvPr/>
        </p:nvGraphicFramePr>
        <p:xfrm>
          <a:off x="2670774" y="5145609"/>
          <a:ext cx="2070100" cy="292100"/>
        </p:xfrm>
        <a:graphic>
          <a:graphicData uri="http://schemas.openxmlformats.org/presentationml/2006/ole">
            <mc:AlternateContent xmlns:mc="http://schemas.openxmlformats.org/markup-compatibility/2006">
              <mc:Choice xmlns:v="urn:schemas-microsoft-com:vml" Requires="v">
                <p:oleObj name="Equation" r:id="rId17" imgW="2070000" imgH="291960" progId="Equation.DSMT4">
                  <p:embed/>
                </p:oleObj>
              </mc:Choice>
              <mc:Fallback>
                <p:oleObj name="Equation" r:id="rId17" imgW="2070000" imgH="291960" progId="Equation.DSMT4">
                  <p:embed/>
                  <p:pic>
                    <p:nvPicPr>
                      <p:cNvPr id="119" name="Object 118">
                        <a:extLst>
                          <a:ext uri="{FF2B5EF4-FFF2-40B4-BE49-F238E27FC236}">
                            <a16:creationId xmlns:a16="http://schemas.microsoft.com/office/drawing/2014/main" id="{9C87C0BB-6AE5-72E6-A4DC-586144F9DBDC}"/>
                          </a:ext>
                        </a:extLst>
                      </p:cNvPr>
                      <p:cNvPicPr/>
                      <p:nvPr/>
                    </p:nvPicPr>
                    <p:blipFill>
                      <a:blip r:embed="rId18"/>
                      <a:stretch>
                        <a:fillRect/>
                      </a:stretch>
                    </p:blipFill>
                    <p:spPr>
                      <a:xfrm>
                        <a:off x="2670774" y="5145609"/>
                        <a:ext cx="2070100" cy="292100"/>
                      </a:xfrm>
                      <a:prstGeom prst="rect">
                        <a:avLst/>
                      </a:prstGeom>
                    </p:spPr>
                  </p:pic>
                </p:oleObj>
              </mc:Fallback>
            </mc:AlternateContent>
          </a:graphicData>
        </a:graphic>
      </p:graphicFrame>
      <p:sp>
        <p:nvSpPr>
          <p:cNvPr id="120" name="TextBox 119">
            <a:extLst>
              <a:ext uri="{FF2B5EF4-FFF2-40B4-BE49-F238E27FC236}">
                <a16:creationId xmlns:a16="http://schemas.microsoft.com/office/drawing/2014/main" id="{DE2753F4-B2B7-1ADA-4714-319B0BF0F4D4}"/>
              </a:ext>
            </a:extLst>
          </p:cNvPr>
          <p:cNvSpPr txBox="1"/>
          <p:nvPr/>
        </p:nvSpPr>
        <p:spPr>
          <a:xfrm>
            <a:off x="836238" y="553957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Solve this we will get the feedforward that can be written as</a:t>
            </a:r>
          </a:p>
        </p:txBody>
      </p:sp>
      <p:graphicFrame>
        <p:nvGraphicFramePr>
          <p:cNvPr id="121" name="Object 120">
            <a:extLst>
              <a:ext uri="{FF2B5EF4-FFF2-40B4-BE49-F238E27FC236}">
                <a16:creationId xmlns:a16="http://schemas.microsoft.com/office/drawing/2014/main" id="{78ACFB92-E909-1634-BFED-EA21B739CC88}"/>
              </a:ext>
            </a:extLst>
          </p:cNvPr>
          <p:cNvGraphicFramePr>
            <a:graphicFrameLocks noChangeAspect="1"/>
          </p:cNvGraphicFramePr>
          <p:nvPr/>
        </p:nvGraphicFramePr>
        <p:xfrm>
          <a:off x="867526" y="5882726"/>
          <a:ext cx="2489200" cy="647700"/>
        </p:xfrm>
        <a:graphic>
          <a:graphicData uri="http://schemas.openxmlformats.org/presentationml/2006/ole">
            <mc:AlternateContent xmlns:mc="http://schemas.openxmlformats.org/markup-compatibility/2006">
              <mc:Choice xmlns:v="urn:schemas-microsoft-com:vml" Requires="v">
                <p:oleObj name="Equation" r:id="rId19" imgW="2489040" imgH="647640" progId="Equation.DSMT4">
                  <p:embed/>
                </p:oleObj>
              </mc:Choice>
              <mc:Fallback>
                <p:oleObj name="Equation" r:id="rId19" imgW="2489040" imgH="647640" progId="Equation.DSMT4">
                  <p:embed/>
                  <p:pic>
                    <p:nvPicPr>
                      <p:cNvPr id="121" name="Object 120">
                        <a:extLst>
                          <a:ext uri="{FF2B5EF4-FFF2-40B4-BE49-F238E27FC236}">
                            <a16:creationId xmlns:a16="http://schemas.microsoft.com/office/drawing/2014/main" id="{A18146DE-38B6-92EF-ABE0-5C8BF6F87813}"/>
                          </a:ext>
                        </a:extLst>
                      </p:cNvPr>
                      <p:cNvPicPr/>
                      <p:nvPr/>
                    </p:nvPicPr>
                    <p:blipFill>
                      <a:blip r:embed="rId20"/>
                      <a:stretch>
                        <a:fillRect/>
                      </a:stretch>
                    </p:blipFill>
                    <p:spPr>
                      <a:xfrm>
                        <a:off x="867526" y="5882726"/>
                        <a:ext cx="2489200" cy="647700"/>
                      </a:xfrm>
                      <a:prstGeom prst="rect">
                        <a:avLst/>
                      </a:prstGeom>
                    </p:spPr>
                  </p:pic>
                </p:oleObj>
              </mc:Fallback>
            </mc:AlternateContent>
          </a:graphicData>
        </a:graphic>
      </p:graphicFrame>
      <p:sp>
        <p:nvSpPr>
          <p:cNvPr id="124" name="Rectangle 123">
            <a:extLst>
              <a:ext uri="{FF2B5EF4-FFF2-40B4-BE49-F238E27FC236}">
                <a16:creationId xmlns:a16="http://schemas.microsoft.com/office/drawing/2014/main" id="{8DE82273-3D8C-38AB-FD4E-1EA1056FCFA9}"/>
              </a:ext>
            </a:extLst>
          </p:cNvPr>
          <p:cNvSpPr/>
          <p:nvPr/>
        </p:nvSpPr>
        <p:spPr>
          <a:xfrm rot="16200000" flipH="1">
            <a:off x="1621275" y="6082870"/>
            <a:ext cx="45719" cy="9408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5" name="Rectangle 124">
            <a:extLst>
              <a:ext uri="{FF2B5EF4-FFF2-40B4-BE49-F238E27FC236}">
                <a16:creationId xmlns:a16="http://schemas.microsoft.com/office/drawing/2014/main" id="{C16D15F0-9C73-C2BC-2806-218B53A585F3}"/>
              </a:ext>
            </a:extLst>
          </p:cNvPr>
          <p:cNvSpPr/>
          <p:nvPr/>
        </p:nvSpPr>
        <p:spPr>
          <a:xfrm rot="16200000" flipH="1">
            <a:off x="2757342" y="6033647"/>
            <a:ext cx="45719" cy="1039277"/>
          </a:xfrm>
          <a:prstGeom prst="rect">
            <a:avLst/>
          </a:prstGeom>
          <a:solidFill>
            <a:srgbClr val="28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6" name="TextBox 125">
            <a:extLst>
              <a:ext uri="{FF2B5EF4-FFF2-40B4-BE49-F238E27FC236}">
                <a16:creationId xmlns:a16="http://schemas.microsoft.com/office/drawing/2014/main" id="{42CB06D3-62AF-9CF4-5C8B-506550EDDA1A}"/>
              </a:ext>
            </a:extLst>
          </p:cNvPr>
          <p:cNvSpPr txBox="1"/>
          <p:nvPr/>
        </p:nvSpPr>
        <p:spPr>
          <a:xfrm>
            <a:off x="1292096" y="6584782"/>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Disturbance ffw</a:t>
            </a:r>
          </a:p>
        </p:txBody>
      </p:sp>
      <p:sp>
        <p:nvSpPr>
          <p:cNvPr id="127" name="TextBox 126">
            <a:extLst>
              <a:ext uri="{FF2B5EF4-FFF2-40B4-BE49-F238E27FC236}">
                <a16:creationId xmlns:a16="http://schemas.microsoft.com/office/drawing/2014/main" id="{29B68DFD-139B-9C3A-A86D-A4EB7AFD320F}"/>
              </a:ext>
            </a:extLst>
          </p:cNvPr>
          <p:cNvSpPr txBox="1"/>
          <p:nvPr/>
        </p:nvSpPr>
        <p:spPr>
          <a:xfrm>
            <a:off x="2454422" y="6585957"/>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Reffernce ffw</a:t>
            </a:r>
          </a:p>
        </p:txBody>
      </p:sp>
      <p:pic>
        <p:nvPicPr>
          <p:cNvPr id="5" name="Picture 4">
            <a:extLst>
              <a:ext uri="{FF2B5EF4-FFF2-40B4-BE49-F238E27FC236}">
                <a16:creationId xmlns:a16="http://schemas.microsoft.com/office/drawing/2014/main" id="{0834DAD1-E7FA-7D83-FC11-45A8F1BCCB46}"/>
              </a:ext>
            </a:extLst>
          </p:cNvPr>
          <p:cNvPicPr>
            <a:picLocks noChangeAspect="1"/>
          </p:cNvPicPr>
          <p:nvPr/>
        </p:nvPicPr>
        <p:blipFill>
          <a:blip r:embed="rId21"/>
          <a:stretch>
            <a:fillRect/>
          </a:stretch>
        </p:blipFill>
        <p:spPr>
          <a:xfrm>
            <a:off x="7445927" y="2401885"/>
            <a:ext cx="4377698" cy="2136005"/>
          </a:xfrm>
          <a:prstGeom prst="rect">
            <a:avLst/>
          </a:prstGeom>
        </p:spPr>
      </p:pic>
      <p:pic>
        <p:nvPicPr>
          <p:cNvPr id="27" name="Picture 26">
            <a:extLst>
              <a:ext uri="{FF2B5EF4-FFF2-40B4-BE49-F238E27FC236}">
                <a16:creationId xmlns:a16="http://schemas.microsoft.com/office/drawing/2014/main" id="{FBA16097-1B46-5268-0009-BAA98117AAD4}"/>
              </a:ext>
            </a:extLst>
          </p:cNvPr>
          <p:cNvPicPr>
            <a:picLocks noChangeAspect="1"/>
          </p:cNvPicPr>
          <p:nvPr/>
        </p:nvPicPr>
        <p:blipFill>
          <a:blip r:embed="rId22"/>
          <a:stretch>
            <a:fillRect/>
          </a:stretch>
        </p:blipFill>
        <p:spPr>
          <a:xfrm>
            <a:off x="7423288" y="4586896"/>
            <a:ext cx="4380327" cy="2154168"/>
          </a:xfrm>
          <a:prstGeom prst="rect">
            <a:avLst/>
          </a:prstGeom>
        </p:spPr>
      </p:pic>
      <p:sp>
        <p:nvSpPr>
          <p:cNvPr id="28" name="TextBox 27">
            <a:extLst>
              <a:ext uri="{FF2B5EF4-FFF2-40B4-BE49-F238E27FC236}">
                <a16:creationId xmlns:a16="http://schemas.microsoft.com/office/drawing/2014/main" id="{2E92CE9A-1A90-BC76-939B-36D68574224C}"/>
              </a:ext>
            </a:extLst>
          </p:cNvPr>
          <p:cNvSpPr txBox="1"/>
          <p:nvPr/>
        </p:nvSpPr>
        <p:spPr>
          <a:xfrm>
            <a:off x="9085281" y="3876222"/>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0.318</a:t>
            </a:r>
          </a:p>
        </p:txBody>
      </p:sp>
      <p:sp>
        <p:nvSpPr>
          <p:cNvPr id="29" name="TextBox 28">
            <a:extLst>
              <a:ext uri="{FF2B5EF4-FFF2-40B4-BE49-F238E27FC236}">
                <a16:creationId xmlns:a16="http://schemas.microsoft.com/office/drawing/2014/main" id="{43A109FC-D65B-8A9B-949E-8F55AEBCD55B}"/>
              </a:ext>
            </a:extLst>
          </p:cNvPr>
          <p:cNvSpPr txBox="1"/>
          <p:nvPr/>
        </p:nvSpPr>
        <p:spPr>
          <a:xfrm>
            <a:off x="9489608" y="6068075"/>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0.005</a:t>
            </a:r>
          </a:p>
        </p:txBody>
      </p:sp>
    </p:spTree>
    <p:extLst>
      <p:ext uri="{BB962C8B-B14F-4D97-AF65-F5344CB8AC3E}">
        <p14:creationId xmlns:p14="http://schemas.microsoft.com/office/powerpoint/2010/main" val="161572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2088CB4C-6C42-5FE9-B919-8C1712271D7F}"/>
            </a:ext>
          </a:extLst>
        </p:cNvPr>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EA5C1668-7904-5C5D-A627-2CB7853A4F7A}"/>
              </a:ext>
            </a:extLst>
          </p:cNvPr>
          <p:cNvCxnSpPr>
            <a:cxnSpLocks/>
          </p:cNvCxnSpPr>
          <p:nvPr/>
        </p:nvCxnSpPr>
        <p:spPr>
          <a:xfrm flipV="1">
            <a:off x="1549972" y="2052712"/>
            <a:ext cx="0" cy="576319"/>
          </a:xfrm>
          <a:prstGeom prst="line">
            <a:avLst/>
          </a:prstGeom>
          <a:ln>
            <a:solidFill>
              <a:srgbClr val="289D8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D0ED68E0-D162-4DE5-A905-3A5648D83EAA}"/>
              </a:ext>
            </a:extLst>
          </p:cNvPr>
          <p:cNvCxnSpPr>
            <a:cxnSpLocks/>
          </p:cNvCxnSpPr>
          <p:nvPr/>
        </p:nvCxnSpPr>
        <p:spPr>
          <a:xfrm flipV="1">
            <a:off x="6762877" y="2052712"/>
            <a:ext cx="0" cy="66499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1E78329F-5A01-B2B7-C841-AC288CAA65F0}"/>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44DFF3F5-7D4B-514C-D8BB-321151BDB109}"/>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A293568-FF99-6DA3-7A78-892A6129D35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A5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2D80DCEA-21D1-EDE1-646A-B744EF512803}"/>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Replaced Reference Feedforward</a:t>
            </a:r>
          </a:p>
        </p:txBody>
      </p:sp>
      <p:graphicFrame>
        <p:nvGraphicFramePr>
          <p:cNvPr id="41" name="Object 40">
            <a:extLst>
              <a:ext uri="{FF2B5EF4-FFF2-40B4-BE49-F238E27FC236}">
                <a16:creationId xmlns:a16="http://schemas.microsoft.com/office/drawing/2014/main" id="{FB1E40E4-76E8-6271-E8EC-797019E6B897}"/>
              </a:ext>
            </a:extLst>
          </p:cNvPr>
          <p:cNvGraphicFramePr>
            <a:graphicFrameLocks noChangeAspect="1"/>
          </p:cNvGraphicFramePr>
          <p:nvPr>
            <p:extLst>
              <p:ext uri="{D42A27DB-BD31-4B8C-83A1-F6EECF244321}">
                <p14:modId xmlns:p14="http://schemas.microsoft.com/office/powerpoint/2010/main" val="3944025424"/>
              </p:ext>
            </p:extLst>
          </p:nvPr>
        </p:nvGraphicFramePr>
        <p:xfrm>
          <a:off x="6376511" y="2567197"/>
          <a:ext cx="139700" cy="228600"/>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41" name="Object 40">
                        <a:extLst>
                          <a:ext uri="{FF2B5EF4-FFF2-40B4-BE49-F238E27FC236}">
                            <a16:creationId xmlns:a16="http://schemas.microsoft.com/office/drawing/2014/main" id="{CD779A87-BD96-54F9-B8C8-ECB5274E1591}"/>
                          </a:ext>
                        </a:extLst>
                      </p:cNvPr>
                      <p:cNvPicPr/>
                      <p:nvPr/>
                    </p:nvPicPr>
                    <p:blipFill>
                      <a:blip r:embed="rId3"/>
                      <a:stretch>
                        <a:fillRect/>
                      </a:stretch>
                    </p:blipFill>
                    <p:spPr>
                      <a:xfrm>
                        <a:off x="6376511" y="2567197"/>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E627798B-D8DE-A53D-8644-7058A756159A}"/>
              </a:ext>
            </a:extLst>
          </p:cNvPr>
          <p:cNvSpPr/>
          <p:nvPr/>
        </p:nvSpPr>
        <p:spPr>
          <a:xfrm>
            <a:off x="1951073" y="250226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AE667C69-D3C9-0705-28B2-A8F18DCB96FE}"/>
              </a:ext>
            </a:extLst>
          </p:cNvPr>
          <p:cNvCxnSpPr>
            <a:cxnSpLocks/>
          </p:cNvCxnSpPr>
          <p:nvPr/>
        </p:nvCxnSpPr>
        <p:spPr>
          <a:xfrm>
            <a:off x="3055899" y="2749319"/>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96DA57-F687-F297-F9B8-FFBC8CA665E7}"/>
                  </a:ext>
                </a:extLst>
              </p:cNvPr>
              <p:cNvSpPr txBox="1"/>
              <p:nvPr/>
            </p:nvSpPr>
            <p:spPr>
              <a:xfrm>
                <a:off x="3180041" y="2502260"/>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B496DA57-F687-F297-F9B8-FFBC8CA665E7}"/>
                  </a:ext>
                </a:extLst>
              </p:cNvPr>
              <p:cNvSpPr txBox="1">
                <a:spLocks noRot="1" noChangeAspect="1" noMove="1" noResize="1" noEditPoints="1" noAdjustHandles="1" noChangeArrowheads="1" noChangeShapeType="1" noTextEdit="1"/>
              </p:cNvSpPr>
              <p:nvPr/>
            </p:nvSpPr>
            <p:spPr>
              <a:xfrm>
                <a:off x="3180041" y="2502260"/>
                <a:ext cx="434799" cy="215444"/>
              </a:xfrm>
              <a:prstGeom prst="rect">
                <a:avLst/>
              </a:prstGeom>
              <a:blipFill>
                <a:blip r:embed="rId4"/>
                <a:stretch>
                  <a:fillRect l="-9859" r="-1408" b="-13889"/>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81B38061-C508-0953-414B-9E7F39299976}"/>
              </a:ext>
            </a:extLst>
          </p:cNvPr>
          <p:cNvSpPr/>
          <p:nvPr/>
        </p:nvSpPr>
        <p:spPr>
          <a:xfrm>
            <a:off x="3765041" y="2614319"/>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F29F2328-3BDD-AAFD-1756-FD1D3E5926B8}"/>
              </a:ext>
            </a:extLst>
          </p:cNvPr>
          <p:cNvSpPr txBox="1"/>
          <p:nvPr/>
        </p:nvSpPr>
        <p:spPr>
          <a:xfrm>
            <a:off x="3753867" y="2558385"/>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5AA49EF-D7E3-91C5-DE31-AC37A8B808A8}"/>
                  </a:ext>
                </a:extLst>
              </p:cNvPr>
              <p:cNvSpPr txBox="1"/>
              <p:nvPr/>
            </p:nvSpPr>
            <p:spPr>
              <a:xfrm>
                <a:off x="4177291" y="2514718"/>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65AA49EF-D7E3-91C5-DE31-AC37A8B808A8}"/>
                  </a:ext>
                </a:extLst>
              </p:cNvPr>
              <p:cNvSpPr txBox="1">
                <a:spLocks noRot="1" noChangeAspect="1" noMove="1" noResize="1" noEditPoints="1" noAdjustHandles="1" noChangeArrowheads="1" noChangeShapeType="1" noTextEdit="1"/>
              </p:cNvSpPr>
              <p:nvPr/>
            </p:nvSpPr>
            <p:spPr>
              <a:xfrm>
                <a:off x="4177291" y="2514718"/>
                <a:ext cx="157992" cy="215444"/>
              </a:xfrm>
              <a:prstGeom prst="rect">
                <a:avLst/>
              </a:prstGeom>
              <a:blipFill>
                <a:blip r:embed="rId5"/>
                <a:stretch>
                  <a:fillRect l="-26923" r="-19231"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47DFFED2-38B2-FB7E-C7B0-C143102F9C4F}"/>
              </a:ext>
            </a:extLst>
          </p:cNvPr>
          <p:cNvSpPr/>
          <p:nvPr/>
        </p:nvSpPr>
        <p:spPr>
          <a:xfrm>
            <a:off x="5416418" y="2496906"/>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9994D855-D9F2-90D8-8557-02FA32C9F7BA}"/>
              </a:ext>
            </a:extLst>
          </p:cNvPr>
          <p:cNvCxnSpPr>
            <a:cxnSpLocks/>
          </p:cNvCxnSpPr>
          <p:nvPr/>
        </p:nvCxnSpPr>
        <p:spPr>
          <a:xfrm>
            <a:off x="6521244" y="2737728"/>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58F4BC-B428-F078-D8BD-90BBA2A34C07}"/>
                  </a:ext>
                </a:extLst>
              </p:cNvPr>
              <p:cNvSpPr txBox="1"/>
              <p:nvPr/>
            </p:nvSpPr>
            <p:spPr>
              <a:xfrm>
                <a:off x="6836244" y="2509595"/>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FD58F4BC-B428-F078-D8BD-90BBA2A34C07}"/>
                  </a:ext>
                </a:extLst>
              </p:cNvPr>
              <p:cNvSpPr txBox="1">
                <a:spLocks noRot="1" noChangeAspect="1" noMove="1" noResize="1" noEditPoints="1" noAdjustHandles="1" noChangeArrowheads="1" noChangeShapeType="1" noTextEdit="1"/>
              </p:cNvSpPr>
              <p:nvPr/>
            </p:nvSpPr>
            <p:spPr>
              <a:xfrm>
                <a:off x="6836244" y="2509595"/>
                <a:ext cx="173894" cy="215444"/>
              </a:xfrm>
              <a:prstGeom prst="rect">
                <a:avLst/>
              </a:prstGeom>
              <a:blipFill>
                <a:blip r:embed="rId6"/>
                <a:stretch>
                  <a:fillRect l="-13793" r="-10345"/>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9890E026-C097-5671-1C8A-7EE60D1B5AF5}"/>
              </a:ext>
            </a:extLst>
          </p:cNvPr>
          <p:cNvSpPr/>
          <p:nvPr/>
        </p:nvSpPr>
        <p:spPr>
          <a:xfrm>
            <a:off x="1407449" y="2629031"/>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57BFA76-6079-B818-2B6A-41F28E642A04}"/>
                  </a:ext>
                </a:extLst>
              </p:cNvPr>
              <p:cNvSpPr txBox="1"/>
              <p:nvPr/>
            </p:nvSpPr>
            <p:spPr>
              <a:xfrm>
                <a:off x="1455085" y="2645121"/>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D57BFA76-6079-B818-2B6A-41F28E642A04}"/>
                  </a:ext>
                </a:extLst>
              </p:cNvPr>
              <p:cNvSpPr txBox="1">
                <a:spLocks noRot="1" noChangeAspect="1" noMove="1" noResize="1" noEditPoints="1" noAdjustHandles="1" noChangeArrowheads="1" noChangeShapeType="1" noTextEdit="1"/>
              </p:cNvSpPr>
              <p:nvPr/>
            </p:nvSpPr>
            <p:spPr>
              <a:xfrm>
                <a:off x="1455085" y="2645121"/>
                <a:ext cx="174727" cy="215444"/>
              </a:xfrm>
              <a:prstGeom prst="rect">
                <a:avLst/>
              </a:prstGeom>
              <a:blipFill>
                <a:blip r:embed="rId7"/>
                <a:stretch>
                  <a:fillRect l="-32143" r="-28571" b="-17143"/>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C9FB3863-A53F-F7FD-D18B-7B0D644D0B86}"/>
              </a:ext>
            </a:extLst>
          </p:cNvPr>
          <p:cNvCxnSpPr>
            <a:cxnSpLocks/>
          </p:cNvCxnSpPr>
          <p:nvPr/>
        </p:nvCxnSpPr>
        <p:spPr>
          <a:xfrm>
            <a:off x="6762877" y="2740546"/>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4FEF0E-1F2C-D250-FC10-D7AAAB4B4452}"/>
              </a:ext>
            </a:extLst>
          </p:cNvPr>
          <p:cNvCxnSpPr>
            <a:cxnSpLocks/>
          </p:cNvCxnSpPr>
          <p:nvPr/>
        </p:nvCxnSpPr>
        <p:spPr>
          <a:xfrm>
            <a:off x="1542448" y="3199096"/>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89E91C4-59F7-1048-8F9E-3DF7FA802F90}"/>
              </a:ext>
            </a:extLst>
          </p:cNvPr>
          <p:cNvCxnSpPr>
            <a:cxnSpLocks/>
          </p:cNvCxnSpPr>
          <p:nvPr/>
        </p:nvCxnSpPr>
        <p:spPr>
          <a:xfrm>
            <a:off x="1547591" y="2899032"/>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2A237E9-AFA5-C538-E38E-4A2847944F6E}"/>
              </a:ext>
            </a:extLst>
          </p:cNvPr>
          <p:cNvCxnSpPr>
            <a:cxnSpLocks/>
          </p:cNvCxnSpPr>
          <p:nvPr/>
        </p:nvCxnSpPr>
        <p:spPr>
          <a:xfrm>
            <a:off x="943654" y="2749319"/>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2D106559-190F-B13C-E994-799249785845}"/>
                  </a:ext>
                </a:extLst>
              </p:cNvPr>
              <p:cNvSpPr/>
              <p:nvPr/>
            </p:nvSpPr>
            <p:spPr>
              <a:xfrm>
                <a:off x="4467041" y="2496906"/>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2D106559-190F-B13C-E994-799249785845}"/>
                  </a:ext>
                </a:extLst>
              </p:cNvPr>
              <p:cNvSpPr>
                <a:spLocks noRot="1" noChangeAspect="1" noMove="1" noResize="1" noEditPoints="1" noAdjustHandles="1" noChangeArrowheads="1" noChangeShapeType="1" noTextEdit="1"/>
              </p:cNvSpPr>
              <p:nvPr/>
            </p:nvSpPr>
            <p:spPr>
              <a:xfrm>
                <a:off x="4467041" y="2496906"/>
                <a:ext cx="679377" cy="479453"/>
              </a:xfrm>
              <a:prstGeom prst="roundRect">
                <a:avLst/>
              </a:prstGeom>
              <a:blipFill>
                <a:blip r:embed="rId8"/>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A988996B-33D9-AB06-2E1D-E9A7D6BD107A}"/>
              </a:ext>
            </a:extLst>
          </p:cNvPr>
          <p:cNvCxnSpPr>
            <a:cxnSpLocks/>
          </p:cNvCxnSpPr>
          <p:nvPr/>
        </p:nvCxnSpPr>
        <p:spPr>
          <a:xfrm>
            <a:off x="4035041" y="2740546"/>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161C5CAB-8780-9313-F8A1-5DCC3B5BDCC7}"/>
              </a:ext>
            </a:extLst>
          </p:cNvPr>
          <p:cNvCxnSpPr>
            <a:cxnSpLocks/>
          </p:cNvCxnSpPr>
          <p:nvPr/>
        </p:nvCxnSpPr>
        <p:spPr>
          <a:xfrm>
            <a:off x="5146418" y="2730162"/>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3BED9FE-3F17-C14B-DDA5-3D4C7917D70F}"/>
              </a:ext>
            </a:extLst>
          </p:cNvPr>
          <p:cNvCxnSpPr>
            <a:cxnSpLocks/>
          </p:cNvCxnSpPr>
          <p:nvPr/>
        </p:nvCxnSpPr>
        <p:spPr>
          <a:xfrm>
            <a:off x="1681073" y="275712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91B65F6-FFFA-3A8E-4447-CD8E30B280C3}"/>
                  </a:ext>
                </a:extLst>
              </p:cNvPr>
              <p:cNvSpPr txBox="1"/>
              <p:nvPr/>
            </p:nvSpPr>
            <p:spPr>
              <a:xfrm>
                <a:off x="868680" y="1382493"/>
                <a:ext cx="10970278" cy="4636334"/>
              </a:xfrm>
              <a:prstGeom prst="rect">
                <a:avLst/>
              </a:prstGeom>
              <a:noFill/>
            </p:spPr>
            <p:txBody>
              <a:bodyPr wrap="square" lIns="0" tIns="0" rIns="0" bIns="0" anchor="t">
                <a:spAutoFit/>
              </a:bodyPr>
              <a:lstStyle/>
              <a:p>
                <a:pPr>
                  <a:lnSpc>
                    <a:spcPct val="120000"/>
                  </a:lnSpc>
                </a:pPr>
                <a:r>
                  <a:rPr lang="en-US" sz="1400" noProof="1">
                    <a:solidFill>
                      <a:srgbClr val="1D3557"/>
                    </a:solidFill>
                  </a:rPr>
                  <a:t>However, not every system has a well-defined or fully understood dynamic model. So, how can we still benefit from reference feedforward?</a:t>
                </a: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r>
                  <a:rPr lang="en-US" sz="1400" noProof="1">
                    <a:solidFill>
                      <a:srgbClr val="1D3557"/>
                    </a:solidFill>
                  </a:rPr>
                  <a:t>The key idea is that the reference feedforward term is essentially a function that maps the desired output, </a:t>
                </a:r>
                <a14:m>
                  <m:oMath xmlns:m="http://schemas.openxmlformats.org/officeDocument/2006/math">
                    <m:r>
                      <a:rPr lang="en-US" sz="1400" i="1" noProof="1" smtClean="0">
                        <a:solidFill>
                          <a:srgbClr val="1D3557"/>
                        </a:solidFill>
                        <a:latin typeface="Cambria Math" panose="02040503050406030204" pitchFamily="18" charset="0"/>
                        <a:ea typeface="Cambria Math" panose="02040503050406030204" pitchFamily="18" charset="0"/>
                      </a:rPr>
                      <m:t>𝜔</m:t>
                    </m:r>
                  </m:oMath>
                </a14:m>
                <a:r>
                  <a:rPr lang="en-US" sz="1400" noProof="1">
                    <a:solidFill>
                      <a:srgbClr val="1D3557"/>
                    </a:solidFill>
                  </a:rPr>
                  <a:t>, to the required control input, </a:t>
                </a:r>
                <a14:m>
                  <m:oMath xmlns:m="http://schemas.openxmlformats.org/officeDocument/2006/math">
                    <m:sSub>
                      <m:sSubPr>
                        <m:ctrlPr>
                          <a:rPr lang="en-US" sz="1400" i="1" noProof="1" smtClean="0">
                            <a:solidFill>
                              <a:srgbClr val="1D3557"/>
                            </a:solidFill>
                            <a:latin typeface="Cambria Math" panose="02040503050406030204" pitchFamily="18" charset="0"/>
                          </a:rPr>
                        </m:ctrlPr>
                      </m:sSubPr>
                      <m:e>
                        <m:r>
                          <a:rPr lang="en-US" sz="1400" b="0" i="1" noProof="1" smtClean="0">
                            <a:solidFill>
                              <a:srgbClr val="1D3557"/>
                            </a:solidFill>
                            <a:latin typeface="Cambria Math" panose="02040503050406030204" pitchFamily="18" charset="0"/>
                          </a:rPr>
                          <m:t>𝑉</m:t>
                        </m:r>
                      </m:e>
                      <m:sub>
                        <m:r>
                          <a:rPr lang="en-US" sz="1400" b="0" i="1" noProof="1" smtClean="0">
                            <a:solidFill>
                              <a:srgbClr val="1D3557"/>
                            </a:solidFill>
                            <a:latin typeface="Cambria Math" panose="02040503050406030204" pitchFamily="18" charset="0"/>
                          </a:rPr>
                          <m:t>𝑖𝑛</m:t>
                        </m:r>
                      </m:sub>
                    </m:sSub>
                  </m:oMath>
                </a14:m>
                <a:r>
                  <a:rPr lang="en-US" sz="1400" b="1" noProof="1">
                    <a:solidFill>
                      <a:srgbClr val="1D3557"/>
                    </a:solidFill>
                  </a:rPr>
                  <a:t>. Instead of deriving this function analytically from the system dynamics</a:t>
                </a:r>
                <a:r>
                  <a:rPr lang="en-US" sz="1400" noProof="1">
                    <a:solidFill>
                      <a:srgbClr val="1D3557"/>
                    </a:solidFill>
                  </a:rPr>
                  <a:t>, </a:t>
                </a:r>
                <a:r>
                  <a:rPr lang="en-US" sz="1400" u="sng" noProof="1">
                    <a:solidFill>
                      <a:srgbClr val="1D3557"/>
                    </a:solidFill>
                  </a:rPr>
                  <a:t>we can obtain it experimentally</a:t>
                </a:r>
                <a:r>
                  <a:rPr lang="en-US" sz="1400" noProof="1">
                    <a:solidFill>
                      <a:srgbClr val="1D3557"/>
                    </a:solidFill>
                  </a:rPr>
                  <a:t>. By collecting pairs of input-output data </a:t>
                </a:r>
                <a:r>
                  <a:rPr lang="en-US" sz="1400" b="1" noProof="1">
                    <a:solidFill>
                      <a:srgbClr val="FF0000"/>
                    </a:solidFill>
                  </a:rPr>
                  <a:t>we can use a machine learning model to learn this mapping</a:t>
                </a:r>
                <a:r>
                  <a:rPr lang="en-US" sz="1400" noProof="1">
                    <a:solidFill>
                      <a:srgbClr val="1D3557"/>
                    </a:solidFill>
                  </a:rPr>
                  <a:t>. Here is the step</a:t>
                </a:r>
              </a:p>
              <a:p>
                <a:pPr>
                  <a:lnSpc>
                    <a:spcPct val="120000"/>
                  </a:lnSpc>
                </a:pPr>
                <a:endParaRPr lang="en-US" sz="1400" noProof="1">
                  <a:solidFill>
                    <a:srgbClr val="1D3557"/>
                  </a:solidFill>
                </a:endParaRPr>
              </a:p>
              <a:p>
                <a:pPr marL="342900" indent="-342900">
                  <a:lnSpc>
                    <a:spcPct val="120000"/>
                  </a:lnSpc>
                  <a:buAutoNum type="arabicPeriod"/>
                </a:pPr>
                <a:r>
                  <a:rPr lang="en-US" sz="1400" noProof="1">
                    <a:solidFill>
                      <a:srgbClr val="1D3557"/>
                    </a:solidFill>
                  </a:rPr>
                  <a:t>Collect the motor's steady-state speed at different input voltages.</a:t>
                </a:r>
              </a:p>
              <a:p>
                <a:pPr marL="342900" indent="-342900">
                  <a:lnSpc>
                    <a:spcPct val="120000"/>
                  </a:lnSpc>
                  <a:buAutoNum type="arabicPeriod"/>
                </a:pPr>
                <a:r>
                  <a:rPr lang="th-TH" sz="1400" dirty="0">
                    <a:solidFill>
                      <a:srgbClr val="1D3557"/>
                    </a:solidFill>
                  </a:rPr>
                  <a:t>Average the measured speed at each voltage to reduce the effect of periodic oscillations caused by gravity.</a:t>
                </a:r>
                <a:endParaRPr lang="en-US" sz="1400" noProof="1">
                  <a:solidFill>
                    <a:srgbClr val="1D3557"/>
                  </a:solidFill>
                </a:endParaRPr>
              </a:p>
              <a:p>
                <a:pPr marL="342900" indent="-342900">
                  <a:lnSpc>
                    <a:spcPct val="120000"/>
                  </a:lnSpc>
                  <a:buAutoNum type="arabicPeriod"/>
                </a:pPr>
                <a:r>
                  <a:rPr lang="en-US" sz="1400" noProof="1">
                    <a:solidFill>
                      <a:srgbClr val="1D3557"/>
                    </a:solidFill>
                  </a:rPr>
                  <a:t>Reverse the dataset to obtain the mapping from speed to voltage.</a:t>
                </a:r>
              </a:p>
              <a:p>
                <a:pPr marL="342900" indent="-342900">
                  <a:lnSpc>
                    <a:spcPct val="120000"/>
                  </a:lnSpc>
                  <a:buAutoNum type="arabicPeriod"/>
                </a:pPr>
                <a:r>
                  <a:rPr lang="en-US" sz="1400" noProof="1">
                    <a:solidFill>
                      <a:srgbClr val="1D3557"/>
                    </a:solidFill>
                  </a:rPr>
                  <a:t>Train a machine learning model to learn the function (V = f(</a:t>
                </a:r>
                <a14:m>
                  <m:oMath xmlns:m="http://schemas.openxmlformats.org/officeDocument/2006/math">
                    <m:r>
                      <a:rPr lang="en-US" sz="1400" i="1" noProof="1" smtClean="0">
                        <a:solidFill>
                          <a:srgbClr val="1D3557"/>
                        </a:solidFill>
                        <a:latin typeface="Cambria Math" panose="02040503050406030204" pitchFamily="18" charset="0"/>
                        <a:ea typeface="Cambria Math" panose="02040503050406030204" pitchFamily="18" charset="0"/>
                      </a:rPr>
                      <m:t>𝜔</m:t>
                    </m:r>
                  </m:oMath>
                </a14:m>
                <a:r>
                  <a:rPr lang="en-US" sz="1400" noProof="1">
                    <a:solidFill>
                      <a:srgbClr val="1D3557"/>
                    </a:solidFill>
                  </a:rPr>
                  <a:t>)).</a:t>
                </a:r>
              </a:p>
              <a:p>
                <a:pPr marL="342900" indent="-342900">
                  <a:lnSpc>
                    <a:spcPct val="120000"/>
                  </a:lnSpc>
                  <a:buAutoNum type="arabicPeriod"/>
                </a:pPr>
                <a:r>
                  <a:rPr lang="en-US" sz="1400" noProof="1">
                    <a:solidFill>
                      <a:srgbClr val="1D3557"/>
                    </a:solidFill>
                  </a:rPr>
                  <a:t>Use the desired speed (</a:t>
                </a:r>
                <a14:m>
                  <m:oMath xmlns:m="http://schemas.openxmlformats.org/officeDocument/2006/math">
                    <m:r>
                      <a:rPr lang="en-US" sz="1400" i="1" noProof="1">
                        <a:solidFill>
                          <a:srgbClr val="1D3557"/>
                        </a:solidFill>
                        <a:latin typeface="Cambria Math" panose="02040503050406030204" pitchFamily="18" charset="0"/>
                        <a:ea typeface="Cambria Math" panose="02040503050406030204" pitchFamily="18" charset="0"/>
                      </a:rPr>
                      <m:t>𝜔</m:t>
                    </m:r>
                  </m:oMath>
                </a14:m>
                <a:r>
                  <a:rPr lang="en-US" sz="1400" noProof="1">
                    <a:solidFill>
                      <a:srgbClr val="1D3557"/>
                    </a:solidFill>
                  </a:rPr>
                  <a:t>) to predict the required input voltage (V).</a:t>
                </a:r>
              </a:p>
              <a:p>
                <a:pPr marL="342900" indent="-342900">
                  <a:lnSpc>
                    <a:spcPct val="120000"/>
                  </a:lnSpc>
                  <a:buAutoNum type="arabicPeriod"/>
                </a:pPr>
                <a:r>
                  <a:rPr lang="en-US" sz="1400" noProof="1">
                    <a:solidFill>
                      <a:srgbClr val="1D3557"/>
                    </a:solidFill>
                  </a:rPr>
                  <a:t>Evaluate the model's prediction accuracy and control performance.</a:t>
                </a:r>
              </a:p>
            </p:txBody>
          </p:sp>
        </mc:Choice>
        <mc:Fallback xmlns="">
          <p:sp>
            <p:nvSpPr>
              <p:cNvPr id="52" name="TextBox 51">
                <a:extLst>
                  <a:ext uri="{FF2B5EF4-FFF2-40B4-BE49-F238E27FC236}">
                    <a16:creationId xmlns:a16="http://schemas.microsoft.com/office/drawing/2014/main" id="{291B65F6-FFFA-3A8E-4447-CD8E30B280C3}"/>
                  </a:ext>
                </a:extLst>
              </p:cNvPr>
              <p:cNvSpPr txBox="1">
                <a:spLocks noRot="1" noChangeAspect="1" noMove="1" noResize="1" noEditPoints="1" noAdjustHandles="1" noChangeArrowheads="1" noChangeShapeType="1" noTextEdit="1"/>
              </p:cNvSpPr>
              <p:nvPr/>
            </p:nvSpPr>
            <p:spPr>
              <a:xfrm>
                <a:off x="868680" y="1382493"/>
                <a:ext cx="10970278" cy="4636334"/>
              </a:xfrm>
              <a:prstGeom prst="rect">
                <a:avLst/>
              </a:prstGeom>
              <a:blipFill>
                <a:blip r:embed="rId9"/>
                <a:stretch>
                  <a:fillRect l="-1056" t="-526" r="-889" b="-1579"/>
                </a:stretch>
              </a:blipFill>
            </p:spPr>
            <p:txBody>
              <a:bodyPr/>
              <a:lstStyle/>
              <a:p>
                <a:r>
                  <a:rPr lang="th-TH">
                    <a:noFill/>
                  </a:rPr>
                  <a:t> </a:t>
                </a:r>
              </a:p>
            </p:txBody>
          </p:sp>
        </mc:Fallback>
      </mc:AlternateContent>
      <p:sp>
        <p:nvSpPr>
          <p:cNvPr id="6" name="Rounded Rectangle 6">
            <a:extLst>
              <a:ext uri="{FF2B5EF4-FFF2-40B4-BE49-F238E27FC236}">
                <a16:creationId xmlns:a16="http://schemas.microsoft.com/office/drawing/2014/main" id="{85F4D626-572C-9747-9945-5BA102A5FF31}"/>
              </a:ext>
            </a:extLst>
          </p:cNvPr>
          <p:cNvSpPr/>
          <p:nvPr/>
        </p:nvSpPr>
        <p:spPr>
          <a:xfrm>
            <a:off x="1951073" y="1825713"/>
            <a:ext cx="1104826" cy="479453"/>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a:t>
            </a:r>
          </a:p>
        </p:txBody>
      </p:sp>
      <p:sp>
        <p:nvSpPr>
          <p:cNvPr id="8" name="Rounded Rectangle 6">
            <a:extLst>
              <a:ext uri="{FF2B5EF4-FFF2-40B4-BE49-F238E27FC236}">
                <a16:creationId xmlns:a16="http://schemas.microsoft.com/office/drawing/2014/main" id="{1DC12BBF-EBD9-AAFD-C315-3B7125D3C589}"/>
              </a:ext>
            </a:extLst>
          </p:cNvPr>
          <p:cNvSpPr/>
          <p:nvPr/>
        </p:nvSpPr>
        <p:spPr>
          <a:xfrm>
            <a:off x="4296138" y="1825713"/>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Disturbance feedforward</a:t>
            </a:r>
          </a:p>
        </p:txBody>
      </p:sp>
      <mc:AlternateContent xmlns:mc="http://schemas.openxmlformats.org/markup-compatibility/2006" xmlns:a14="http://schemas.microsoft.com/office/drawing/2010/main">
        <mc:Choice Requires="a14">
          <p:sp>
            <p:nvSpPr>
              <p:cNvPr id="10" name="Rounded Rectangle 6">
                <a:extLst>
                  <a:ext uri="{FF2B5EF4-FFF2-40B4-BE49-F238E27FC236}">
                    <a16:creationId xmlns:a16="http://schemas.microsoft.com/office/drawing/2014/main" id="{290A6637-F08A-C754-3FBF-28965DC54F59}"/>
                  </a:ext>
                </a:extLst>
              </p:cNvPr>
              <p:cNvSpPr/>
              <p:nvPr/>
            </p:nvSpPr>
            <p:spPr>
              <a:xfrm>
                <a:off x="5723036" y="1825713"/>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10" name="Rounded Rectangle 6">
                <a:extLst>
                  <a:ext uri="{FF2B5EF4-FFF2-40B4-BE49-F238E27FC236}">
                    <a16:creationId xmlns:a16="http://schemas.microsoft.com/office/drawing/2014/main" id="{290A6637-F08A-C754-3FBF-28965DC54F59}"/>
                  </a:ext>
                </a:extLst>
              </p:cNvPr>
              <p:cNvSpPr>
                <a:spLocks noRot="1" noChangeAspect="1" noMove="1" noResize="1" noEditPoints="1" noAdjustHandles="1" noChangeArrowheads="1" noChangeShapeType="1" noTextEdit="1"/>
              </p:cNvSpPr>
              <p:nvPr/>
            </p:nvSpPr>
            <p:spPr>
              <a:xfrm>
                <a:off x="5723036" y="1825713"/>
                <a:ext cx="562361" cy="479453"/>
              </a:xfrm>
              <a:prstGeom prst="roundRect">
                <a:avLst/>
              </a:prstGeom>
              <a:blipFill>
                <a:blip r:embed="rId10"/>
                <a:stretch>
                  <a:fillRect l="-93684" t="-151220" r="-91579" b="-210976"/>
                </a:stretch>
              </a:blipFill>
              <a:ln w="15875">
                <a:solidFill>
                  <a:srgbClr val="E07A5F"/>
                </a:solidFill>
              </a:ln>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F7DE95CE-F893-98FB-5284-FFA05CB333F2}"/>
              </a:ext>
            </a:extLst>
          </p:cNvPr>
          <p:cNvCxnSpPr>
            <a:cxnSpLocks/>
          </p:cNvCxnSpPr>
          <p:nvPr/>
        </p:nvCxnSpPr>
        <p:spPr>
          <a:xfrm flipH="1">
            <a:off x="1542448" y="2058297"/>
            <a:ext cx="408625" cy="0"/>
          </a:xfrm>
          <a:prstGeom prst="line">
            <a:avLst/>
          </a:prstGeom>
          <a:ln>
            <a:solidFill>
              <a:srgbClr val="289D8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3518C3A-A1A4-0847-9CBF-2B3B364D0803}"/>
              </a:ext>
            </a:extLst>
          </p:cNvPr>
          <p:cNvCxnSpPr>
            <a:cxnSpLocks/>
          </p:cNvCxnSpPr>
          <p:nvPr/>
        </p:nvCxnSpPr>
        <p:spPr>
          <a:xfrm flipH="1">
            <a:off x="3068568" y="2065439"/>
            <a:ext cx="546272" cy="5455"/>
          </a:xfrm>
          <a:prstGeom prst="line">
            <a:avLst/>
          </a:prstGeom>
          <a:ln>
            <a:solidFill>
              <a:srgbClr val="289D8F"/>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923E664-6C93-765F-C5E1-55DF9A91F495}"/>
              </a:ext>
            </a:extLst>
          </p:cNvPr>
          <p:cNvCxnSpPr>
            <a:cxnSpLocks/>
            <a:endCxn id="13" idx="1"/>
          </p:cNvCxnSpPr>
          <p:nvPr/>
        </p:nvCxnSpPr>
        <p:spPr>
          <a:xfrm>
            <a:off x="3602345" y="2052712"/>
            <a:ext cx="202237" cy="601148"/>
          </a:xfrm>
          <a:prstGeom prst="straightConnector1">
            <a:avLst/>
          </a:prstGeom>
          <a:ln>
            <a:solidFill>
              <a:srgbClr val="289D8F"/>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EAE1DFE-22DB-FE81-3D1B-9F671DF47F04}"/>
              </a:ext>
            </a:extLst>
          </p:cNvPr>
          <p:cNvCxnSpPr>
            <a:cxnSpLocks/>
          </p:cNvCxnSpPr>
          <p:nvPr/>
        </p:nvCxnSpPr>
        <p:spPr>
          <a:xfrm flipH="1">
            <a:off x="6284751" y="2058167"/>
            <a:ext cx="478126"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14AC2024-3019-DE4E-8490-04AFDA51D1EF}"/>
              </a:ext>
            </a:extLst>
          </p:cNvPr>
          <p:cNvCxnSpPr>
            <a:cxnSpLocks/>
            <a:stCxn id="10" idx="1"/>
            <a:endCxn id="8" idx="3"/>
          </p:cNvCxnSpPr>
          <p:nvPr/>
        </p:nvCxnSpPr>
        <p:spPr>
          <a:xfrm flipH="1">
            <a:off x="5400964" y="2065440"/>
            <a:ext cx="3220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40889F48-BD4C-43DD-A393-9ACFCB772F49}"/>
              </a:ext>
            </a:extLst>
          </p:cNvPr>
          <p:cNvCxnSpPr>
            <a:cxnSpLocks/>
            <a:endCxn id="13" idx="7"/>
          </p:cNvCxnSpPr>
          <p:nvPr/>
        </p:nvCxnSpPr>
        <p:spPr>
          <a:xfrm flipH="1">
            <a:off x="3995500" y="2065440"/>
            <a:ext cx="184391" cy="5884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A53CBCB2-535A-6F6F-D3F1-B3BD79F26669}"/>
              </a:ext>
            </a:extLst>
          </p:cNvPr>
          <p:cNvCxnSpPr>
            <a:cxnSpLocks/>
            <a:stCxn id="8" idx="1"/>
          </p:cNvCxnSpPr>
          <p:nvPr/>
        </p:nvCxnSpPr>
        <p:spPr>
          <a:xfrm flipH="1">
            <a:off x="4173394" y="2065440"/>
            <a:ext cx="122744"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FD2ED9FA-BF7B-F8F1-9EEA-257675535733}"/>
                  </a:ext>
                </a:extLst>
              </p:cNvPr>
              <p:cNvSpPr txBox="1"/>
              <p:nvPr/>
            </p:nvSpPr>
            <p:spPr>
              <a:xfrm>
                <a:off x="1114846" y="2450663"/>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08" name="TextBox 107">
                <a:extLst>
                  <a:ext uri="{FF2B5EF4-FFF2-40B4-BE49-F238E27FC236}">
                    <a16:creationId xmlns:a16="http://schemas.microsoft.com/office/drawing/2014/main" id="{FD2ED9FA-BF7B-F8F1-9EEA-257675535733}"/>
                  </a:ext>
                </a:extLst>
              </p:cNvPr>
              <p:cNvSpPr txBox="1">
                <a:spLocks noRot="1" noChangeAspect="1" noMove="1" noResize="1" noEditPoints="1" noAdjustHandles="1" noChangeArrowheads="1" noChangeShapeType="1" noTextEdit="1"/>
              </p:cNvSpPr>
              <p:nvPr/>
            </p:nvSpPr>
            <p:spPr>
              <a:xfrm>
                <a:off x="1114846" y="2450663"/>
                <a:ext cx="243848" cy="215444"/>
              </a:xfrm>
              <a:prstGeom prst="rect">
                <a:avLst/>
              </a:prstGeom>
              <a:blipFill>
                <a:blip r:embed="rId11"/>
                <a:stretch>
                  <a:fillRect l="-12500"/>
                </a:stretch>
              </a:blipFill>
            </p:spPr>
            <p:txBody>
              <a:bodyPr/>
              <a:lstStyle/>
              <a:p>
                <a:r>
                  <a:rPr lang="th-TH">
                    <a:noFill/>
                  </a:rPr>
                  <a:t> </a:t>
                </a:r>
              </a:p>
            </p:txBody>
          </p:sp>
        </mc:Fallback>
      </mc:AlternateContent>
      <p:sp>
        <p:nvSpPr>
          <p:cNvPr id="28" name="Rounded Rectangle 6">
            <a:extLst>
              <a:ext uri="{FF2B5EF4-FFF2-40B4-BE49-F238E27FC236}">
                <a16:creationId xmlns:a16="http://schemas.microsoft.com/office/drawing/2014/main" id="{6E1EDA26-FA6D-A8FC-393A-7747761FAECA}"/>
              </a:ext>
            </a:extLst>
          </p:cNvPr>
          <p:cNvSpPr/>
          <p:nvPr/>
        </p:nvSpPr>
        <p:spPr>
          <a:xfrm>
            <a:off x="8821101" y="2426480"/>
            <a:ext cx="1104826" cy="616091"/>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 (ML)</a:t>
            </a:r>
          </a:p>
        </p:txBody>
      </p:sp>
      <p:cxnSp>
        <p:nvCxnSpPr>
          <p:cNvPr id="29" name="Straight Arrow Connector 28">
            <a:extLst>
              <a:ext uri="{FF2B5EF4-FFF2-40B4-BE49-F238E27FC236}">
                <a16:creationId xmlns:a16="http://schemas.microsoft.com/office/drawing/2014/main" id="{0C67CF59-8A02-4B58-29C7-ECF92E5B4074}"/>
              </a:ext>
            </a:extLst>
          </p:cNvPr>
          <p:cNvCxnSpPr>
            <a:cxnSpLocks/>
          </p:cNvCxnSpPr>
          <p:nvPr/>
        </p:nvCxnSpPr>
        <p:spPr>
          <a:xfrm>
            <a:off x="8357306" y="2705988"/>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85A3ED2-2586-B131-BBE4-CF33ECFFC04B}"/>
              </a:ext>
            </a:extLst>
          </p:cNvPr>
          <p:cNvCxnSpPr>
            <a:cxnSpLocks/>
          </p:cNvCxnSpPr>
          <p:nvPr/>
        </p:nvCxnSpPr>
        <p:spPr>
          <a:xfrm>
            <a:off x="9925927" y="2712970"/>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8BE7E56-FDB8-5FA4-AC84-0FAD4F7B7C77}"/>
                  </a:ext>
                </a:extLst>
              </p:cNvPr>
              <p:cNvSpPr txBox="1"/>
              <p:nvPr/>
            </p:nvSpPr>
            <p:spPr>
              <a:xfrm>
                <a:off x="8436147" y="2426480"/>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31" name="TextBox 30">
                <a:extLst>
                  <a:ext uri="{FF2B5EF4-FFF2-40B4-BE49-F238E27FC236}">
                    <a16:creationId xmlns:a16="http://schemas.microsoft.com/office/drawing/2014/main" id="{D8BE7E56-FDB8-5FA4-AC84-0FAD4F7B7C77}"/>
                  </a:ext>
                </a:extLst>
              </p:cNvPr>
              <p:cNvSpPr txBox="1">
                <a:spLocks noRot="1" noChangeAspect="1" noMove="1" noResize="1" noEditPoints="1" noAdjustHandles="1" noChangeArrowheads="1" noChangeShapeType="1" noTextEdit="1"/>
              </p:cNvSpPr>
              <p:nvPr/>
            </p:nvSpPr>
            <p:spPr>
              <a:xfrm>
                <a:off x="8436147" y="2426480"/>
                <a:ext cx="243848" cy="215444"/>
              </a:xfrm>
              <a:prstGeom prst="rect">
                <a:avLst/>
              </a:prstGeom>
              <a:blipFill>
                <a:blip r:embed="rId11"/>
                <a:stretch>
                  <a:fillRect l="-1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5D7B240-EE63-A83F-2E35-68280DF25CD2}"/>
                  </a:ext>
                </a:extLst>
              </p:cNvPr>
              <p:cNvSpPr txBox="1"/>
              <p:nvPr/>
            </p:nvSpPr>
            <p:spPr>
              <a:xfrm>
                <a:off x="10062224" y="2433415"/>
                <a:ext cx="357406"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𝑟𝑒𝑓</m:t>
                          </m:r>
                        </m:sub>
                      </m:sSub>
                    </m:oMath>
                  </m:oMathPara>
                </a14:m>
                <a:endParaRPr lang="en-US" sz="1400" noProof="1"/>
              </a:p>
            </p:txBody>
          </p:sp>
        </mc:Choice>
        <mc:Fallback xmlns="">
          <p:sp>
            <p:nvSpPr>
              <p:cNvPr id="32" name="TextBox 31">
                <a:extLst>
                  <a:ext uri="{FF2B5EF4-FFF2-40B4-BE49-F238E27FC236}">
                    <a16:creationId xmlns:a16="http://schemas.microsoft.com/office/drawing/2014/main" id="{25D7B240-EE63-A83F-2E35-68280DF25CD2}"/>
                  </a:ext>
                </a:extLst>
              </p:cNvPr>
              <p:cNvSpPr txBox="1">
                <a:spLocks noRot="1" noChangeAspect="1" noMove="1" noResize="1" noEditPoints="1" noAdjustHandles="1" noChangeArrowheads="1" noChangeShapeType="1" noTextEdit="1"/>
              </p:cNvSpPr>
              <p:nvPr/>
            </p:nvSpPr>
            <p:spPr>
              <a:xfrm>
                <a:off x="10062224" y="2433415"/>
                <a:ext cx="357406" cy="232692"/>
              </a:xfrm>
              <a:prstGeom prst="rect">
                <a:avLst/>
              </a:prstGeom>
              <a:blipFill>
                <a:blip r:embed="rId12"/>
                <a:stretch>
                  <a:fillRect l="-10345" r="-6897" b="-26316"/>
                </a:stretch>
              </a:blipFill>
            </p:spPr>
            <p:txBody>
              <a:bodyPr/>
              <a:lstStyle/>
              <a:p>
                <a:r>
                  <a:rPr lang="th-TH">
                    <a:noFill/>
                  </a:rPr>
                  <a:t> </a:t>
                </a:r>
              </a:p>
            </p:txBody>
          </p:sp>
        </mc:Fallback>
      </mc:AlternateContent>
      <p:sp>
        <p:nvSpPr>
          <p:cNvPr id="34" name="Rectangle 33">
            <a:extLst>
              <a:ext uri="{FF2B5EF4-FFF2-40B4-BE49-F238E27FC236}">
                <a16:creationId xmlns:a16="http://schemas.microsoft.com/office/drawing/2014/main" id="{BED983AE-C7AF-4728-F891-D67C45DD3B12}"/>
              </a:ext>
            </a:extLst>
          </p:cNvPr>
          <p:cNvSpPr/>
          <p:nvPr/>
        </p:nvSpPr>
        <p:spPr>
          <a:xfrm>
            <a:off x="7613514" y="1825712"/>
            <a:ext cx="45719" cy="143999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428681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9E4FE765-C6B0-327A-9CC3-286235B224B2}"/>
            </a:ext>
          </a:extLst>
        </p:cNvPr>
        <p:cNvGrpSpPr/>
        <p:nvPr/>
      </p:nvGrpSpPr>
      <p:grpSpPr>
        <a:xfrm>
          <a:off x="0" y="0"/>
          <a:ext cx="0" cy="0"/>
          <a:chOff x="0" y="0"/>
          <a:chExt cx="0" cy="0"/>
        </a:xfrm>
      </p:grpSpPr>
      <p:pic>
        <p:nvPicPr>
          <p:cNvPr id="78" name="Picture 77">
            <a:extLst>
              <a:ext uri="{FF2B5EF4-FFF2-40B4-BE49-F238E27FC236}">
                <a16:creationId xmlns:a16="http://schemas.microsoft.com/office/drawing/2014/main" id="{F1C2C6F9-60C1-81B0-8B25-9AA6BFF4A658}"/>
              </a:ext>
            </a:extLst>
          </p:cNvPr>
          <p:cNvPicPr>
            <a:picLocks noChangeAspect="1"/>
          </p:cNvPicPr>
          <p:nvPr/>
        </p:nvPicPr>
        <p:blipFill>
          <a:blip r:embed="rId2"/>
          <a:stretch>
            <a:fillRect/>
          </a:stretch>
        </p:blipFill>
        <p:spPr>
          <a:xfrm>
            <a:off x="9842589" y="1294357"/>
            <a:ext cx="2226372" cy="2226372"/>
          </a:xfrm>
          <a:prstGeom prst="rect">
            <a:avLst/>
          </a:prstGeom>
        </p:spPr>
      </p:pic>
      <p:pic>
        <p:nvPicPr>
          <p:cNvPr id="79" name="Picture 78">
            <a:extLst>
              <a:ext uri="{FF2B5EF4-FFF2-40B4-BE49-F238E27FC236}">
                <a16:creationId xmlns:a16="http://schemas.microsoft.com/office/drawing/2014/main" id="{3B616458-C926-12EF-E3A2-A1051FE3127C}"/>
              </a:ext>
            </a:extLst>
          </p:cNvPr>
          <p:cNvPicPr>
            <a:picLocks noChangeAspect="1"/>
          </p:cNvPicPr>
          <p:nvPr/>
        </p:nvPicPr>
        <p:blipFill>
          <a:blip r:embed="rId3"/>
          <a:stretch>
            <a:fillRect/>
          </a:stretch>
        </p:blipFill>
        <p:spPr>
          <a:xfrm>
            <a:off x="7490123" y="1256019"/>
            <a:ext cx="2266795" cy="2266795"/>
          </a:xfrm>
          <a:prstGeom prst="rect">
            <a:avLst/>
          </a:prstGeom>
        </p:spPr>
      </p:pic>
      <p:sp>
        <p:nvSpPr>
          <p:cNvPr id="2" name="Rectangle 1">
            <a:extLst>
              <a:ext uri="{FF2B5EF4-FFF2-40B4-BE49-F238E27FC236}">
                <a16:creationId xmlns:a16="http://schemas.microsoft.com/office/drawing/2014/main" id="{7EFD5779-2163-A65E-10BB-E093B97B8047}"/>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066A997-3158-117D-A207-D237BA83A8A0}"/>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844CDF6-9FFF-6D16-E3C3-FD7783FDA6BB}"/>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A6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0D2348BF-1834-43A8-1EC3-F6466A76E544}"/>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Replaced Reference Feedforward</a:t>
            </a:r>
          </a:p>
        </p:txBody>
      </p:sp>
      <p:sp>
        <p:nvSpPr>
          <p:cNvPr id="28" name="Rounded Rectangle 6">
            <a:extLst>
              <a:ext uri="{FF2B5EF4-FFF2-40B4-BE49-F238E27FC236}">
                <a16:creationId xmlns:a16="http://schemas.microsoft.com/office/drawing/2014/main" id="{8CF80D2A-966F-AC5F-0C2E-9D9519352E25}"/>
              </a:ext>
            </a:extLst>
          </p:cNvPr>
          <p:cNvSpPr/>
          <p:nvPr/>
        </p:nvSpPr>
        <p:spPr>
          <a:xfrm>
            <a:off x="9384857" y="6174004"/>
            <a:ext cx="1104826" cy="616091"/>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 (ML)</a:t>
            </a:r>
          </a:p>
        </p:txBody>
      </p:sp>
      <p:cxnSp>
        <p:nvCxnSpPr>
          <p:cNvPr id="29" name="Straight Arrow Connector 28">
            <a:extLst>
              <a:ext uri="{FF2B5EF4-FFF2-40B4-BE49-F238E27FC236}">
                <a16:creationId xmlns:a16="http://schemas.microsoft.com/office/drawing/2014/main" id="{E43754B4-542A-548F-B875-50EE1B47308E}"/>
              </a:ext>
            </a:extLst>
          </p:cNvPr>
          <p:cNvCxnSpPr>
            <a:cxnSpLocks/>
          </p:cNvCxnSpPr>
          <p:nvPr/>
        </p:nvCxnSpPr>
        <p:spPr>
          <a:xfrm>
            <a:off x="8907441" y="6453512"/>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C704B0D-D5EA-B4E4-1C42-3667BDD275A0}"/>
              </a:ext>
            </a:extLst>
          </p:cNvPr>
          <p:cNvCxnSpPr>
            <a:cxnSpLocks/>
          </p:cNvCxnSpPr>
          <p:nvPr/>
        </p:nvCxnSpPr>
        <p:spPr>
          <a:xfrm>
            <a:off x="10489683" y="6460494"/>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988533E-4396-9AC8-9A3A-793B30382425}"/>
                  </a:ext>
                </a:extLst>
              </p:cNvPr>
              <p:cNvSpPr txBox="1"/>
              <p:nvPr/>
            </p:nvSpPr>
            <p:spPr>
              <a:xfrm>
                <a:off x="8999903" y="6191605"/>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31" name="TextBox 30">
                <a:extLst>
                  <a:ext uri="{FF2B5EF4-FFF2-40B4-BE49-F238E27FC236}">
                    <a16:creationId xmlns:a16="http://schemas.microsoft.com/office/drawing/2014/main" id="{4988533E-4396-9AC8-9A3A-793B30382425}"/>
                  </a:ext>
                </a:extLst>
              </p:cNvPr>
              <p:cNvSpPr txBox="1">
                <a:spLocks noRot="1" noChangeAspect="1" noMove="1" noResize="1" noEditPoints="1" noAdjustHandles="1" noChangeArrowheads="1" noChangeShapeType="1" noTextEdit="1"/>
              </p:cNvSpPr>
              <p:nvPr/>
            </p:nvSpPr>
            <p:spPr>
              <a:xfrm>
                <a:off x="8999903" y="6191605"/>
                <a:ext cx="243848" cy="215444"/>
              </a:xfrm>
              <a:prstGeom prst="rect">
                <a:avLst/>
              </a:prstGeom>
              <a:blipFill>
                <a:blip r:embed="rId4"/>
                <a:stretch>
                  <a:fillRect l="-10000" r="-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2A595A5-17BF-987A-DA46-EBF132DEF77A}"/>
                  </a:ext>
                </a:extLst>
              </p:cNvPr>
              <p:cNvSpPr txBox="1"/>
              <p:nvPr/>
            </p:nvSpPr>
            <p:spPr>
              <a:xfrm>
                <a:off x="10625980" y="6180939"/>
                <a:ext cx="357406"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𝑟𝑒𝑓</m:t>
                          </m:r>
                        </m:sub>
                      </m:sSub>
                    </m:oMath>
                  </m:oMathPara>
                </a14:m>
                <a:endParaRPr lang="en-US" sz="1400" noProof="1"/>
              </a:p>
            </p:txBody>
          </p:sp>
        </mc:Choice>
        <mc:Fallback xmlns="">
          <p:sp>
            <p:nvSpPr>
              <p:cNvPr id="32" name="TextBox 31">
                <a:extLst>
                  <a:ext uri="{FF2B5EF4-FFF2-40B4-BE49-F238E27FC236}">
                    <a16:creationId xmlns:a16="http://schemas.microsoft.com/office/drawing/2014/main" id="{F2A595A5-17BF-987A-DA46-EBF132DEF77A}"/>
                  </a:ext>
                </a:extLst>
              </p:cNvPr>
              <p:cNvSpPr txBox="1">
                <a:spLocks noRot="1" noChangeAspect="1" noMove="1" noResize="1" noEditPoints="1" noAdjustHandles="1" noChangeArrowheads="1" noChangeShapeType="1" noTextEdit="1"/>
              </p:cNvSpPr>
              <p:nvPr/>
            </p:nvSpPr>
            <p:spPr>
              <a:xfrm>
                <a:off x="10625980" y="6180939"/>
                <a:ext cx="357406" cy="232692"/>
              </a:xfrm>
              <a:prstGeom prst="rect">
                <a:avLst/>
              </a:prstGeom>
              <a:blipFill>
                <a:blip r:embed="rId5"/>
                <a:stretch>
                  <a:fillRect l="-10169" r="-6780" b="-23684"/>
                </a:stretch>
              </a:blipFill>
            </p:spPr>
            <p:txBody>
              <a:bodyPr/>
              <a:lstStyle/>
              <a:p>
                <a:r>
                  <a:rPr lang="th-TH">
                    <a:noFill/>
                  </a:rPr>
                  <a:t> </a:t>
                </a:r>
              </a:p>
            </p:txBody>
          </p:sp>
        </mc:Fallback>
      </mc:AlternateContent>
      <p:pic>
        <p:nvPicPr>
          <p:cNvPr id="5" name="Picture 4">
            <a:extLst>
              <a:ext uri="{FF2B5EF4-FFF2-40B4-BE49-F238E27FC236}">
                <a16:creationId xmlns:a16="http://schemas.microsoft.com/office/drawing/2014/main" id="{80A22AC2-5B24-23C9-D3DB-5B3DD54E2A01}"/>
              </a:ext>
            </a:extLst>
          </p:cNvPr>
          <p:cNvPicPr>
            <a:picLocks noChangeAspect="1"/>
          </p:cNvPicPr>
          <p:nvPr/>
        </p:nvPicPr>
        <p:blipFill>
          <a:blip r:embed="rId6"/>
          <a:srcRect t="6491" r="49455"/>
          <a:stretch>
            <a:fillRect/>
          </a:stretch>
        </p:blipFill>
        <p:spPr>
          <a:xfrm>
            <a:off x="735533" y="2359981"/>
            <a:ext cx="2443411" cy="1883460"/>
          </a:xfrm>
          <a:prstGeom prst="rect">
            <a:avLst/>
          </a:prstGeom>
        </p:spPr>
      </p:pic>
      <p:pic>
        <p:nvPicPr>
          <p:cNvPr id="43" name="Picture 42">
            <a:extLst>
              <a:ext uri="{FF2B5EF4-FFF2-40B4-BE49-F238E27FC236}">
                <a16:creationId xmlns:a16="http://schemas.microsoft.com/office/drawing/2014/main" id="{CAF79ABE-9302-EBF5-3EAF-58268061D26A}"/>
              </a:ext>
            </a:extLst>
          </p:cNvPr>
          <p:cNvPicPr>
            <a:picLocks noChangeAspect="1"/>
          </p:cNvPicPr>
          <p:nvPr/>
        </p:nvPicPr>
        <p:blipFill>
          <a:blip r:embed="rId7"/>
          <a:stretch>
            <a:fillRect/>
          </a:stretch>
        </p:blipFill>
        <p:spPr>
          <a:xfrm>
            <a:off x="3344029" y="3783281"/>
            <a:ext cx="2512773" cy="1913086"/>
          </a:xfrm>
          <a:prstGeom prst="rect">
            <a:avLst/>
          </a:prstGeom>
        </p:spPr>
      </p:pic>
      <p:pic>
        <p:nvPicPr>
          <p:cNvPr id="44" name="Picture 43">
            <a:extLst>
              <a:ext uri="{FF2B5EF4-FFF2-40B4-BE49-F238E27FC236}">
                <a16:creationId xmlns:a16="http://schemas.microsoft.com/office/drawing/2014/main" id="{6F7C6243-9302-F5FB-5FA1-1D9601BDC2C3}"/>
              </a:ext>
            </a:extLst>
          </p:cNvPr>
          <p:cNvPicPr>
            <a:picLocks noChangeAspect="1"/>
          </p:cNvPicPr>
          <p:nvPr/>
        </p:nvPicPr>
        <p:blipFill>
          <a:blip r:embed="rId6"/>
          <a:srcRect l="49455" t="6491"/>
          <a:stretch>
            <a:fillRect/>
          </a:stretch>
        </p:blipFill>
        <p:spPr>
          <a:xfrm>
            <a:off x="3344029" y="1524578"/>
            <a:ext cx="2484255" cy="1914944"/>
          </a:xfrm>
          <a:prstGeom prst="rect">
            <a:avLst/>
          </a:prstGeom>
        </p:spPr>
      </p:pic>
      <p:sp>
        <p:nvSpPr>
          <p:cNvPr id="45" name="Arrow: Bent 44">
            <a:extLst>
              <a:ext uri="{FF2B5EF4-FFF2-40B4-BE49-F238E27FC236}">
                <a16:creationId xmlns:a16="http://schemas.microsoft.com/office/drawing/2014/main" id="{953DCAB0-8A68-51E8-2E0A-7492C7A35309}"/>
              </a:ext>
            </a:extLst>
          </p:cNvPr>
          <p:cNvSpPr/>
          <p:nvPr/>
        </p:nvSpPr>
        <p:spPr>
          <a:xfrm>
            <a:off x="1968759" y="1712910"/>
            <a:ext cx="718457" cy="606467"/>
          </a:xfrm>
          <a:prstGeom prst="ben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dirty="0">
              <a:solidFill>
                <a:schemeClr val="tx1"/>
              </a:solidFill>
            </a:endParaRPr>
          </a:p>
        </p:txBody>
      </p:sp>
      <p:sp>
        <p:nvSpPr>
          <p:cNvPr id="49" name="TextBox 48">
            <a:extLst>
              <a:ext uri="{FF2B5EF4-FFF2-40B4-BE49-F238E27FC236}">
                <a16:creationId xmlns:a16="http://schemas.microsoft.com/office/drawing/2014/main" id="{29789F59-36B1-D336-311E-2B1DFCDEFEFA}"/>
              </a:ext>
            </a:extLst>
          </p:cNvPr>
          <p:cNvSpPr txBox="1"/>
          <p:nvPr/>
        </p:nvSpPr>
        <p:spPr>
          <a:xfrm>
            <a:off x="749793" y="3961441"/>
            <a:ext cx="2443309" cy="686983"/>
          </a:xfrm>
          <a:prstGeom prst="rect">
            <a:avLst/>
          </a:prstGeom>
          <a:noFill/>
        </p:spPr>
        <p:txBody>
          <a:bodyPr wrap="square" lIns="0" tIns="0" rIns="0" bIns="0" anchor="t">
            <a:spAutoFit/>
          </a:bodyPr>
          <a:lstStyle/>
          <a:p>
            <a:pPr algn="ctr">
              <a:lnSpc>
                <a:spcPct val="120000"/>
              </a:lnSpc>
            </a:pPr>
            <a:endParaRPr lang="en-US" sz="1400" noProof="1">
              <a:solidFill>
                <a:srgbClr val="1D3557"/>
              </a:solidFill>
            </a:endParaRPr>
          </a:p>
          <a:p>
            <a:pPr algn="ctr">
              <a:lnSpc>
                <a:spcPct val="120000"/>
              </a:lnSpc>
            </a:pPr>
            <a:r>
              <a:rPr lang="en-US" sz="1200" noProof="1">
                <a:solidFill>
                  <a:srgbClr val="1D3557"/>
                </a:solidFill>
              </a:rPr>
              <a:t>1.Collect the motor's steady-state speed at different input voltages.</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C99DF4B-25D2-455D-D8FF-9725921B533B}"/>
                  </a:ext>
                </a:extLst>
              </p:cNvPr>
              <p:cNvSpPr txBox="1"/>
              <p:nvPr/>
            </p:nvSpPr>
            <p:spPr>
              <a:xfrm>
                <a:off x="2971697" y="5617436"/>
                <a:ext cx="4417960" cy="1129668"/>
              </a:xfrm>
              <a:prstGeom prst="rect">
                <a:avLst/>
              </a:prstGeom>
              <a:noFill/>
            </p:spPr>
            <p:txBody>
              <a:bodyPr wrap="square" lIns="0" tIns="0" rIns="0" bIns="0" anchor="t">
                <a:spAutoFit/>
              </a:bodyPr>
              <a:lstStyle/>
              <a:p>
                <a:pPr>
                  <a:lnSpc>
                    <a:spcPct val="120000"/>
                  </a:lnSpc>
                </a:pPr>
                <a:endParaRPr lang="en-US" sz="1400" noProof="1">
                  <a:solidFill>
                    <a:srgbClr val="1D3557"/>
                  </a:solidFill>
                </a:endParaRPr>
              </a:p>
              <a:p>
                <a:pPr>
                  <a:lnSpc>
                    <a:spcPct val="120000"/>
                  </a:lnSpc>
                </a:pPr>
                <a:r>
                  <a:rPr lang="en-US" sz="1200" dirty="0">
                    <a:solidFill>
                      <a:srgbClr val="1D3557"/>
                    </a:solidFill>
                  </a:rPr>
                  <a:t>2. Av</a:t>
                </a:r>
                <a:r>
                  <a:rPr lang="th-TH" sz="1200" dirty="0">
                    <a:solidFill>
                      <a:srgbClr val="1D3557"/>
                    </a:solidFill>
                  </a:rPr>
                  <a:t>erage the measured speed at each voltage to reduce the effect of periodic oscillations caused by gravity.</a:t>
                </a:r>
                <a:endParaRPr lang="en-US" sz="1200" noProof="1">
                  <a:solidFill>
                    <a:srgbClr val="1D3557"/>
                  </a:solidFill>
                </a:endParaRPr>
              </a:p>
              <a:p>
                <a:pPr>
                  <a:lnSpc>
                    <a:spcPct val="120000"/>
                  </a:lnSpc>
                </a:pPr>
                <a:r>
                  <a:rPr lang="en-US" sz="1200" noProof="1">
                    <a:solidFill>
                      <a:srgbClr val="1D3557"/>
                    </a:solidFill>
                  </a:rPr>
                  <a:t>3. Reverse the dataset to obtain the mapping from speed to voltage.</a:t>
                </a:r>
              </a:p>
              <a:p>
                <a:pPr>
                  <a:lnSpc>
                    <a:spcPct val="120000"/>
                  </a:lnSpc>
                </a:pPr>
                <a:r>
                  <a:rPr lang="en-US" sz="1200" noProof="1">
                    <a:solidFill>
                      <a:srgbClr val="1D3557"/>
                    </a:solidFill>
                  </a:rPr>
                  <a:t>4. Train a machine learning model to learn the function (V = f(</a:t>
                </a:r>
                <a14:m>
                  <m:oMath xmlns:m="http://schemas.openxmlformats.org/officeDocument/2006/math">
                    <m:r>
                      <a:rPr lang="en-US" sz="1200" i="1" noProof="1" smtClean="0">
                        <a:solidFill>
                          <a:srgbClr val="1D3557"/>
                        </a:solidFill>
                        <a:latin typeface="Cambria Math" panose="02040503050406030204" pitchFamily="18" charset="0"/>
                        <a:ea typeface="Cambria Math" panose="02040503050406030204" pitchFamily="18" charset="0"/>
                      </a:rPr>
                      <m:t>𝜔</m:t>
                    </m:r>
                  </m:oMath>
                </a14:m>
                <a:r>
                  <a:rPr lang="en-US" sz="1200" noProof="1">
                    <a:solidFill>
                      <a:srgbClr val="1D3557"/>
                    </a:solidFill>
                  </a:rPr>
                  <a:t>)).</a:t>
                </a:r>
              </a:p>
            </p:txBody>
          </p:sp>
        </mc:Choice>
        <mc:Fallback xmlns="">
          <p:sp>
            <p:nvSpPr>
              <p:cNvPr id="51" name="TextBox 50">
                <a:extLst>
                  <a:ext uri="{FF2B5EF4-FFF2-40B4-BE49-F238E27FC236}">
                    <a16:creationId xmlns:a16="http://schemas.microsoft.com/office/drawing/2014/main" id="{BC99DF4B-25D2-455D-D8FF-9725921B533B}"/>
                  </a:ext>
                </a:extLst>
              </p:cNvPr>
              <p:cNvSpPr txBox="1">
                <a:spLocks noRot="1" noChangeAspect="1" noMove="1" noResize="1" noEditPoints="1" noAdjustHandles="1" noChangeArrowheads="1" noChangeShapeType="1" noTextEdit="1"/>
              </p:cNvSpPr>
              <p:nvPr/>
            </p:nvSpPr>
            <p:spPr>
              <a:xfrm>
                <a:off x="2971697" y="5617436"/>
                <a:ext cx="4417960" cy="1129668"/>
              </a:xfrm>
              <a:prstGeom prst="rect">
                <a:avLst/>
              </a:prstGeom>
              <a:blipFill>
                <a:blip r:embed="rId8"/>
                <a:stretch>
                  <a:fillRect l="-2069" r="-1103" b="-7527"/>
                </a:stretch>
              </a:blipFill>
            </p:spPr>
            <p:txBody>
              <a:bodyPr/>
              <a:lstStyle/>
              <a:p>
                <a:r>
                  <a:rPr lang="th-TH">
                    <a:noFill/>
                  </a:rPr>
                  <a:t> </a:t>
                </a:r>
              </a:p>
            </p:txBody>
          </p:sp>
        </mc:Fallback>
      </mc:AlternateContent>
      <p:sp>
        <p:nvSpPr>
          <p:cNvPr id="53" name="Arrow: Bent 52">
            <a:extLst>
              <a:ext uri="{FF2B5EF4-FFF2-40B4-BE49-F238E27FC236}">
                <a16:creationId xmlns:a16="http://schemas.microsoft.com/office/drawing/2014/main" id="{EFB77383-FBC1-E4FE-ADAE-60EA0BADE630}"/>
              </a:ext>
            </a:extLst>
          </p:cNvPr>
          <p:cNvSpPr/>
          <p:nvPr/>
        </p:nvSpPr>
        <p:spPr>
          <a:xfrm flipV="1">
            <a:off x="1905542" y="4754985"/>
            <a:ext cx="718457" cy="585937"/>
          </a:xfrm>
          <a:prstGeom prst="ben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dirty="0">
              <a:solidFill>
                <a:schemeClr val="tx1"/>
              </a:solidFill>
            </a:endParaRPr>
          </a:p>
        </p:txBody>
      </p:sp>
      <p:sp>
        <p:nvSpPr>
          <p:cNvPr id="55" name="Arrow: Right 54">
            <a:extLst>
              <a:ext uri="{FF2B5EF4-FFF2-40B4-BE49-F238E27FC236}">
                <a16:creationId xmlns:a16="http://schemas.microsoft.com/office/drawing/2014/main" id="{7B24E920-8230-BD3D-B5DA-0C9094BCAD7F}"/>
              </a:ext>
            </a:extLst>
          </p:cNvPr>
          <p:cNvSpPr/>
          <p:nvPr/>
        </p:nvSpPr>
        <p:spPr>
          <a:xfrm>
            <a:off x="7096654" y="2347162"/>
            <a:ext cx="239198" cy="246541"/>
          </a:xfrm>
          <a:prstGeom prst="righ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
        <p:nvSpPr>
          <p:cNvPr id="56" name="Arrow: Right 55">
            <a:extLst>
              <a:ext uri="{FF2B5EF4-FFF2-40B4-BE49-F238E27FC236}">
                <a16:creationId xmlns:a16="http://schemas.microsoft.com/office/drawing/2014/main" id="{ADC81EDD-7F07-3B11-C7C0-2511E3D1A940}"/>
              </a:ext>
            </a:extLst>
          </p:cNvPr>
          <p:cNvSpPr/>
          <p:nvPr/>
        </p:nvSpPr>
        <p:spPr>
          <a:xfrm>
            <a:off x="7113044" y="4610242"/>
            <a:ext cx="239198" cy="246541"/>
          </a:xfrm>
          <a:prstGeom prst="righ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pic>
        <p:nvPicPr>
          <p:cNvPr id="58" name="Picture 57">
            <a:extLst>
              <a:ext uri="{FF2B5EF4-FFF2-40B4-BE49-F238E27FC236}">
                <a16:creationId xmlns:a16="http://schemas.microsoft.com/office/drawing/2014/main" id="{F79FE8ED-1801-8B37-D1F8-9763D21DAAAA}"/>
              </a:ext>
            </a:extLst>
          </p:cNvPr>
          <p:cNvPicPr>
            <a:picLocks noChangeAspect="1"/>
          </p:cNvPicPr>
          <p:nvPr/>
        </p:nvPicPr>
        <p:blipFill>
          <a:blip r:embed="rId9"/>
          <a:stretch>
            <a:fillRect/>
          </a:stretch>
        </p:blipFill>
        <p:spPr>
          <a:xfrm>
            <a:off x="7475326" y="3716413"/>
            <a:ext cx="2281593" cy="2281593"/>
          </a:xfrm>
          <a:prstGeom prst="rect">
            <a:avLst/>
          </a:prstGeom>
        </p:spPr>
      </p:pic>
      <p:pic>
        <p:nvPicPr>
          <p:cNvPr id="59" name="Picture 58">
            <a:extLst>
              <a:ext uri="{FF2B5EF4-FFF2-40B4-BE49-F238E27FC236}">
                <a16:creationId xmlns:a16="http://schemas.microsoft.com/office/drawing/2014/main" id="{1C3C8483-94A1-174E-A744-DED0EAFD39E9}"/>
              </a:ext>
            </a:extLst>
          </p:cNvPr>
          <p:cNvPicPr>
            <a:picLocks noChangeAspect="1"/>
          </p:cNvPicPr>
          <p:nvPr/>
        </p:nvPicPr>
        <p:blipFill>
          <a:blip r:embed="rId10"/>
          <a:stretch>
            <a:fillRect/>
          </a:stretch>
        </p:blipFill>
        <p:spPr>
          <a:xfrm>
            <a:off x="9842589" y="3686620"/>
            <a:ext cx="2281593" cy="2281593"/>
          </a:xfrm>
          <a:prstGeom prst="rect">
            <a:avLst/>
          </a:prstGeom>
        </p:spPr>
      </p:pic>
      <p:sp>
        <p:nvSpPr>
          <p:cNvPr id="64" name="TextBox 63">
            <a:extLst>
              <a:ext uri="{FF2B5EF4-FFF2-40B4-BE49-F238E27FC236}">
                <a16:creationId xmlns:a16="http://schemas.microsoft.com/office/drawing/2014/main" id="{4A8BC6FC-33EC-29D6-CAB4-C9245CAB32E8}"/>
              </a:ext>
            </a:extLst>
          </p:cNvPr>
          <p:cNvSpPr txBox="1"/>
          <p:nvPr/>
        </p:nvSpPr>
        <p:spPr>
          <a:xfrm>
            <a:off x="7823601" y="2830967"/>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0.322</a:t>
            </a:r>
          </a:p>
        </p:txBody>
      </p:sp>
      <p:sp>
        <p:nvSpPr>
          <p:cNvPr id="65" name="TextBox 64">
            <a:extLst>
              <a:ext uri="{FF2B5EF4-FFF2-40B4-BE49-F238E27FC236}">
                <a16:creationId xmlns:a16="http://schemas.microsoft.com/office/drawing/2014/main" id="{5A961F59-5BDD-0056-7299-E07A69F1A01C}"/>
              </a:ext>
            </a:extLst>
          </p:cNvPr>
          <p:cNvSpPr txBox="1"/>
          <p:nvPr/>
        </p:nvSpPr>
        <p:spPr>
          <a:xfrm>
            <a:off x="10749531" y="2830966"/>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0.005</a:t>
            </a:r>
          </a:p>
        </p:txBody>
      </p:sp>
      <p:sp>
        <p:nvSpPr>
          <p:cNvPr id="66" name="TextBox 65">
            <a:extLst>
              <a:ext uri="{FF2B5EF4-FFF2-40B4-BE49-F238E27FC236}">
                <a16:creationId xmlns:a16="http://schemas.microsoft.com/office/drawing/2014/main" id="{1E134131-064D-B9D4-60EC-16F3DA74C4D0}"/>
              </a:ext>
            </a:extLst>
          </p:cNvPr>
          <p:cNvSpPr txBox="1"/>
          <p:nvPr/>
        </p:nvSpPr>
        <p:spPr>
          <a:xfrm>
            <a:off x="7878753" y="5360619"/>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0.323</a:t>
            </a:r>
          </a:p>
        </p:txBody>
      </p:sp>
      <p:sp>
        <p:nvSpPr>
          <p:cNvPr id="67" name="TextBox 66">
            <a:extLst>
              <a:ext uri="{FF2B5EF4-FFF2-40B4-BE49-F238E27FC236}">
                <a16:creationId xmlns:a16="http://schemas.microsoft.com/office/drawing/2014/main" id="{6F2F5348-C45E-CA28-5587-283FCE9E2915}"/>
              </a:ext>
            </a:extLst>
          </p:cNvPr>
          <p:cNvSpPr txBox="1"/>
          <p:nvPr/>
        </p:nvSpPr>
        <p:spPr>
          <a:xfrm>
            <a:off x="10814868" y="5369432"/>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0.1</a:t>
            </a:r>
          </a:p>
        </p:txBody>
      </p:sp>
      <p:sp>
        <p:nvSpPr>
          <p:cNvPr id="68" name="Oval 67">
            <a:extLst>
              <a:ext uri="{FF2B5EF4-FFF2-40B4-BE49-F238E27FC236}">
                <a16:creationId xmlns:a16="http://schemas.microsoft.com/office/drawing/2014/main" id="{A726E947-BB6C-58FC-AAFD-5115B8C788D0}"/>
              </a:ext>
            </a:extLst>
          </p:cNvPr>
          <p:cNvSpPr/>
          <p:nvPr/>
        </p:nvSpPr>
        <p:spPr>
          <a:xfrm>
            <a:off x="4446380" y="4408534"/>
            <a:ext cx="487680" cy="487680"/>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
        <p:nvSpPr>
          <p:cNvPr id="69" name="Oval 68">
            <a:extLst>
              <a:ext uri="{FF2B5EF4-FFF2-40B4-BE49-F238E27FC236}">
                <a16:creationId xmlns:a16="http://schemas.microsoft.com/office/drawing/2014/main" id="{5FED3DB2-2D11-FC99-2AEB-A6F6D5ACC8AE}"/>
              </a:ext>
            </a:extLst>
          </p:cNvPr>
          <p:cNvSpPr/>
          <p:nvPr/>
        </p:nvSpPr>
        <p:spPr>
          <a:xfrm>
            <a:off x="10245843" y="5260678"/>
            <a:ext cx="487680" cy="487680"/>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
        <p:nvSpPr>
          <p:cNvPr id="70" name="TextBox 69">
            <a:extLst>
              <a:ext uri="{FF2B5EF4-FFF2-40B4-BE49-F238E27FC236}">
                <a16:creationId xmlns:a16="http://schemas.microsoft.com/office/drawing/2014/main" id="{9A50EFA3-3AAD-B935-E8DC-E292CAA36FC0}"/>
              </a:ext>
            </a:extLst>
          </p:cNvPr>
          <p:cNvSpPr txBox="1"/>
          <p:nvPr/>
        </p:nvSpPr>
        <p:spPr>
          <a:xfrm>
            <a:off x="4620102" y="5212779"/>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0.579</a:t>
            </a:r>
          </a:p>
        </p:txBody>
      </p:sp>
      <p:sp>
        <p:nvSpPr>
          <p:cNvPr id="75" name="TextBox 74">
            <a:extLst>
              <a:ext uri="{FF2B5EF4-FFF2-40B4-BE49-F238E27FC236}">
                <a16:creationId xmlns:a16="http://schemas.microsoft.com/office/drawing/2014/main" id="{34D9AF6D-035C-21E5-F3C5-CE7597234E30}"/>
              </a:ext>
            </a:extLst>
          </p:cNvPr>
          <p:cNvSpPr txBox="1"/>
          <p:nvPr/>
        </p:nvSpPr>
        <p:spPr>
          <a:xfrm>
            <a:off x="4620102" y="2802585"/>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0.729</a:t>
            </a:r>
          </a:p>
        </p:txBody>
      </p:sp>
      <p:sp>
        <p:nvSpPr>
          <p:cNvPr id="76" name="TextBox 75">
            <a:extLst>
              <a:ext uri="{FF2B5EF4-FFF2-40B4-BE49-F238E27FC236}">
                <a16:creationId xmlns:a16="http://schemas.microsoft.com/office/drawing/2014/main" id="{E842F840-3C1E-A95C-C540-1F70AFC03889}"/>
              </a:ext>
            </a:extLst>
          </p:cNvPr>
          <p:cNvSpPr txBox="1"/>
          <p:nvPr/>
        </p:nvSpPr>
        <p:spPr>
          <a:xfrm>
            <a:off x="5920395" y="4043563"/>
            <a:ext cx="1264377" cy="1314847"/>
          </a:xfrm>
          <a:prstGeom prst="rect">
            <a:avLst/>
          </a:prstGeom>
          <a:noFill/>
        </p:spPr>
        <p:txBody>
          <a:bodyPr wrap="square" lIns="0" tIns="0" rIns="0" bIns="0" anchor="t">
            <a:spAutoFit/>
          </a:bodyPr>
          <a:lstStyle/>
          <a:p>
            <a:pPr>
              <a:lnSpc>
                <a:spcPct val="120000"/>
              </a:lnSpc>
            </a:pPr>
            <a:r>
              <a:rPr lang="en-US" sz="1200" dirty="0">
                <a:solidFill>
                  <a:srgbClr val="1D3557"/>
                </a:solidFill>
              </a:rPr>
              <a:t>Input layer: 1</a:t>
            </a:r>
          </a:p>
          <a:p>
            <a:pPr>
              <a:lnSpc>
                <a:spcPct val="120000"/>
              </a:lnSpc>
            </a:pPr>
            <a:r>
              <a:rPr lang="en-US" sz="1200" noProof="1">
                <a:solidFill>
                  <a:srgbClr val="1D3557"/>
                </a:solidFill>
              </a:rPr>
              <a:t>Hidden layer: 16, 16</a:t>
            </a:r>
          </a:p>
          <a:p>
            <a:pPr>
              <a:lnSpc>
                <a:spcPct val="120000"/>
              </a:lnSpc>
            </a:pPr>
            <a:r>
              <a:rPr lang="en-US" sz="1200" noProof="1">
                <a:solidFill>
                  <a:srgbClr val="1D3557"/>
                </a:solidFill>
              </a:rPr>
              <a:t>Output layer: 1</a:t>
            </a:r>
          </a:p>
          <a:p>
            <a:pPr>
              <a:lnSpc>
                <a:spcPct val="120000"/>
              </a:lnSpc>
            </a:pPr>
            <a:r>
              <a:rPr lang="en-US" sz="1200" noProof="1">
                <a:solidFill>
                  <a:srgbClr val="1D3557"/>
                </a:solidFill>
              </a:rPr>
              <a:t>Epochs: 10000</a:t>
            </a:r>
          </a:p>
          <a:p>
            <a:pPr>
              <a:lnSpc>
                <a:spcPct val="120000"/>
              </a:lnSpc>
            </a:pPr>
            <a:r>
              <a:rPr lang="en-US" sz="1200" noProof="1">
                <a:solidFill>
                  <a:srgbClr val="1D3557"/>
                </a:solidFill>
              </a:rPr>
              <a:t>Activation: ReLU</a:t>
            </a:r>
          </a:p>
          <a:p>
            <a:pPr>
              <a:lnSpc>
                <a:spcPct val="120000"/>
              </a:lnSpc>
            </a:pPr>
            <a:r>
              <a:rPr lang="en-US" sz="1200" noProof="1">
                <a:solidFill>
                  <a:srgbClr val="1D3557"/>
                </a:solidFill>
              </a:rPr>
              <a:t>Loss: MSE</a:t>
            </a:r>
          </a:p>
        </p:txBody>
      </p:sp>
      <p:sp>
        <p:nvSpPr>
          <p:cNvPr id="77" name="TextBox 76">
            <a:extLst>
              <a:ext uri="{FF2B5EF4-FFF2-40B4-BE49-F238E27FC236}">
                <a16:creationId xmlns:a16="http://schemas.microsoft.com/office/drawing/2014/main" id="{026C9B32-8E74-35E2-C8A6-C9B80FC6C19C}"/>
              </a:ext>
            </a:extLst>
          </p:cNvPr>
          <p:cNvSpPr txBox="1"/>
          <p:nvPr/>
        </p:nvSpPr>
        <p:spPr>
          <a:xfrm>
            <a:off x="5856803" y="2051578"/>
            <a:ext cx="1071642" cy="871649"/>
          </a:xfrm>
          <a:prstGeom prst="rect">
            <a:avLst/>
          </a:prstGeom>
          <a:noFill/>
        </p:spPr>
        <p:txBody>
          <a:bodyPr wrap="square" lIns="0" tIns="0" rIns="0" bIns="0" anchor="t">
            <a:spAutoFit/>
          </a:bodyPr>
          <a:lstStyle/>
          <a:p>
            <a:pPr>
              <a:lnSpc>
                <a:spcPct val="120000"/>
              </a:lnSpc>
            </a:pPr>
            <a:r>
              <a:rPr lang="en-US" sz="1200" dirty="0">
                <a:solidFill>
                  <a:srgbClr val="1D3557"/>
                </a:solidFill>
              </a:rPr>
              <a:t>Input layer: 1</a:t>
            </a:r>
          </a:p>
          <a:p>
            <a:pPr>
              <a:lnSpc>
                <a:spcPct val="120000"/>
              </a:lnSpc>
            </a:pPr>
            <a:r>
              <a:rPr lang="en-US" sz="1200" noProof="1">
                <a:solidFill>
                  <a:srgbClr val="1D3557"/>
                </a:solidFill>
              </a:rPr>
              <a:t>Output layer: 1</a:t>
            </a:r>
          </a:p>
          <a:p>
            <a:pPr>
              <a:lnSpc>
                <a:spcPct val="120000"/>
              </a:lnSpc>
            </a:pPr>
            <a:r>
              <a:rPr lang="en-US" sz="1200" noProof="1">
                <a:solidFill>
                  <a:srgbClr val="1D3557"/>
                </a:solidFill>
              </a:rPr>
              <a:t>Model: Linear Regression </a:t>
            </a:r>
          </a:p>
        </p:txBody>
      </p:sp>
    </p:spTree>
    <p:extLst>
      <p:ext uri="{BB962C8B-B14F-4D97-AF65-F5344CB8AC3E}">
        <p14:creationId xmlns:p14="http://schemas.microsoft.com/office/powerpoint/2010/main" val="2568653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582E60F-4E3B-4715-2917-65BDEC3D29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1A5264E-3E15-57BE-2481-60C06C23C65A}"/>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34EAB221-69E0-023F-6A97-2F1A0BCE5BA2}"/>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515CE236-7E1D-5A09-9FBA-10AA440EC571}"/>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A7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67C47C8A-DF20-9D88-3F65-A7EFEE6EB0F1}"/>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Conclusion</a:t>
            </a:r>
          </a:p>
        </p:txBody>
      </p:sp>
      <p:graphicFrame>
        <p:nvGraphicFramePr>
          <p:cNvPr id="6" name="Table 5">
            <a:extLst>
              <a:ext uri="{FF2B5EF4-FFF2-40B4-BE49-F238E27FC236}">
                <a16:creationId xmlns:a16="http://schemas.microsoft.com/office/drawing/2014/main" id="{B93FD4CC-28B3-BE87-7A6C-7541E4C60A96}"/>
              </a:ext>
            </a:extLst>
          </p:cNvPr>
          <p:cNvGraphicFramePr>
            <a:graphicFrameLocks noGrp="1"/>
          </p:cNvGraphicFramePr>
          <p:nvPr>
            <p:extLst>
              <p:ext uri="{D42A27DB-BD31-4B8C-83A1-F6EECF244321}">
                <p14:modId xmlns:p14="http://schemas.microsoft.com/office/powerpoint/2010/main" val="3023497728"/>
              </p:ext>
            </p:extLst>
          </p:nvPr>
        </p:nvGraphicFramePr>
        <p:xfrm>
          <a:off x="1710109" y="1468255"/>
          <a:ext cx="8771782" cy="2654752"/>
        </p:xfrm>
        <a:graphic>
          <a:graphicData uri="http://schemas.openxmlformats.org/drawingml/2006/table">
            <a:tbl>
              <a:tblPr/>
              <a:tblGrid>
                <a:gridCol w="1199319">
                  <a:extLst>
                    <a:ext uri="{9D8B030D-6E8A-4147-A177-3AD203B41FA5}">
                      <a16:colId xmlns:a16="http://schemas.microsoft.com/office/drawing/2014/main" val="76437665"/>
                    </a:ext>
                  </a:extLst>
                </a:gridCol>
                <a:gridCol w="762936">
                  <a:extLst>
                    <a:ext uri="{9D8B030D-6E8A-4147-A177-3AD203B41FA5}">
                      <a16:colId xmlns:a16="http://schemas.microsoft.com/office/drawing/2014/main" val="3733846312"/>
                    </a:ext>
                  </a:extLst>
                </a:gridCol>
                <a:gridCol w="981128">
                  <a:extLst>
                    <a:ext uri="{9D8B030D-6E8A-4147-A177-3AD203B41FA5}">
                      <a16:colId xmlns:a16="http://schemas.microsoft.com/office/drawing/2014/main" val="1216254771"/>
                    </a:ext>
                  </a:extLst>
                </a:gridCol>
                <a:gridCol w="981128">
                  <a:extLst>
                    <a:ext uri="{9D8B030D-6E8A-4147-A177-3AD203B41FA5}">
                      <a16:colId xmlns:a16="http://schemas.microsoft.com/office/drawing/2014/main" val="3263012641"/>
                    </a:ext>
                  </a:extLst>
                </a:gridCol>
                <a:gridCol w="981128">
                  <a:extLst>
                    <a:ext uri="{9D8B030D-6E8A-4147-A177-3AD203B41FA5}">
                      <a16:colId xmlns:a16="http://schemas.microsoft.com/office/drawing/2014/main" val="1690925198"/>
                    </a:ext>
                  </a:extLst>
                </a:gridCol>
                <a:gridCol w="981128">
                  <a:extLst>
                    <a:ext uri="{9D8B030D-6E8A-4147-A177-3AD203B41FA5}">
                      <a16:colId xmlns:a16="http://schemas.microsoft.com/office/drawing/2014/main" val="1983400545"/>
                    </a:ext>
                  </a:extLst>
                </a:gridCol>
                <a:gridCol w="981128">
                  <a:extLst>
                    <a:ext uri="{9D8B030D-6E8A-4147-A177-3AD203B41FA5}">
                      <a16:colId xmlns:a16="http://schemas.microsoft.com/office/drawing/2014/main" val="174646616"/>
                    </a:ext>
                  </a:extLst>
                </a:gridCol>
                <a:gridCol w="981128">
                  <a:extLst>
                    <a:ext uri="{9D8B030D-6E8A-4147-A177-3AD203B41FA5}">
                      <a16:colId xmlns:a16="http://schemas.microsoft.com/office/drawing/2014/main" val="3274502385"/>
                    </a:ext>
                  </a:extLst>
                </a:gridCol>
                <a:gridCol w="922759">
                  <a:extLst>
                    <a:ext uri="{9D8B030D-6E8A-4147-A177-3AD203B41FA5}">
                      <a16:colId xmlns:a16="http://schemas.microsoft.com/office/drawing/2014/main" val="2406664087"/>
                    </a:ext>
                  </a:extLst>
                </a:gridCol>
              </a:tblGrid>
              <a:tr h="1023324">
                <a:tc>
                  <a:txBody>
                    <a:bodyPr/>
                    <a:lstStyle/>
                    <a:p>
                      <a:pPr marL="0" algn="ctr" defTabSz="457200" rtl="0" eaLnBrk="1" latinLnBrk="0" hangingPunct="1">
                        <a:buNone/>
                      </a:pPr>
                      <a:r>
                        <a:rPr lang="th-TH" sz="1200" b="0" kern="1200" dirty="0">
                          <a:solidFill>
                            <a:srgbClr val="1D3557"/>
                          </a:solidFill>
                          <a:latin typeface="+mn-lt"/>
                          <a:ea typeface="+mn-ea"/>
                          <a:cs typeface="+mn-cs"/>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a:t>
                      </a: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a:t>
                      </a: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full model FFW </a:t>
                      </a:r>
                    </a:p>
                    <a:p>
                      <a:pPr marL="0" algn="ctr" defTabSz="457200" rtl="0" eaLnBrk="1" latinLnBrk="0" hangingPunct="1">
                        <a:buNone/>
                      </a:pP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full model FFW </a:t>
                      </a:r>
                    </a:p>
                    <a:p>
                      <a:pPr marL="0" algn="ctr" defTabSz="457200" rtl="0" eaLnBrk="1" latinLnBrk="0" hangingPunct="1">
                        <a:buNone/>
                      </a:pP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poly FFW + grav FFW </a:t>
                      </a: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poly FFW + grav FFW</a:t>
                      </a:r>
                    </a:p>
                    <a:p>
                      <a:pPr marL="0" algn="ctr" defTabSz="457200" rtl="0" eaLnBrk="1" latinLnBrk="0" hangingPunct="1">
                        <a:buNone/>
                      </a:pP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NN FFW + grav FFW </a:t>
                      </a:r>
                    </a:p>
                    <a:p>
                      <a:pPr marL="0" algn="ctr" defTabSz="457200" rtl="0" eaLnBrk="1" latinLnBrk="0" hangingPunct="1">
                        <a:buNone/>
                      </a:pP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NN FFW + grav FFW</a:t>
                      </a:r>
                    </a:p>
                    <a:p>
                      <a:pPr marL="0" algn="ctr" defTabSz="457200" rtl="0" eaLnBrk="1" latinLnBrk="0" hangingPunct="1">
                        <a:buNone/>
                      </a:pP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31807"/>
                  </a:ext>
                </a:extLst>
              </a:tr>
              <a:tr h="548036">
                <a:tc>
                  <a:txBody>
                    <a:bodyPr/>
                    <a:lstStyle/>
                    <a:p>
                      <a:pPr marL="0" algn="ctr" defTabSz="457200" rtl="0" eaLnBrk="1" latinLnBrk="0" hangingPunct="1">
                        <a:buNone/>
                      </a:pPr>
                      <a:r>
                        <a:rPr lang="th-TH" sz="1200" b="0" kern="1200" dirty="0">
                          <a:solidFill>
                            <a:srgbClr val="1D3557"/>
                          </a:solidFill>
                          <a:latin typeface="+mn-lt"/>
                          <a:ea typeface="+mn-ea"/>
                          <a:cs typeface="+mn-cs"/>
                        </a:rPr>
                        <a:t>RMSE (</a:t>
                      </a:r>
                      <a:r>
                        <a:rPr lang="th-TH" sz="1200" b="0" kern="1200" dirty="0" err="1">
                          <a:solidFill>
                            <a:srgbClr val="1D3557"/>
                          </a:solidFill>
                          <a:latin typeface="+mn-lt"/>
                          <a:ea typeface="+mn-ea"/>
                          <a:cs typeface="+mn-cs"/>
                        </a:rPr>
                        <a:t>rad</a:t>
                      </a:r>
                      <a:r>
                        <a:rPr lang="th-TH" sz="1200" b="0" kern="1200" dirty="0">
                          <a:solidFill>
                            <a:srgbClr val="1D3557"/>
                          </a:solidFill>
                          <a:latin typeface="+mn-lt"/>
                          <a:ea typeface="+mn-ea"/>
                          <a:cs typeface="+mn-cs"/>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0.4950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0.3217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0.3183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0.3183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0.4450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0.2714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528171"/>
                  </a:ext>
                </a:extLst>
              </a:tr>
              <a:tr h="548036">
                <a:tc>
                  <a:txBody>
                    <a:bodyPr/>
                    <a:lstStyle/>
                    <a:p>
                      <a:pPr marL="0" algn="ctr" defTabSz="457200" rtl="0" eaLnBrk="1" latinLnBrk="0" hangingPunct="1">
                        <a:buNone/>
                      </a:pPr>
                      <a:r>
                        <a:rPr lang="th-TH" sz="1200" b="0" kern="1200">
                          <a:solidFill>
                            <a:srgbClr val="1D3557"/>
                          </a:solidFill>
                          <a:latin typeface="+mn-lt"/>
                          <a:ea typeface="+mn-ea"/>
                          <a:cs typeface="+mn-cs"/>
                        </a:rPr>
                        <a:t>MAE (rad/s)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0.3248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0.2476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0.0294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0.0298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0.2904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0.2308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478621"/>
                  </a:ext>
                </a:extLst>
              </a:tr>
              <a:tr h="535356">
                <a:tc>
                  <a:txBody>
                    <a:bodyPr/>
                    <a:lstStyle/>
                    <a:p>
                      <a:pPr marL="0" algn="ctr" defTabSz="457200" rtl="0" eaLnBrk="1" latinLnBrk="0" hangingPunct="1">
                        <a:buNone/>
                      </a:pPr>
                      <a:r>
                        <a:rPr lang="th-TH" sz="1200" b="0" kern="1200" dirty="0">
                          <a:solidFill>
                            <a:srgbClr val="1D3557"/>
                          </a:solidFill>
                          <a:latin typeface="+mn-lt"/>
                          <a:ea typeface="+mn-ea"/>
                          <a:cs typeface="+mn-cs"/>
                        </a:rPr>
                        <a:t>Control effort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17.4124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11.1069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17.6503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11.2862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17.6509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11.2866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17.3144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11.0674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716216"/>
                  </a:ext>
                </a:extLst>
              </a:tr>
            </a:tbl>
          </a:graphicData>
        </a:graphic>
      </p:graphicFrame>
      <p:sp>
        <p:nvSpPr>
          <p:cNvPr id="8" name="Rounded Rectangle 73">
            <a:extLst>
              <a:ext uri="{FF2B5EF4-FFF2-40B4-BE49-F238E27FC236}">
                <a16:creationId xmlns:a16="http://schemas.microsoft.com/office/drawing/2014/main" id="{CB955E36-97CE-CF7F-5D96-9AFFFC671D55}"/>
              </a:ext>
            </a:extLst>
          </p:cNvPr>
          <p:cNvSpPr/>
          <p:nvPr/>
        </p:nvSpPr>
        <p:spPr>
          <a:xfrm>
            <a:off x="899160" y="4306539"/>
            <a:ext cx="10875301" cy="1011911"/>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9" name="Rectangle 8">
            <a:extLst>
              <a:ext uri="{FF2B5EF4-FFF2-40B4-BE49-F238E27FC236}">
                <a16:creationId xmlns:a16="http://schemas.microsoft.com/office/drawing/2014/main" id="{D2C26ADC-A51B-1B8A-EDAA-6668649FB065}"/>
              </a:ext>
            </a:extLst>
          </p:cNvPr>
          <p:cNvSpPr/>
          <p:nvPr/>
        </p:nvSpPr>
        <p:spPr>
          <a:xfrm>
            <a:off x="868679" y="4316351"/>
            <a:ext cx="45719" cy="1002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TextBox 9">
            <a:extLst>
              <a:ext uri="{FF2B5EF4-FFF2-40B4-BE49-F238E27FC236}">
                <a16:creationId xmlns:a16="http://schemas.microsoft.com/office/drawing/2014/main" id="{2A28BDA0-EBA0-5CE2-2A50-FDF84C67F650}"/>
              </a:ext>
            </a:extLst>
          </p:cNvPr>
          <p:cNvSpPr txBox="1"/>
          <p:nvPr/>
        </p:nvSpPr>
        <p:spPr>
          <a:xfrm>
            <a:off x="1069848" y="4391588"/>
            <a:ext cx="10555224" cy="761747"/>
          </a:xfrm>
          <a:prstGeom prst="rect">
            <a:avLst/>
          </a:prstGeom>
          <a:noFill/>
        </p:spPr>
        <p:txBody>
          <a:bodyPr wrap="square" lIns="0" tIns="0" rIns="0" bIns="0" anchor="ctr">
            <a:spAutoFit/>
          </a:bodyPr>
          <a:lstStyle/>
          <a:p>
            <a:pPr>
              <a:lnSpc>
                <a:spcPct val="112000"/>
              </a:lnSpc>
            </a:pPr>
            <a:r>
              <a:rPr lang="en-US" sz="1500" noProof="1">
                <a:solidFill>
                  <a:srgbClr val="4A5A66"/>
                </a:solidFill>
              </a:rPr>
              <a:t>Machine learning can </a:t>
            </a:r>
            <a:r>
              <a:rPr lang="en-US" sz="1500" b="1" i="1" noProof="1">
                <a:solidFill>
                  <a:srgbClr val="4A5A66"/>
                </a:solidFill>
              </a:rPr>
              <a:t>reduce the need for full analytical understanding of the system</a:t>
            </a:r>
            <a:r>
              <a:rPr lang="en-US" sz="1500" noProof="1">
                <a:solidFill>
                  <a:srgbClr val="4A5A66"/>
                </a:solidFill>
              </a:rPr>
              <a:t>. It can </a:t>
            </a:r>
            <a:r>
              <a:rPr lang="en-US" sz="1500" b="1" noProof="1">
                <a:solidFill>
                  <a:srgbClr val="4A5A66"/>
                </a:solidFill>
              </a:rPr>
              <a:t>achieve performance almost the same as a fully analytical model </a:t>
            </a:r>
            <a:r>
              <a:rPr lang="en-US" sz="1500" noProof="1">
                <a:solidFill>
                  <a:srgbClr val="4A5A66"/>
                </a:solidFill>
              </a:rPr>
              <a:t>and already simplifies system identification by </a:t>
            </a:r>
            <a:r>
              <a:rPr lang="en-US" sz="1500" b="1" noProof="1">
                <a:solidFill>
                  <a:srgbClr val="4A5A66"/>
                </a:solidFill>
              </a:rPr>
              <a:t>avoiding explicit estimation of parameters such as damping (b) and back-EMF constant (k_b)</a:t>
            </a:r>
            <a:r>
              <a:rPr lang="en-US" sz="1500" noProof="1">
                <a:solidFill>
                  <a:srgbClr val="4A5A66"/>
                </a:solidFill>
              </a:rPr>
              <a:t>. A simple linear regression model can already reproduce </a:t>
            </a:r>
            <a:r>
              <a:rPr lang="en-US" sz="1500" b="1" noProof="1">
                <a:solidFill>
                  <a:srgbClr val="4A5A66"/>
                </a:solidFill>
              </a:rPr>
              <a:t>behavior close to a fully derived physical model.</a:t>
            </a:r>
            <a:endParaRPr lang="en-US" sz="1500" b="1" noProof="1">
              <a:solidFill>
                <a:srgbClr val="4A5A66"/>
              </a:solidFill>
              <a:latin typeface="Calibri"/>
            </a:endParaRPr>
          </a:p>
        </p:txBody>
      </p:sp>
      <p:graphicFrame>
        <p:nvGraphicFramePr>
          <p:cNvPr id="11" name="Object 10">
            <a:extLst>
              <a:ext uri="{FF2B5EF4-FFF2-40B4-BE49-F238E27FC236}">
                <a16:creationId xmlns:a16="http://schemas.microsoft.com/office/drawing/2014/main" id="{1C36D5D8-2CA2-4E46-E40F-429619CF25A6}"/>
              </a:ext>
            </a:extLst>
          </p:cNvPr>
          <p:cNvGraphicFramePr>
            <a:graphicFrameLocks noChangeAspect="1"/>
          </p:cNvGraphicFramePr>
          <p:nvPr>
            <p:extLst>
              <p:ext uri="{D42A27DB-BD31-4B8C-83A1-F6EECF244321}">
                <p14:modId xmlns:p14="http://schemas.microsoft.com/office/powerpoint/2010/main" val="1870200659"/>
              </p:ext>
            </p:extLst>
          </p:nvPr>
        </p:nvGraphicFramePr>
        <p:xfrm>
          <a:off x="899160" y="5594490"/>
          <a:ext cx="2489200" cy="647700"/>
        </p:xfrm>
        <a:graphic>
          <a:graphicData uri="http://schemas.openxmlformats.org/presentationml/2006/ole">
            <mc:AlternateContent xmlns:mc="http://schemas.openxmlformats.org/markup-compatibility/2006">
              <mc:Choice xmlns:v="urn:schemas-microsoft-com:vml" Requires="v">
                <p:oleObj name="Equation" r:id="rId2" imgW="2489040" imgH="647640" progId="Equation.DSMT4">
                  <p:embed/>
                </p:oleObj>
              </mc:Choice>
              <mc:Fallback>
                <p:oleObj name="Equation" r:id="rId2" imgW="2489040" imgH="647640" progId="Equation.DSMT4">
                  <p:embed/>
                  <p:pic>
                    <p:nvPicPr>
                      <p:cNvPr id="121" name="Object 120">
                        <a:extLst>
                          <a:ext uri="{FF2B5EF4-FFF2-40B4-BE49-F238E27FC236}">
                            <a16:creationId xmlns:a16="http://schemas.microsoft.com/office/drawing/2014/main" id="{78ACFB92-E909-1634-BFED-EA21B739CC88}"/>
                          </a:ext>
                        </a:extLst>
                      </p:cNvPr>
                      <p:cNvPicPr/>
                      <p:nvPr/>
                    </p:nvPicPr>
                    <p:blipFill>
                      <a:blip r:embed="rId3"/>
                      <a:stretch>
                        <a:fillRect/>
                      </a:stretch>
                    </p:blipFill>
                    <p:spPr>
                      <a:xfrm>
                        <a:off x="899160" y="5594490"/>
                        <a:ext cx="2489200" cy="647700"/>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AC881728-93CF-34EC-79F4-80FEB5128946}"/>
              </a:ext>
            </a:extLst>
          </p:cNvPr>
          <p:cNvSpPr/>
          <p:nvPr/>
        </p:nvSpPr>
        <p:spPr>
          <a:xfrm rot="16200000" flipH="1">
            <a:off x="1652909" y="5794634"/>
            <a:ext cx="45719" cy="9408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3" name="Rectangle 12">
            <a:extLst>
              <a:ext uri="{FF2B5EF4-FFF2-40B4-BE49-F238E27FC236}">
                <a16:creationId xmlns:a16="http://schemas.microsoft.com/office/drawing/2014/main" id="{6F3DAD69-E217-2FEB-2CD9-648E24B10E4B}"/>
              </a:ext>
            </a:extLst>
          </p:cNvPr>
          <p:cNvSpPr/>
          <p:nvPr/>
        </p:nvSpPr>
        <p:spPr>
          <a:xfrm rot="16200000" flipH="1">
            <a:off x="2788976" y="5745411"/>
            <a:ext cx="45719" cy="1039277"/>
          </a:xfrm>
          <a:prstGeom prst="rect">
            <a:avLst/>
          </a:prstGeom>
          <a:solidFill>
            <a:srgbClr val="28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6E52F199-3294-0863-436E-33D00DC235F3}"/>
              </a:ext>
            </a:extLst>
          </p:cNvPr>
          <p:cNvSpPr txBox="1"/>
          <p:nvPr/>
        </p:nvSpPr>
        <p:spPr>
          <a:xfrm>
            <a:off x="1323730" y="6296546"/>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Disturbance ffw</a:t>
            </a:r>
          </a:p>
        </p:txBody>
      </p:sp>
      <p:sp>
        <p:nvSpPr>
          <p:cNvPr id="15" name="TextBox 14">
            <a:extLst>
              <a:ext uri="{FF2B5EF4-FFF2-40B4-BE49-F238E27FC236}">
                <a16:creationId xmlns:a16="http://schemas.microsoft.com/office/drawing/2014/main" id="{C0B08EE4-DFF1-24A2-1F84-82E25B6996AB}"/>
              </a:ext>
            </a:extLst>
          </p:cNvPr>
          <p:cNvSpPr txBox="1"/>
          <p:nvPr/>
        </p:nvSpPr>
        <p:spPr>
          <a:xfrm>
            <a:off x="2486056" y="6297721"/>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Reffernce ffw</a:t>
            </a:r>
          </a:p>
        </p:txBody>
      </p:sp>
      <p:sp>
        <p:nvSpPr>
          <p:cNvPr id="16" name="Rounded Rectangle 6">
            <a:extLst>
              <a:ext uri="{FF2B5EF4-FFF2-40B4-BE49-F238E27FC236}">
                <a16:creationId xmlns:a16="http://schemas.microsoft.com/office/drawing/2014/main" id="{E00C0EFD-FE01-39BC-130D-C1F0601B585F}"/>
              </a:ext>
            </a:extLst>
          </p:cNvPr>
          <p:cNvSpPr/>
          <p:nvPr/>
        </p:nvSpPr>
        <p:spPr>
          <a:xfrm>
            <a:off x="4781397" y="5717800"/>
            <a:ext cx="1104826" cy="616091"/>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 (ML)</a:t>
            </a:r>
          </a:p>
        </p:txBody>
      </p:sp>
      <p:cxnSp>
        <p:nvCxnSpPr>
          <p:cNvPr id="17" name="Straight Arrow Connector 16">
            <a:extLst>
              <a:ext uri="{FF2B5EF4-FFF2-40B4-BE49-F238E27FC236}">
                <a16:creationId xmlns:a16="http://schemas.microsoft.com/office/drawing/2014/main" id="{9E936D47-3F76-BC53-78E2-9D48D154CB56}"/>
              </a:ext>
            </a:extLst>
          </p:cNvPr>
          <p:cNvCxnSpPr>
            <a:cxnSpLocks/>
          </p:cNvCxnSpPr>
          <p:nvPr/>
        </p:nvCxnSpPr>
        <p:spPr>
          <a:xfrm>
            <a:off x="4317602" y="5997308"/>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22226AC-6BAE-540A-C327-03FFC910B74A}"/>
              </a:ext>
            </a:extLst>
          </p:cNvPr>
          <p:cNvCxnSpPr>
            <a:cxnSpLocks/>
          </p:cNvCxnSpPr>
          <p:nvPr/>
        </p:nvCxnSpPr>
        <p:spPr>
          <a:xfrm>
            <a:off x="5886223" y="6004290"/>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292AE82-C46D-5F97-FE27-B728A7CEE8EA}"/>
                  </a:ext>
                </a:extLst>
              </p:cNvPr>
              <p:cNvSpPr txBox="1"/>
              <p:nvPr/>
            </p:nvSpPr>
            <p:spPr>
              <a:xfrm>
                <a:off x="4396443" y="5717800"/>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9" name="TextBox 18">
                <a:extLst>
                  <a:ext uri="{FF2B5EF4-FFF2-40B4-BE49-F238E27FC236}">
                    <a16:creationId xmlns:a16="http://schemas.microsoft.com/office/drawing/2014/main" id="{7292AE82-C46D-5F97-FE27-B728A7CEE8EA}"/>
                  </a:ext>
                </a:extLst>
              </p:cNvPr>
              <p:cNvSpPr txBox="1">
                <a:spLocks noRot="1" noChangeAspect="1" noMove="1" noResize="1" noEditPoints="1" noAdjustHandles="1" noChangeArrowheads="1" noChangeShapeType="1" noTextEdit="1"/>
              </p:cNvSpPr>
              <p:nvPr/>
            </p:nvSpPr>
            <p:spPr>
              <a:xfrm>
                <a:off x="4396443" y="5717800"/>
                <a:ext cx="243848" cy="215444"/>
              </a:xfrm>
              <a:prstGeom prst="rect">
                <a:avLst/>
              </a:prstGeom>
              <a:blipFill>
                <a:blip r:embed="rId4"/>
                <a:stretch>
                  <a:fillRect l="-10000" r="-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5A909B8-562A-8251-C1D8-804A55764211}"/>
                  </a:ext>
                </a:extLst>
              </p:cNvPr>
              <p:cNvSpPr txBox="1"/>
              <p:nvPr/>
            </p:nvSpPr>
            <p:spPr>
              <a:xfrm>
                <a:off x="6022520" y="5724735"/>
                <a:ext cx="357406"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𝑟𝑒𝑓</m:t>
                          </m:r>
                        </m:sub>
                      </m:sSub>
                    </m:oMath>
                  </m:oMathPara>
                </a14:m>
                <a:endParaRPr lang="en-US" sz="1400" noProof="1"/>
              </a:p>
            </p:txBody>
          </p:sp>
        </mc:Choice>
        <mc:Fallback xmlns="">
          <p:sp>
            <p:nvSpPr>
              <p:cNvPr id="20" name="TextBox 19">
                <a:extLst>
                  <a:ext uri="{FF2B5EF4-FFF2-40B4-BE49-F238E27FC236}">
                    <a16:creationId xmlns:a16="http://schemas.microsoft.com/office/drawing/2014/main" id="{D5A909B8-562A-8251-C1D8-804A55764211}"/>
                  </a:ext>
                </a:extLst>
              </p:cNvPr>
              <p:cNvSpPr txBox="1">
                <a:spLocks noRot="1" noChangeAspect="1" noMove="1" noResize="1" noEditPoints="1" noAdjustHandles="1" noChangeArrowheads="1" noChangeShapeType="1" noTextEdit="1"/>
              </p:cNvSpPr>
              <p:nvPr/>
            </p:nvSpPr>
            <p:spPr>
              <a:xfrm>
                <a:off x="6022520" y="5724735"/>
                <a:ext cx="357406" cy="232692"/>
              </a:xfrm>
              <a:prstGeom prst="rect">
                <a:avLst/>
              </a:prstGeom>
              <a:blipFill>
                <a:blip r:embed="rId5"/>
                <a:stretch>
                  <a:fillRect l="-10169" r="-5085" b="-26316"/>
                </a:stretch>
              </a:blipFill>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833B46C5-60FA-E73C-5DF7-913ACE11380E}"/>
              </a:ext>
            </a:extLst>
          </p:cNvPr>
          <p:cNvCxnSpPr/>
          <p:nvPr/>
        </p:nvCxnSpPr>
        <p:spPr>
          <a:xfrm flipV="1">
            <a:off x="2292197" y="5393094"/>
            <a:ext cx="1166326" cy="116632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3" name="Arrow: Right 22">
            <a:extLst>
              <a:ext uri="{FF2B5EF4-FFF2-40B4-BE49-F238E27FC236}">
                <a16:creationId xmlns:a16="http://schemas.microsoft.com/office/drawing/2014/main" id="{9BD52478-E727-5652-848D-B0F5D724622E}"/>
              </a:ext>
            </a:extLst>
          </p:cNvPr>
          <p:cNvSpPr/>
          <p:nvPr/>
        </p:nvSpPr>
        <p:spPr>
          <a:xfrm>
            <a:off x="3610947" y="5822302"/>
            <a:ext cx="375329" cy="3149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06710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15DAAA30-BADF-E0C1-DB26-B5706971173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9E5809-F400-BBB0-2CE8-D1298890B3F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D985FEF6-F1EE-2F74-9578-5F6BE6F6BF7D}"/>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0570221E-23F4-5837-E170-D83591F4243A}"/>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A1  </a:t>
            </a:r>
            <a:r>
              <a:rPr lang="en-US" sz="1100" b="1" noProof="1">
                <a:solidFill>
                  <a:srgbClr val="2A9D8F"/>
                </a:solidFill>
                <a:latin typeface="Consolas"/>
              </a:rPr>
              <a:t>Vertical Pendulum Control</a:t>
            </a:r>
            <a:r>
              <a:rPr lang="en-US" sz="1100" noProof="1">
                <a:solidFill>
                  <a:srgbClr val="2A9D8F"/>
                </a:solidFill>
                <a:latin typeface="Consolas"/>
              </a:rPr>
              <a:t> - Introduction</a:t>
            </a:r>
          </a:p>
        </p:txBody>
      </p:sp>
      <p:sp>
        <p:nvSpPr>
          <p:cNvPr id="7" name="Rounded Rectangle 6">
            <a:extLst>
              <a:ext uri="{FF2B5EF4-FFF2-40B4-BE49-F238E27FC236}">
                <a16:creationId xmlns:a16="http://schemas.microsoft.com/office/drawing/2014/main" id="{F12D2E04-BEC0-E89C-5C2C-B7240FFF7D46}"/>
              </a:ext>
            </a:extLst>
          </p:cNvPr>
          <p:cNvSpPr/>
          <p:nvPr/>
        </p:nvSpPr>
        <p:spPr>
          <a:xfrm>
            <a:off x="2164391" y="3537585"/>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a:p>
            <a:pPr algn="ctr"/>
            <a:r>
              <a:rPr lang="en-US" sz="1400" noProof="1">
                <a:solidFill>
                  <a:srgbClr val="1D3456"/>
                </a:solidFill>
              </a:rPr>
              <a:t>(Baseline)</a:t>
            </a:r>
          </a:p>
        </p:txBody>
      </p:sp>
      <p:cxnSp>
        <p:nvCxnSpPr>
          <p:cNvPr id="9" name="Straight Arrow Connector 8">
            <a:extLst>
              <a:ext uri="{FF2B5EF4-FFF2-40B4-BE49-F238E27FC236}">
                <a16:creationId xmlns:a16="http://schemas.microsoft.com/office/drawing/2014/main" id="{7E1E8A7D-B3DC-741B-74BF-AEC4A273A49D}"/>
              </a:ext>
            </a:extLst>
          </p:cNvPr>
          <p:cNvCxnSpPr>
            <a:cxnSpLocks/>
          </p:cNvCxnSpPr>
          <p:nvPr/>
        </p:nvCxnSpPr>
        <p:spPr>
          <a:xfrm>
            <a:off x="3269217" y="3784644"/>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C3BA65-51BD-CCA9-95D0-3C12583C1686}"/>
                  </a:ext>
                </a:extLst>
              </p:cNvPr>
              <p:cNvSpPr txBox="1"/>
              <p:nvPr/>
            </p:nvSpPr>
            <p:spPr>
              <a:xfrm>
                <a:off x="3393359" y="3537585"/>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EFC3BA65-51BD-CCA9-95D0-3C12583C1686}"/>
                  </a:ext>
                </a:extLst>
              </p:cNvPr>
              <p:cNvSpPr txBox="1">
                <a:spLocks noRot="1" noChangeAspect="1" noMove="1" noResize="1" noEditPoints="1" noAdjustHandles="1" noChangeArrowheads="1" noChangeShapeType="1" noTextEdit="1"/>
              </p:cNvSpPr>
              <p:nvPr/>
            </p:nvSpPr>
            <p:spPr>
              <a:xfrm>
                <a:off x="3393359" y="3537585"/>
                <a:ext cx="434799" cy="215444"/>
              </a:xfrm>
              <a:prstGeom prst="rect">
                <a:avLst/>
              </a:prstGeom>
              <a:blipFill>
                <a:blip r:embed="rId2"/>
                <a:stretch>
                  <a:fillRect l="-9859" r="-1408" b="-13889"/>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9F5200E3-19A9-5D6A-50A8-A6E7F88EB76D}"/>
              </a:ext>
            </a:extLst>
          </p:cNvPr>
          <p:cNvSpPr/>
          <p:nvPr/>
        </p:nvSpPr>
        <p:spPr>
          <a:xfrm>
            <a:off x="3978359" y="3649644"/>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55836C06-8FCC-5E60-9150-74674E7C7766}"/>
              </a:ext>
            </a:extLst>
          </p:cNvPr>
          <p:cNvSpPr txBox="1"/>
          <p:nvPr/>
        </p:nvSpPr>
        <p:spPr>
          <a:xfrm>
            <a:off x="3965418" y="3587291"/>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BA44168-9D27-855A-08AB-EBED65F20D36}"/>
                  </a:ext>
                </a:extLst>
              </p:cNvPr>
              <p:cNvSpPr txBox="1"/>
              <p:nvPr/>
            </p:nvSpPr>
            <p:spPr>
              <a:xfrm>
                <a:off x="4390609" y="3550043"/>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0BA44168-9D27-855A-08AB-EBED65F20D36}"/>
                  </a:ext>
                </a:extLst>
              </p:cNvPr>
              <p:cNvSpPr txBox="1">
                <a:spLocks noRot="1" noChangeAspect="1" noMove="1" noResize="1" noEditPoints="1" noAdjustHandles="1" noChangeArrowheads="1" noChangeShapeType="1" noTextEdit="1"/>
              </p:cNvSpPr>
              <p:nvPr/>
            </p:nvSpPr>
            <p:spPr>
              <a:xfrm>
                <a:off x="4390609" y="3550043"/>
                <a:ext cx="157992" cy="215444"/>
              </a:xfrm>
              <a:prstGeom prst="rect">
                <a:avLst/>
              </a:prstGeom>
              <a:blipFill>
                <a:blip r:embed="rId3"/>
                <a:stretch>
                  <a:fillRect l="-26923" r="-19231" b="-2778"/>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49946973-FDAA-737E-E927-3CBA3B2600DA}"/>
              </a:ext>
            </a:extLst>
          </p:cNvPr>
          <p:cNvSpPr/>
          <p:nvPr/>
        </p:nvSpPr>
        <p:spPr>
          <a:xfrm>
            <a:off x="5629736" y="3532231"/>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0626AE4B-062A-69BE-A53B-E0DA6068AAA7}"/>
              </a:ext>
            </a:extLst>
          </p:cNvPr>
          <p:cNvCxnSpPr>
            <a:cxnSpLocks/>
          </p:cNvCxnSpPr>
          <p:nvPr/>
        </p:nvCxnSpPr>
        <p:spPr>
          <a:xfrm>
            <a:off x="6734562" y="3773053"/>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42138CC-C499-6FC3-C42B-FB07B8818A90}"/>
                  </a:ext>
                </a:extLst>
              </p:cNvPr>
              <p:cNvSpPr txBox="1"/>
              <p:nvPr/>
            </p:nvSpPr>
            <p:spPr>
              <a:xfrm>
                <a:off x="7049562" y="3544920"/>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21" name="TextBox 20">
                <a:extLst>
                  <a:ext uri="{FF2B5EF4-FFF2-40B4-BE49-F238E27FC236}">
                    <a16:creationId xmlns:a16="http://schemas.microsoft.com/office/drawing/2014/main" id="{F42138CC-C499-6FC3-C42B-FB07B8818A90}"/>
                  </a:ext>
                </a:extLst>
              </p:cNvPr>
              <p:cNvSpPr txBox="1">
                <a:spLocks noRot="1" noChangeAspect="1" noMove="1" noResize="1" noEditPoints="1" noAdjustHandles="1" noChangeArrowheads="1" noChangeShapeType="1" noTextEdit="1"/>
              </p:cNvSpPr>
              <p:nvPr/>
            </p:nvSpPr>
            <p:spPr>
              <a:xfrm>
                <a:off x="7049562" y="3544920"/>
                <a:ext cx="173894" cy="215444"/>
              </a:xfrm>
              <a:prstGeom prst="rect">
                <a:avLst/>
              </a:prstGeom>
              <a:blipFill>
                <a:blip r:embed="rId4"/>
                <a:stretch>
                  <a:fillRect l="-13793" r="-10345"/>
                </a:stretch>
              </a:blipFill>
            </p:spPr>
            <p:txBody>
              <a:bodyPr/>
              <a:lstStyle/>
              <a:p>
                <a:r>
                  <a:rPr lang="th-TH">
                    <a:noFill/>
                  </a:rPr>
                  <a:t> </a:t>
                </a:r>
              </a:p>
            </p:txBody>
          </p:sp>
        </mc:Fallback>
      </mc:AlternateContent>
      <p:sp>
        <p:nvSpPr>
          <p:cNvPr id="23" name="Oval 22">
            <a:extLst>
              <a:ext uri="{FF2B5EF4-FFF2-40B4-BE49-F238E27FC236}">
                <a16:creationId xmlns:a16="http://schemas.microsoft.com/office/drawing/2014/main" id="{C07037DA-C248-A00F-8BF0-F37EB0CA4C80}"/>
              </a:ext>
            </a:extLst>
          </p:cNvPr>
          <p:cNvSpPr/>
          <p:nvPr/>
        </p:nvSpPr>
        <p:spPr>
          <a:xfrm>
            <a:off x="1620767" y="3664356"/>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63C697F-AB3E-FC4E-8A81-B2E54CD43F2D}"/>
                  </a:ext>
                </a:extLst>
              </p:cNvPr>
              <p:cNvSpPr txBox="1"/>
              <p:nvPr/>
            </p:nvSpPr>
            <p:spPr>
              <a:xfrm>
                <a:off x="1668403" y="3680446"/>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6" name="TextBox 25">
                <a:extLst>
                  <a:ext uri="{FF2B5EF4-FFF2-40B4-BE49-F238E27FC236}">
                    <a16:creationId xmlns:a16="http://schemas.microsoft.com/office/drawing/2014/main" id="{B63C697F-AB3E-FC4E-8A81-B2E54CD43F2D}"/>
                  </a:ext>
                </a:extLst>
              </p:cNvPr>
              <p:cNvSpPr txBox="1">
                <a:spLocks noRot="1" noChangeAspect="1" noMove="1" noResize="1" noEditPoints="1" noAdjustHandles="1" noChangeArrowheads="1" noChangeShapeType="1" noTextEdit="1"/>
              </p:cNvSpPr>
              <p:nvPr/>
            </p:nvSpPr>
            <p:spPr>
              <a:xfrm>
                <a:off x="1668403" y="3680446"/>
                <a:ext cx="174727" cy="215444"/>
              </a:xfrm>
              <a:prstGeom prst="rect">
                <a:avLst/>
              </a:prstGeom>
              <a:blipFill>
                <a:blip r:embed="rId5"/>
                <a:stretch>
                  <a:fillRect l="-32143" r="-28571" b="-17143"/>
                </a:stretch>
              </a:blipFill>
            </p:spPr>
            <p:txBody>
              <a:bodyPr/>
              <a:lstStyle/>
              <a:p>
                <a:r>
                  <a:rPr lang="th-TH">
                    <a:noFill/>
                  </a:rPr>
                  <a:t> </a:t>
                </a:r>
              </a:p>
            </p:txBody>
          </p:sp>
        </mc:Fallback>
      </mc:AlternateContent>
      <p:cxnSp>
        <p:nvCxnSpPr>
          <p:cNvPr id="27" name="Straight Arrow Connector 26">
            <a:extLst>
              <a:ext uri="{FF2B5EF4-FFF2-40B4-BE49-F238E27FC236}">
                <a16:creationId xmlns:a16="http://schemas.microsoft.com/office/drawing/2014/main" id="{E5FD1457-4902-BF18-DD42-5CEF9224CD51}"/>
              </a:ext>
            </a:extLst>
          </p:cNvPr>
          <p:cNvCxnSpPr>
            <a:cxnSpLocks/>
          </p:cNvCxnSpPr>
          <p:nvPr/>
        </p:nvCxnSpPr>
        <p:spPr>
          <a:xfrm>
            <a:off x="6976195" y="3775871"/>
            <a:ext cx="0" cy="63000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84AE01E-9905-785C-FDD3-5C911A854133}"/>
              </a:ext>
            </a:extLst>
          </p:cNvPr>
          <p:cNvCxnSpPr>
            <a:cxnSpLocks/>
          </p:cNvCxnSpPr>
          <p:nvPr/>
        </p:nvCxnSpPr>
        <p:spPr>
          <a:xfrm>
            <a:off x="1755766" y="4405871"/>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0601789A-6C08-2465-BBF7-CEEE555CB6A9}"/>
              </a:ext>
            </a:extLst>
          </p:cNvPr>
          <p:cNvCxnSpPr>
            <a:cxnSpLocks/>
          </p:cNvCxnSpPr>
          <p:nvPr/>
        </p:nvCxnSpPr>
        <p:spPr>
          <a:xfrm>
            <a:off x="1760909" y="3934357"/>
            <a:ext cx="0" cy="47151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C9502CC9-D0D2-E547-448F-3A241AF84DE2}"/>
              </a:ext>
            </a:extLst>
          </p:cNvPr>
          <p:cNvCxnSpPr>
            <a:cxnSpLocks/>
          </p:cNvCxnSpPr>
          <p:nvPr/>
        </p:nvCxnSpPr>
        <p:spPr>
          <a:xfrm>
            <a:off x="972152" y="3791626"/>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C36FD3B-2699-C37E-8897-B4D59B3BAAF4}"/>
                  </a:ext>
                </a:extLst>
              </p:cNvPr>
              <p:cNvSpPr txBox="1"/>
              <p:nvPr/>
            </p:nvSpPr>
            <p:spPr>
              <a:xfrm>
                <a:off x="1035048" y="3569200"/>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36" name="TextBox 35">
                <a:extLst>
                  <a:ext uri="{FF2B5EF4-FFF2-40B4-BE49-F238E27FC236}">
                    <a16:creationId xmlns:a16="http://schemas.microsoft.com/office/drawing/2014/main" id="{1C36FD3B-2699-C37E-8897-B4D59B3BAAF4}"/>
                  </a:ext>
                </a:extLst>
              </p:cNvPr>
              <p:cNvSpPr txBox="1">
                <a:spLocks noRot="1" noChangeAspect="1" noMove="1" noResize="1" noEditPoints="1" noAdjustHandles="1" noChangeArrowheads="1" noChangeShapeType="1" noTextEdit="1"/>
              </p:cNvSpPr>
              <p:nvPr/>
            </p:nvSpPr>
            <p:spPr>
              <a:xfrm>
                <a:off x="1035048" y="3569200"/>
                <a:ext cx="243848" cy="215444"/>
              </a:xfrm>
              <a:prstGeom prst="rect">
                <a:avLst/>
              </a:prstGeom>
              <a:blipFill>
                <a:blip r:embed="rId6"/>
                <a:stretch>
                  <a:fillRect l="-1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7" name="Rounded Rectangle 36">
                <a:extLst>
                  <a:ext uri="{FF2B5EF4-FFF2-40B4-BE49-F238E27FC236}">
                    <a16:creationId xmlns:a16="http://schemas.microsoft.com/office/drawing/2014/main" id="{49C098F7-C347-78BF-5360-0672965ADE24}"/>
                  </a:ext>
                </a:extLst>
              </p:cNvPr>
              <p:cNvSpPr/>
              <p:nvPr/>
            </p:nvSpPr>
            <p:spPr>
              <a:xfrm>
                <a:off x="3560946" y="2711870"/>
                <a:ext cx="1104826" cy="479453"/>
              </a:xfrm>
              <a:prstGeom prst="roundRect">
                <a:avLst/>
              </a:prstGeom>
              <a:solidFill>
                <a:schemeClr val="bg1"/>
              </a:solidFill>
              <a:ln w="15875">
                <a:solidFill>
                  <a:srgbClr val="2BB5A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2BB5A5"/>
                    </a:solidFill>
                  </a:rPr>
                  <a:t>RL Policy</a:t>
                </a:r>
              </a:p>
              <a:p>
                <a:pPr algn="ct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2BB5A5"/>
                              </a:solidFill>
                              <a:latin typeface="Cambria Math" panose="02040503050406030204" pitchFamily="18" charset="0"/>
                            </a:rPr>
                          </m:ctrlPr>
                        </m:sSubPr>
                        <m:e>
                          <m:r>
                            <a:rPr lang="en-US" sz="1400" i="1" noProof="1" dirty="0" smtClean="0">
                              <a:solidFill>
                                <a:srgbClr val="2BB5A5"/>
                              </a:solidFill>
                              <a:latin typeface="Cambria Math" panose="02040503050406030204" pitchFamily="18" charset="0"/>
                              <a:ea typeface="Cambria Math" panose="02040503050406030204" pitchFamily="18" charset="0"/>
                            </a:rPr>
                            <m:t>𝜋</m:t>
                          </m:r>
                        </m:e>
                        <m:sub>
                          <m:r>
                            <a:rPr lang="en-US" sz="1400" i="1" noProof="1" dirty="0" smtClean="0">
                              <a:solidFill>
                                <a:srgbClr val="2BB5A5"/>
                              </a:solidFill>
                              <a:latin typeface="Cambria Math" panose="02040503050406030204" pitchFamily="18" charset="0"/>
                              <a:ea typeface="Cambria Math" panose="02040503050406030204" pitchFamily="18" charset="0"/>
                            </a:rPr>
                            <m:t>𝜃</m:t>
                          </m:r>
                        </m:sub>
                      </m:sSub>
                    </m:oMath>
                  </m:oMathPara>
                </a14:m>
                <a:endParaRPr lang="en-US" sz="1400" noProof="1">
                  <a:solidFill>
                    <a:srgbClr val="2BB5A5"/>
                  </a:solidFill>
                </a:endParaRPr>
              </a:p>
            </p:txBody>
          </p:sp>
        </mc:Choice>
        <mc:Fallback xmlns="">
          <p:sp>
            <p:nvSpPr>
              <p:cNvPr id="37" name="Rounded Rectangle 36">
                <a:extLst>
                  <a:ext uri="{FF2B5EF4-FFF2-40B4-BE49-F238E27FC236}">
                    <a16:creationId xmlns:a16="http://schemas.microsoft.com/office/drawing/2014/main" id="{49C098F7-C347-78BF-5360-0672965ADE24}"/>
                  </a:ext>
                </a:extLst>
              </p:cNvPr>
              <p:cNvSpPr>
                <a:spLocks noRot="1" noChangeAspect="1" noMove="1" noResize="1" noEditPoints="1" noAdjustHandles="1" noChangeArrowheads="1" noChangeShapeType="1" noTextEdit="1"/>
              </p:cNvSpPr>
              <p:nvPr/>
            </p:nvSpPr>
            <p:spPr>
              <a:xfrm>
                <a:off x="3560946" y="2711870"/>
                <a:ext cx="1104826" cy="479453"/>
              </a:xfrm>
              <a:prstGeom prst="roundRect">
                <a:avLst/>
              </a:prstGeom>
              <a:blipFill>
                <a:blip r:embed="rId7"/>
                <a:stretch>
                  <a:fillRect t="-9756" b="-2439"/>
                </a:stretch>
              </a:blipFill>
              <a:ln w="15875">
                <a:solidFill>
                  <a:srgbClr val="2BB5A5"/>
                </a:solidFill>
              </a:ln>
            </p:spPr>
            <p:txBody>
              <a:bodyPr/>
              <a:lstStyle/>
              <a:p>
                <a:r>
                  <a:rPr lang="th-TH">
                    <a:noFill/>
                  </a:rPr>
                  <a:t> </a:t>
                </a:r>
              </a:p>
            </p:txBody>
          </p:sp>
        </mc:Fallback>
      </mc:AlternateContent>
      <p:cxnSp>
        <p:nvCxnSpPr>
          <p:cNvPr id="38" name="Straight Arrow Connector 37">
            <a:extLst>
              <a:ext uri="{FF2B5EF4-FFF2-40B4-BE49-F238E27FC236}">
                <a16:creationId xmlns:a16="http://schemas.microsoft.com/office/drawing/2014/main" id="{15BBEF88-2B96-48E0-E8FD-5EAE408213EC}"/>
              </a:ext>
            </a:extLst>
          </p:cNvPr>
          <p:cNvCxnSpPr>
            <a:cxnSpLocks/>
            <a:stCxn id="37" idx="3"/>
            <a:endCxn id="5" idx="1"/>
          </p:cNvCxnSpPr>
          <p:nvPr/>
        </p:nvCxnSpPr>
        <p:spPr>
          <a:xfrm>
            <a:off x="4665772" y="2951597"/>
            <a:ext cx="1043142" cy="4909"/>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B121A71-1151-0249-42E7-EA014E2FAAC1}"/>
              </a:ext>
            </a:extLst>
          </p:cNvPr>
          <p:cNvCxnSpPr>
            <a:cxnSpLocks/>
            <a:stCxn id="37" idx="2"/>
            <a:endCxn id="13" idx="0"/>
          </p:cNvCxnSpPr>
          <p:nvPr/>
        </p:nvCxnSpPr>
        <p:spPr>
          <a:xfrm>
            <a:off x="4113359" y="3191323"/>
            <a:ext cx="0" cy="458321"/>
          </a:xfrm>
          <a:prstGeom prst="straightConnector1">
            <a:avLst/>
          </a:prstGeom>
          <a:ln w="15875">
            <a:solidFill>
              <a:srgbClr val="2BB5A5"/>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B2DCA50-AE76-759E-C843-F5D271A126F5}"/>
                  </a:ext>
                </a:extLst>
              </p:cNvPr>
              <p:cNvSpPr txBox="1"/>
              <p:nvPr/>
            </p:nvSpPr>
            <p:spPr>
              <a:xfrm>
                <a:off x="3815247" y="3349924"/>
                <a:ext cx="2653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400" i="1" noProof="1" dirty="0" smtClean="0">
                          <a:solidFill>
                            <a:srgbClr val="2BB5A5"/>
                          </a:solidFill>
                          <a:latin typeface="Cambria Math" panose="02040503050406030204" pitchFamily="18" charset="0"/>
                          <a:ea typeface="Cambria Math" panose="02040503050406030204" pitchFamily="18" charset="0"/>
                        </a:rPr>
                        <m:t>Δ</m:t>
                      </m:r>
                      <m:r>
                        <a:rPr lang="en-US" sz="1400" b="0" i="1" noProof="1" dirty="0" smtClean="0">
                          <a:solidFill>
                            <a:srgbClr val="2BB5A5"/>
                          </a:solidFill>
                          <a:latin typeface="Cambria Math" panose="02040503050406030204" pitchFamily="18" charset="0"/>
                          <a:ea typeface="Cambria Math" panose="02040503050406030204" pitchFamily="18" charset="0"/>
                        </a:rPr>
                        <m:t>𝑉</m:t>
                      </m:r>
                    </m:oMath>
                  </m:oMathPara>
                </a14:m>
                <a:endParaRPr lang="en-US" sz="1400" noProof="1">
                  <a:solidFill>
                    <a:srgbClr val="2BB5A5"/>
                  </a:solidFill>
                </a:endParaRPr>
              </a:p>
            </p:txBody>
          </p:sp>
        </mc:Choice>
        <mc:Fallback xmlns="">
          <p:sp>
            <p:nvSpPr>
              <p:cNvPr id="43" name="TextBox 42">
                <a:extLst>
                  <a:ext uri="{FF2B5EF4-FFF2-40B4-BE49-F238E27FC236}">
                    <a16:creationId xmlns:a16="http://schemas.microsoft.com/office/drawing/2014/main" id="{1B2DCA50-AE76-759E-C843-F5D271A126F5}"/>
                  </a:ext>
                </a:extLst>
              </p:cNvPr>
              <p:cNvSpPr txBox="1">
                <a:spLocks noRot="1" noChangeAspect="1" noMove="1" noResize="1" noEditPoints="1" noAdjustHandles="1" noChangeArrowheads="1" noChangeShapeType="1" noTextEdit="1"/>
              </p:cNvSpPr>
              <p:nvPr/>
            </p:nvSpPr>
            <p:spPr>
              <a:xfrm>
                <a:off x="3815247" y="3349924"/>
                <a:ext cx="265394" cy="215444"/>
              </a:xfrm>
              <a:prstGeom prst="rect">
                <a:avLst/>
              </a:prstGeom>
              <a:blipFill>
                <a:blip r:embed="rId8"/>
                <a:stretch>
                  <a:fillRect l="-16279" r="-11628" b="-5714"/>
                </a:stretch>
              </a:blipFill>
            </p:spPr>
            <p:txBody>
              <a:bodyPr/>
              <a:lstStyle/>
              <a:p>
                <a:r>
                  <a:rPr lang="th-TH">
                    <a:noFill/>
                  </a:rPr>
                  <a:t> </a:t>
                </a:r>
              </a:p>
            </p:txBody>
          </p:sp>
        </mc:Fallback>
      </mc:AlternateContent>
      <p:cxnSp>
        <p:nvCxnSpPr>
          <p:cNvPr id="50" name="Straight Arrow Connector 49">
            <a:extLst>
              <a:ext uri="{FF2B5EF4-FFF2-40B4-BE49-F238E27FC236}">
                <a16:creationId xmlns:a16="http://schemas.microsoft.com/office/drawing/2014/main" id="{9E948CD1-739F-E35D-535D-1A4D09AFDAD2}"/>
              </a:ext>
            </a:extLst>
          </p:cNvPr>
          <p:cNvCxnSpPr>
            <a:cxnSpLocks/>
          </p:cNvCxnSpPr>
          <p:nvPr/>
        </p:nvCxnSpPr>
        <p:spPr>
          <a:xfrm flipV="1">
            <a:off x="1320249" y="2951597"/>
            <a:ext cx="0" cy="840029"/>
          </a:xfrm>
          <a:prstGeom prst="straightConnector1">
            <a:avLst/>
          </a:prstGeom>
          <a:ln w="15875">
            <a:solidFill>
              <a:srgbClr val="2BB5A5"/>
            </a:solidFill>
            <a:headEnd type="oval"/>
            <a:tailEnd type="non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Rounded Rectangle 54">
                <a:extLst>
                  <a:ext uri="{FF2B5EF4-FFF2-40B4-BE49-F238E27FC236}">
                    <a16:creationId xmlns:a16="http://schemas.microsoft.com/office/drawing/2014/main" id="{679156CA-A358-FC7B-D078-B3E96464FE8E}"/>
                  </a:ext>
                </a:extLst>
              </p:cNvPr>
              <p:cNvSpPr/>
              <p:nvPr/>
            </p:nvSpPr>
            <p:spPr>
              <a:xfrm>
                <a:off x="4680359" y="3532231"/>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55" name="Rounded Rectangle 54">
                <a:extLst>
                  <a:ext uri="{FF2B5EF4-FFF2-40B4-BE49-F238E27FC236}">
                    <a16:creationId xmlns:a16="http://schemas.microsoft.com/office/drawing/2014/main" id="{679156CA-A358-FC7B-D078-B3E96464FE8E}"/>
                  </a:ext>
                </a:extLst>
              </p:cNvPr>
              <p:cNvSpPr>
                <a:spLocks noRot="1" noChangeAspect="1" noMove="1" noResize="1" noEditPoints="1" noAdjustHandles="1" noChangeArrowheads="1" noChangeShapeType="1" noTextEdit="1"/>
              </p:cNvSpPr>
              <p:nvPr/>
            </p:nvSpPr>
            <p:spPr>
              <a:xfrm>
                <a:off x="4680359" y="3532231"/>
                <a:ext cx="679377" cy="479453"/>
              </a:xfrm>
              <a:prstGeom prst="roundRect">
                <a:avLst/>
              </a:prstGeom>
              <a:blipFill>
                <a:blip r:embed="rId9"/>
                <a:stretch>
                  <a:fillRect/>
                </a:stretch>
              </a:blipFill>
              <a:ln w="15875">
                <a:solidFill>
                  <a:srgbClr val="1D3456"/>
                </a:solidFill>
              </a:ln>
            </p:spPr>
            <p:txBody>
              <a:bodyPr/>
              <a:lstStyle/>
              <a:p>
                <a:r>
                  <a:rPr lang="th-TH">
                    <a:noFill/>
                  </a:rPr>
                  <a:t> </a:t>
                </a:r>
              </a:p>
            </p:txBody>
          </p:sp>
        </mc:Fallback>
      </mc:AlternateContent>
      <p:cxnSp>
        <p:nvCxnSpPr>
          <p:cNvPr id="56" name="Straight Arrow Connector 55">
            <a:extLst>
              <a:ext uri="{FF2B5EF4-FFF2-40B4-BE49-F238E27FC236}">
                <a16:creationId xmlns:a16="http://schemas.microsoft.com/office/drawing/2014/main" id="{C04881F1-27AD-D168-F137-BBA18EAD7D7D}"/>
              </a:ext>
            </a:extLst>
          </p:cNvPr>
          <p:cNvCxnSpPr>
            <a:cxnSpLocks/>
          </p:cNvCxnSpPr>
          <p:nvPr/>
        </p:nvCxnSpPr>
        <p:spPr>
          <a:xfrm>
            <a:off x="4248359" y="3775871"/>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7864BFDF-3784-01C2-BB20-0475811D0A62}"/>
              </a:ext>
            </a:extLst>
          </p:cNvPr>
          <p:cNvCxnSpPr>
            <a:cxnSpLocks/>
          </p:cNvCxnSpPr>
          <p:nvPr/>
        </p:nvCxnSpPr>
        <p:spPr>
          <a:xfrm>
            <a:off x="5359736" y="3765487"/>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85BD29C4-0DA2-F53A-D720-BBF3ECF52335}"/>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Residual Reinforcement Learning for Speed Control</a:t>
            </a:r>
          </a:p>
        </p:txBody>
      </p:sp>
      <p:sp>
        <p:nvSpPr>
          <p:cNvPr id="63" name="TextBox 62">
            <a:extLst>
              <a:ext uri="{FF2B5EF4-FFF2-40B4-BE49-F238E27FC236}">
                <a16:creationId xmlns:a16="http://schemas.microsoft.com/office/drawing/2014/main" id="{CE43FF58-EEAE-1CF9-A013-BF3A12E90855}"/>
              </a:ext>
            </a:extLst>
          </p:cNvPr>
          <p:cNvSpPr txBox="1"/>
          <p:nvPr/>
        </p:nvSpPr>
        <p:spPr>
          <a:xfrm>
            <a:off x="868680" y="1507925"/>
            <a:ext cx="10970278" cy="866712"/>
          </a:xfrm>
          <a:prstGeom prst="rect">
            <a:avLst/>
          </a:prstGeom>
          <a:noFill/>
        </p:spPr>
        <p:txBody>
          <a:bodyPr wrap="square" lIns="0" tIns="0" rIns="0" bIns="0" anchor="t">
            <a:spAutoFit/>
          </a:bodyPr>
          <a:lstStyle/>
          <a:p>
            <a:pPr>
              <a:lnSpc>
                <a:spcPct val="120000"/>
              </a:lnSpc>
            </a:pPr>
            <a:r>
              <a:rPr lang="en-GB" sz="1600" dirty="0">
                <a:solidFill>
                  <a:srgbClr val="495A66"/>
                </a:solidFill>
              </a:rPr>
              <a:t>A pure PI controller compensates the speed error but ignores gravity and the </a:t>
            </a:r>
            <a:r>
              <a:rPr lang="en-GB" sz="1600" b="1" dirty="0">
                <a:solidFill>
                  <a:srgbClr val="495A66"/>
                </a:solidFill>
              </a:rPr>
              <a:t>nonlinear dynamics </a:t>
            </a:r>
            <a:r>
              <a:rPr lang="en-GB" sz="1600" dirty="0">
                <a:solidFill>
                  <a:srgbClr val="495A66"/>
                </a:solidFill>
              </a:rPr>
              <a:t>of the system. Adding a feedforward term requires an accurate physical model. The residual approach lets us </a:t>
            </a:r>
            <a:r>
              <a:rPr lang="en-GB" sz="1600" i="1" dirty="0">
                <a:solidFill>
                  <a:srgbClr val="495A66"/>
                </a:solidFill>
              </a:rPr>
              <a:t>learn</a:t>
            </a:r>
            <a:r>
              <a:rPr lang="en-GB" sz="1600" dirty="0">
                <a:solidFill>
                  <a:srgbClr val="495A66"/>
                </a:solidFill>
              </a:rPr>
              <a:t> that correction directly from interaction with the system, with no knowledge of the motor parameters</a:t>
            </a:r>
            <a:r>
              <a:rPr lang="en-GB" sz="1600" dirty="0"/>
              <a:t>.</a:t>
            </a:r>
            <a:endParaRPr lang="en-US" sz="1400" noProof="1">
              <a:solidFill>
                <a:srgbClr val="1D3557"/>
              </a:solidFill>
            </a:endParaRPr>
          </a:p>
        </p:txBody>
      </p:sp>
      <p:sp>
        <p:nvSpPr>
          <p:cNvPr id="64" name="TextBox 63">
            <a:extLst>
              <a:ext uri="{FF2B5EF4-FFF2-40B4-BE49-F238E27FC236}">
                <a16:creationId xmlns:a16="http://schemas.microsoft.com/office/drawing/2014/main" id="{76C48D35-F283-C59F-C43D-050F8900DB73}"/>
              </a:ext>
            </a:extLst>
          </p:cNvPr>
          <p:cNvSpPr txBox="1"/>
          <p:nvPr/>
        </p:nvSpPr>
        <p:spPr>
          <a:xfrm>
            <a:off x="972152" y="4589097"/>
            <a:ext cx="6392409" cy="362150"/>
          </a:xfrm>
          <a:prstGeom prst="rect">
            <a:avLst/>
          </a:prstGeom>
          <a:noFill/>
        </p:spPr>
        <p:txBody>
          <a:bodyPr wrap="square" lIns="0" tIns="0" rIns="0" bIns="0" anchor="t">
            <a:spAutoFit/>
          </a:bodyPr>
          <a:lstStyle/>
          <a:p>
            <a:pPr>
              <a:lnSpc>
                <a:spcPct val="110000"/>
              </a:lnSpc>
              <a:spcAft>
                <a:spcPts val="600"/>
              </a:spcAft>
            </a:pPr>
            <a:r>
              <a:rPr lang="en-US" sz="1100" b="0" noProof="1">
                <a:solidFill>
                  <a:srgbClr val="4A5A66"/>
                </a:solidFill>
                <a:latin typeface="Consolas"/>
              </a:rPr>
              <a:t>Fig. 1 - </a:t>
            </a:r>
            <a:r>
              <a:rPr lang="en-GB" sz="1100" dirty="0">
                <a:solidFill>
                  <a:srgbClr val="495A66"/>
                </a:solidFill>
                <a:latin typeface="Consolas" panose="020B0609020204030204" pitchFamily="49" charset="0"/>
                <a:cs typeface="Consolas" panose="020B0609020204030204" pitchFamily="49" charset="0"/>
              </a:rPr>
              <a:t>The policy does not replace the PI; it adds a bounded correction on top. Safety is guaranteed by design: </a:t>
            </a:r>
            <a:r>
              <a:rPr lang="en-GB" sz="1100" i="1" dirty="0">
                <a:solidFill>
                  <a:srgbClr val="495A66"/>
                </a:solidFill>
                <a:latin typeface="Consolas" panose="020B0609020204030204" pitchFamily="49" charset="0"/>
                <a:cs typeface="Consolas" panose="020B0609020204030204" pitchFamily="49" charset="0"/>
              </a:rPr>
              <a:t>|</a:t>
            </a:r>
            <a:r>
              <a:rPr lang="el-GR" sz="1100" i="1" dirty="0">
                <a:solidFill>
                  <a:srgbClr val="495A66"/>
                </a:solidFill>
                <a:latin typeface="Consolas" panose="020B0609020204030204" pitchFamily="49" charset="0"/>
                <a:cs typeface="Consolas" panose="020B0609020204030204" pitchFamily="49" charset="0"/>
              </a:rPr>
              <a:t>Δ</a:t>
            </a:r>
            <a:r>
              <a:rPr lang="en-GB" sz="1100" i="1" dirty="0">
                <a:solidFill>
                  <a:srgbClr val="495A66"/>
                </a:solidFill>
                <a:latin typeface="Consolas" panose="020B0609020204030204" pitchFamily="49" charset="0"/>
                <a:cs typeface="Consolas" panose="020B0609020204030204" pitchFamily="49" charset="0"/>
              </a:rPr>
              <a:t>V|≤3.6V </a:t>
            </a:r>
            <a:r>
              <a:rPr lang="en-GB" sz="1100" dirty="0">
                <a:solidFill>
                  <a:srgbClr val="495A66"/>
                </a:solidFill>
                <a:latin typeface="Consolas" panose="020B0609020204030204" pitchFamily="49" charset="0"/>
                <a:cs typeface="Consolas" panose="020B0609020204030204" pitchFamily="49" charset="0"/>
              </a:rPr>
              <a:t>and the total voltage never exceeds</a:t>
            </a:r>
            <a:r>
              <a:rPr lang="en-GB" sz="1100" i="1" dirty="0">
                <a:solidFill>
                  <a:srgbClr val="495A66"/>
                </a:solidFill>
                <a:latin typeface="Consolas" panose="020B0609020204030204" pitchFamily="49" charset="0"/>
                <a:cs typeface="Consolas" panose="020B0609020204030204" pitchFamily="49" charset="0"/>
              </a:rPr>
              <a:t> ±12V.</a:t>
            </a:r>
            <a:endParaRPr lang="en-US" sz="1100" b="0" noProof="1">
              <a:solidFill>
                <a:srgbClr val="495A66"/>
              </a:solidFill>
              <a:latin typeface="Consolas" panose="020B0609020204030204" pitchFamily="49" charset="0"/>
              <a:cs typeface="Consolas" panose="020B0609020204030204" pitchFamily="49" charset="0"/>
            </a:endParaRPr>
          </a:p>
        </p:txBody>
      </p:sp>
      <mc:AlternateContent xmlns:mc="http://schemas.openxmlformats.org/markup-compatibility/2006" xmlns:a14="http://schemas.microsoft.com/office/drawing/2010/main">
        <mc:Choice Requires="a14">
          <p:graphicFrame>
            <p:nvGraphicFramePr>
              <p:cNvPr id="68" name="Table 67">
                <a:extLst>
                  <a:ext uri="{FF2B5EF4-FFF2-40B4-BE49-F238E27FC236}">
                    <a16:creationId xmlns:a16="http://schemas.microsoft.com/office/drawing/2014/main" id="{DD6ACE87-8CC8-A234-125A-7A0DDCFFBA3C}"/>
                  </a:ext>
                </a:extLst>
              </p:cNvPr>
              <p:cNvGraphicFramePr>
                <a:graphicFrameLocks noGrp="1"/>
              </p:cNvGraphicFramePr>
              <p:nvPr/>
            </p:nvGraphicFramePr>
            <p:xfrm>
              <a:off x="7641810" y="2574275"/>
              <a:ext cx="4298562" cy="2468880"/>
            </p:xfrm>
            <a:graphic>
              <a:graphicData uri="http://schemas.openxmlformats.org/drawingml/2006/table">
                <a:tbl>
                  <a:tblPr>
                    <a:tableStyleId>{5C22544A-7EE6-4342-B048-85BDC9FD1C3A}</a:tableStyleId>
                  </a:tblPr>
                  <a:tblGrid>
                    <a:gridCol w="972586">
                      <a:extLst>
                        <a:ext uri="{9D8B030D-6E8A-4147-A177-3AD203B41FA5}">
                          <a16:colId xmlns:a16="http://schemas.microsoft.com/office/drawing/2014/main" val="20000"/>
                        </a:ext>
                      </a:extLst>
                    </a:gridCol>
                    <a:gridCol w="3325976">
                      <a:extLst>
                        <a:ext uri="{9D8B030D-6E8A-4147-A177-3AD203B41FA5}">
                          <a16:colId xmlns:a16="http://schemas.microsoft.com/office/drawing/2014/main" val="20001"/>
                        </a:ext>
                      </a:extLst>
                    </a:gridCol>
                  </a:tblGrid>
                  <a:tr h="411480">
                    <a:tc>
                      <a:txBody>
                        <a:bodyPr/>
                        <a:lstStyle/>
                        <a:p>
                          <a:r>
                            <a:rPr lang="en-US" sz="1200" b="0" noProof="1">
                              <a:solidFill>
                                <a:srgbClr val="1D3557"/>
                              </a:solidFill>
                              <a:latin typeface="+mn-lt"/>
                            </a:rPr>
                            <a:t>Agent</a:t>
                          </a:r>
                        </a:p>
                      </a:txBody>
                      <a:tcPr marL="73152" marT="27432" marB="27432" anchor="ctr">
                        <a:solidFill>
                          <a:srgbClr val="FBFAF6"/>
                        </a:solidFill>
                      </a:tcPr>
                    </a:tc>
                    <a:tc>
                      <a:txBody>
                        <a:bodyPr/>
                        <a:lstStyle/>
                        <a:p>
                          <a:r>
                            <a:rPr lang="en-US" sz="1200" b="0" noProof="1">
                              <a:solidFill>
                                <a:srgbClr val="4A5A66"/>
                              </a:solidFill>
                              <a:latin typeface="+mn-lt"/>
                            </a:rPr>
                            <a:t>Neural Network (SAC) learning </a:t>
                          </a:r>
                          <a14:m>
                            <m:oMath xmlns:m="http://schemas.openxmlformats.org/officeDocument/2006/math">
                              <m:sSub>
                                <m:sSubPr>
                                  <m:ctrlPr>
                                    <a:rPr lang="en-US" sz="1200" b="0" i="1" noProof="1" smtClean="0">
                                      <a:solidFill>
                                        <a:srgbClr val="4A5A66"/>
                                      </a:solidFill>
                                      <a:latin typeface="Cambria Math" panose="02040503050406030204" pitchFamily="18" charset="0"/>
                                    </a:rPr>
                                  </m:ctrlPr>
                                </m:sSubPr>
                                <m:e>
                                  <m:r>
                                    <a:rPr lang="en-US" sz="1200" b="0" i="1" noProof="1" smtClean="0">
                                      <a:solidFill>
                                        <a:srgbClr val="4A5A66"/>
                                      </a:solidFill>
                                      <a:latin typeface="Cambria Math" panose="02040503050406030204" pitchFamily="18" charset="0"/>
                                      <a:ea typeface="Cambria Math" panose="02040503050406030204" pitchFamily="18" charset="0"/>
                                    </a:rPr>
                                    <m:t>𝜋</m:t>
                                  </m:r>
                                </m:e>
                                <m:sub>
                                  <m:r>
                                    <a:rPr lang="en-US" sz="1200" b="0" i="1" noProof="1" smtClean="0">
                                      <a:solidFill>
                                        <a:srgbClr val="4A5A66"/>
                                      </a:solidFill>
                                      <a:latin typeface="Cambria Math" panose="02040503050406030204" pitchFamily="18" charset="0"/>
                                      <a:ea typeface="Cambria Math" panose="02040503050406030204" pitchFamily="18" charset="0"/>
                                    </a:rPr>
                                    <m:t>𝜗</m:t>
                                  </m:r>
                                </m:sub>
                              </m:sSub>
                            </m:oMath>
                          </a14:m>
                          <a:endParaRPr lang="en-US" sz="1200" b="0" noProof="1">
                            <a:solidFill>
                              <a:srgbClr val="4A5A66"/>
                            </a:solidFill>
                            <a:latin typeface="+mn-lt"/>
                          </a:endParaRP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Environment</a:t>
                          </a:r>
                        </a:p>
                      </a:txBody>
                      <a:tcPr marL="73152" marT="27432" marB="27432" anchor="ctr">
                        <a:solidFill>
                          <a:srgbClr val="FBFAF6"/>
                        </a:solidFill>
                      </a:tcPr>
                    </a:tc>
                    <a:tc>
                      <a:txBody>
                        <a:bodyPr/>
                        <a:lstStyle/>
                        <a:p>
                          <a:r>
                            <a:rPr lang="en-US" sz="1200" b="0" noProof="1">
                              <a:solidFill>
                                <a:srgbClr val="4A5A66"/>
                              </a:solidFill>
                              <a:latin typeface="+mn-lt"/>
                            </a:rPr>
                            <a:t>BDC Motor + rod simulated at 1 kHz</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noProof="1">
                              <a:solidFill>
                                <a:srgbClr val="1D3557"/>
                              </a:solidFill>
                              <a:latin typeface="+mn-lt"/>
                            </a:rPr>
                            <a:t>State </a:t>
                          </a:r>
                          <a:r>
                            <a:rPr lang="en-US" sz="1200" b="0" i="1" noProof="1">
                              <a:solidFill>
                                <a:srgbClr val="1D3557"/>
                              </a:solidFill>
                              <a:latin typeface="+mn-lt"/>
                            </a:rPr>
                            <a:t>s</a:t>
                          </a:r>
                        </a:p>
                      </a:txBody>
                      <a:tcPr marL="73152" marT="27432" marB="27432" anchor="ctr">
                        <a:solidFill>
                          <a:srgbClr val="FBFAF6"/>
                        </a:solidFill>
                      </a:tcPr>
                    </a:tc>
                    <a:tc>
                      <a:txBody>
                        <a:bodyPr/>
                        <a:lstStyle/>
                        <a:p>
                          <a:r>
                            <a:rPr lang="en-US" sz="1200" b="0" noProof="1">
                              <a:solidFill>
                                <a:srgbClr val="4A5A66"/>
                              </a:solidFill>
                              <a:latin typeface="+mn-lt"/>
                            </a:rPr>
                            <a:t>Speed error, velocity, </a:t>
                          </a:r>
                          <a14:m>
                            <m:oMath xmlns:m="http://schemas.openxmlformats.org/officeDocument/2006/math">
                              <m:r>
                                <a:rPr lang="it-IT" sz="1200" b="0" i="1" noProof="1" smtClean="0">
                                  <a:solidFill>
                                    <a:srgbClr val="4A5A66"/>
                                  </a:solidFill>
                                  <a:latin typeface="Cambria Math" panose="02040503050406030204" pitchFamily="18" charset="0"/>
                                </a:rPr>
                                <m:t>𝑠𝑖𝑛</m:t>
                              </m:r>
                              <m:r>
                                <a:rPr lang="it-IT" sz="1200" b="0" i="1" noProof="1" smtClean="0">
                                  <a:solidFill>
                                    <a:srgbClr val="4A5A66"/>
                                  </a:solidFill>
                                  <a:latin typeface="Cambria Math" panose="02040503050406030204" pitchFamily="18" charset="0"/>
                                </a:rPr>
                                <m:t>/</m:t>
                              </m:r>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cos</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r>
                                <a:rPr lang="it-IT" sz="1200" b="0" i="1" noProof="1" smtClean="0">
                                  <a:solidFill>
                                    <a:srgbClr val="4A5A66"/>
                                  </a:solidFill>
                                  <a:latin typeface="Cambria Math" panose="02040503050406030204" pitchFamily="18" charset="0"/>
                                </a:rPr>
                                <m:t>, </m:t>
                              </m:r>
                              <m:sSup>
                                <m:sSupPr>
                                  <m:ctrlPr>
                                    <a:rPr lang="it-IT" sz="1200" b="0" i="1" noProof="1" smtClean="0">
                                      <a:solidFill>
                                        <a:srgbClr val="4A5A66"/>
                                      </a:solidFill>
                                      <a:latin typeface="Cambria Math" panose="02040503050406030204" pitchFamily="18" charset="0"/>
                                    </a:rPr>
                                  </m:ctrlPr>
                                </m:sSupPr>
                                <m:e>
                                  <m:r>
                                    <a:rPr lang="it-IT" sz="1200" b="0" i="1" noProof="1" smtClean="0">
                                      <a:solidFill>
                                        <a:srgbClr val="4A5A66"/>
                                      </a:solidFill>
                                      <a:latin typeface="Cambria Math" panose="02040503050406030204" pitchFamily="18" charset="0"/>
                                      <a:ea typeface="Cambria Math" panose="02040503050406030204" pitchFamily="18" charset="0"/>
                                    </a:rPr>
                                    <m:t>𝜔</m:t>
                                  </m:r>
                                </m:e>
                                <m:sup>
                                  <m:r>
                                    <a:rPr lang="it-IT" sz="1200" b="0" i="1" noProof="1" smtClean="0">
                                      <a:solidFill>
                                        <a:srgbClr val="4A5A66"/>
                                      </a:solidFill>
                                      <a:latin typeface="Cambria Math" panose="02040503050406030204" pitchFamily="18" charset="0"/>
                                    </a:rPr>
                                    <m:t>∗</m:t>
                                  </m:r>
                                </m:sup>
                              </m:sSup>
                              <m:r>
                                <a:rPr lang="it-IT" sz="1200" b="0" i="1" noProof="1" smtClean="0">
                                  <a:solidFill>
                                    <a:srgbClr val="4A5A66"/>
                                  </a:solidFill>
                                  <a:latin typeface="Cambria Math" panose="02040503050406030204" pitchFamily="18" charset="0"/>
                                </a:rPr>
                                <m:t>, </m:t>
                              </m:r>
                              <m:sSub>
                                <m:sSubPr>
                                  <m:ctrlPr>
                                    <a:rPr lang="it-IT" sz="1200" b="0" i="1" noProof="1" smtClean="0">
                                      <a:solidFill>
                                        <a:srgbClr val="4A5A66"/>
                                      </a:solidFill>
                                      <a:latin typeface="Cambria Math" panose="02040503050406030204" pitchFamily="18" charset="0"/>
                                    </a:rPr>
                                  </m:ctrlPr>
                                </m:sSubPr>
                                <m:e>
                                  <m:r>
                                    <a:rPr lang="it-IT" sz="1200" b="0" i="1" noProof="1" smtClean="0">
                                      <a:solidFill>
                                        <a:srgbClr val="4A5A66"/>
                                      </a:solidFill>
                                      <a:latin typeface="Cambria Math" panose="02040503050406030204" pitchFamily="18" charset="0"/>
                                    </a:rPr>
                                    <m:t>𝑉</m:t>
                                  </m:r>
                                </m:e>
                                <m:sub>
                                  <m:r>
                                    <a:rPr lang="it-IT" sz="1200" b="0" i="1" noProof="1" smtClean="0">
                                      <a:solidFill>
                                        <a:srgbClr val="4A5A66"/>
                                      </a:solidFill>
                                      <a:latin typeface="Cambria Math" panose="02040503050406030204" pitchFamily="18" charset="0"/>
                                    </a:rPr>
                                    <m:t>𝑏𝑎𝑠𝑒</m:t>
                                  </m:r>
                                </m:sub>
                              </m:sSub>
                            </m:oMath>
                          </a14:m>
                          <a:endParaRPr lang="en-US" sz="1200" b="0" noProof="1">
                            <a:solidFill>
                              <a:srgbClr val="4A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r>
                            <a:rPr lang="en-US" sz="1200" b="0" noProof="1">
                              <a:solidFill>
                                <a:srgbClr val="1D3557"/>
                              </a:solidFill>
                              <a:latin typeface="+mn-lt"/>
                            </a:rPr>
                            <a:t>Action </a:t>
                          </a:r>
                          <a:r>
                            <a:rPr lang="en-US" sz="1200" b="0" i="1" noProof="1">
                              <a:solidFill>
                                <a:srgbClr val="1D3557"/>
                              </a:solidFill>
                              <a:latin typeface="+mn-lt"/>
                            </a:rPr>
                            <a:t>a</a:t>
                          </a:r>
                          <a:r>
                            <a:rPr lang="en-US" sz="1200" b="0" noProof="1">
                              <a:solidFill>
                                <a:srgbClr val="1D3557"/>
                              </a:solidFill>
                              <a:latin typeface="+mn-lt"/>
                            </a:rPr>
                            <a:t> </a:t>
                          </a:r>
                        </a:p>
                      </a:txBody>
                      <a:tcPr marL="73152" marT="27432" marB="27432" anchor="ctr">
                        <a:solidFill>
                          <a:srgbClr val="FBFAF6"/>
                        </a:solidFill>
                      </a:tcPr>
                    </a:tc>
                    <a:tc>
                      <a:txBody>
                        <a:bodyPr/>
                        <a:lstStyle/>
                        <a:p>
                          <a14:m>
                            <m:oMath xmlns:m="http://schemas.openxmlformats.org/officeDocument/2006/math">
                              <m:r>
                                <a:rPr lang="el-GR" sz="1200" b="0" i="1" kern="1200" smtClean="0">
                                  <a:solidFill>
                                    <a:srgbClr val="495A66"/>
                                  </a:solidFill>
                                  <a:effectLst/>
                                  <a:latin typeface="Cambria Math" panose="02040503050406030204" pitchFamily="18" charset="0"/>
                                  <a:ea typeface="Cambria Math" panose="02040503050406030204" pitchFamily="18" charset="0"/>
                                  <a:cs typeface="+mn-cs"/>
                                </a:rPr>
                                <m:t>∆</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𝑉</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m:t>
                              </m:r>
                              <m:d>
                                <m:dPr>
                                  <m:begChr m:val="["/>
                                  <m:endChr m:val="]"/>
                                  <m:ctrlPr>
                                    <a:rPr lang="it-IT" sz="1200" b="0" i="1" kern="1200" smtClean="0">
                                      <a:solidFill>
                                        <a:srgbClr val="495A66"/>
                                      </a:solidFill>
                                      <a:effectLst/>
                                      <a:latin typeface="Cambria Math" panose="02040503050406030204" pitchFamily="18" charset="0"/>
                                      <a:ea typeface="Cambria Math" panose="02040503050406030204" pitchFamily="18" charset="0"/>
                                      <a:cs typeface="+mn-cs"/>
                                    </a:rPr>
                                  </m:ctrlPr>
                                </m:dPr>
                                <m:e>
                                  <m:r>
                                    <a:rPr lang="it-IT" sz="1200" b="0" i="1" kern="1200" smtClean="0">
                                      <a:solidFill>
                                        <a:srgbClr val="495A66"/>
                                      </a:solidFill>
                                      <a:effectLst/>
                                      <a:latin typeface="Cambria Math" panose="02040503050406030204" pitchFamily="18" charset="0"/>
                                      <a:ea typeface="Cambria Math" panose="02040503050406030204" pitchFamily="18" charset="0"/>
                                      <a:cs typeface="+mn-cs"/>
                                    </a:rPr>
                                    <m:t>−3.6, +3.6</m:t>
                                  </m:r>
                                </m:e>
                              </m:d>
                              <m:r>
                                <a:rPr lang="it-IT" sz="1200" b="0" i="1" kern="1200" smtClean="0">
                                  <a:solidFill>
                                    <a:srgbClr val="495A66"/>
                                  </a:solidFill>
                                  <a:effectLst/>
                                  <a:latin typeface="Cambria Math" panose="02040503050406030204" pitchFamily="18" charset="0"/>
                                  <a:ea typeface="Cambria Math" panose="02040503050406030204" pitchFamily="18" charset="0"/>
                                  <a:cs typeface="+mn-cs"/>
                                </a:rPr>
                                <m:t> </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𝑉</m:t>
                              </m:r>
                            </m:oMath>
                          </a14:m>
                          <a:r>
                            <a:rPr lang="en-GB" sz="1200" b="0" i="0" kern="1200" dirty="0">
                              <a:solidFill>
                                <a:srgbClr val="495A66"/>
                              </a:solidFill>
                              <a:effectLst/>
                              <a:latin typeface="+mn-lt"/>
                              <a:ea typeface="+mn-ea"/>
                              <a:cs typeface="+mn-cs"/>
                            </a:rPr>
                            <a:t> (bounded)</a:t>
                          </a:r>
                          <a:endParaRPr lang="en-US" sz="1200" b="1" noProof="1">
                            <a:solidFill>
                              <a:srgbClr val="1C2B3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r>
                            <a:rPr lang="en-GB" sz="1200" b="0" i="0" kern="1200" dirty="0">
                              <a:solidFill>
                                <a:srgbClr val="495A66"/>
                              </a:solidFill>
                              <a:effectLst/>
                              <a:latin typeface="+mn-lt"/>
                              <a:ea typeface="+mn-ea"/>
                              <a:cs typeface="+mn-cs"/>
                            </a:rPr>
                            <a:t>Reward </a:t>
                          </a:r>
                          <a:r>
                            <a:rPr lang="en-GB" sz="1200" b="0" i="1" kern="1200" dirty="0">
                              <a:solidFill>
                                <a:srgbClr val="495A66"/>
                              </a:solidFill>
                              <a:effectLst/>
                              <a:latin typeface="+mn-lt"/>
                              <a:ea typeface="+mn-ea"/>
                              <a:cs typeface="+mn-cs"/>
                            </a:rPr>
                            <a:t>r</a:t>
                          </a:r>
                          <a:endParaRPr lang="en-US" sz="1200" b="0" i="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a:t>
                          </a:r>
                          <a14:m>
                            <m:oMath xmlns:m="http://schemas.openxmlformats.org/officeDocument/2006/math">
                              <m:d>
                                <m:dPr>
                                  <m:begChr m:val="|"/>
                                  <m:endChr m:val="|"/>
                                  <m:ctrlPr>
                                    <a:rPr lang="en-GB" sz="1200" b="0" i="1" kern="1200" smtClean="0">
                                      <a:solidFill>
                                        <a:srgbClr val="495A66"/>
                                      </a:solidFill>
                                      <a:effectLst/>
                                      <a:latin typeface="Cambria Math" panose="02040503050406030204" pitchFamily="18" charset="0"/>
                                      <a:ea typeface="+mn-ea"/>
                                      <a:cs typeface="+mn-cs"/>
                                    </a:rPr>
                                  </m:ctrlPr>
                                </m:dPr>
                                <m:e>
                                  <m:r>
                                    <a:rPr lang="it-IT" sz="1200" b="0" i="1" kern="1200" smtClean="0">
                                      <a:solidFill>
                                        <a:srgbClr val="495A66"/>
                                      </a:solidFill>
                                      <a:effectLst/>
                                      <a:latin typeface="Cambria Math" panose="02040503050406030204" pitchFamily="18" charset="0"/>
                                      <a:ea typeface="+mn-ea"/>
                                      <a:cs typeface="+mn-cs"/>
                                    </a:rPr>
                                    <m:t>𝑒</m:t>
                                  </m:r>
                                </m:e>
                              </m:d>
                            </m:oMath>
                          </a14:m>
                          <a:r>
                            <a:rPr lang="en-GB" sz="1200" b="0" i="0" kern="1200" dirty="0">
                              <a:solidFill>
                                <a:srgbClr val="495A66"/>
                              </a:solidFill>
                              <a:effectLst/>
                              <a:latin typeface="+mn-lt"/>
                              <a:ea typeface="+mn-ea"/>
                              <a:cs typeface="+mn-cs"/>
                            </a:rPr>
                            <a:t> − effort penalty − rate penalty</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r>
                            <a:rPr lang="en-US" sz="1200" b="0" i="0" noProof="1">
                              <a:solidFill>
                                <a:srgbClr val="495A66"/>
                              </a:solidFill>
                              <a:latin typeface="+mn-lt"/>
                            </a:rPr>
                            <a:t>Objective</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Accurate tracking, smooth control</a:t>
                          </a:r>
                          <a:r>
                            <a:rPr lang="en-GB" sz="1200" b="0" i="0" kern="1200" baseline="0" dirty="0">
                              <a:solidFill>
                                <a:srgbClr val="495A66"/>
                              </a:solidFill>
                              <a:effectLst/>
                              <a:latin typeface="+mn-lt"/>
                              <a:ea typeface="+mn-ea"/>
                              <a:cs typeface="+mn-cs"/>
                            </a:rPr>
                            <a:t> </a:t>
                          </a:r>
                          <a14:m>
                            <m:oMath xmlns:m="http://schemas.openxmlformats.org/officeDocument/2006/math">
                              <m:func>
                                <m:funcPr>
                                  <m:ctrlPr>
                                    <a:rPr lang="it-IT" sz="1200" b="0" i="1" kern="1200" smtClean="0">
                                      <a:solidFill>
                                        <a:srgbClr val="495A66"/>
                                      </a:solidFill>
                                      <a:effectLst/>
                                      <a:latin typeface="Cambria Math" panose="02040503050406030204" pitchFamily="18" charset="0"/>
                                      <a:ea typeface="+mn-ea"/>
                                      <a:cs typeface="+mn-cs"/>
                                    </a:rPr>
                                  </m:ctrlPr>
                                </m:funcPr>
                                <m:fName>
                                  <m:r>
                                    <m:rPr>
                                      <m:sty m:val="p"/>
                                    </m:rPr>
                                    <a:rPr lang="it-IT" sz="1200" b="0" i="0" kern="1200" smtClean="0">
                                      <a:solidFill>
                                        <a:srgbClr val="495A66"/>
                                      </a:solidFill>
                                      <a:effectLst/>
                                      <a:latin typeface="Cambria Math" panose="02040503050406030204" pitchFamily="18" charset="0"/>
                                      <a:ea typeface="+mn-ea"/>
                                      <a:cs typeface="+mn-cs"/>
                                    </a:rPr>
                                    <m:t>max</m:t>
                                  </m:r>
                                </m:fName>
                                <m:e>
                                  <m:r>
                                    <a:rPr lang="it-IT" sz="1200" b="0" i="1" kern="1200" smtClean="0">
                                      <a:solidFill>
                                        <a:srgbClr val="495A66"/>
                                      </a:solidFill>
                                      <a:effectLst/>
                                      <a:latin typeface="Cambria Math" panose="02040503050406030204" pitchFamily="18" charset="0"/>
                                      <a:ea typeface="+mn-ea"/>
                                      <a:cs typeface="+mn-cs"/>
                                    </a:rPr>
                                    <m:t>𝐸</m:t>
                                  </m:r>
                                  <m:d>
                                    <m:dPr>
                                      <m:begChr m:val="["/>
                                      <m:endChr m:val="]"/>
                                      <m:ctrlPr>
                                        <a:rPr lang="it-IT" sz="1200" b="0" i="1" kern="1200" smtClean="0">
                                          <a:solidFill>
                                            <a:srgbClr val="495A66"/>
                                          </a:solidFill>
                                          <a:effectLst/>
                                          <a:latin typeface="Cambria Math" panose="02040503050406030204" pitchFamily="18" charset="0"/>
                                          <a:ea typeface="+mn-ea"/>
                                          <a:cs typeface="+mn-cs"/>
                                        </a:rPr>
                                      </m:ctrlPr>
                                    </m:dPr>
                                    <m:e>
                                      <m:nary>
                                        <m:naryPr>
                                          <m:chr m:val="∑"/>
                                          <m:subHide m:val="on"/>
                                          <m:supHide m:val="on"/>
                                          <m:ctrlPr>
                                            <a:rPr lang="it-IT" sz="1200" b="0" i="1" kern="1200" smtClean="0">
                                              <a:solidFill>
                                                <a:srgbClr val="495A66"/>
                                              </a:solidFill>
                                              <a:effectLst/>
                                              <a:latin typeface="Cambria Math" panose="02040503050406030204" pitchFamily="18" charset="0"/>
                                              <a:ea typeface="+mn-ea"/>
                                              <a:cs typeface="+mn-cs"/>
                                            </a:rPr>
                                          </m:ctrlPr>
                                        </m:naryPr>
                                        <m:sub/>
                                        <m:sup/>
                                        <m:e>
                                          <m:sSup>
                                            <m:sSupPr>
                                              <m:ctrlPr>
                                                <a:rPr lang="it-IT" sz="1200" b="0" i="1" kern="1200" smtClean="0">
                                                  <a:solidFill>
                                                    <a:srgbClr val="495A66"/>
                                                  </a:solidFill>
                                                  <a:effectLst/>
                                                  <a:latin typeface="Cambria Math" panose="02040503050406030204" pitchFamily="18" charset="0"/>
                                                  <a:ea typeface="+mn-ea"/>
                                                  <a:cs typeface="+mn-cs"/>
                                                </a:rPr>
                                              </m:ctrlPr>
                                            </m:sSupPr>
                                            <m:e>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𝛾</m:t>
                                              </m:r>
                                            </m:e>
                                            <m:sup>
                                              <m:r>
                                                <a:rPr lang="it-IT" sz="1200" b="0" i="1" kern="1200" smtClean="0">
                                                  <a:solidFill>
                                                    <a:srgbClr val="495A66"/>
                                                  </a:solidFill>
                                                  <a:effectLst/>
                                                  <a:latin typeface="Cambria Math" panose="02040503050406030204" pitchFamily="18" charset="0"/>
                                                  <a:ea typeface="+mn-ea"/>
                                                  <a:cs typeface="+mn-cs"/>
                                                </a:rPr>
                                                <m:t>𝑡</m:t>
                                              </m:r>
                                            </m:sup>
                                          </m:sSup>
                                          <m:sSub>
                                            <m:sSubPr>
                                              <m:ctrlPr>
                                                <a:rPr lang="it-IT" sz="1200" b="0" i="1" kern="1200" smtClean="0">
                                                  <a:solidFill>
                                                    <a:srgbClr val="495A66"/>
                                                  </a:solidFill>
                                                  <a:effectLst/>
                                                  <a:latin typeface="Cambria Math" panose="02040503050406030204" pitchFamily="18" charset="0"/>
                                                  <a:ea typeface="+mn-ea"/>
                                                  <a:cs typeface="+mn-cs"/>
                                                </a:rPr>
                                              </m:ctrlPr>
                                            </m:sSubPr>
                                            <m:e>
                                              <m:r>
                                                <a:rPr lang="it-IT" sz="1200" b="0" i="1" kern="1200" smtClean="0">
                                                  <a:solidFill>
                                                    <a:srgbClr val="495A66"/>
                                                  </a:solidFill>
                                                  <a:effectLst/>
                                                  <a:latin typeface="Cambria Math" panose="02040503050406030204" pitchFamily="18" charset="0"/>
                                                  <a:ea typeface="+mn-ea"/>
                                                  <a:cs typeface="+mn-cs"/>
                                                </a:rPr>
                                                <m:t>𝑟</m:t>
                                              </m:r>
                                            </m:e>
                                            <m:sub>
                                              <m:r>
                                                <a:rPr lang="it-IT" sz="1200" b="0" i="1" kern="1200" smtClean="0">
                                                  <a:solidFill>
                                                    <a:srgbClr val="495A66"/>
                                                  </a:solidFill>
                                                  <a:effectLst/>
                                                  <a:latin typeface="Cambria Math" panose="02040503050406030204" pitchFamily="18" charset="0"/>
                                                  <a:ea typeface="+mn-ea"/>
                                                  <a:cs typeface="+mn-cs"/>
                                                </a:rPr>
                                                <m:t>𝑡</m:t>
                                              </m:r>
                                            </m:sub>
                                          </m:sSub>
                                        </m:e>
                                      </m:nary>
                                    </m:e>
                                  </m:d>
                                </m:e>
                              </m:func>
                            </m:oMath>
                          </a14:m>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3264284527"/>
                      </a:ext>
                    </a:extLst>
                  </a:tr>
                </a:tbl>
              </a:graphicData>
            </a:graphic>
          </p:graphicFrame>
        </mc:Choice>
        <mc:Fallback xmlns="">
          <p:graphicFrame>
            <p:nvGraphicFramePr>
              <p:cNvPr id="68" name="Table 67">
                <a:extLst>
                  <a:ext uri="{FF2B5EF4-FFF2-40B4-BE49-F238E27FC236}">
                    <a16:creationId xmlns:a16="http://schemas.microsoft.com/office/drawing/2014/main" id="{DD6ACE87-8CC8-A234-125A-7A0DDCFFBA3C}"/>
                  </a:ext>
                </a:extLst>
              </p:cNvPr>
              <p:cNvGraphicFramePr>
                <a:graphicFrameLocks noGrp="1"/>
              </p:cNvGraphicFramePr>
              <p:nvPr/>
            </p:nvGraphicFramePr>
            <p:xfrm>
              <a:off x="7641810" y="2574275"/>
              <a:ext cx="4298562" cy="2468880"/>
            </p:xfrm>
            <a:graphic>
              <a:graphicData uri="http://schemas.openxmlformats.org/drawingml/2006/table">
                <a:tbl>
                  <a:tblPr>
                    <a:tableStyleId>{5C22544A-7EE6-4342-B048-85BDC9FD1C3A}</a:tableStyleId>
                  </a:tblPr>
                  <a:tblGrid>
                    <a:gridCol w="972586">
                      <a:extLst>
                        <a:ext uri="{9D8B030D-6E8A-4147-A177-3AD203B41FA5}">
                          <a16:colId xmlns:a16="http://schemas.microsoft.com/office/drawing/2014/main" val="20000"/>
                        </a:ext>
                      </a:extLst>
                    </a:gridCol>
                    <a:gridCol w="3325976">
                      <a:extLst>
                        <a:ext uri="{9D8B030D-6E8A-4147-A177-3AD203B41FA5}">
                          <a16:colId xmlns:a16="http://schemas.microsoft.com/office/drawing/2014/main" val="20001"/>
                        </a:ext>
                      </a:extLst>
                    </a:gridCol>
                  </a:tblGrid>
                  <a:tr h="411480">
                    <a:tc>
                      <a:txBody>
                        <a:bodyPr/>
                        <a:lstStyle/>
                        <a:p>
                          <a:r>
                            <a:rPr lang="en-US" sz="1200" b="0" noProof="1">
                              <a:solidFill>
                                <a:srgbClr val="1D3557"/>
                              </a:solidFill>
                              <a:latin typeface="+mn-lt"/>
                            </a:rPr>
                            <a:t>Agent</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1471" r="-366" b="-586765"/>
                          </a:stretch>
                        </a:blip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Environment</a:t>
                          </a:r>
                        </a:p>
                      </a:txBody>
                      <a:tcPr marL="73152" marT="27432" marB="27432" anchor="ctr">
                        <a:solidFill>
                          <a:srgbClr val="FBFAF6"/>
                        </a:solidFill>
                      </a:tcPr>
                    </a:tc>
                    <a:tc>
                      <a:txBody>
                        <a:bodyPr/>
                        <a:lstStyle/>
                        <a:p>
                          <a:r>
                            <a:rPr lang="en-US" sz="1200" b="0" noProof="1">
                              <a:solidFill>
                                <a:srgbClr val="4A5A66"/>
                              </a:solidFill>
                              <a:latin typeface="+mn-lt"/>
                            </a:rPr>
                            <a:t>BDC Motor + rod simulated at 1 kHz</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noProof="1">
                              <a:solidFill>
                                <a:srgbClr val="1D3557"/>
                              </a:solidFill>
                              <a:latin typeface="+mn-lt"/>
                            </a:rPr>
                            <a:t>State </a:t>
                          </a:r>
                          <a:r>
                            <a:rPr lang="en-US" sz="1200" b="0" i="1" noProof="1">
                              <a:solidFill>
                                <a:srgbClr val="1D3557"/>
                              </a:solidFill>
                              <a:latin typeface="+mn-lt"/>
                            </a:rPr>
                            <a:t>s</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200000" r="-366" b="-388235"/>
                          </a:stretch>
                        </a:blipFill>
                      </a:tcPr>
                    </a:tc>
                    <a:extLst>
                      <a:ext uri="{0D108BD9-81ED-4DB2-BD59-A6C34878D82A}">
                        <a16:rowId xmlns:a16="http://schemas.microsoft.com/office/drawing/2014/main" val="10002"/>
                      </a:ext>
                    </a:extLst>
                  </a:tr>
                  <a:tr h="411480">
                    <a:tc>
                      <a:txBody>
                        <a:bodyPr/>
                        <a:lstStyle/>
                        <a:p>
                          <a:r>
                            <a:rPr lang="en-US" sz="1200" b="0" noProof="1">
                              <a:solidFill>
                                <a:srgbClr val="1D3557"/>
                              </a:solidFill>
                              <a:latin typeface="+mn-lt"/>
                            </a:rPr>
                            <a:t>Action </a:t>
                          </a:r>
                          <a:r>
                            <a:rPr lang="en-US" sz="1200" b="0" i="1" noProof="1">
                              <a:solidFill>
                                <a:srgbClr val="1D3557"/>
                              </a:solidFill>
                              <a:latin typeface="+mn-lt"/>
                            </a:rPr>
                            <a:t>a</a:t>
                          </a:r>
                          <a:r>
                            <a:rPr lang="en-US" sz="1200" b="0" noProof="1">
                              <a:solidFill>
                                <a:srgbClr val="1D3557"/>
                              </a:solidFill>
                              <a:latin typeface="+mn-lt"/>
                            </a:rPr>
                            <a:t> </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300000" r="-366" b="-288235"/>
                          </a:stretch>
                        </a:blipFill>
                      </a:tcPr>
                    </a:tc>
                    <a:extLst>
                      <a:ext uri="{0D108BD9-81ED-4DB2-BD59-A6C34878D82A}">
                        <a16:rowId xmlns:a16="http://schemas.microsoft.com/office/drawing/2014/main" val="10003"/>
                      </a:ext>
                    </a:extLst>
                  </a:tr>
                  <a:tr h="411480">
                    <a:tc>
                      <a:txBody>
                        <a:bodyPr/>
                        <a:lstStyle/>
                        <a:p>
                          <a:r>
                            <a:rPr lang="en-GB" sz="1200" b="0" i="0" kern="1200" dirty="0">
                              <a:solidFill>
                                <a:srgbClr val="495A66"/>
                              </a:solidFill>
                              <a:effectLst/>
                              <a:latin typeface="+mn-lt"/>
                              <a:ea typeface="+mn-ea"/>
                              <a:cs typeface="+mn-cs"/>
                            </a:rPr>
                            <a:t>Reward </a:t>
                          </a:r>
                          <a:r>
                            <a:rPr lang="en-GB" sz="1200" b="0" i="1" kern="1200" dirty="0">
                              <a:solidFill>
                                <a:srgbClr val="495A66"/>
                              </a:solidFill>
                              <a:effectLst/>
                              <a:latin typeface="+mn-lt"/>
                              <a:ea typeface="+mn-ea"/>
                              <a:cs typeface="+mn-cs"/>
                            </a:rPr>
                            <a:t>r</a:t>
                          </a:r>
                          <a:endParaRPr lang="en-US" sz="1200" b="0" i="1" noProof="1">
                            <a:solidFill>
                              <a:srgbClr val="495A66"/>
                            </a:solidFill>
                            <a:latin typeface="+mn-lt"/>
                          </a:endParaRPr>
                        </a:p>
                      </a:txBody>
                      <a:tcPr marL="73152" marT="27432" marB="27432" anchor="ctr">
                        <a:solidFill>
                          <a:srgbClr val="FBFAF6"/>
                        </a:solidFill>
                      </a:tcPr>
                    </a:tc>
                    <a:tc>
                      <a:txBody>
                        <a:bodyPr/>
                        <a:lstStyle/>
                        <a:p>
                          <a:endParaRPr lang="th-TH"/>
                        </a:p>
                      </a:txBody>
                      <a:tcPr marL="73152" marT="27432" marB="27432" anchor="ctr">
                        <a:blipFill>
                          <a:blip r:embed="rId10"/>
                          <a:stretch>
                            <a:fillRect l="-29487" t="-405970" r="-366" b="-192537"/>
                          </a:stretch>
                        </a:blipFill>
                      </a:tcPr>
                    </a:tc>
                    <a:extLst>
                      <a:ext uri="{0D108BD9-81ED-4DB2-BD59-A6C34878D82A}">
                        <a16:rowId xmlns:a16="http://schemas.microsoft.com/office/drawing/2014/main" val="10004"/>
                      </a:ext>
                    </a:extLst>
                  </a:tr>
                  <a:tr h="411480">
                    <a:tc>
                      <a:txBody>
                        <a:bodyPr/>
                        <a:lstStyle/>
                        <a:p>
                          <a:r>
                            <a:rPr lang="en-US" sz="1200" b="0" i="0" noProof="1">
                              <a:solidFill>
                                <a:srgbClr val="495A66"/>
                              </a:solidFill>
                              <a:latin typeface="+mn-lt"/>
                            </a:rPr>
                            <a:t>Objective</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498529" r="-366" b="-89706"/>
                          </a:stretch>
                        </a:blipFill>
                      </a:tcPr>
                    </a:tc>
                    <a:extLst>
                      <a:ext uri="{0D108BD9-81ED-4DB2-BD59-A6C34878D82A}">
                        <a16:rowId xmlns:a16="http://schemas.microsoft.com/office/drawing/2014/main" val="3264284527"/>
                      </a:ext>
                    </a:extLst>
                  </a:tr>
                </a:tbl>
              </a:graphicData>
            </a:graphic>
          </p:graphicFrame>
        </mc:Fallback>
      </mc:AlternateContent>
      <p:cxnSp>
        <p:nvCxnSpPr>
          <p:cNvPr id="69" name="Straight Arrow Connector 68">
            <a:extLst>
              <a:ext uri="{FF2B5EF4-FFF2-40B4-BE49-F238E27FC236}">
                <a16:creationId xmlns:a16="http://schemas.microsoft.com/office/drawing/2014/main" id="{DD9138B9-B78E-612D-9817-54FE3A3B84BF}"/>
              </a:ext>
            </a:extLst>
          </p:cNvPr>
          <p:cNvCxnSpPr>
            <a:cxnSpLocks/>
          </p:cNvCxnSpPr>
          <p:nvPr/>
        </p:nvCxnSpPr>
        <p:spPr>
          <a:xfrm>
            <a:off x="1894391" y="3792451"/>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DC19455-7416-B4EC-0D6F-3DF0B169E8E9}"/>
              </a:ext>
            </a:extLst>
          </p:cNvPr>
          <p:cNvCxnSpPr>
            <a:cxnSpLocks/>
            <a:endCxn id="37" idx="1"/>
          </p:cNvCxnSpPr>
          <p:nvPr/>
        </p:nvCxnSpPr>
        <p:spPr>
          <a:xfrm flipV="1">
            <a:off x="1321393" y="2951597"/>
            <a:ext cx="2239553" cy="4909"/>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sp>
        <p:nvSpPr>
          <p:cNvPr id="74" name="Rounded Rectangle 73">
            <a:extLst>
              <a:ext uri="{FF2B5EF4-FFF2-40B4-BE49-F238E27FC236}">
                <a16:creationId xmlns:a16="http://schemas.microsoft.com/office/drawing/2014/main" id="{187B3AEB-CD2D-9B61-A09A-12F07648F932}"/>
              </a:ext>
            </a:extLst>
          </p:cNvPr>
          <p:cNvSpPr/>
          <p:nvPr/>
        </p:nvSpPr>
        <p:spPr>
          <a:xfrm>
            <a:off x="868679" y="5375208"/>
            <a:ext cx="10875301" cy="8686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5" name="Rectangle 74">
            <a:extLst>
              <a:ext uri="{FF2B5EF4-FFF2-40B4-BE49-F238E27FC236}">
                <a16:creationId xmlns:a16="http://schemas.microsoft.com/office/drawing/2014/main" id="{C0458BCF-85D4-434D-B350-18FC312F39EF}"/>
              </a:ext>
            </a:extLst>
          </p:cNvPr>
          <p:cNvSpPr/>
          <p:nvPr/>
        </p:nvSpPr>
        <p:spPr>
          <a:xfrm>
            <a:off x="868680" y="5375208"/>
            <a:ext cx="38100"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6" name="TextBox 75">
            <a:extLst>
              <a:ext uri="{FF2B5EF4-FFF2-40B4-BE49-F238E27FC236}">
                <a16:creationId xmlns:a16="http://schemas.microsoft.com/office/drawing/2014/main" id="{3F40CDC9-EDAF-D282-6F8E-2425B40189E4}"/>
              </a:ext>
            </a:extLst>
          </p:cNvPr>
          <p:cNvSpPr txBox="1"/>
          <p:nvPr/>
        </p:nvSpPr>
        <p:spPr>
          <a:xfrm>
            <a:off x="1069848" y="5428673"/>
            <a:ext cx="10222992" cy="761747"/>
          </a:xfrm>
          <a:prstGeom prst="rect">
            <a:avLst/>
          </a:prstGeom>
          <a:noFill/>
        </p:spPr>
        <p:txBody>
          <a:bodyPr wrap="square" lIns="0" tIns="0" rIns="0" bIns="0" anchor="ctr">
            <a:spAutoFit/>
          </a:bodyPr>
          <a:lstStyle/>
          <a:p>
            <a:pPr>
              <a:lnSpc>
                <a:spcPct val="112000"/>
              </a:lnSpc>
            </a:pPr>
            <a:r>
              <a:rPr lang="en-US" sz="1500" b="1" noProof="1">
                <a:solidFill>
                  <a:srgbClr val="1D3557"/>
                </a:solidFill>
                <a:latin typeface="Georgia"/>
              </a:rPr>
              <a:t>Main advantage.  </a:t>
            </a:r>
            <a:r>
              <a:rPr lang="en-GB" sz="1500" dirty="0">
                <a:solidFill>
                  <a:srgbClr val="495A66"/>
                </a:solidFill>
              </a:rPr>
              <a:t>The policy learns what the PI cannot model (feedforward and gravity compensation) without ever seeing the motor equations</a:t>
            </a:r>
            <a:r>
              <a:rPr lang="en-GB" sz="1500" i="1" dirty="0"/>
              <a:t>.</a:t>
            </a:r>
            <a:endParaRPr lang="en-US" sz="1500" noProof="1">
              <a:solidFill>
                <a:srgbClr val="1D3557"/>
              </a:solidFill>
            </a:endParaRPr>
          </a:p>
          <a:p>
            <a:pPr>
              <a:lnSpc>
                <a:spcPct val="112000"/>
              </a:lnSpc>
            </a:pPr>
            <a:endParaRPr lang="en-US" sz="1500" b="0" noProof="1">
              <a:solidFill>
                <a:srgbClr val="4A5A66"/>
              </a:solidFill>
              <a:latin typeface="Calibri"/>
            </a:endParaRPr>
          </a:p>
        </p:txBody>
      </p:sp>
      <mc:AlternateContent xmlns:mc="http://schemas.openxmlformats.org/markup-compatibility/2006" xmlns:a14="http://schemas.microsoft.com/office/drawing/2010/main">
        <mc:Choice Requires="a14">
          <p:sp>
            <p:nvSpPr>
              <p:cNvPr id="5" name="Rounded Rectangle 6">
                <a:extLst>
                  <a:ext uri="{FF2B5EF4-FFF2-40B4-BE49-F238E27FC236}">
                    <a16:creationId xmlns:a16="http://schemas.microsoft.com/office/drawing/2014/main" id="{56A6EA35-8E9C-3A9C-FF22-6AB945ADF459}"/>
                  </a:ext>
                </a:extLst>
              </p:cNvPr>
              <p:cNvSpPr/>
              <p:nvPr/>
            </p:nvSpPr>
            <p:spPr>
              <a:xfrm>
                <a:off x="5708914" y="2716779"/>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5" name="Rounded Rectangle 6">
                <a:extLst>
                  <a:ext uri="{FF2B5EF4-FFF2-40B4-BE49-F238E27FC236}">
                    <a16:creationId xmlns:a16="http://schemas.microsoft.com/office/drawing/2014/main" id="{56A6EA35-8E9C-3A9C-FF22-6AB945ADF459}"/>
                  </a:ext>
                </a:extLst>
              </p:cNvPr>
              <p:cNvSpPr>
                <a:spLocks noRot="1" noChangeAspect="1" noMove="1" noResize="1" noEditPoints="1" noAdjustHandles="1" noChangeArrowheads="1" noChangeShapeType="1" noTextEdit="1"/>
              </p:cNvSpPr>
              <p:nvPr/>
            </p:nvSpPr>
            <p:spPr>
              <a:xfrm>
                <a:off x="5708914" y="2716779"/>
                <a:ext cx="562361" cy="479453"/>
              </a:xfrm>
              <a:prstGeom prst="roundRect">
                <a:avLst/>
              </a:prstGeom>
              <a:blipFill>
                <a:blip r:embed="rId11"/>
                <a:stretch>
                  <a:fillRect l="-93684" t="-154321" r="-91579" b="-213580"/>
                </a:stretch>
              </a:blipFill>
              <a:ln w="15875">
                <a:solidFill>
                  <a:srgbClr val="E07A5F"/>
                </a:solidFill>
              </a:ln>
            </p:spPr>
            <p:txBody>
              <a:bodyPr/>
              <a:lstStyle/>
              <a:p>
                <a:r>
                  <a:rPr lang="th-TH">
                    <a:noFill/>
                  </a:rPr>
                  <a:t> </a:t>
                </a:r>
              </a:p>
            </p:txBody>
          </p:sp>
        </mc:Fallback>
      </mc:AlternateContent>
      <p:cxnSp>
        <p:nvCxnSpPr>
          <p:cNvPr id="28" name="Straight Arrow Connector 27">
            <a:extLst>
              <a:ext uri="{FF2B5EF4-FFF2-40B4-BE49-F238E27FC236}">
                <a16:creationId xmlns:a16="http://schemas.microsoft.com/office/drawing/2014/main" id="{BE5C42D2-8DD4-08C4-96E5-829D8C08BB56}"/>
              </a:ext>
            </a:extLst>
          </p:cNvPr>
          <p:cNvCxnSpPr>
            <a:cxnSpLocks/>
          </p:cNvCxnSpPr>
          <p:nvPr/>
        </p:nvCxnSpPr>
        <p:spPr>
          <a:xfrm>
            <a:off x="6271275" y="2964555"/>
            <a:ext cx="704920" cy="0"/>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6803495-5A6E-3619-38AD-60C631B2BF28}"/>
              </a:ext>
            </a:extLst>
          </p:cNvPr>
          <p:cNvCxnSpPr>
            <a:cxnSpLocks/>
          </p:cNvCxnSpPr>
          <p:nvPr/>
        </p:nvCxnSpPr>
        <p:spPr>
          <a:xfrm>
            <a:off x="6973112" y="2960233"/>
            <a:ext cx="0" cy="792796"/>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9901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B2  </a:t>
            </a:r>
            <a:r>
              <a:rPr lang="en-US" sz="1100" noProof="1">
                <a:solidFill>
                  <a:srgbClr val="2A9D8F"/>
                </a:solidFill>
                <a:latin typeface="Consolas"/>
              </a:rPr>
              <a:t>RESIDUAL REINFORCEMENT LEARNING - Framework</a:t>
            </a:r>
          </a:p>
        </p:txBody>
      </p:sp>
      <p:sp>
        <p:nvSpPr>
          <p:cNvPr id="6" name="TextBox 5">
            <a:extLst>
              <a:ext uri="{FF2B5EF4-FFF2-40B4-BE49-F238E27FC236}">
                <a16:creationId xmlns:a16="http://schemas.microsoft.com/office/drawing/2014/main" id="{3FC039A7-0058-B4A3-8EF2-BFF8841FF4CD}"/>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State Observer </a:t>
            </a:r>
          </a:p>
        </p:txBody>
      </p:sp>
      <p:sp>
        <p:nvSpPr>
          <p:cNvPr id="7" name="Rounded Rectangle 6">
            <a:extLst>
              <a:ext uri="{FF2B5EF4-FFF2-40B4-BE49-F238E27FC236}">
                <a16:creationId xmlns:a16="http://schemas.microsoft.com/office/drawing/2014/main" id="{990FC962-C8BA-420B-D1BF-93E54627EA39}"/>
              </a:ext>
            </a:extLst>
          </p:cNvPr>
          <p:cNvSpPr/>
          <p:nvPr/>
        </p:nvSpPr>
        <p:spPr>
          <a:xfrm>
            <a:off x="7869864" y="1666661"/>
            <a:ext cx="3755208" cy="845268"/>
          </a:xfrm>
          <a:prstGeom prst="roundRect">
            <a:avLst>
              <a:gd name="adj" fmla="val 6000"/>
            </a:avLst>
          </a:prstGeom>
          <a:solidFill>
            <a:srgbClr val="F4F1E9"/>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9CA473A6-14CB-400A-6199-4EBC5AD2FD31}"/>
              </a:ext>
            </a:extLst>
          </p:cNvPr>
          <p:cNvSpPr/>
          <p:nvPr/>
        </p:nvSpPr>
        <p:spPr>
          <a:xfrm>
            <a:off x="7869863" y="1666661"/>
            <a:ext cx="45719" cy="845268"/>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F311AD-11DF-D1FC-18D7-AE83D74FFD2F}"/>
                  </a:ext>
                </a:extLst>
              </p:cNvPr>
              <p:cNvSpPr txBox="1"/>
              <p:nvPr/>
            </p:nvSpPr>
            <p:spPr>
              <a:xfrm>
                <a:off x="7907964" y="1807322"/>
                <a:ext cx="3717108"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𝑠</m:t>
                      </m:r>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f>
                            <m:fPr>
                              <m:ctrlPr>
                                <a:rPr lang="it-IT" b="0" i="1" smtClean="0">
                                  <a:latin typeface="Cambria Math" panose="02040503050406030204" pitchFamily="18" charset="0"/>
                                </a:rPr>
                              </m:ctrlPr>
                            </m:fPr>
                            <m:num>
                              <m:r>
                                <a:rPr lang="it-IT" b="0" i="1" smtClean="0">
                                  <a:latin typeface="Cambria Math" panose="02040503050406030204" pitchFamily="18" charset="0"/>
                                </a:rPr>
                                <m:t>𝑒</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𝑒</m:t>
                                  </m:r>
                                </m:e>
                                <m:sub>
                                  <m:r>
                                    <a:rPr lang="it-IT" b="0" i="1" smtClean="0">
                                      <a:latin typeface="Cambria Math" panose="02040503050406030204" pitchFamily="18" charset="0"/>
                                    </a:rPr>
                                    <m:t>𝑠</m:t>
                                  </m:r>
                                </m:sub>
                              </m:sSub>
                            </m:den>
                          </m:f>
                          <m:r>
                            <a:rPr lang="it-IT" b="0" i="1" smtClean="0">
                              <a:latin typeface="Cambria Math" panose="02040503050406030204" pitchFamily="18" charset="0"/>
                            </a:rPr>
                            <m:t>, </m:t>
                          </m:r>
                          <m:f>
                            <m:fPr>
                              <m:ctrlPr>
                                <a:rPr lang="it-IT" b="0" i="1" smtClean="0">
                                  <a:latin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𝜔</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𝜔</m:t>
                                  </m:r>
                                </m:e>
                                <m:sub>
                                  <m:r>
                                    <a:rPr lang="it-IT" b="0" i="1" smtClean="0">
                                      <a:latin typeface="Cambria Math" panose="02040503050406030204" pitchFamily="18" charset="0"/>
                                    </a:rPr>
                                    <m:t>𝑠</m:t>
                                  </m:r>
                                </m:sub>
                              </m:sSub>
                            </m:den>
                          </m:f>
                          <m:r>
                            <a:rPr lang="it-IT" b="0" i="1" smtClean="0">
                              <a:latin typeface="Cambria Math" panose="02040503050406030204" pitchFamily="18" charset="0"/>
                            </a:rPr>
                            <m:t>,</m:t>
                          </m:r>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sin</m:t>
                              </m:r>
                            </m:fName>
                            <m:e>
                              <m:r>
                                <a:rPr lang="it-IT" b="0" i="1" smtClean="0">
                                  <a:latin typeface="Cambria Math" panose="02040503050406030204" pitchFamily="18" charset="0"/>
                                  <a:ea typeface="Cambria Math" panose="02040503050406030204" pitchFamily="18" charset="0"/>
                                </a:rPr>
                                <m:t>𝜃</m:t>
                              </m:r>
                            </m:e>
                          </m:func>
                          <m:r>
                            <a:rPr lang="it-IT" b="0" i="1" smtClean="0">
                              <a:latin typeface="Cambria Math" panose="02040503050406030204" pitchFamily="18" charset="0"/>
                            </a:rPr>
                            <m:t>, </m:t>
                          </m:r>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cos</m:t>
                              </m:r>
                            </m:fName>
                            <m:e>
                              <m:r>
                                <a:rPr lang="it-IT" b="0" i="1" smtClean="0">
                                  <a:latin typeface="Cambria Math" panose="02040503050406030204" pitchFamily="18" charset="0"/>
                                  <a:ea typeface="Cambria Math" panose="02040503050406030204" pitchFamily="18" charset="0"/>
                                </a:rPr>
                                <m:t>𝜃</m:t>
                              </m:r>
                            </m:e>
                          </m:func>
                          <m:r>
                            <a:rPr lang="it-IT" b="0" i="1" smtClean="0">
                              <a:latin typeface="Cambria Math" panose="02040503050406030204" pitchFamily="18" charset="0"/>
                            </a:rPr>
                            <m:t>, </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𝑏𝑎𝑠𝑒</m:t>
                                  </m:r>
                                </m:sub>
                              </m:sSub>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𝑚𝑎𝑥</m:t>
                                  </m:r>
                                </m:sub>
                              </m:sSub>
                            </m:den>
                          </m:f>
                        </m:e>
                      </m:d>
                      <m:r>
                        <a:rPr lang="it-IT" b="0" i="1" smtClean="0">
                          <a:latin typeface="Cambria Math" panose="02040503050406030204" pitchFamily="18" charset="0"/>
                          <a:ea typeface="Cambria Math" panose="02040503050406030204" pitchFamily="18" charset="0"/>
                        </a:rPr>
                        <m:t>∈</m:t>
                      </m:r>
                      <m:sSup>
                        <m:sSupPr>
                          <m:ctrlPr>
                            <a:rPr lang="it-IT" b="0" i="1" smtClean="0">
                              <a:latin typeface="Cambria Math" panose="02040503050406030204" pitchFamily="18" charset="0"/>
                              <a:ea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ℝ</m:t>
                          </m:r>
                        </m:e>
                        <m:sup>
                          <m:r>
                            <a:rPr lang="it-IT" b="0" i="1" smtClean="0">
                              <a:latin typeface="Cambria Math" panose="02040503050406030204" pitchFamily="18" charset="0"/>
                              <a:ea typeface="Cambria Math" panose="02040503050406030204" pitchFamily="18" charset="0"/>
                            </a:rPr>
                            <m:t>6</m:t>
                          </m:r>
                        </m:sup>
                      </m:sSup>
                    </m:oMath>
                  </m:oMathPara>
                </a14:m>
                <a:endParaRPr lang="en-US" dirty="0"/>
              </a:p>
            </p:txBody>
          </p:sp>
        </mc:Choice>
        <mc:Fallback xmlns="">
          <p:sp>
            <p:nvSpPr>
              <p:cNvPr id="10" name="TextBox 9">
                <a:extLst>
                  <a:ext uri="{FF2B5EF4-FFF2-40B4-BE49-F238E27FC236}">
                    <a16:creationId xmlns:a16="http://schemas.microsoft.com/office/drawing/2014/main" id="{ADF311AD-11DF-D1FC-18D7-AE83D74FFD2F}"/>
                  </a:ext>
                </a:extLst>
              </p:cNvPr>
              <p:cNvSpPr txBox="1">
                <a:spLocks noRot="1" noChangeAspect="1" noMove="1" noResize="1" noEditPoints="1" noAdjustHandles="1" noChangeArrowheads="1" noChangeShapeType="1" noTextEdit="1"/>
              </p:cNvSpPr>
              <p:nvPr/>
            </p:nvSpPr>
            <p:spPr>
              <a:xfrm>
                <a:off x="7907964" y="1807322"/>
                <a:ext cx="3717108" cy="565348"/>
              </a:xfrm>
              <a:prstGeom prst="rect">
                <a:avLst/>
              </a:prstGeom>
              <a:blipFill>
                <a:blip r:embed="rId3"/>
                <a:stretch>
                  <a:fillRect t="-222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96D21311-9BCF-8EB5-BF85-BFDDD5FFEC26}"/>
                  </a:ext>
                </a:extLst>
              </p:cNvPr>
              <p:cNvGraphicFramePr>
                <a:graphicFrameLocks noGrp="1"/>
              </p:cNvGraphicFramePr>
              <p:nvPr>
                <p:extLst>
                  <p:ext uri="{D42A27DB-BD31-4B8C-83A1-F6EECF244321}">
                    <p14:modId xmlns:p14="http://schemas.microsoft.com/office/powerpoint/2010/main" val="1081257394"/>
                  </p:ext>
                </p:extLst>
              </p:nvPr>
            </p:nvGraphicFramePr>
            <p:xfrm>
              <a:off x="783471" y="3166937"/>
              <a:ext cx="10372225" cy="2057400"/>
            </p:xfrm>
            <a:graphic>
              <a:graphicData uri="http://schemas.openxmlformats.org/drawingml/2006/table">
                <a:tbl>
                  <a:tblPr>
                    <a:tableStyleId>{5C22544A-7EE6-4342-B048-85BDC9FD1C3A}</a:tableStyleId>
                  </a:tblPr>
                  <a:tblGrid>
                    <a:gridCol w="1449910">
                      <a:extLst>
                        <a:ext uri="{9D8B030D-6E8A-4147-A177-3AD203B41FA5}">
                          <a16:colId xmlns:a16="http://schemas.microsoft.com/office/drawing/2014/main" val="20000"/>
                        </a:ext>
                      </a:extLst>
                    </a:gridCol>
                    <a:gridCol w="2661699">
                      <a:extLst>
                        <a:ext uri="{9D8B030D-6E8A-4147-A177-3AD203B41FA5}">
                          <a16:colId xmlns:a16="http://schemas.microsoft.com/office/drawing/2014/main" val="20001"/>
                        </a:ext>
                      </a:extLst>
                    </a:gridCol>
                    <a:gridCol w="6260616">
                      <a:extLst>
                        <a:ext uri="{9D8B030D-6E8A-4147-A177-3AD203B41FA5}">
                          <a16:colId xmlns:a16="http://schemas.microsoft.com/office/drawing/2014/main" val="2435101031"/>
                        </a:ext>
                      </a:extLst>
                    </a:gridCol>
                  </a:tblGrid>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r>
                                      <a:rPr lang="it-IT" sz="1200" b="0" i="1" noProof="1" smtClean="0">
                                        <a:solidFill>
                                          <a:srgbClr val="1D3557"/>
                                        </a:solidFill>
                                        <a:latin typeface="Cambria Math" panose="02040503050406030204" pitchFamily="18" charset="0"/>
                                      </a:rPr>
                                      <m:t>𝑒</m:t>
                                    </m:r>
                                  </m:num>
                                  <m:den>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𝑒</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Speed error, normalised</a:t>
                          </a:r>
                        </a:p>
                      </a:txBody>
                      <a:tcPr marL="73152" marT="27432" marB="27432" anchor="ctr">
                        <a:solidFill>
                          <a:srgbClr val="FBFAF6"/>
                        </a:solidFill>
                      </a:tcPr>
                    </a:tc>
                    <a:tc>
                      <a:txBody>
                        <a:bodyPr/>
                        <a:lstStyle/>
                        <a:p>
                          <a:r>
                            <a:rPr lang="en-US" sz="1200" b="0" noProof="1">
                              <a:solidFill>
                                <a:srgbClr val="4A5A66"/>
                              </a:solidFill>
                              <a:latin typeface="+mn-lt"/>
                            </a:rPr>
                            <a:t>Primary tracking signal, tells the policy how far off we are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r>
                                      <a:rPr lang="en-US" sz="1200" b="0" i="1" noProof="1" smtClean="0">
                                        <a:solidFill>
                                          <a:srgbClr val="1D3557"/>
                                        </a:solidFill>
                                        <a:latin typeface="Cambria Math" panose="02040503050406030204" pitchFamily="18" charset="0"/>
                                        <a:ea typeface="Cambria Math" panose="02040503050406030204" pitchFamily="18" charset="0"/>
                                      </a:rPr>
                                      <m:t>𝜔</m:t>
                                    </m:r>
                                  </m:num>
                                  <m:den>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ea typeface="Cambria Math" panose="02040503050406030204" pitchFamily="18" charset="0"/>
                                          </a:rPr>
                                          <m:t>𝜔</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Current speed, normalised</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Captures the current operating point and back-EMF regime</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14:m>
                            <m:oMathPara xmlns:m="http://schemas.openxmlformats.org/officeDocument/2006/math">
                              <m:oMathParaPr>
                                <m:jc m:val="centerGroup"/>
                              </m:oMathParaPr>
                              <m:oMath xmlns:m="http://schemas.openxmlformats.org/officeDocument/2006/math">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sin</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r>
                                  <a:rPr lang="it-IT" sz="1200" b="0" i="1" noProof="1" smtClean="0">
                                    <a:solidFill>
                                      <a:srgbClr val="4A5A66"/>
                                    </a:solidFill>
                                    <a:latin typeface="Cambria Math" panose="02040503050406030204" pitchFamily="18" charset="0"/>
                                  </a:rPr>
                                  <m:t>,</m:t>
                                </m:r>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cos</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oMath>
                            </m:oMathPara>
                          </a14:m>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Rod angles (2 variables)</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Encodes the gravity load</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sSup>
                                      <m:sSupPr>
                                        <m:ctrlPr>
                                          <a:rPr lang="en-US" sz="1200" b="0" i="1" noProof="1" smtClean="0">
                                            <a:solidFill>
                                              <a:srgbClr val="1D3557"/>
                                            </a:solidFill>
                                            <a:latin typeface="Cambria Math" panose="02040503050406030204" pitchFamily="18" charset="0"/>
                                          </a:rPr>
                                        </m:ctrlPr>
                                      </m:sSupPr>
                                      <m:e>
                                        <m:r>
                                          <a:rPr lang="en-US" sz="1200" b="0" i="1" noProof="1" smtClean="0">
                                            <a:solidFill>
                                              <a:srgbClr val="1D3557"/>
                                            </a:solidFill>
                                            <a:latin typeface="Cambria Math" panose="02040503050406030204" pitchFamily="18" charset="0"/>
                                            <a:ea typeface="Cambria Math" panose="02040503050406030204" pitchFamily="18" charset="0"/>
                                          </a:rPr>
                                          <m:t>𝜔</m:t>
                                        </m:r>
                                      </m:e>
                                      <m:sup>
                                        <m:r>
                                          <a:rPr lang="it-IT" sz="1200" b="0" i="1" noProof="1" smtClean="0">
                                            <a:solidFill>
                                              <a:srgbClr val="1D3557"/>
                                            </a:solidFill>
                                            <a:latin typeface="Cambria Math" panose="02040503050406030204" pitchFamily="18" charset="0"/>
                                          </a:rPr>
                                          <m:t>∗</m:t>
                                        </m:r>
                                      </m:sup>
                                    </m:sSup>
                                  </m:num>
                                  <m:den>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ea typeface="Cambria Math" panose="02040503050406030204" pitchFamily="18" charset="0"/>
                                          </a:rPr>
                                          <m:t>𝜔</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i="0" kern="1200" dirty="0">
                              <a:solidFill>
                                <a:srgbClr val="495A66"/>
                              </a:solidFill>
                              <a:effectLst/>
                              <a:latin typeface="+mn-lt"/>
                              <a:ea typeface="+mn-ea"/>
                              <a:cs typeface="+mn-cs"/>
                            </a:rPr>
                            <a:t>Reference speed,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Lets the policy distinguish a ramp from a step, anticipate the next operating point</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𝑉</m:t>
                                        </m:r>
                                      </m:e>
                                      <m:sub>
                                        <m:r>
                                          <a:rPr lang="it-IT" sz="1200" b="0" i="1" noProof="1" smtClean="0">
                                            <a:solidFill>
                                              <a:srgbClr val="1D3557"/>
                                            </a:solidFill>
                                            <a:latin typeface="Cambria Math" panose="02040503050406030204" pitchFamily="18" charset="0"/>
                                          </a:rPr>
                                          <m:t>𝑏𝑎𝑠𝑒</m:t>
                                        </m:r>
                                      </m:sub>
                                    </m:sSub>
                                  </m:num>
                                  <m:den>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𝑉</m:t>
                                        </m:r>
                                      </m:e>
                                      <m:sub>
                                        <m:r>
                                          <a:rPr lang="it-IT" sz="1200" b="0" i="1" noProof="1" smtClean="0">
                                            <a:solidFill>
                                              <a:srgbClr val="1D3557"/>
                                            </a:solidFill>
                                            <a:latin typeface="Cambria Math" panose="02040503050406030204" pitchFamily="18" charset="0"/>
                                            <a:ea typeface="Cambria Math" panose="02040503050406030204" pitchFamily="18" charset="0"/>
                                          </a:rPr>
                                          <m:t>𝑚𝑎𝑥</m:t>
                                        </m:r>
                                      </m:sub>
                                    </m:sSub>
                                  </m:den>
                                </m:f>
                              </m:oMath>
                            </m:oMathPara>
                          </a14:m>
                          <a:endParaRPr lang="en-US" sz="1200" b="0" i="1" noProof="1">
                            <a:solidFill>
                              <a:srgbClr val="495A66"/>
                            </a:solidFill>
                            <a:latin typeface="+mn-lt"/>
                          </a:endParaRP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PI output,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Tells the policy what the baseline already commands, this is what makes the control </a:t>
                          </a:r>
                          <a:r>
                            <a:rPr lang="en-GB" sz="1200" b="0" i="1" kern="1200" dirty="0">
                              <a:solidFill>
                                <a:srgbClr val="495A66"/>
                              </a:solidFill>
                              <a:effectLst/>
                              <a:latin typeface="+mn-lt"/>
                              <a:ea typeface="+mn-ea"/>
                              <a:cs typeface="+mn-cs"/>
                            </a:rPr>
                            <a:t>residual</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bl>
              </a:graphicData>
            </a:graphic>
          </p:graphicFrame>
        </mc:Choice>
        <mc:Fallback xmlns="">
          <p:graphicFrame>
            <p:nvGraphicFramePr>
              <p:cNvPr id="14" name="Table 13">
                <a:extLst>
                  <a:ext uri="{FF2B5EF4-FFF2-40B4-BE49-F238E27FC236}">
                    <a16:creationId xmlns:a16="http://schemas.microsoft.com/office/drawing/2014/main" id="{96D21311-9BCF-8EB5-BF85-BFDDD5FFEC26}"/>
                  </a:ext>
                </a:extLst>
              </p:cNvPr>
              <p:cNvGraphicFramePr>
                <a:graphicFrameLocks noGrp="1"/>
              </p:cNvGraphicFramePr>
              <p:nvPr>
                <p:extLst>
                  <p:ext uri="{D42A27DB-BD31-4B8C-83A1-F6EECF244321}">
                    <p14:modId xmlns:p14="http://schemas.microsoft.com/office/powerpoint/2010/main" val="1081257394"/>
                  </p:ext>
                </p:extLst>
              </p:nvPr>
            </p:nvGraphicFramePr>
            <p:xfrm>
              <a:off x="783471" y="3166937"/>
              <a:ext cx="10372225" cy="2057400"/>
            </p:xfrm>
            <a:graphic>
              <a:graphicData uri="http://schemas.openxmlformats.org/drawingml/2006/table">
                <a:tbl>
                  <a:tblPr>
                    <a:tableStyleId>{5C22544A-7EE6-4342-B048-85BDC9FD1C3A}</a:tableStyleId>
                  </a:tblPr>
                  <a:tblGrid>
                    <a:gridCol w="1449910">
                      <a:extLst>
                        <a:ext uri="{9D8B030D-6E8A-4147-A177-3AD203B41FA5}">
                          <a16:colId xmlns:a16="http://schemas.microsoft.com/office/drawing/2014/main" val="20000"/>
                        </a:ext>
                      </a:extLst>
                    </a:gridCol>
                    <a:gridCol w="2661699">
                      <a:extLst>
                        <a:ext uri="{9D8B030D-6E8A-4147-A177-3AD203B41FA5}">
                          <a16:colId xmlns:a16="http://schemas.microsoft.com/office/drawing/2014/main" val="20001"/>
                        </a:ext>
                      </a:extLst>
                    </a:gridCol>
                    <a:gridCol w="6260616">
                      <a:extLst>
                        <a:ext uri="{9D8B030D-6E8A-4147-A177-3AD203B41FA5}">
                          <a16:colId xmlns:a16="http://schemas.microsoft.com/office/drawing/2014/main" val="2435101031"/>
                        </a:ext>
                      </a:extLst>
                    </a:gridCol>
                  </a:tblGrid>
                  <a:tr h="411480">
                    <a:tc>
                      <a:txBody>
                        <a:bodyPr/>
                        <a:lstStyle/>
                        <a:p>
                          <a:endParaRPr lang="en-IT"/>
                        </a:p>
                      </a:txBody>
                      <a:tcPr marL="73152" marT="27432" marB="27432" anchor="ctr">
                        <a:blipFill>
                          <a:blip r:embed="rId4"/>
                          <a:stretch>
                            <a:fillRect l="-877" t="-48485" r="-618421" b="-481818"/>
                          </a:stretch>
                        </a:blipFill>
                      </a:tcPr>
                    </a:tc>
                    <a:tc>
                      <a:txBody>
                        <a:bodyPr/>
                        <a:lstStyle/>
                        <a:p>
                          <a:r>
                            <a:rPr lang="en-US" sz="1200" b="0" noProof="1">
                              <a:solidFill>
                                <a:srgbClr val="4A5A66"/>
                              </a:solidFill>
                              <a:latin typeface="+mn-lt"/>
                            </a:rPr>
                            <a:t>Speed error, normalised</a:t>
                          </a:r>
                        </a:p>
                      </a:txBody>
                      <a:tcPr marL="73152" marT="27432" marB="27432" anchor="ctr">
                        <a:solidFill>
                          <a:srgbClr val="FBFAF6"/>
                        </a:solidFill>
                      </a:tcPr>
                    </a:tc>
                    <a:tc>
                      <a:txBody>
                        <a:bodyPr/>
                        <a:lstStyle/>
                        <a:p>
                          <a:r>
                            <a:rPr lang="en-US" sz="1200" b="0" noProof="1">
                              <a:solidFill>
                                <a:srgbClr val="4A5A66"/>
                              </a:solidFill>
                              <a:latin typeface="+mn-lt"/>
                            </a:rPr>
                            <a:t>Primary tracking signal, tells the policy how far off we are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endParaRPr lang="en-IT"/>
                        </a:p>
                      </a:txBody>
                      <a:tcPr marL="73152" marT="27432" marB="27432" anchor="ctr">
                        <a:blipFill>
                          <a:blip r:embed="rId4"/>
                          <a:stretch>
                            <a:fillRect l="-877" t="-153125" r="-618421" b="-396875"/>
                          </a:stretch>
                        </a:blipFill>
                      </a:tcPr>
                    </a:tc>
                    <a:tc>
                      <a:txBody>
                        <a:bodyPr/>
                        <a:lstStyle/>
                        <a:p>
                          <a:r>
                            <a:rPr lang="en-US" sz="1200" b="0" noProof="1">
                              <a:solidFill>
                                <a:srgbClr val="495A66"/>
                              </a:solidFill>
                              <a:latin typeface="+mn-lt"/>
                            </a:rPr>
                            <a:t>Current speed, normalised</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Captures the current operating point and back-EMF regime</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endParaRPr lang="en-IT"/>
                        </a:p>
                      </a:txBody>
                      <a:tcPr marL="73152" marT="27432" marB="27432" anchor="ctr">
                        <a:blipFill>
                          <a:blip r:embed="rId4"/>
                          <a:stretch>
                            <a:fillRect l="-877" t="-245455" r="-618421" b="-284848"/>
                          </a:stretch>
                        </a:blipFill>
                      </a:tcPr>
                    </a:tc>
                    <a:tc>
                      <a:txBody>
                        <a:bodyPr/>
                        <a:lstStyle/>
                        <a:p>
                          <a:r>
                            <a:rPr lang="en-US" sz="1200" b="0" noProof="1">
                              <a:solidFill>
                                <a:srgbClr val="4A5A66"/>
                              </a:solidFill>
                              <a:latin typeface="+mn-lt"/>
                            </a:rPr>
                            <a:t>Rod angles (2 variables)</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Encodes the gravity load</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endParaRPr lang="en-IT"/>
                        </a:p>
                      </a:txBody>
                      <a:tcPr marL="73152" marT="27432" marB="27432" anchor="ctr">
                        <a:blipFill>
                          <a:blip r:embed="rId4"/>
                          <a:stretch>
                            <a:fillRect l="-877" t="-356250" r="-618421" b="-193750"/>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i="0" kern="1200" dirty="0">
                              <a:solidFill>
                                <a:srgbClr val="495A66"/>
                              </a:solidFill>
                              <a:effectLst/>
                              <a:latin typeface="+mn-lt"/>
                              <a:ea typeface="+mn-ea"/>
                              <a:cs typeface="+mn-cs"/>
                            </a:rPr>
                            <a:t>Reference speed,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Lets the policy distinguish a ramp from a step, anticipate the next operating point</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endParaRPr lang="en-IT"/>
                        </a:p>
                      </a:txBody>
                      <a:tcPr marL="73152" marT="27432" marB="27432" anchor="ctr">
                        <a:blipFill>
                          <a:blip r:embed="rId4"/>
                          <a:stretch>
                            <a:fillRect l="-877" t="-442424" r="-618421" b="-87879"/>
                          </a:stretch>
                        </a:blipFill>
                      </a:tcPr>
                    </a:tc>
                    <a:tc>
                      <a:txBody>
                        <a:bodyPr/>
                        <a:lstStyle/>
                        <a:p>
                          <a:r>
                            <a:rPr lang="en-GB" sz="1200" b="0" i="0" kern="1200" noProof="1">
                              <a:solidFill>
                                <a:srgbClr val="495A66"/>
                              </a:solidFill>
                              <a:effectLst/>
                              <a:latin typeface="+mn-lt"/>
                              <a:ea typeface="+mn-ea"/>
                              <a:cs typeface="+mn-cs"/>
                            </a:rPr>
                            <a:t>PI output,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Tells the policy what the baseline already commands, this is what makes the control </a:t>
                          </a:r>
                          <a:r>
                            <a:rPr lang="en-GB" sz="1200" b="0" i="1" kern="1200" dirty="0">
                              <a:solidFill>
                                <a:srgbClr val="495A66"/>
                              </a:solidFill>
                              <a:effectLst/>
                              <a:latin typeface="+mn-lt"/>
                              <a:ea typeface="+mn-ea"/>
                              <a:cs typeface="+mn-cs"/>
                            </a:rPr>
                            <a:t>residual</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07D110A-3990-A1EE-493C-99E2EA2A40CA}"/>
                  </a:ext>
                </a:extLst>
              </p:cNvPr>
              <p:cNvSpPr txBox="1"/>
              <p:nvPr/>
            </p:nvSpPr>
            <p:spPr>
              <a:xfrm>
                <a:off x="955103" y="5323652"/>
                <a:ext cx="10735946" cy="646331"/>
              </a:xfrm>
              <a:prstGeom prst="rect">
                <a:avLst/>
              </a:prstGeom>
              <a:noFill/>
            </p:spPr>
            <p:txBody>
              <a:bodyPr wrap="square">
                <a:spAutoFit/>
              </a:bodyPr>
              <a:lstStyle/>
              <a:p>
                <a14:m>
                  <m:oMath xmlns:m="http://schemas.openxmlformats.org/officeDocument/2006/math">
                    <m:sSub>
                      <m:sSubPr>
                        <m:ctrlPr>
                          <a:rPr lang="en-GB" sz="1200" b="0" i="1" smtClean="0">
                            <a:solidFill>
                              <a:srgbClr val="495A66"/>
                            </a:solidFill>
                            <a:effectLst/>
                            <a:latin typeface="Cambria Math" panose="02040503050406030204" pitchFamily="18" charset="0"/>
                            <a:cs typeface="Consolas" panose="020B0609020204030204" pitchFamily="49" charset="0"/>
                          </a:rPr>
                        </m:ctrlPr>
                      </m:sSubPr>
                      <m:e>
                        <m:r>
                          <a:rPr lang="it-IT" sz="1200" b="0" i="1" smtClean="0">
                            <a:solidFill>
                              <a:srgbClr val="495A66"/>
                            </a:solidFill>
                            <a:effectLst/>
                            <a:latin typeface="Cambria Math" panose="02040503050406030204" pitchFamily="18" charset="0"/>
                            <a:cs typeface="Consolas" panose="020B0609020204030204" pitchFamily="49" charset="0"/>
                          </a:rPr>
                          <m:t>𝑒</m:t>
                        </m:r>
                      </m:e>
                      <m:sub>
                        <m:r>
                          <a:rPr lang="it-IT" sz="1200" b="0" i="1" smtClean="0">
                            <a:solidFill>
                              <a:srgbClr val="495A66"/>
                            </a:solidFill>
                            <a:effectLst/>
                            <a:latin typeface="Cambria Math" panose="02040503050406030204" pitchFamily="18" charset="0"/>
                            <a:cs typeface="Consolas" panose="020B0609020204030204" pitchFamily="49" charset="0"/>
                          </a:rPr>
                          <m:t>𝑠</m:t>
                        </m:r>
                      </m:sub>
                    </m:sSub>
                    <m:r>
                      <a:rPr lang="it-IT" sz="1200" b="0" i="1" smtClean="0">
                        <a:solidFill>
                          <a:srgbClr val="495A66"/>
                        </a:solidFill>
                        <a:effectLst/>
                        <a:latin typeface="Cambria Math" panose="02040503050406030204" pitchFamily="18" charset="0"/>
                        <a:cs typeface="Consolas" panose="020B0609020204030204" pitchFamily="49" charset="0"/>
                      </a:rPr>
                      <m:t>=5 </m:t>
                    </m:r>
                    <m:r>
                      <a:rPr lang="it-IT" sz="1200" b="0" i="1" smtClean="0">
                        <a:solidFill>
                          <a:srgbClr val="495A66"/>
                        </a:solidFill>
                        <a:effectLst/>
                        <a:latin typeface="Cambria Math" panose="02040503050406030204" pitchFamily="18" charset="0"/>
                        <a:cs typeface="Consolas" panose="020B0609020204030204" pitchFamily="49" charset="0"/>
                      </a:rPr>
                      <m:t>𝑟𝑎𝑑</m:t>
                    </m:r>
                    <m:r>
                      <a:rPr lang="it-IT" sz="1200" b="0" i="1" smtClean="0">
                        <a:solidFill>
                          <a:srgbClr val="495A66"/>
                        </a:solidFill>
                        <a:effectLst/>
                        <a:latin typeface="Cambria Math" panose="02040503050406030204" pitchFamily="18" charset="0"/>
                        <a:cs typeface="Consolas" panose="020B0609020204030204" pitchFamily="49" charset="0"/>
                      </a:rPr>
                      <m:t>/</m:t>
                    </m:r>
                    <m:r>
                      <a:rPr lang="it-IT" sz="1200" b="0" i="1" smtClean="0">
                        <a:solidFill>
                          <a:srgbClr val="495A66"/>
                        </a:solidFill>
                        <a:effectLst/>
                        <a:latin typeface="Cambria Math" panose="02040503050406030204" pitchFamily="18" charset="0"/>
                        <a:cs typeface="Consolas" panose="020B0609020204030204" pitchFamily="49" charset="0"/>
                      </a:rPr>
                      <m:t>𝑠</m:t>
                    </m:r>
                  </m:oMath>
                </a14:m>
                <a:r>
                  <a:rPr lang="en-GB" sz="1200" b="0" i="0" dirty="0">
                    <a:solidFill>
                      <a:srgbClr val="495A66"/>
                    </a:solidFill>
                    <a:effectLst/>
                    <a:latin typeface="Consolas" panose="020B0609020204030204" pitchFamily="49" charset="0"/>
                    <a:cs typeface="Consolas" panose="020B0609020204030204" pitchFamily="49" charset="0"/>
                  </a:rPr>
                  <a:t>, a moderately large tracking error; maps typical errors to </a:t>
                </a:r>
                <a14:m>
                  <m:oMath xmlns:m="http://schemas.openxmlformats.org/officeDocument/2006/math">
                    <m:r>
                      <a:rPr lang="en-GB" sz="1200" b="0" i="1" smtClean="0">
                        <a:solidFill>
                          <a:srgbClr val="495A66"/>
                        </a:solidFill>
                        <a:effectLst/>
                        <a:latin typeface="Cambria Math" panose="02040503050406030204" pitchFamily="18" charset="0"/>
                        <a:ea typeface="Cambria Math" panose="02040503050406030204" pitchFamily="18" charset="0"/>
                        <a:cs typeface="Consolas" panose="020B0609020204030204" pitchFamily="49" charset="0"/>
                      </a:rPr>
                      <m:t>~</m:t>
                    </m:r>
                    <m:r>
                      <a:rPr lang="it-IT" sz="1200" b="0" i="1" smtClean="0">
                        <a:solidFill>
                          <a:srgbClr val="495A66"/>
                        </a:solidFill>
                        <a:effectLst/>
                        <a:latin typeface="Cambria Math" panose="02040503050406030204" pitchFamily="18" charset="0"/>
                        <a:ea typeface="Cambria Math" panose="02040503050406030204" pitchFamily="18" charset="0"/>
                        <a:cs typeface="Consolas" panose="020B0609020204030204" pitchFamily="49" charset="0"/>
                      </a:rPr>
                      <m:t>1</m:t>
                    </m:r>
                  </m:oMath>
                </a14:m>
                <a:r>
                  <a:rPr lang="en-GB" sz="1200" b="0" i="0" dirty="0">
                    <a:solidFill>
                      <a:srgbClr val="495A66"/>
                    </a:solidFill>
                    <a:effectLst/>
                    <a:latin typeface="Consolas" panose="020B0609020204030204" pitchFamily="49" charset="0"/>
                    <a:cs typeface="Consolas" panose="020B0609020204030204" pitchFamily="49" charset="0"/>
                  </a:rPr>
                  <a:t>, saturation errors to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cs typeface="Consolas" panose="020B0609020204030204" pitchFamily="49" charset="0"/>
                      </a:rPr>
                      <m:t>~</m:t>
                    </m:r>
                    <m:r>
                      <a:rPr lang="it-IT" sz="1200" b="0" i="1" smtClean="0">
                        <a:solidFill>
                          <a:srgbClr val="495A66"/>
                        </a:solidFill>
                        <a:latin typeface="Cambria Math" panose="02040503050406030204" pitchFamily="18" charset="0"/>
                        <a:ea typeface="Cambria Math" panose="02040503050406030204" pitchFamily="18" charset="0"/>
                        <a:cs typeface="Consolas" panose="020B0609020204030204" pitchFamily="49" charset="0"/>
                      </a:rPr>
                      <m:t>2</m:t>
                    </m:r>
                  </m:oMath>
                </a14:m>
                <a:endParaRPr lang="en-GB" sz="1200" b="0" i="0" dirty="0">
                  <a:solidFill>
                    <a:srgbClr val="495A66"/>
                  </a:solidFill>
                  <a:effectLst/>
                  <a:latin typeface="Consolas" panose="020B0609020204030204" pitchFamily="49" charset="0"/>
                  <a:cs typeface="Consolas" panose="020B0609020204030204" pitchFamily="49" charset="0"/>
                </a:endParaRPr>
              </a:p>
              <a:p>
                <a14:m>
                  <m:oMath xmlns:m="http://schemas.openxmlformats.org/officeDocument/2006/math">
                    <m:sSub>
                      <m:sSubPr>
                        <m:ctrlPr>
                          <a:rPr lang="en-GB" sz="1200" i="1">
                            <a:solidFill>
                              <a:srgbClr val="495A66"/>
                            </a:solidFill>
                            <a:latin typeface="Cambria Math" panose="02040503050406030204" pitchFamily="18" charset="0"/>
                            <a:cs typeface="Consolas" panose="020B0609020204030204" pitchFamily="49" charset="0"/>
                          </a:rPr>
                        </m:ctrlPr>
                      </m:sSubPr>
                      <m:e>
                        <m:r>
                          <a:rPr lang="en-GB" sz="1200" i="1" smtClean="0">
                            <a:solidFill>
                              <a:srgbClr val="495A66"/>
                            </a:solidFill>
                            <a:latin typeface="Cambria Math" panose="02040503050406030204" pitchFamily="18" charset="0"/>
                            <a:ea typeface="Cambria Math" panose="02040503050406030204" pitchFamily="18" charset="0"/>
                            <a:cs typeface="Consolas" panose="020B0609020204030204" pitchFamily="49" charset="0"/>
                          </a:rPr>
                          <m:t>𝜔</m:t>
                        </m:r>
                      </m:e>
                      <m:sub>
                        <m:r>
                          <a:rPr lang="it-IT" sz="1200" i="1">
                            <a:solidFill>
                              <a:srgbClr val="495A66"/>
                            </a:solidFill>
                            <a:latin typeface="Cambria Math" panose="02040503050406030204" pitchFamily="18" charset="0"/>
                            <a:cs typeface="Consolas" panose="020B0609020204030204" pitchFamily="49" charset="0"/>
                          </a:rPr>
                          <m:t>𝑠</m:t>
                        </m:r>
                      </m:sub>
                    </m:sSub>
                    <m:r>
                      <a:rPr lang="it-IT" sz="1200" i="1">
                        <a:solidFill>
                          <a:srgbClr val="495A66"/>
                        </a:solidFill>
                        <a:latin typeface="Cambria Math" panose="02040503050406030204" pitchFamily="18" charset="0"/>
                        <a:cs typeface="Consolas" panose="020B0609020204030204" pitchFamily="49" charset="0"/>
                      </a:rPr>
                      <m:t>=</m:t>
                    </m:r>
                    <m:r>
                      <a:rPr lang="it-IT" sz="1200" b="0" i="1" smtClean="0">
                        <a:solidFill>
                          <a:srgbClr val="495A66"/>
                        </a:solidFill>
                        <a:latin typeface="Cambria Math" panose="02040503050406030204" pitchFamily="18" charset="0"/>
                        <a:cs typeface="Consolas" panose="020B0609020204030204" pitchFamily="49" charset="0"/>
                      </a:rPr>
                      <m:t>12 </m:t>
                    </m:r>
                    <m:r>
                      <a:rPr lang="it-IT" sz="1200" i="1">
                        <a:solidFill>
                          <a:srgbClr val="495A66"/>
                        </a:solidFill>
                        <a:latin typeface="Cambria Math" panose="02040503050406030204" pitchFamily="18" charset="0"/>
                        <a:cs typeface="Consolas" panose="020B0609020204030204" pitchFamily="49" charset="0"/>
                      </a:rPr>
                      <m:t>𝑟𝑎𝑑</m:t>
                    </m:r>
                    <m:r>
                      <a:rPr lang="it-IT" sz="1200" i="1">
                        <a:solidFill>
                          <a:srgbClr val="495A66"/>
                        </a:solidFill>
                        <a:latin typeface="Cambria Math" panose="02040503050406030204" pitchFamily="18" charset="0"/>
                        <a:cs typeface="Consolas" panose="020B0609020204030204" pitchFamily="49" charset="0"/>
                      </a:rPr>
                      <m:t>/</m:t>
                    </m:r>
                    <m:r>
                      <a:rPr lang="it-IT" sz="1200" i="1">
                        <a:solidFill>
                          <a:srgbClr val="495A66"/>
                        </a:solidFill>
                        <a:latin typeface="Cambria Math" panose="02040503050406030204" pitchFamily="18" charset="0"/>
                        <a:cs typeface="Consolas" panose="020B0609020204030204" pitchFamily="49" charset="0"/>
                      </a:rPr>
                      <m:t>𝑠</m:t>
                    </m:r>
                    <m:r>
                      <a:rPr lang="it-IT" sz="1200" i="1">
                        <a:solidFill>
                          <a:srgbClr val="495A66"/>
                        </a:solidFill>
                        <a:latin typeface="Cambria Math" panose="02040503050406030204" pitchFamily="18" charset="0"/>
                        <a:cs typeface="Consolas" panose="020B0609020204030204" pitchFamily="49" charset="0"/>
                      </a:rPr>
                      <m:t> </m:t>
                    </m:r>
                  </m:oMath>
                </a14:m>
                <a:r>
                  <a:rPr lang="en-GB" sz="1200" b="0" i="0" dirty="0">
                    <a:solidFill>
                      <a:srgbClr val="495A66"/>
                    </a:solidFill>
                    <a:effectLst/>
                    <a:latin typeface="Consolas" panose="020B0609020204030204" pitchFamily="49" charset="0"/>
                    <a:cs typeface="Consolas" panose="020B0609020204030204" pitchFamily="49" charset="0"/>
                  </a:rPr>
                  <a:t>, just above the maximum reference (</a:t>
                </a:r>
                <a14:m>
                  <m:oMath xmlns:m="http://schemas.openxmlformats.org/officeDocument/2006/math">
                    <m:r>
                      <a:rPr lang="it-IT" sz="1200" b="0" i="1" smtClean="0">
                        <a:solidFill>
                          <a:srgbClr val="495A66"/>
                        </a:solidFill>
                        <a:latin typeface="Cambria Math" panose="02040503050406030204" pitchFamily="18" charset="0"/>
                        <a:cs typeface="Consolas" panose="020B0609020204030204" pitchFamily="49" charset="0"/>
                      </a:rPr>
                      <m:t>12</m:t>
                    </m:r>
                    <m:r>
                      <a:rPr lang="it-IT" sz="1200" i="1">
                        <a:solidFill>
                          <a:srgbClr val="495A66"/>
                        </a:solidFill>
                        <a:latin typeface="Cambria Math" panose="02040503050406030204" pitchFamily="18" charset="0"/>
                        <a:cs typeface="Consolas" panose="020B0609020204030204" pitchFamily="49" charset="0"/>
                      </a:rPr>
                      <m:t> </m:t>
                    </m:r>
                    <m:r>
                      <a:rPr lang="it-IT" sz="1200" i="1">
                        <a:solidFill>
                          <a:srgbClr val="495A66"/>
                        </a:solidFill>
                        <a:latin typeface="Cambria Math" panose="02040503050406030204" pitchFamily="18" charset="0"/>
                        <a:cs typeface="Consolas" panose="020B0609020204030204" pitchFamily="49" charset="0"/>
                      </a:rPr>
                      <m:t>𝑟𝑎𝑑</m:t>
                    </m:r>
                    <m:r>
                      <a:rPr lang="it-IT" sz="1200" i="1">
                        <a:solidFill>
                          <a:srgbClr val="495A66"/>
                        </a:solidFill>
                        <a:latin typeface="Cambria Math" panose="02040503050406030204" pitchFamily="18" charset="0"/>
                        <a:cs typeface="Consolas" panose="020B0609020204030204" pitchFamily="49" charset="0"/>
                      </a:rPr>
                      <m:t>/</m:t>
                    </m:r>
                    <m:r>
                      <a:rPr lang="it-IT" sz="1200" i="1">
                        <a:solidFill>
                          <a:srgbClr val="495A66"/>
                        </a:solidFill>
                        <a:latin typeface="Cambria Math" panose="02040503050406030204" pitchFamily="18" charset="0"/>
                        <a:cs typeface="Consolas" panose="020B0609020204030204" pitchFamily="49" charset="0"/>
                      </a:rPr>
                      <m:t>𝑠</m:t>
                    </m:r>
                  </m:oMath>
                </a14:m>
                <a:r>
                  <a:rPr lang="en-GB" sz="1200" b="0" i="0" dirty="0">
                    <a:solidFill>
                      <a:srgbClr val="495A66"/>
                    </a:solidFill>
                    <a:effectLst/>
                    <a:latin typeface="Consolas" panose="020B0609020204030204" pitchFamily="49" charset="0"/>
                    <a:cs typeface="Consolas" panose="020B0609020204030204" pitchFamily="49" charset="0"/>
                  </a:rPr>
                  <a:t>); keeps all speed features in [-1, 1]</a:t>
                </a:r>
              </a:p>
              <a:p>
                <a:pPr algn="l">
                  <a:buNone/>
                </a:pPr>
                <a:r>
                  <a:rPr lang="en-GB" sz="1200" b="0" i="0" dirty="0">
                    <a:solidFill>
                      <a:srgbClr val="495A66"/>
                    </a:solidFill>
                    <a:effectLst/>
                    <a:latin typeface="Consolas" panose="020B0609020204030204" pitchFamily="49" charset="0"/>
                    <a:cs typeface="Consolas" panose="020B0609020204030204" pitchFamily="49" charset="0"/>
                  </a:rPr>
                  <a:t>All six features are clipped to [-10, 10] before entering the network, no unbounded inputs</a:t>
                </a:r>
              </a:p>
            </p:txBody>
          </p:sp>
        </mc:Choice>
        <mc:Fallback xmlns="">
          <p:sp>
            <p:nvSpPr>
              <p:cNvPr id="16" name="TextBox 15">
                <a:extLst>
                  <a:ext uri="{FF2B5EF4-FFF2-40B4-BE49-F238E27FC236}">
                    <a16:creationId xmlns:a16="http://schemas.microsoft.com/office/drawing/2014/main" id="{807D110A-3990-A1EE-493C-99E2EA2A40CA}"/>
                  </a:ext>
                </a:extLst>
              </p:cNvPr>
              <p:cNvSpPr txBox="1">
                <a:spLocks noRot="1" noChangeAspect="1" noMove="1" noResize="1" noEditPoints="1" noAdjustHandles="1" noChangeArrowheads="1" noChangeShapeType="1" noTextEdit="1"/>
              </p:cNvSpPr>
              <p:nvPr/>
            </p:nvSpPr>
            <p:spPr>
              <a:xfrm>
                <a:off x="955103" y="5323652"/>
                <a:ext cx="10735946" cy="646331"/>
              </a:xfrm>
              <a:prstGeom prst="rect">
                <a:avLst/>
              </a:prstGeom>
              <a:blipFill>
                <a:blip r:embed="rId5"/>
                <a:stretch>
                  <a:fillRect b="-5882"/>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8F02F9F-2710-A0DA-F6E0-4C736C8D5BA7}"/>
              </a:ext>
            </a:extLst>
          </p:cNvPr>
          <p:cNvSpPr txBox="1"/>
          <p:nvPr/>
        </p:nvSpPr>
        <p:spPr>
          <a:xfrm>
            <a:off x="783471" y="1472240"/>
            <a:ext cx="6853622" cy="1569660"/>
          </a:xfrm>
          <a:prstGeom prst="rect">
            <a:avLst/>
          </a:prstGeom>
          <a:noFill/>
        </p:spPr>
        <p:txBody>
          <a:bodyPr wrap="square" rtlCol="0">
            <a:spAutoFit/>
          </a:bodyPr>
          <a:lstStyle/>
          <a:p>
            <a:r>
              <a:rPr lang="en-GB" sz="1600" dirty="0">
                <a:solidFill>
                  <a:srgbClr val="495A66"/>
                </a:solidFill>
              </a:rPr>
              <a:t>It is the interface between the system and the neural network. </a:t>
            </a:r>
          </a:p>
          <a:p>
            <a:r>
              <a:rPr lang="en-GB" sz="1600" dirty="0">
                <a:solidFill>
                  <a:srgbClr val="495A66"/>
                </a:solidFill>
              </a:rPr>
              <a:t>At every step it collects raw measurements and converts them into the</a:t>
            </a:r>
            <a:r>
              <a:rPr lang="en-GB" sz="1600" b="1" dirty="0">
                <a:solidFill>
                  <a:srgbClr val="495A66"/>
                </a:solidFill>
              </a:rPr>
              <a:t> input vector</a:t>
            </a:r>
            <a:r>
              <a:rPr lang="en-GB" sz="1600" dirty="0">
                <a:solidFill>
                  <a:srgbClr val="495A66"/>
                </a:solidFill>
              </a:rPr>
              <a:t>. It does three things:</a:t>
            </a:r>
          </a:p>
          <a:p>
            <a:r>
              <a:rPr lang="en-US" sz="1600" b="1" noProof="1">
                <a:solidFill>
                  <a:srgbClr val="E07A5F"/>
                </a:solidFill>
              </a:rPr>
              <a:t>— </a:t>
            </a:r>
            <a:r>
              <a:rPr lang="en-GB" sz="1600" dirty="0">
                <a:solidFill>
                  <a:srgbClr val="495A66"/>
                </a:solidFill>
              </a:rPr>
              <a:t>selects only the variables needed to compute </a:t>
            </a:r>
            <a:r>
              <a:rPr lang="el-GR" sz="1600" dirty="0">
                <a:solidFill>
                  <a:srgbClr val="495A66"/>
                </a:solidFill>
              </a:rPr>
              <a:t>Δ</a:t>
            </a:r>
            <a:r>
              <a:rPr lang="en-GB" sz="1600" dirty="0">
                <a:solidFill>
                  <a:srgbClr val="495A66"/>
                </a:solidFill>
              </a:rPr>
              <a:t>V, discarding everything else; </a:t>
            </a:r>
          </a:p>
          <a:p>
            <a:r>
              <a:rPr lang="en-US" sz="1600" b="1" noProof="1">
                <a:solidFill>
                  <a:srgbClr val="1D3557"/>
                </a:solidFill>
              </a:rPr>
              <a:t>— </a:t>
            </a:r>
            <a:r>
              <a:rPr lang="en-GB" sz="1600" dirty="0">
                <a:solidFill>
                  <a:srgbClr val="495A66"/>
                </a:solidFill>
              </a:rPr>
              <a:t>normalises each quantity so that training is numerically stable; </a:t>
            </a:r>
          </a:p>
          <a:p>
            <a:r>
              <a:rPr lang="en-US" sz="1600" b="1" noProof="1">
                <a:solidFill>
                  <a:srgbClr val="2A9D8F"/>
                </a:solidFill>
              </a:rPr>
              <a:t>—</a:t>
            </a:r>
            <a:r>
              <a:rPr lang="en-US" sz="1600" b="1" noProof="1">
                <a:solidFill>
                  <a:srgbClr val="E07A5F"/>
                </a:solidFill>
              </a:rPr>
              <a:t> </a:t>
            </a:r>
            <a:r>
              <a:rPr lang="en-GB" sz="1600" dirty="0">
                <a:solidFill>
                  <a:srgbClr val="495A66"/>
                </a:solidFill>
              </a:rPr>
              <a:t>re-encodes the rod angle as (sin </a:t>
            </a:r>
            <a:r>
              <a:rPr lang="el-GR" sz="1600" dirty="0">
                <a:solidFill>
                  <a:srgbClr val="495A66"/>
                </a:solidFill>
              </a:rPr>
              <a:t>θ, </a:t>
            </a:r>
            <a:r>
              <a:rPr lang="en-GB" sz="1600" dirty="0">
                <a:solidFill>
                  <a:srgbClr val="495A66"/>
                </a:solidFill>
              </a:rPr>
              <a:t>cos </a:t>
            </a:r>
            <a:r>
              <a:rPr lang="el-GR" sz="1600" dirty="0">
                <a:solidFill>
                  <a:srgbClr val="495A66"/>
                </a:solidFill>
              </a:rPr>
              <a:t>θ) </a:t>
            </a:r>
            <a:r>
              <a:rPr lang="en-GB" sz="1600" dirty="0">
                <a:solidFill>
                  <a:srgbClr val="495A66"/>
                </a:solidFill>
              </a:rPr>
              <a:t>to avoid the discontinuity at ±</a:t>
            </a:r>
            <a:r>
              <a:rPr lang="el-GR" sz="1600" dirty="0">
                <a:solidFill>
                  <a:srgbClr val="495A66"/>
                </a:solidFill>
              </a:rPr>
              <a:t>π. </a:t>
            </a:r>
            <a:endParaRPr lang="it-IT" sz="1600" dirty="0">
              <a:solidFill>
                <a:srgbClr val="495A66"/>
              </a:solidFill>
            </a:endParaRPr>
          </a:p>
        </p:txBody>
      </p:sp>
      <p:sp>
        <p:nvSpPr>
          <p:cNvPr id="21" name="TextBox 20">
            <a:extLst>
              <a:ext uri="{FF2B5EF4-FFF2-40B4-BE49-F238E27FC236}">
                <a16:creationId xmlns:a16="http://schemas.microsoft.com/office/drawing/2014/main" id="{F22B5431-1B01-AC7A-D8E5-F5AD5A21B8C7}"/>
              </a:ext>
            </a:extLst>
          </p:cNvPr>
          <p:cNvSpPr txBox="1"/>
          <p:nvPr/>
        </p:nvSpPr>
        <p:spPr>
          <a:xfrm>
            <a:off x="955103" y="6069298"/>
            <a:ext cx="10735946" cy="584775"/>
          </a:xfrm>
          <a:prstGeom prst="rect">
            <a:avLst/>
          </a:prstGeom>
          <a:noFill/>
        </p:spPr>
        <p:txBody>
          <a:bodyPr wrap="square" rtlCol="0">
            <a:spAutoFit/>
          </a:bodyPr>
          <a:lstStyle/>
          <a:p>
            <a:r>
              <a:rPr lang="en-GB" sz="1600" dirty="0">
                <a:solidFill>
                  <a:srgbClr val="495A66"/>
                </a:solidFill>
              </a:rPr>
              <a:t>The observer is minimal by design: </a:t>
            </a:r>
            <a:r>
              <a:rPr lang="en-GB" sz="1600" b="1" dirty="0">
                <a:solidFill>
                  <a:srgbClr val="495A66"/>
                </a:solidFill>
              </a:rPr>
              <a:t>6 scalars</a:t>
            </a:r>
            <a:r>
              <a:rPr lang="en-GB" sz="1600" dirty="0">
                <a:solidFill>
                  <a:srgbClr val="495A66"/>
                </a:solidFill>
              </a:rPr>
              <a:t>, no history, no raw sensor data. The policy has exactly what it needs to compute the missing feedforward and nothing more.</a:t>
            </a:r>
            <a:endParaRPr lang="en-US" sz="1600" dirty="0">
              <a:solidFill>
                <a:srgbClr val="495A6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B3  </a:t>
            </a:r>
            <a:r>
              <a:rPr lang="en-US" sz="1100" noProof="1">
                <a:solidFill>
                  <a:srgbClr val="2A9D8F"/>
                </a:solidFill>
                <a:latin typeface="Consolas"/>
              </a:rPr>
              <a:t>RESIDUAL REINFORCEMENT LEARNING - Framework</a:t>
            </a:r>
          </a:p>
        </p:txBody>
      </p:sp>
      <p:sp>
        <p:nvSpPr>
          <p:cNvPr id="6" name="TextBox 5">
            <a:extLst>
              <a:ext uri="{FF2B5EF4-FFF2-40B4-BE49-F238E27FC236}">
                <a16:creationId xmlns:a16="http://schemas.microsoft.com/office/drawing/2014/main" id="{AC258EC4-9F80-46FB-4846-7C75C56CF050}"/>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Reward Function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3BAFD13-364B-524D-317F-58F9B918BECE}"/>
                  </a:ext>
                </a:extLst>
              </p:cNvPr>
              <p:cNvSpPr txBox="1"/>
              <p:nvPr/>
            </p:nvSpPr>
            <p:spPr>
              <a:xfrm>
                <a:off x="777236" y="1473803"/>
                <a:ext cx="10698483" cy="2077941"/>
              </a:xfrm>
              <a:prstGeom prst="rect">
                <a:avLst/>
              </a:prstGeom>
              <a:noFill/>
            </p:spPr>
            <p:txBody>
              <a:bodyPr wrap="square" rtlCol="0">
                <a:spAutoFit/>
              </a:bodyPr>
              <a:lstStyle/>
              <a:p>
                <a:r>
                  <a:rPr lang="en-GB" sz="1600" dirty="0">
                    <a:solidFill>
                      <a:srgbClr val="495A66"/>
                    </a:solidFill>
                  </a:rPr>
                  <a:t>The reward function is the only channel through which the policy learns what "good control" means:</a:t>
                </a:r>
              </a:p>
              <a:p>
                <a:endParaRPr lang="en-GB" sz="1600" dirty="0">
                  <a:solidFill>
                    <a:srgbClr val="495A66"/>
                  </a:solidFill>
                </a:endParaRPr>
              </a:p>
              <a:p>
                <a:pPr algn="ctr"/>
                <a:r>
                  <a:rPr lang="en-GB" sz="2000" dirty="0">
                    <a:solidFill>
                      <a:srgbClr val="495A66"/>
                    </a:solidFill>
                  </a:rPr>
                  <a:t> </a:t>
                </a:r>
                <a14:m>
                  <m:oMath xmlns:m="http://schemas.openxmlformats.org/officeDocument/2006/math">
                    <m:r>
                      <a:rPr lang="it-IT" sz="2000" i="1">
                        <a:solidFill>
                          <a:srgbClr val="495A66"/>
                        </a:solidFill>
                        <a:latin typeface="Cambria Math" panose="02040503050406030204" pitchFamily="18" charset="0"/>
                      </a:rPr>
                      <m:t>𝑟</m:t>
                    </m:r>
                    <m:r>
                      <a:rPr lang="it-IT" sz="2000" i="1">
                        <a:solidFill>
                          <a:srgbClr val="495A66"/>
                        </a:solidFill>
                        <a:latin typeface="Cambria Math" panose="02040503050406030204" pitchFamily="18" charset="0"/>
                      </a:rPr>
                      <m:t>=−</m:t>
                    </m:r>
                    <m:r>
                      <m:rPr>
                        <m:sty m:val="p"/>
                      </m:rPr>
                      <a:rPr lang="el-GR" sz="2000" i="1">
                        <a:solidFill>
                          <a:srgbClr val="495A66"/>
                        </a:solidFill>
                        <a:latin typeface="Cambria Math" panose="02040503050406030204" pitchFamily="18" charset="0"/>
                        <a:ea typeface="Cambria Math" panose="02040503050406030204" pitchFamily="18" charset="0"/>
                      </a:rPr>
                      <m:t>α</m:t>
                    </m:r>
                    <m:f>
                      <m:fPr>
                        <m:ctrlPr>
                          <a:rPr lang="el-GR" sz="2000" i="1">
                            <a:solidFill>
                              <a:srgbClr val="495A66"/>
                            </a:solidFill>
                            <a:latin typeface="Cambria Math" panose="02040503050406030204" pitchFamily="18" charset="0"/>
                            <a:ea typeface="Cambria Math" panose="02040503050406030204" pitchFamily="18" charset="0"/>
                          </a:rPr>
                        </m:ctrlPr>
                      </m:fPr>
                      <m:num>
                        <m:d>
                          <m:dPr>
                            <m:begChr m:val="|"/>
                            <m:endChr m:val="|"/>
                            <m:ctrlPr>
                              <a:rPr lang="el-GR" sz="2000" i="1">
                                <a:solidFill>
                                  <a:srgbClr val="495A66"/>
                                </a:solidFill>
                                <a:latin typeface="Cambria Math" panose="02040503050406030204" pitchFamily="18" charset="0"/>
                                <a:ea typeface="Cambria Math" panose="02040503050406030204" pitchFamily="18" charset="0"/>
                              </a:rPr>
                            </m:ctrlPr>
                          </m:dPr>
                          <m:e>
                            <m:r>
                              <a:rPr lang="it-IT" sz="2000" i="1">
                                <a:solidFill>
                                  <a:srgbClr val="495A66"/>
                                </a:solidFill>
                                <a:latin typeface="Cambria Math" panose="02040503050406030204" pitchFamily="18" charset="0"/>
                                <a:ea typeface="Cambria Math" panose="02040503050406030204" pitchFamily="18" charset="0"/>
                              </a:rPr>
                              <m:t>𝑒</m:t>
                            </m:r>
                          </m:e>
                        </m:d>
                      </m:num>
                      <m:den>
                        <m:sSub>
                          <m:sSubPr>
                            <m:ctrlPr>
                              <a:rPr lang="el-GR"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𝑒</m:t>
                            </m:r>
                          </m:e>
                          <m:sub>
                            <m:r>
                              <a:rPr lang="it-IT" sz="2000" i="1">
                                <a:solidFill>
                                  <a:srgbClr val="495A66"/>
                                </a:solidFill>
                                <a:latin typeface="Cambria Math" panose="02040503050406030204" pitchFamily="18" charset="0"/>
                                <a:ea typeface="Cambria Math" panose="02040503050406030204" pitchFamily="18" charset="0"/>
                              </a:rPr>
                              <m:t>𝑠</m:t>
                            </m:r>
                          </m:sub>
                        </m:sSub>
                      </m:den>
                    </m:f>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𝜆</m:t>
                    </m:r>
                    <m:sSup>
                      <m:sSupPr>
                        <m:ctrlPr>
                          <a:rPr lang="it-IT" sz="2000" i="1">
                            <a:solidFill>
                              <a:srgbClr val="495A66"/>
                            </a:solidFill>
                            <a:latin typeface="Cambria Math" panose="02040503050406030204" pitchFamily="18" charset="0"/>
                            <a:ea typeface="Cambria Math" panose="02040503050406030204" pitchFamily="18" charset="0"/>
                          </a:rPr>
                        </m:ctrlPr>
                      </m:sSupPr>
                      <m:e>
                        <m:d>
                          <m:dPr>
                            <m:ctrlPr>
                              <a:rPr lang="it-IT" sz="2000" i="1">
                                <a:solidFill>
                                  <a:srgbClr val="495A66"/>
                                </a:solidFill>
                                <a:latin typeface="Cambria Math" panose="02040503050406030204" pitchFamily="18" charset="0"/>
                                <a:ea typeface="Cambria Math" panose="02040503050406030204" pitchFamily="18" charset="0"/>
                              </a:rPr>
                            </m:ctrlPr>
                          </m:dPr>
                          <m:e>
                            <m:f>
                              <m:fPr>
                                <m:ctrlPr>
                                  <a:rPr lang="it-IT" sz="2000" i="1">
                                    <a:solidFill>
                                      <a:srgbClr val="495A66"/>
                                    </a:solidFill>
                                    <a:latin typeface="Cambria Math" panose="02040503050406030204" pitchFamily="18" charset="0"/>
                                    <a:ea typeface="Cambria Math" panose="02040503050406030204" pitchFamily="18" charset="0"/>
                                  </a:rPr>
                                </m:ctrlPr>
                              </m:fPr>
                              <m:num>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num>
                              <m:den>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𝑚𝑎𝑥</m:t>
                                    </m:r>
                                  </m:sub>
                                </m:sSub>
                              </m:den>
                            </m:f>
                          </m:e>
                        </m:d>
                      </m:e>
                      <m:sup>
                        <m:r>
                          <a:rPr lang="it-IT" sz="2000" i="1">
                            <a:solidFill>
                              <a:srgbClr val="495A66"/>
                            </a:solidFill>
                            <a:latin typeface="Cambria Math" panose="02040503050406030204" pitchFamily="18" charset="0"/>
                            <a:ea typeface="Cambria Math" panose="02040503050406030204" pitchFamily="18" charset="0"/>
                          </a:rPr>
                          <m:t>2</m:t>
                        </m:r>
                      </m:sup>
                    </m:sSup>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𝜇</m:t>
                    </m:r>
                    <m:sSup>
                      <m:sSupPr>
                        <m:ctrlPr>
                          <a:rPr lang="it-IT" sz="2000" i="1">
                            <a:solidFill>
                              <a:srgbClr val="495A66"/>
                            </a:solidFill>
                            <a:latin typeface="Cambria Math" panose="02040503050406030204" pitchFamily="18" charset="0"/>
                            <a:ea typeface="Cambria Math" panose="02040503050406030204" pitchFamily="18" charset="0"/>
                          </a:rPr>
                        </m:ctrlPr>
                      </m:sSupPr>
                      <m:e>
                        <m:d>
                          <m:dPr>
                            <m:ctrlPr>
                              <a:rPr lang="it-IT" sz="2000" i="1">
                                <a:solidFill>
                                  <a:srgbClr val="495A66"/>
                                </a:solidFill>
                                <a:latin typeface="Cambria Math" panose="02040503050406030204" pitchFamily="18" charset="0"/>
                                <a:ea typeface="Cambria Math" panose="02040503050406030204" pitchFamily="18" charset="0"/>
                              </a:rPr>
                            </m:ctrlPr>
                          </m:dPr>
                          <m:e>
                            <m:f>
                              <m:fPr>
                                <m:ctrlPr>
                                  <a:rPr lang="it-IT" sz="2000" i="1">
                                    <a:solidFill>
                                      <a:srgbClr val="495A66"/>
                                    </a:solidFill>
                                    <a:latin typeface="Cambria Math" panose="02040503050406030204" pitchFamily="18" charset="0"/>
                                    <a:ea typeface="Cambria Math" panose="02040503050406030204" pitchFamily="18" charset="0"/>
                                  </a:rPr>
                                </m:ctrlPr>
                              </m:fPr>
                              <m:num>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r>
                                  <a:rPr lang="it-IT" sz="2000" i="1">
                                    <a:solidFill>
                                      <a:srgbClr val="495A66"/>
                                    </a:solidFill>
                                    <a:latin typeface="Cambria Math" panose="02040503050406030204" pitchFamily="18" charset="0"/>
                                    <a:ea typeface="Cambria Math" panose="02040503050406030204" pitchFamily="18" charset="0"/>
                                  </a:rPr>
                                  <m:t>−</m:t>
                                </m:r>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𝑝𝑟𝑒𝑣</m:t>
                                    </m:r>
                                  </m:sub>
                                </m:sSub>
                              </m:num>
                              <m:den>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𝑚𝑎𝑥</m:t>
                                    </m:r>
                                  </m:sub>
                                </m:sSub>
                              </m:den>
                            </m:f>
                          </m:e>
                        </m:d>
                      </m:e>
                      <m:sup>
                        <m:r>
                          <a:rPr lang="it-IT" sz="2000" i="1">
                            <a:solidFill>
                              <a:srgbClr val="495A66"/>
                            </a:solidFill>
                            <a:latin typeface="Cambria Math" panose="02040503050406030204" pitchFamily="18" charset="0"/>
                            <a:ea typeface="Cambria Math" panose="02040503050406030204" pitchFamily="18" charset="0"/>
                          </a:rPr>
                          <m:t>2</m:t>
                        </m:r>
                      </m:sup>
                    </m:sSup>
                  </m:oMath>
                </a14:m>
                <a:endParaRPr lang="en-US" sz="2000" dirty="0">
                  <a:solidFill>
                    <a:srgbClr val="495A66"/>
                  </a:solidFill>
                </a:endParaRPr>
              </a:p>
              <a:p>
                <a:endParaRPr lang="en-US" sz="2000" dirty="0">
                  <a:solidFill>
                    <a:srgbClr val="495A66"/>
                  </a:solidFill>
                </a:endParaRPr>
              </a:p>
              <a:p>
                <a:r>
                  <a:rPr lang="en-GB" sz="1600" dirty="0">
                    <a:solidFill>
                      <a:srgbClr val="495A66"/>
                    </a:solidFill>
                  </a:rPr>
                  <a:t>It is computed at every policy step (every 10 ms) and has three terms: </a:t>
                </a:r>
                <a:endParaRPr lang="it-IT" sz="1600" i="1" dirty="0"/>
              </a:p>
              <a:p>
                <a:pPr algn="ctr"/>
                <a:endParaRPr lang="en-US" sz="2000" dirty="0">
                  <a:solidFill>
                    <a:srgbClr val="495A66"/>
                  </a:solidFill>
                </a:endParaRPr>
              </a:p>
            </p:txBody>
          </p:sp>
        </mc:Choice>
        <mc:Fallback xmlns="">
          <p:sp>
            <p:nvSpPr>
              <p:cNvPr id="7" name="TextBox 6">
                <a:extLst>
                  <a:ext uri="{FF2B5EF4-FFF2-40B4-BE49-F238E27FC236}">
                    <a16:creationId xmlns:a16="http://schemas.microsoft.com/office/drawing/2014/main" id="{63BAFD13-364B-524D-317F-58F9B918BECE}"/>
                  </a:ext>
                </a:extLst>
              </p:cNvPr>
              <p:cNvSpPr txBox="1">
                <a:spLocks noRot="1" noChangeAspect="1" noMove="1" noResize="1" noEditPoints="1" noAdjustHandles="1" noChangeArrowheads="1" noChangeShapeType="1" noTextEdit="1"/>
              </p:cNvSpPr>
              <p:nvPr/>
            </p:nvSpPr>
            <p:spPr>
              <a:xfrm>
                <a:off x="777236" y="1473803"/>
                <a:ext cx="10698483" cy="2077941"/>
              </a:xfrm>
              <a:prstGeom prst="rect">
                <a:avLst/>
              </a:prstGeom>
              <a:blipFill>
                <a:blip r:embed="rId2"/>
                <a:stretch>
                  <a:fillRect l="-237" t="-1220"/>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F501319B-C89E-D82A-2CA6-E7A07DAE0265}"/>
              </a:ext>
            </a:extLst>
          </p:cNvPr>
          <p:cNvSpPr/>
          <p:nvPr/>
        </p:nvSpPr>
        <p:spPr>
          <a:xfrm>
            <a:off x="868679" y="3370371"/>
            <a:ext cx="3375661"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Rectangle 11">
            <a:extLst>
              <a:ext uri="{FF2B5EF4-FFF2-40B4-BE49-F238E27FC236}">
                <a16:creationId xmlns:a16="http://schemas.microsoft.com/office/drawing/2014/main" id="{BC2C0842-4FAC-D44B-77E8-2D09FA8FBE91}"/>
              </a:ext>
            </a:extLst>
          </p:cNvPr>
          <p:cNvSpPr/>
          <p:nvPr/>
        </p:nvSpPr>
        <p:spPr>
          <a:xfrm>
            <a:off x="861060" y="3370371"/>
            <a:ext cx="45719" cy="157908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3B15E7E-4898-2E80-008E-6F469C91D3B1}"/>
                  </a:ext>
                </a:extLst>
              </p:cNvPr>
              <p:cNvSpPr txBox="1"/>
              <p:nvPr/>
            </p:nvSpPr>
            <p:spPr>
              <a:xfrm>
                <a:off x="1069847" y="3534962"/>
                <a:ext cx="3017520" cy="1146019"/>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2A9D8F"/>
                    </a:solidFill>
                    <a:latin typeface="Consolas"/>
                  </a:rPr>
                  <a:t>First </a:t>
                </a:r>
                <a:endParaRPr lang="en-US" sz="1000" b="0" noProof="1">
                  <a:solidFill>
                    <a:srgbClr val="2A9D8F"/>
                  </a:solidFill>
                  <a:latin typeface="Consolas"/>
                </a:endParaRPr>
              </a:p>
              <a:p>
                <a:pPr algn="l">
                  <a:lnSpc>
                    <a:spcPct val="100000"/>
                  </a:lnSpc>
                  <a:spcBef>
                    <a:spcPts val="0"/>
                  </a:spcBef>
                  <a:spcAft>
                    <a:spcPts val="600"/>
                  </a:spcAft>
                </a:pPr>
                <a:r>
                  <a:rPr lang="en-US" sz="1600" b="1" noProof="1">
                    <a:solidFill>
                      <a:srgbClr val="1D3557"/>
                    </a:solidFill>
                    <a:latin typeface="Georgia"/>
                  </a:rPr>
                  <a:t>Tracking Term</a:t>
                </a:r>
              </a:p>
              <a:p>
                <a:pPr>
                  <a:lnSpc>
                    <a:spcPct val="110000"/>
                  </a:lnSpc>
                  <a:spcAft>
                    <a:spcPts val="600"/>
                  </a:spcAft>
                </a:pPr>
                <a:r>
                  <a:rPr lang="en-GB" sz="1200" dirty="0">
                    <a:solidFill>
                      <a:srgbClr val="495A66"/>
                    </a:solidFill>
                  </a:rPr>
                  <a:t>It penalises the </a:t>
                </a:r>
                <a:r>
                  <a:rPr lang="en-GB" sz="1200" b="1" dirty="0">
                    <a:solidFill>
                      <a:srgbClr val="495A66"/>
                    </a:solidFill>
                  </a:rPr>
                  <a:t>mean absolute speed error </a:t>
                </a:r>
                <a:r>
                  <a:rPr lang="en-GB" sz="1200" dirty="0">
                    <a:solidFill>
                      <a:srgbClr val="495A66"/>
                    </a:solidFill>
                  </a:rPr>
                  <a:t>averaged over the ten </a:t>
                </a:r>
                <a14:m>
                  <m:oMath xmlns:m="http://schemas.openxmlformats.org/officeDocument/2006/math">
                    <m:r>
                      <a:rPr lang="it-IT" sz="1200" b="0" i="1" smtClean="0">
                        <a:solidFill>
                          <a:srgbClr val="495A66"/>
                        </a:solidFill>
                        <a:latin typeface="Cambria Math" panose="02040503050406030204" pitchFamily="18" charset="0"/>
                      </a:rPr>
                      <m:t>1 </m:t>
                    </m:r>
                    <m:r>
                      <a:rPr lang="it-IT" sz="1200" b="0" i="1" smtClean="0">
                        <a:solidFill>
                          <a:srgbClr val="495A66"/>
                        </a:solidFill>
                        <a:latin typeface="Cambria Math" panose="02040503050406030204" pitchFamily="18" charset="0"/>
                      </a:rPr>
                      <m:t>𝑚𝑠</m:t>
                    </m:r>
                  </m:oMath>
                </a14:m>
                <a:r>
                  <a:rPr lang="en-GB" sz="1200" dirty="0">
                    <a:solidFill>
                      <a:srgbClr val="495A66"/>
                    </a:solidFill>
                  </a:rPr>
                  <a:t> sub-steps between policy updates.</a:t>
                </a:r>
                <a:endParaRPr lang="en-US" sz="1200" b="0" noProof="1">
                  <a:solidFill>
                    <a:srgbClr val="495A66"/>
                  </a:solidFill>
                  <a:latin typeface="Calibri"/>
                </a:endParaRPr>
              </a:p>
            </p:txBody>
          </p:sp>
        </mc:Choice>
        <mc:Fallback xmlns="">
          <p:sp>
            <p:nvSpPr>
              <p:cNvPr id="13" name="TextBox 12">
                <a:extLst>
                  <a:ext uri="{FF2B5EF4-FFF2-40B4-BE49-F238E27FC236}">
                    <a16:creationId xmlns:a16="http://schemas.microsoft.com/office/drawing/2014/main" id="{93B15E7E-4898-2E80-008E-6F469C91D3B1}"/>
                  </a:ext>
                </a:extLst>
              </p:cNvPr>
              <p:cNvSpPr txBox="1">
                <a:spLocks noRot="1" noChangeAspect="1" noMove="1" noResize="1" noEditPoints="1" noAdjustHandles="1" noChangeArrowheads="1" noChangeShapeType="1" noTextEdit="1"/>
              </p:cNvSpPr>
              <p:nvPr/>
            </p:nvSpPr>
            <p:spPr>
              <a:xfrm>
                <a:off x="1069847" y="3534962"/>
                <a:ext cx="3017520" cy="1146019"/>
              </a:xfrm>
              <a:prstGeom prst="rect">
                <a:avLst/>
              </a:prstGeom>
              <a:blipFill>
                <a:blip r:embed="rId3"/>
                <a:stretch>
                  <a:fillRect l="-4202" t="-2198" r="-840" b="-6593"/>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C3E994A2-99BD-FBCF-BF51-1A329B55EE7F}"/>
              </a:ext>
            </a:extLst>
          </p:cNvPr>
          <p:cNvSpPr/>
          <p:nvPr/>
        </p:nvSpPr>
        <p:spPr>
          <a:xfrm>
            <a:off x="4480559" y="3370371"/>
            <a:ext cx="3383280"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5" name="Rectangle 14">
            <a:extLst>
              <a:ext uri="{FF2B5EF4-FFF2-40B4-BE49-F238E27FC236}">
                <a16:creationId xmlns:a16="http://schemas.microsoft.com/office/drawing/2014/main" id="{E0826F04-4F29-1AE2-6E53-B607CE108606}"/>
              </a:ext>
            </a:extLst>
          </p:cNvPr>
          <p:cNvSpPr/>
          <p:nvPr/>
        </p:nvSpPr>
        <p:spPr>
          <a:xfrm>
            <a:off x="4472940" y="3370371"/>
            <a:ext cx="45719" cy="1579086"/>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6" name="TextBox 15">
            <a:extLst>
              <a:ext uri="{FF2B5EF4-FFF2-40B4-BE49-F238E27FC236}">
                <a16:creationId xmlns:a16="http://schemas.microsoft.com/office/drawing/2014/main" id="{9EFD8BA7-D40A-6D07-FC81-80BCEE517578}"/>
              </a:ext>
            </a:extLst>
          </p:cNvPr>
          <p:cNvSpPr txBox="1"/>
          <p:nvPr/>
        </p:nvSpPr>
        <p:spPr>
          <a:xfrm>
            <a:off x="4681727" y="3534962"/>
            <a:ext cx="3017520" cy="1146019"/>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1D3557"/>
                </a:solidFill>
                <a:latin typeface="Consolas"/>
              </a:rPr>
              <a:t>Second</a:t>
            </a:r>
            <a:endParaRPr lang="en-US" sz="1000" b="0" noProof="1">
              <a:solidFill>
                <a:srgbClr val="1D3557"/>
              </a:solidFill>
              <a:latin typeface="Consolas"/>
            </a:endParaRPr>
          </a:p>
          <a:p>
            <a:pPr algn="l">
              <a:lnSpc>
                <a:spcPct val="100000"/>
              </a:lnSpc>
              <a:spcBef>
                <a:spcPts val="0"/>
              </a:spcBef>
              <a:spcAft>
                <a:spcPts val="600"/>
              </a:spcAft>
            </a:pPr>
            <a:r>
              <a:rPr lang="en-US" sz="1600" b="1" noProof="1">
                <a:solidFill>
                  <a:srgbClr val="1D3557"/>
                </a:solidFill>
                <a:latin typeface="Georgia"/>
              </a:rPr>
              <a:t>Effort term</a:t>
            </a:r>
          </a:p>
          <a:p>
            <a:pPr>
              <a:lnSpc>
                <a:spcPct val="110000"/>
              </a:lnSpc>
              <a:spcAft>
                <a:spcPts val="600"/>
              </a:spcAft>
            </a:pPr>
            <a:r>
              <a:rPr lang="en-US" sz="1200" noProof="1">
                <a:solidFill>
                  <a:srgbClr val="495A66"/>
                </a:solidFill>
              </a:rPr>
              <a:t>It </a:t>
            </a:r>
            <a:r>
              <a:rPr lang="en-GB" sz="1200" dirty="0">
                <a:solidFill>
                  <a:srgbClr val="495A66"/>
                </a:solidFill>
              </a:rPr>
              <a:t>penalises </a:t>
            </a:r>
            <a:r>
              <a:rPr lang="en-GB" sz="1200" b="1" dirty="0">
                <a:solidFill>
                  <a:srgbClr val="495A66"/>
                </a:solidFill>
              </a:rPr>
              <a:t>large residuals</a:t>
            </a:r>
            <a:r>
              <a:rPr lang="en-GB" sz="1200" dirty="0">
                <a:solidFill>
                  <a:srgbClr val="495A66"/>
                </a:solidFill>
              </a:rPr>
              <a:t>, keeping the PI in charge and preventing the policy from issuing unnecessary corrections. </a:t>
            </a:r>
            <a:endParaRPr lang="en-US" sz="1200" b="0" noProof="1">
              <a:solidFill>
                <a:srgbClr val="495A66"/>
              </a:solidFill>
            </a:endParaRPr>
          </a:p>
        </p:txBody>
      </p:sp>
      <p:sp>
        <p:nvSpPr>
          <p:cNvPr id="17" name="Rounded Rectangle 16">
            <a:extLst>
              <a:ext uri="{FF2B5EF4-FFF2-40B4-BE49-F238E27FC236}">
                <a16:creationId xmlns:a16="http://schemas.microsoft.com/office/drawing/2014/main" id="{824041C3-B84D-FC54-841D-55D1F79FEE9D}"/>
              </a:ext>
            </a:extLst>
          </p:cNvPr>
          <p:cNvSpPr/>
          <p:nvPr/>
        </p:nvSpPr>
        <p:spPr>
          <a:xfrm>
            <a:off x="8092439" y="3370371"/>
            <a:ext cx="3383280"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Rectangle 17">
            <a:extLst>
              <a:ext uri="{FF2B5EF4-FFF2-40B4-BE49-F238E27FC236}">
                <a16:creationId xmlns:a16="http://schemas.microsoft.com/office/drawing/2014/main" id="{BCB77D00-905A-0015-7403-7901C2C06D1A}"/>
              </a:ext>
            </a:extLst>
          </p:cNvPr>
          <p:cNvSpPr/>
          <p:nvPr/>
        </p:nvSpPr>
        <p:spPr>
          <a:xfrm>
            <a:off x="8084820" y="3370370"/>
            <a:ext cx="45719" cy="1579087"/>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9" name="TextBox 18">
            <a:extLst>
              <a:ext uri="{FF2B5EF4-FFF2-40B4-BE49-F238E27FC236}">
                <a16:creationId xmlns:a16="http://schemas.microsoft.com/office/drawing/2014/main" id="{165866C3-7DDB-431A-5F93-12C25120292A}"/>
              </a:ext>
            </a:extLst>
          </p:cNvPr>
          <p:cNvSpPr txBox="1"/>
          <p:nvPr/>
        </p:nvSpPr>
        <p:spPr>
          <a:xfrm>
            <a:off x="8293607" y="3534962"/>
            <a:ext cx="3017520" cy="1285480"/>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b="0" noProof="1">
                <a:solidFill>
                  <a:srgbClr val="E07A5F"/>
                </a:solidFill>
                <a:latin typeface="Consolas"/>
              </a:rPr>
              <a:t>Third</a:t>
            </a:r>
          </a:p>
          <a:p>
            <a:pPr algn="l">
              <a:lnSpc>
                <a:spcPct val="100000"/>
              </a:lnSpc>
              <a:spcBef>
                <a:spcPts val="0"/>
              </a:spcBef>
              <a:spcAft>
                <a:spcPts val="600"/>
              </a:spcAft>
            </a:pPr>
            <a:r>
              <a:rPr lang="en-US" sz="1600" b="1" noProof="1">
                <a:solidFill>
                  <a:srgbClr val="1D3557"/>
                </a:solidFill>
                <a:latin typeface="Georgia"/>
              </a:rPr>
              <a:t>Rate Term </a:t>
            </a:r>
          </a:p>
          <a:p>
            <a:pPr algn="l">
              <a:lnSpc>
                <a:spcPct val="100000"/>
              </a:lnSpc>
              <a:spcBef>
                <a:spcPts val="0"/>
              </a:spcBef>
              <a:spcAft>
                <a:spcPts val="600"/>
              </a:spcAft>
            </a:pPr>
            <a:r>
              <a:rPr lang="en-US" sz="1200" noProof="1">
                <a:solidFill>
                  <a:srgbClr val="495A66"/>
                </a:solidFill>
              </a:rPr>
              <a:t>It </a:t>
            </a:r>
            <a:r>
              <a:rPr lang="en-GB" sz="1200" dirty="0">
                <a:solidFill>
                  <a:srgbClr val="495A66"/>
                </a:solidFill>
              </a:rPr>
              <a:t>penalises how much the </a:t>
            </a:r>
            <a:r>
              <a:rPr lang="en-GB" sz="1200" b="1" dirty="0">
                <a:solidFill>
                  <a:srgbClr val="495A66"/>
                </a:solidFill>
              </a:rPr>
              <a:t>correction changes </a:t>
            </a:r>
            <a:r>
              <a:rPr lang="en-GB" sz="1200" dirty="0">
                <a:solidFill>
                  <a:srgbClr val="495A66"/>
                </a:solidFill>
              </a:rPr>
              <a:t>between consecutive updates, suppressing chattering and producing a smoother voltage profile.</a:t>
            </a:r>
            <a:endParaRPr lang="en-US" sz="1200" noProof="1">
              <a:solidFill>
                <a:srgbClr val="495A66"/>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0552368-C3C9-90AE-BE59-C47E494A8508}"/>
                  </a:ext>
                </a:extLst>
              </p:cNvPr>
              <p:cNvSpPr txBox="1"/>
              <p:nvPr/>
            </p:nvSpPr>
            <p:spPr>
              <a:xfrm>
                <a:off x="855980" y="4852953"/>
                <a:ext cx="10619739" cy="1815882"/>
              </a:xfrm>
              <a:prstGeom prst="rect">
                <a:avLst/>
              </a:prstGeom>
              <a:noFill/>
            </p:spPr>
            <p:txBody>
              <a:bodyPr wrap="square">
                <a:spAutoFit/>
              </a:bodyPr>
              <a:lstStyle/>
              <a:p>
                <a:pPr>
                  <a:buNone/>
                </a:pPr>
                <a:br>
                  <a:rPr lang="en-GB" sz="1600" dirty="0">
                    <a:solidFill>
                      <a:srgbClr val="495A66"/>
                    </a:solidFill>
                  </a:rPr>
                </a:br>
                <a:r>
                  <a:rPr lang="en-GB" sz="1600" dirty="0">
                    <a:solidFill>
                      <a:srgbClr val="495A66"/>
                    </a:solidFill>
                  </a:rPr>
                  <a:t>We use the absolute value (L1) rather than the squared error (L2) because L1 weights small persistent errors more uniformly and is less sensitive to large transient spikes, on this problem it reduced the trajectory RMSE from 0.172 to 0.081 rad/s compared to L2. </a:t>
                </a:r>
              </a:p>
              <a:p>
                <a:pPr>
                  <a:buNone/>
                </a:pPr>
                <a:endParaRPr lang="en-GB" sz="1600" dirty="0">
                  <a:solidFill>
                    <a:srgbClr val="495A66"/>
                  </a:solidFill>
                </a:endParaRPr>
              </a:p>
              <a:p>
                <a:pPr>
                  <a:buNone/>
                </a:pPr>
                <a:r>
                  <a:rPr lang="en-GB" sz="1600" dirty="0">
                    <a:solidFill>
                      <a:srgbClr val="495A66"/>
                    </a:solidFill>
                  </a:rPr>
                  <a:t>The weights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𝜆</m:t>
                    </m:r>
                    <m:r>
                      <a:rPr lang="it-IT" sz="1600" b="0" i="1" smtClean="0">
                        <a:solidFill>
                          <a:srgbClr val="495A66"/>
                        </a:solidFill>
                        <a:latin typeface="Cambria Math" panose="02040503050406030204" pitchFamily="18" charset="0"/>
                        <a:ea typeface="Cambria Math" panose="02040503050406030204" pitchFamily="18" charset="0"/>
                      </a:rPr>
                      <m:t>=0.01</m:t>
                    </m:r>
                  </m:oMath>
                </a14:m>
                <a:r>
                  <a:rPr lang="en-GB" sz="1600" dirty="0">
                    <a:solidFill>
                      <a:srgbClr val="495A66"/>
                    </a:solidFill>
                  </a:rPr>
                  <a:t> and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𝜇</m:t>
                    </m:r>
                    <m:r>
                      <a:rPr lang="it-IT" sz="1600" b="0" i="1" smtClean="0">
                        <a:solidFill>
                          <a:srgbClr val="495A66"/>
                        </a:solidFill>
                        <a:latin typeface="Cambria Math" panose="02040503050406030204" pitchFamily="18" charset="0"/>
                        <a:ea typeface="Cambria Math" panose="02040503050406030204" pitchFamily="18" charset="0"/>
                      </a:rPr>
                      <m:t>=0.05</m:t>
                    </m:r>
                  </m:oMath>
                </a14:m>
                <a:r>
                  <a:rPr lang="en-GB" sz="1600" dirty="0">
                    <a:solidFill>
                      <a:srgbClr val="495A66"/>
                    </a:solidFill>
                  </a:rPr>
                  <a:t> are roughly 100 times  smaller than the tracking term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𝛼</m:t>
                    </m:r>
                    <m:r>
                      <a:rPr lang="it-IT" sz="1600" b="0" i="1" smtClean="0">
                        <a:solidFill>
                          <a:srgbClr val="495A66"/>
                        </a:solidFill>
                        <a:latin typeface="Cambria Math" panose="02040503050406030204" pitchFamily="18" charset="0"/>
                        <a:ea typeface="Cambria Math" panose="02040503050406030204" pitchFamily="18" charset="0"/>
                      </a:rPr>
                      <m:t>=1</m:t>
                    </m:r>
                  </m:oMath>
                </a14:m>
                <a:r>
                  <a:rPr lang="en-GB" sz="1600" dirty="0">
                    <a:solidFill>
                      <a:srgbClr val="495A66"/>
                    </a:solidFill>
                  </a:rPr>
                  <a:t>), they shape the action without ever competing with the primary objective.</a:t>
                </a:r>
              </a:p>
            </p:txBody>
          </p:sp>
        </mc:Choice>
        <mc:Fallback xmlns="">
          <p:sp>
            <p:nvSpPr>
              <p:cNvPr id="21" name="TextBox 20">
                <a:extLst>
                  <a:ext uri="{FF2B5EF4-FFF2-40B4-BE49-F238E27FC236}">
                    <a16:creationId xmlns:a16="http://schemas.microsoft.com/office/drawing/2014/main" id="{B0552368-C3C9-90AE-BE59-C47E494A8508}"/>
                  </a:ext>
                </a:extLst>
              </p:cNvPr>
              <p:cNvSpPr txBox="1">
                <a:spLocks noRot="1" noChangeAspect="1" noMove="1" noResize="1" noEditPoints="1" noAdjustHandles="1" noChangeArrowheads="1" noChangeShapeType="1" noTextEdit="1"/>
              </p:cNvSpPr>
              <p:nvPr/>
            </p:nvSpPr>
            <p:spPr>
              <a:xfrm>
                <a:off x="855980" y="4852953"/>
                <a:ext cx="10619739" cy="1815882"/>
              </a:xfrm>
              <a:prstGeom prst="rect">
                <a:avLst/>
              </a:prstGeom>
              <a:blipFill>
                <a:blip r:embed="rId4"/>
                <a:stretch>
                  <a:fillRect l="-358" b="-2778"/>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4FFA389-A60B-A39E-1A07-5948978E26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CC4318-C7D5-4F61-4085-0DE5B2E61941}"/>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B9FA3952-CE1E-DE83-169E-AF83326454DF}"/>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4573BF4F-204C-105F-23A3-A2262D0BEFE4}"/>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B4  </a:t>
            </a:r>
            <a:r>
              <a:rPr lang="en-US" sz="1100" noProof="1">
                <a:solidFill>
                  <a:srgbClr val="2A9D8F"/>
                </a:solidFill>
                <a:latin typeface="Consolas"/>
              </a:rPr>
              <a:t>RESIDUAL REINFORCEMENT LEARNING - Training</a:t>
            </a:r>
          </a:p>
        </p:txBody>
      </p:sp>
      <p:sp>
        <p:nvSpPr>
          <p:cNvPr id="6" name="TextBox 5">
            <a:extLst>
              <a:ext uri="{FF2B5EF4-FFF2-40B4-BE49-F238E27FC236}">
                <a16:creationId xmlns:a16="http://schemas.microsoft.com/office/drawing/2014/main" id="{6CFA2317-52BE-3D6D-BCBF-AD26B050CB61}"/>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Training &amp; Test set</a:t>
            </a:r>
          </a:p>
        </p:txBody>
      </p:sp>
      <p:sp>
        <p:nvSpPr>
          <p:cNvPr id="5" name="TextBox 4">
            <a:extLst>
              <a:ext uri="{FF2B5EF4-FFF2-40B4-BE49-F238E27FC236}">
                <a16:creationId xmlns:a16="http://schemas.microsoft.com/office/drawing/2014/main" id="{DAA8DDED-40E3-183F-5CAB-B81DD289380A}"/>
              </a:ext>
            </a:extLst>
          </p:cNvPr>
          <p:cNvSpPr txBox="1"/>
          <p:nvPr/>
        </p:nvSpPr>
        <p:spPr>
          <a:xfrm>
            <a:off x="792675" y="1372925"/>
            <a:ext cx="10832397" cy="861774"/>
          </a:xfrm>
          <a:prstGeom prst="rect">
            <a:avLst/>
          </a:prstGeom>
          <a:noFill/>
        </p:spPr>
        <p:txBody>
          <a:bodyPr wrap="square" rtlCol="0">
            <a:spAutoFit/>
          </a:bodyPr>
          <a:lstStyle/>
          <a:p>
            <a:r>
              <a:rPr lang="en-GB" sz="1600" dirty="0">
                <a:solidFill>
                  <a:srgbClr val="495A66"/>
                </a:solidFill>
              </a:rPr>
              <a:t>Unlike supervised learning, there is no fixed dataset collected in advance. The policy trains </a:t>
            </a:r>
            <a:r>
              <a:rPr lang="en-GB" sz="1600" i="1" dirty="0">
                <a:solidFill>
                  <a:srgbClr val="495A66"/>
                </a:solidFill>
              </a:rPr>
              <a:t>online</a:t>
            </a:r>
            <a:r>
              <a:rPr lang="en-GB" sz="1600" dirty="0">
                <a:solidFill>
                  <a:srgbClr val="495A66"/>
                </a:solidFill>
              </a:rPr>
              <a:t>: at every step it interacts with the simulated motor, receives a </a:t>
            </a:r>
            <a:r>
              <a:rPr lang="en-GB" sz="1600" b="1" dirty="0">
                <a:solidFill>
                  <a:srgbClr val="495A66"/>
                </a:solidFill>
              </a:rPr>
              <a:t>reward</a:t>
            </a:r>
            <a:r>
              <a:rPr lang="en-GB" sz="1600" dirty="0">
                <a:solidFill>
                  <a:srgbClr val="495A66"/>
                </a:solidFill>
              </a:rPr>
              <a:t>, and updates its weights. The "dataset" is the distribution of speed references the environment samples during training</a:t>
            </a:r>
            <a:r>
              <a:rPr lang="en-GB" dirty="0"/>
              <a:t>.</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C6CF20-6D49-AC6E-EC45-097B582FCF4B}"/>
                  </a:ext>
                </a:extLst>
              </p:cNvPr>
              <p:cNvSpPr txBox="1"/>
              <p:nvPr/>
            </p:nvSpPr>
            <p:spPr>
              <a:xfrm>
                <a:off x="792675" y="2413337"/>
                <a:ext cx="10683045" cy="3816429"/>
              </a:xfrm>
              <a:prstGeom prst="rect">
                <a:avLst/>
              </a:prstGeom>
              <a:noFill/>
            </p:spPr>
            <p:txBody>
              <a:bodyPr wrap="square" rtlCol="0">
                <a:spAutoFit/>
              </a:bodyPr>
              <a:lstStyle/>
              <a:p>
                <a:r>
                  <a:rPr lang="en-GB" sz="1600" b="1" dirty="0">
                    <a:solidFill>
                      <a:srgbClr val="495A66"/>
                    </a:solidFill>
                  </a:rPr>
                  <a:t>Training set</a:t>
                </a:r>
                <a:r>
                  <a:rPr lang="en-GB" sz="1600" dirty="0">
                    <a:solidFill>
                      <a:srgbClr val="495A66"/>
                    </a:solidFill>
                  </a:rPr>
                  <a:t> (12 references, fixed seed)</a:t>
                </a:r>
              </a:p>
              <a:p>
                <a:r>
                  <a:rPr lang="en-GB" sz="1600" dirty="0">
                    <a:solidFill>
                      <a:srgbClr val="495A66"/>
                    </a:solidFill>
                  </a:rPr>
                  <a:t>To evaluate the trained policy on in-distribution references we freeze a set of 12 profiles sampled from the same distribution used during training. Each profile is one of three types drawn at random:</a:t>
                </a:r>
              </a:p>
              <a:p>
                <a:r>
                  <a:rPr lang="en-US" sz="1600" b="1" noProof="1">
                    <a:solidFill>
                      <a:srgbClr val="1D3557"/>
                    </a:solidFill>
                  </a:rPr>
                  <a:t>— </a:t>
                </a:r>
                <a:r>
                  <a:rPr lang="en-GB" sz="1600" dirty="0">
                    <a:solidFill>
                      <a:srgbClr val="495A66"/>
                    </a:solidFill>
                  </a:rPr>
                  <a:t>Constant, a fixed target speed held for the full 5 s episode;</a:t>
                </a:r>
              </a:p>
              <a:p>
                <a:r>
                  <a:rPr lang="en-US" sz="1600" b="1" noProof="1">
                    <a:solidFill>
                      <a:srgbClr val="E07A5F"/>
                    </a:solidFill>
                  </a:rPr>
                  <a:t>— </a:t>
                </a:r>
                <a:r>
                  <a:rPr lang="en-GB" sz="1600" dirty="0">
                    <a:solidFill>
                      <a:srgbClr val="495A66"/>
                    </a:solidFill>
                  </a:rPr>
                  <a:t>Quintic ramp, a smooth minimum-jerk transition from one speed to another, with random start time and duration;</a:t>
                </a:r>
              </a:p>
              <a:p>
                <a:r>
                  <a:rPr lang="en-US" sz="1600" b="1" noProof="1">
                    <a:solidFill>
                      <a:srgbClr val="2A9D8F"/>
                    </a:solidFill>
                  </a:rPr>
                  <a:t>— </a:t>
                </a:r>
                <a:r>
                  <a:rPr lang="en-GB" sz="1600" dirty="0">
                    <a:solidFill>
                      <a:srgbClr val="495A66"/>
                    </a:solidFill>
                  </a:rPr>
                  <a:t>Multi-step, 2 to 4 piecewise-constant levels with random edges and amplitudes.</a:t>
                </a:r>
              </a:p>
              <a:p>
                <a:r>
                  <a:rPr lang="en-GB" sz="1600" dirty="0">
                    <a:solidFill>
                      <a:srgbClr val="495A66"/>
                    </a:solidFill>
                  </a:rPr>
                  <a:t>All references are drawn from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𝜔</m:t>
                    </m:r>
                    <m:r>
                      <a:rPr lang="en-GB" sz="1600" i="1" smtClean="0">
                        <a:solidFill>
                          <a:srgbClr val="495A66"/>
                        </a:solidFill>
                        <a:latin typeface="Cambria Math" panose="02040503050406030204" pitchFamily="18" charset="0"/>
                        <a:ea typeface="Cambria Math" panose="02040503050406030204" pitchFamily="18" charset="0"/>
                      </a:rPr>
                      <m:t>∈</m:t>
                    </m:r>
                    <m:d>
                      <m:dPr>
                        <m:begChr m:val="["/>
                        <m:endChr m:val="]"/>
                        <m:ctrlPr>
                          <a:rPr lang="en-GB" sz="1600" i="1" smtClean="0">
                            <a:solidFill>
                              <a:srgbClr val="495A66"/>
                            </a:solidFill>
                            <a:latin typeface="Cambria Math" panose="02040503050406030204" pitchFamily="18" charset="0"/>
                            <a:ea typeface="Cambria Math" panose="02040503050406030204" pitchFamily="18" charset="0"/>
                          </a:rPr>
                        </m:ctrlPr>
                      </m:dPr>
                      <m:e>
                        <m:r>
                          <a:rPr lang="it-IT" sz="1600" b="0" i="1" smtClean="0">
                            <a:solidFill>
                              <a:srgbClr val="495A66"/>
                            </a:solidFill>
                            <a:latin typeface="Cambria Math" panose="02040503050406030204" pitchFamily="18" charset="0"/>
                            <a:ea typeface="Cambria Math" panose="02040503050406030204" pitchFamily="18" charset="0"/>
                          </a:rPr>
                          <m:t>−12, 12</m:t>
                        </m:r>
                      </m:e>
                    </m:d>
                    <m:r>
                      <a:rPr lang="it-IT" sz="1600" b="0" i="1" smtClean="0">
                        <a:solidFill>
                          <a:srgbClr val="495A66"/>
                        </a:solidFill>
                        <a:latin typeface="Cambria Math" panose="02040503050406030204" pitchFamily="18" charset="0"/>
                        <a:ea typeface="Cambria Math" panose="02040503050406030204" pitchFamily="18" charset="0"/>
                      </a:rPr>
                      <m:t> </m:t>
                    </m:r>
                    <m:r>
                      <a:rPr lang="it-IT" sz="1600" b="0" i="1" smtClean="0">
                        <a:solidFill>
                          <a:srgbClr val="495A66"/>
                        </a:solidFill>
                        <a:latin typeface="Cambria Math" panose="02040503050406030204" pitchFamily="18" charset="0"/>
                        <a:ea typeface="Cambria Math" panose="02040503050406030204" pitchFamily="18" charset="0"/>
                      </a:rPr>
                      <m:t>𝑟𝑎𝑑</m:t>
                    </m:r>
                    <m:r>
                      <a:rPr lang="it-IT" sz="1600" b="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matching the training range.</a:t>
                </a:r>
              </a:p>
              <a:p>
                <a:endParaRPr lang="en-GB" sz="1600" dirty="0">
                  <a:solidFill>
                    <a:srgbClr val="495A66"/>
                  </a:solidFill>
                </a:endParaRPr>
              </a:p>
              <a:p>
                <a:r>
                  <a:rPr lang="en-GB" sz="1600" b="1" dirty="0">
                    <a:solidFill>
                      <a:srgbClr val="495A66"/>
                    </a:solidFill>
                  </a:rPr>
                  <a:t>Test set </a:t>
                </a:r>
                <a:r>
                  <a:rPr lang="en-GB" sz="1600" dirty="0">
                    <a:solidFill>
                      <a:srgbClr val="495A66"/>
                    </a:solidFill>
                  </a:rPr>
                  <a:t>(7 held-out references, never seen during training)</a:t>
                </a:r>
              </a:p>
              <a:p>
                <a:r>
                  <a:rPr lang="en-GB" sz="1600" dirty="0">
                    <a:solidFill>
                      <a:srgbClr val="495A66"/>
                    </a:solidFill>
                  </a:rPr>
                  <a:t>The test set is designed to probe three failure modes:  constant references at </a:t>
                </a:r>
                <a:r>
                  <a:rPr lang="en-GB" sz="1600" i="1" dirty="0">
                    <a:solidFill>
                      <a:srgbClr val="495A66"/>
                    </a:solidFill>
                  </a:rPr>
                  <a:t>6</a:t>
                </a:r>
                <a:r>
                  <a:rPr lang="en-GB" sz="1600" dirty="0">
                    <a:solidFill>
                      <a:srgbClr val="495A66"/>
                    </a:solidFill>
                  </a:rPr>
                  <a:t>, </a:t>
                </a:r>
                <a:r>
                  <a:rPr lang="en-GB" sz="1600" i="1" dirty="0">
                    <a:solidFill>
                      <a:srgbClr val="495A66"/>
                    </a:solidFill>
                  </a:rPr>
                  <a:t>−5 </a:t>
                </a:r>
                <a:r>
                  <a:rPr lang="en-GB" sz="1600" dirty="0">
                    <a:solidFill>
                      <a:srgbClr val="495A66"/>
                    </a:solidFill>
                  </a:rPr>
                  <a:t>and 12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i="1" dirty="0">
                    <a:solidFill>
                      <a:srgbClr val="495A66"/>
                    </a:solidFill>
                  </a:rPr>
                  <a:t> </a:t>
                </a:r>
                <a:r>
                  <a:rPr lang="en-GB" sz="1600" dirty="0">
                    <a:solidFill>
                      <a:srgbClr val="495A66"/>
                    </a:solidFill>
                  </a:rPr>
                  <a:t>cover different operating points including negative speeds;  two quintic ramps (2→9 and 0→ -8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i="1" dirty="0">
                    <a:solidFill>
                      <a:srgbClr val="495A66"/>
                    </a:solidFill>
                  </a:rPr>
                  <a:t> </a:t>
                </a:r>
                <a:r>
                  <a:rPr lang="en-GB" sz="1600" dirty="0">
                    <a:solidFill>
                      <a:srgbClr val="495A66"/>
                    </a:solidFill>
                  </a:rPr>
                  <a:t>) and one step drop (8→3 rad/s) verify that generalisation holds across profile shapes and directions. The hardest probe is a constant at  14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beyond the training range, where any performance is pure extrapolation and the strongest evidence against overfitting.</a:t>
                </a:r>
              </a:p>
              <a:p>
                <a:endParaRPr lang="en-GB" sz="1600" dirty="0">
                  <a:solidFill>
                    <a:srgbClr val="495A66"/>
                  </a:solidFill>
                </a:endParaRPr>
              </a:p>
              <a:p>
                <a:endParaRPr lang="en-US" dirty="0"/>
              </a:p>
            </p:txBody>
          </p:sp>
        </mc:Choice>
        <mc:Fallback xmlns="">
          <p:sp>
            <p:nvSpPr>
              <p:cNvPr id="7" name="TextBox 6">
                <a:extLst>
                  <a:ext uri="{FF2B5EF4-FFF2-40B4-BE49-F238E27FC236}">
                    <a16:creationId xmlns:a16="http://schemas.microsoft.com/office/drawing/2014/main" id="{B7C6CF20-6D49-AC6E-EC45-097B582FCF4B}"/>
                  </a:ext>
                </a:extLst>
              </p:cNvPr>
              <p:cNvSpPr txBox="1">
                <a:spLocks noRot="1" noChangeAspect="1" noMove="1" noResize="1" noEditPoints="1" noAdjustHandles="1" noChangeArrowheads="1" noChangeShapeType="1" noTextEdit="1"/>
              </p:cNvSpPr>
              <p:nvPr/>
            </p:nvSpPr>
            <p:spPr>
              <a:xfrm>
                <a:off x="792675" y="2413337"/>
                <a:ext cx="10683045" cy="3816429"/>
              </a:xfrm>
              <a:prstGeom prst="rect">
                <a:avLst/>
              </a:prstGeom>
              <a:blipFill>
                <a:blip r:embed="rId2"/>
                <a:stretch>
                  <a:fillRect l="-238" t="-664"/>
                </a:stretch>
              </a:blipFill>
            </p:spPr>
            <p:txBody>
              <a:bodyPr/>
              <a:lstStyle/>
              <a:p>
                <a:r>
                  <a:rPr lang="en-US">
                    <a:noFill/>
                  </a:rPr>
                  <a:t> </a:t>
                </a:r>
              </a:p>
            </p:txBody>
          </p:sp>
        </mc:Fallback>
      </mc:AlternateContent>
    </p:spTree>
    <p:extLst>
      <p:ext uri="{BB962C8B-B14F-4D97-AF65-F5344CB8AC3E}">
        <p14:creationId xmlns:p14="http://schemas.microsoft.com/office/powerpoint/2010/main" val="3604477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AAE9EAD5-8EB3-C10F-218B-DC7317A644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F7BCCE-CD10-0ED0-D98B-7B7041C445FE}"/>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7929D57-D08D-EED8-FCB0-541C8A1230BB}"/>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70AC13AC-A084-B208-CDAA-5D5C8A1D47B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B5  </a:t>
            </a:r>
            <a:r>
              <a:rPr lang="en-US" sz="1100" noProof="1">
                <a:solidFill>
                  <a:srgbClr val="2A9D8F"/>
                </a:solidFill>
                <a:latin typeface="Consolas"/>
              </a:rPr>
              <a:t>RESIDUAL REINFORCEMENT LEARNING - Training</a:t>
            </a:r>
          </a:p>
        </p:txBody>
      </p:sp>
      <p:sp>
        <p:nvSpPr>
          <p:cNvPr id="6" name="TextBox 5">
            <a:extLst>
              <a:ext uri="{FF2B5EF4-FFF2-40B4-BE49-F238E27FC236}">
                <a16:creationId xmlns:a16="http://schemas.microsoft.com/office/drawing/2014/main" id="{2D5D9480-CEC7-AE55-8D12-A8CB8085B7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Neural Network Architecture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0E0C80-F213-5FF5-678C-95D8C0A22B50}"/>
                  </a:ext>
                </a:extLst>
              </p:cNvPr>
              <p:cNvSpPr txBox="1"/>
              <p:nvPr/>
            </p:nvSpPr>
            <p:spPr>
              <a:xfrm>
                <a:off x="792675" y="1372925"/>
                <a:ext cx="10832397" cy="830997"/>
              </a:xfrm>
              <a:prstGeom prst="rect">
                <a:avLst/>
              </a:prstGeom>
              <a:noFill/>
            </p:spPr>
            <p:txBody>
              <a:bodyPr wrap="square" rtlCol="0">
                <a:spAutoFit/>
              </a:bodyPr>
              <a:lstStyle/>
              <a:p>
                <a:r>
                  <a:rPr lang="en-GB" sz="1600" dirty="0">
                    <a:solidFill>
                      <a:srgbClr val="495A66"/>
                    </a:solidFill>
                  </a:rPr>
                  <a:t>The correction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the PI is missing depends on rod angle, operating speed, and reference profile in a </a:t>
                </a:r>
                <a:r>
                  <a:rPr lang="en-GB" sz="1600" b="1" dirty="0">
                    <a:solidFill>
                      <a:srgbClr val="495A66"/>
                    </a:solidFill>
                  </a:rPr>
                  <a:t>nonlinear</a:t>
                </a:r>
                <a:r>
                  <a:rPr lang="en-GB" sz="1600" dirty="0">
                    <a:solidFill>
                      <a:srgbClr val="495A66"/>
                    </a:solidFill>
                  </a:rPr>
                  <a:t> way and the input is a vector of six physical </a:t>
                </a:r>
                <a:r>
                  <a:rPr lang="en-GB" sz="1600" b="1" dirty="0">
                    <a:solidFill>
                      <a:srgbClr val="495A66"/>
                    </a:solidFill>
                  </a:rPr>
                  <a:t>scalars</a:t>
                </a:r>
                <a:r>
                  <a:rPr lang="en-GB" sz="1600" dirty="0">
                    <a:solidFill>
                      <a:srgbClr val="495A66"/>
                    </a:solidFill>
                  </a:rPr>
                  <a:t> with </a:t>
                </a:r>
                <a:r>
                  <a:rPr lang="en-GB" sz="1600" b="1" dirty="0">
                    <a:solidFill>
                      <a:srgbClr val="495A66"/>
                    </a:solidFill>
                  </a:rPr>
                  <a:t>no spatial structure </a:t>
                </a:r>
                <a:r>
                  <a:rPr lang="en-GB" sz="1600" dirty="0">
                    <a:solidFill>
                      <a:srgbClr val="495A66"/>
                    </a:solidFill>
                  </a:rPr>
                  <a:t>and </a:t>
                </a:r>
                <a:r>
                  <a:rPr lang="en-GB" sz="1600" b="1" dirty="0">
                    <a:solidFill>
                      <a:srgbClr val="495A66"/>
                    </a:solidFill>
                  </a:rPr>
                  <a:t>no temporal ordering</a:t>
                </a:r>
                <a:r>
                  <a:rPr lang="en-GB" sz="1600" dirty="0">
                    <a:solidFill>
                      <a:srgbClr val="495A66"/>
                    </a:solidFill>
                  </a:rPr>
                  <a:t>. An </a:t>
                </a:r>
                <a:r>
                  <a:rPr lang="en-GB" sz="1600" b="1" dirty="0">
                    <a:solidFill>
                      <a:srgbClr val="495A66"/>
                    </a:solidFill>
                  </a:rPr>
                  <a:t>MLP</a:t>
                </a:r>
                <a:r>
                  <a:rPr lang="en-GB" sz="1600" dirty="0">
                    <a:solidFill>
                      <a:srgbClr val="495A66"/>
                    </a:solidFill>
                  </a:rPr>
                  <a:t> is the natural choice: it learns an arbitrary smooth mapping from </a:t>
                </a:r>
                <a14:m>
                  <m:oMath xmlns:m="http://schemas.openxmlformats.org/officeDocument/2006/math">
                    <m:sSup>
                      <m:sSupPr>
                        <m:ctrlPr>
                          <a:rPr lang="en-GB" sz="1600" i="1" smtClean="0">
                            <a:solidFill>
                              <a:srgbClr val="495A66"/>
                            </a:solidFill>
                            <a:latin typeface="Cambria Math" panose="02040503050406030204" pitchFamily="18" charset="0"/>
                          </a:rPr>
                        </m:ctrlPr>
                      </m:sSupPr>
                      <m:e>
                        <m:r>
                          <a:rPr lang="en-GB" sz="1600" i="1" smtClean="0">
                            <a:solidFill>
                              <a:srgbClr val="495A66"/>
                            </a:solidFill>
                            <a:latin typeface="Cambria Math" panose="02040503050406030204" pitchFamily="18" charset="0"/>
                            <a:ea typeface="Cambria Math" panose="02040503050406030204" pitchFamily="18" charset="0"/>
                          </a:rPr>
                          <m:t>ℝ</m:t>
                        </m:r>
                      </m:e>
                      <m:sup>
                        <m:r>
                          <a:rPr lang="it-IT" sz="1600" b="0" i="1" smtClean="0">
                            <a:solidFill>
                              <a:srgbClr val="495A66"/>
                            </a:solidFill>
                            <a:latin typeface="Cambria Math" panose="02040503050406030204" pitchFamily="18" charset="0"/>
                          </a:rPr>
                          <m:t>6 </m:t>
                        </m:r>
                      </m:sup>
                    </m:sSup>
                  </m:oMath>
                </a14:m>
                <a:r>
                  <a:rPr lang="en-GB" sz="1600" dirty="0">
                    <a:solidFill>
                      <a:srgbClr val="495A66"/>
                    </a:solidFill>
                  </a:rPr>
                  <a:t>to </a:t>
                </a:r>
                <a14:m>
                  <m:oMath xmlns:m="http://schemas.openxmlformats.org/officeDocument/2006/math">
                    <m:sSup>
                      <m:sSupPr>
                        <m:ctrlPr>
                          <a:rPr lang="en-GB" sz="1600" i="1">
                            <a:solidFill>
                              <a:srgbClr val="495A66"/>
                            </a:solidFill>
                            <a:latin typeface="Cambria Math" panose="02040503050406030204" pitchFamily="18" charset="0"/>
                          </a:rPr>
                        </m:ctrlPr>
                      </m:sSupPr>
                      <m:e>
                        <m:r>
                          <a:rPr lang="en-GB" sz="1600" i="1">
                            <a:solidFill>
                              <a:srgbClr val="495A66"/>
                            </a:solidFill>
                            <a:latin typeface="Cambria Math" panose="02040503050406030204" pitchFamily="18" charset="0"/>
                            <a:ea typeface="Cambria Math" panose="02040503050406030204" pitchFamily="18" charset="0"/>
                          </a:rPr>
                          <m:t>ℝ</m:t>
                        </m:r>
                      </m:e>
                      <m:sup>
                        <m:r>
                          <a:rPr lang="it-IT" sz="1600" b="0" i="1" smtClean="0">
                            <a:solidFill>
                              <a:srgbClr val="495A66"/>
                            </a:solidFill>
                            <a:latin typeface="Cambria Math" panose="02040503050406030204" pitchFamily="18" charset="0"/>
                            <a:ea typeface="Cambria Math" panose="02040503050406030204" pitchFamily="18" charset="0"/>
                          </a:rPr>
                          <m:t>1</m:t>
                        </m:r>
                        <m:r>
                          <a:rPr lang="it-IT" sz="1600" i="1">
                            <a:solidFill>
                              <a:srgbClr val="495A66"/>
                            </a:solidFill>
                            <a:latin typeface="Cambria Math" panose="02040503050406030204" pitchFamily="18" charset="0"/>
                          </a:rPr>
                          <m:t> </m:t>
                        </m:r>
                      </m:sup>
                    </m:sSup>
                  </m:oMath>
                </a14:m>
                <a:r>
                  <a:rPr lang="en-GB" sz="1600" dirty="0">
                    <a:solidFill>
                      <a:srgbClr val="495A66"/>
                    </a:solidFill>
                  </a:rPr>
                  <a:t>with no inductive bias that would conflict with the problem structure.</a:t>
                </a:r>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EA0E0C80-F213-5FF5-678C-95D8C0A22B50}"/>
                  </a:ext>
                </a:extLst>
              </p:cNvPr>
              <p:cNvSpPr txBox="1">
                <a:spLocks noRot="1" noChangeAspect="1" noMove="1" noResize="1" noEditPoints="1" noAdjustHandles="1" noChangeArrowheads="1" noChangeShapeType="1" noTextEdit="1"/>
              </p:cNvSpPr>
              <p:nvPr/>
            </p:nvSpPr>
            <p:spPr>
              <a:xfrm>
                <a:off x="792675" y="1372925"/>
                <a:ext cx="10832397" cy="830997"/>
              </a:xfrm>
              <a:prstGeom prst="rect">
                <a:avLst/>
              </a:prstGeom>
              <a:blipFill>
                <a:blip r:embed="rId2"/>
                <a:stretch>
                  <a:fillRect l="-234" t="-3030" r="-351" b="-9091"/>
                </a:stretch>
              </a:blipFill>
            </p:spPr>
            <p:txBody>
              <a:bodyPr/>
              <a:lstStyle/>
              <a:p>
                <a:r>
                  <a:rPr lang="en-US">
                    <a:noFill/>
                  </a:rPr>
                  <a:t> </a:t>
                </a:r>
              </a:p>
            </p:txBody>
          </p:sp>
        </mc:Fallback>
      </mc:AlternateContent>
      <p:sp>
        <p:nvSpPr>
          <p:cNvPr id="114" name="TextBox 113">
            <a:extLst>
              <a:ext uri="{FF2B5EF4-FFF2-40B4-BE49-F238E27FC236}">
                <a16:creationId xmlns:a16="http://schemas.microsoft.com/office/drawing/2014/main" id="{63D6258A-F66E-73EA-ABEF-2D5CC150B34C}"/>
              </a:ext>
            </a:extLst>
          </p:cNvPr>
          <p:cNvSpPr txBox="1"/>
          <p:nvPr/>
        </p:nvSpPr>
        <p:spPr>
          <a:xfrm>
            <a:off x="4772570" y="2258410"/>
            <a:ext cx="2965513" cy="265457"/>
          </a:xfrm>
          <a:prstGeom prst="rect">
            <a:avLst/>
          </a:prstGeom>
          <a:noFill/>
        </p:spPr>
        <p:txBody>
          <a:bodyPr wrap="square" rtlCol="0">
            <a:spAutoFit/>
          </a:bodyPr>
          <a:lstStyle/>
          <a:p>
            <a:pPr algn="l"/>
            <a:r>
              <a:rPr lang="en-US" sz="1125" b="1" spc="0" baseline="0" dirty="0">
                <a:ln/>
                <a:solidFill>
                  <a:srgbClr val="003366"/>
                </a:solidFill>
                <a:latin typeface="Helvetica Neue"/>
                <a:ea typeface="Helvetica Neue"/>
                <a:cs typeface="Helvetica Neue"/>
                <a:sym typeface="Helvetica Neue"/>
                <a:rtl val="0"/>
              </a:rPr>
              <a:t>MLP Policy Network — π_θ : </a:t>
            </a:r>
            <a:r>
              <a:rPr lang="en-US" sz="1125" b="1" spc="0" baseline="0" dirty="0">
                <a:ln/>
                <a:solidFill>
                  <a:srgbClr val="003366"/>
                </a:solidFill>
                <a:latin typeface="Cambria Math"/>
                <a:ea typeface="Cambria Math"/>
                <a:cs typeface="Helvetica Neue"/>
                <a:sym typeface="Cambria Math"/>
                <a:rtl val="0"/>
              </a:rPr>
              <a:t>ℝ</a:t>
            </a:r>
            <a:r>
              <a:rPr lang="en-US" sz="1125" b="1" spc="0" baseline="0" dirty="0">
                <a:ln/>
                <a:solidFill>
                  <a:srgbClr val="003366"/>
                </a:solidFill>
                <a:latin typeface="Helvetica Neue"/>
                <a:ea typeface="Helvetica Neue"/>
                <a:cs typeface="Helvetica Neue"/>
                <a:sym typeface="Helvetica Neue"/>
                <a:rtl val="0"/>
              </a:rPr>
              <a:t>⁶ </a:t>
            </a:r>
            <a:r>
              <a:rPr lang="en-US" sz="1125" b="1" spc="0" baseline="0" dirty="0">
                <a:ln/>
                <a:solidFill>
                  <a:srgbClr val="003366"/>
                </a:solidFill>
                <a:latin typeface="Times New Roman"/>
                <a:ea typeface="Helvetica Neue"/>
                <a:cs typeface="Times New Roman"/>
                <a:sym typeface="Times New Roman"/>
                <a:rtl val="0"/>
              </a:rPr>
              <a:t>→</a:t>
            </a:r>
            <a:r>
              <a:rPr lang="en-US" sz="1125" b="1" spc="0" baseline="0" dirty="0">
                <a:ln/>
                <a:solidFill>
                  <a:srgbClr val="003366"/>
                </a:solidFill>
                <a:latin typeface="Helvetica Neue"/>
                <a:ea typeface="Helvetica Neue"/>
                <a:cs typeface="Helvetica Neue"/>
                <a:sym typeface="Helvetica Neue"/>
                <a:rtl val="0"/>
              </a:rPr>
              <a:t> [−1, 1]</a:t>
            </a:r>
          </a:p>
        </p:txBody>
      </p:sp>
      <p:sp>
        <p:nvSpPr>
          <p:cNvPr id="115" name="TextBox 114">
            <a:extLst>
              <a:ext uri="{FF2B5EF4-FFF2-40B4-BE49-F238E27FC236}">
                <a16:creationId xmlns:a16="http://schemas.microsoft.com/office/drawing/2014/main" id="{1F6A0849-627F-CB88-E91E-8B3493F7A69B}"/>
              </a:ext>
            </a:extLst>
          </p:cNvPr>
          <p:cNvSpPr txBox="1"/>
          <p:nvPr/>
        </p:nvSpPr>
        <p:spPr>
          <a:xfrm>
            <a:off x="3100989" y="2523908"/>
            <a:ext cx="1061656" cy="219291"/>
          </a:xfrm>
          <a:prstGeom prst="rect">
            <a:avLst/>
          </a:prstGeom>
          <a:noFill/>
        </p:spPr>
        <p:txBody>
          <a:bodyPr wrap="square" rtlCol="0">
            <a:spAutoFit/>
          </a:bodyPr>
          <a:lstStyle/>
          <a:p>
            <a:pPr algn="l"/>
            <a:r>
              <a:rPr lang="en-US" sz="825" b="1" spc="0" baseline="0" dirty="0">
                <a:ln/>
                <a:solidFill>
                  <a:srgbClr val="003366"/>
                </a:solidFill>
                <a:latin typeface="Helvetica Neue"/>
                <a:ea typeface="Helvetica Neue"/>
                <a:cs typeface="Helvetica Neue"/>
                <a:sym typeface="Helvetica Neue"/>
                <a:rtl val="0"/>
              </a:rPr>
              <a:t>INPUT LAYER</a:t>
            </a:r>
          </a:p>
        </p:txBody>
      </p:sp>
      <p:sp>
        <p:nvSpPr>
          <p:cNvPr id="116" name="TextBox 115">
            <a:extLst>
              <a:ext uri="{FF2B5EF4-FFF2-40B4-BE49-F238E27FC236}">
                <a16:creationId xmlns:a16="http://schemas.microsoft.com/office/drawing/2014/main" id="{32639A39-5F2D-51BA-521D-C816BA00C9C5}"/>
              </a:ext>
            </a:extLst>
          </p:cNvPr>
          <p:cNvSpPr txBox="1"/>
          <p:nvPr/>
        </p:nvSpPr>
        <p:spPr>
          <a:xfrm>
            <a:off x="3237568" y="2649567"/>
            <a:ext cx="606266" cy="207749"/>
          </a:xfrm>
          <a:prstGeom prst="rect">
            <a:avLst/>
          </a:prstGeom>
          <a:noFill/>
        </p:spPr>
        <p:txBody>
          <a:bodyPr wrap="square" rtlCol="0">
            <a:spAutoFit/>
          </a:bodyPr>
          <a:lstStyle/>
          <a:p>
            <a:pPr algn="l"/>
            <a:r>
              <a:rPr lang="en-US" sz="750" spc="0" baseline="0" dirty="0">
                <a:ln/>
                <a:solidFill>
                  <a:srgbClr val="003366"/>
                </a:solidFill>
                <a:latin typeface="Helvetica Neue"/>
                <a:ea typeface="Helvetica Neue"/>
                <a:cs typeface="Helvetica Neue"/>
                <a:sym typeface="Helvetica Neue"/>
                <a:rtl val="0"/>
              </a:rPr>
              <a:t>6 features</a:t>
            </a:r>
          </a:p>
        </p:txBody>
      </p:sp>
      <p:sp>
        <p:nvSpPr>
          <p:cNvPr id="117" name="TextBox 116">
            <a:extLst>
              <a:ext uri="{FF2B5EF4-FFF2-40B4-BE49-F238E27FC236}">
                <a16:creationId xmlns:a16="http://schemas.microsoft.com/office/drawing/2014/main" id="{225D10DA-CCBF-5F6D-3FF7-056FB0757596}"/>
              </a:ext>
            </a:extLst>
          </p:cNvPr>
          <p:cNvSpPr txBox="1"/>
          <p:nvPr/>
        </p:nvSpPr>
        <p:spPr>
          <a:xfrm>
            <a:off x="5770980" y="2523908"/>
            <a:ext cx="1284270" cy="219291"/>
          </a:xfrm>
          <a:prstGeom prst="rect">
            <a:avLst/>
          </a:prstGeom>
          <a:noFill/>
        </p:spPr>
        <p:txBody>
          <a:bodyPr wrap="square" rtlCol="0">
            <a:spAutoFit/>
          </a:bodyPr>
          <a:lstStyle/>
          <a:p>
            <a:pPr algn="l"/>
            <a:r>
              <a:rPr lang="en-US" sz="825" b="1" spc="0" baseline="0" dirty="0">
                <a:ln/>
                <a:solidFill>
                  <a:srgbClr val="009999"/>
                </a:solidFill>
                <a:latin typeface="Helvetica Neue"/>
                <a:ea typeface="Helvetica Neue"/>
                <a:cs typeface="Helvetica Neue"/>
                <a:sym typeface="Helvetica Neue"/>
                <a:rtl val="0"/>
              </a:rPr>
              <a:t>HIDDEN LAYER</a:t>
            </a:r>
          </a:p>
        </p:txBody>
      </p:sp>
      <p:sp>
        <p:nvSpPr>
          <p:cNvPr id="118" name="TextBox 117">
            <a:extLst>
              <a:ext uri="{FF2B5EF4-FFF2-40B4-BE49-F238E27FC236}">
                <a16:creationId xmlns:a16="http://schemas.microsoft.com/office/drawing/2014/main" id="{D0693036-9E93-6ED2-F437-90F36E01FD45}"/>
              </a:ext>
            </a:extLst>
          </p:cNvPr>
          <p:cNvSpPr txBox="1"/>
          <p:nvPr/>
        </p:nvSpPr>
        <p:spPr>
          <a:xfrm>
            <a:off x="5836560" y="2649567"/>
            <a:ext cx="978945" cy="207749"/>
          </a:xfrm>
          <a:prstGeom prst="rect">
            <a:avLst/>
          </a:prstGeom>
          <a:noFill/>
        </p:spPr>
        <p:txBody>
          <a:bodyPr wrap="square" rtlCol="0">
            <a:spAutoFit/>
          </a:bodyPr>
          <a:lstStyle/>
          <a:p>
            <a:pPr algn="l"/>
            <a:r>
              <a:rPr lang="en-US" sz="750" spc="0" baseline="0" dirty="0">
                <a:ln/>
                <a:solidFill>
                  <a:srgbClr val="009999"/>
                </a:solidFill>
                <a:latin typeface="Helvetica Neue"/>
                <a:ea typeface="Helvetica Neue"/>
                <a:cs typeface="Helvetica Neue"/>
                <a:sym typeface="Helvetica Neue"/>
                <a:rtl val="0"/>
              </a:rPr>
              <a:t>64 units · ReLU</a:t>
            </a:r>
          </a:p>
        </p:txBody>
      </p:sp>
      <p:sp>
        <p:nvSpPr>
          <p:cNvPr id="119" name="TextBox 118">
            <a:extLst>
              <a:ext uri="{FF2B5EF4-FFF2-40B4-BE49-F238E27FC236}">
                <a16:creationId xmlns:a16="http://schemas.microsoft.com/office/drawing/2014/main" id="{F8B6079B-588B-8D0A-4507-E340204D79A6}"/>
              </a:ext>
            </a:extLst>
          </p:cNvPr>
          <p:cNvSpPr txBox="1"/>
          <p:nvPr/>
        </p:nvSpPr>
        <p:spPr>
          <a:xfrm>
            <a:off x="8648188" y="2523908"/>
            <a:ext cx="1185192" cy="219291"/>
          </a:xfrm>
          <a:prstGeom prst="rect">
            <a:avLst/>
          </a:prstGeom>
          <a:noFill/>
        </p:spPr>
        <p:txBody>
          <a:bodyPr wrap="square" rtlCol="0">
            <a:spAutoFit/>
          </a:bodyPr>
          <a:lstStyle/>
          <a:p>
            <a:pPr algn="l"/>
            <a:r>
              <a:rPr lang="en-US" sz="825" b="1" spc="0" baseline="0" dirty="0">
                <a:ln/>
                <a:solidFill>
                  <a:srgbClr val="CC6633"/>
                </a:solidFill>
                <a:latin typeface="Helvetica Neue"/>
                <a:ea typeface="Helvetica Neue"/>
                <a:cs typeface="Helvetica Neue"/>
                <a:sym typeface="Helvetica Neue"/>
                <a:rtl val="0"/>
              </a:rPr>
              <a:t>OUTPUT LAYER</a:t>
            </a:r>
          </a:p>
        </p:txBody>
      </p:sp>
      <p:sp>
        <p:nvSpPr>
          <p:cNvPr id="120" name="TextBox 119">
            <a:extLst>
              <a:ext uri="{FF2B5EF4-FFF2-40B4-BE49-F238E27FC236}">
                <a16:creationId xmlns:a16="http://schemas.microsoft.com/office/drawing/2014/main" id="{1440336F-CAB2-4456-07FE-0466F9066088}"/>
              </a:ext>
            </a:extLst>
          </p:cNvPr>
          <p:cNvSpPr txBox="1"/>
          <p:nvPr/>
        </p:nvSpPr>
        <p:spPr>
          <a:xfrm>
            <a:off x="8802264" y="2649567"/>
            <a:ext cx="685895" cy="207749"/>
          </a:xfrm>
          <a:prstGeom prst="rect">
            <a:avLst/>
          </a:prstGeom>
          <a:noFill/>
        </p:spPr>
        <p:txBody>
          <a:bodyPr wrap="square" rtlCol="0">
            <a:spAutoFit/>
          </a:bodyPr>
          <a:lstStyle/>
          <a:p>
            <a:pPr algn="l"/>
            <a:r>
              <a:rPr lang="en-US" sz="750" spc="0" baseline="0" dirty="0">
                <a:ln/>
                <a:solidFill>
                  <a:srgbClr val="CC6633"/>
                </a:solidFill>
                <a:latin typeface="Helvetica Neue"/>
                <a:ea typeface="Helvetica Neue"/>
                <a:cs typeface="Helvetica Neue"/>
                <a:sym typeface="Helvetica Neue"/>
                <a:rtl val="0"/>
              </a:rPr>
              <a:t>1 unit · tanh</a:t>
            </a:r>
          </a:p>
        </p:txBody>
      </p:sp>
      <p:grpSp>
        <p:nvGrpSpPr>
          <p:cNvPr id="121" name="Graphic 10">
            <a:extLst>
              <a:ext uri="{FF2B5EF4-FFF2-40B4-BE49-F238E27FC236}">
                <a16:creationId xmlns:a16="http://schemas.microsoft.com/office/drawing/2014/main" id="{88035595-CC50-BC26-36BD-DDAAD7329D1F}"/>
              </a:ext>
            </a:extLst>
          </p:cNvPr>
          <p:cNvGrpSpPr/>
          <p:nvPr/>
        </p:nvGrpSpPr>
        <p:grpSpPr>
          <a:xfrm>
            <a:off x="3921702" y="3014265"/>
            <a:ext cx="1857375" cy="1998371"/>
            <a:chOff x="3838575" y="2925255"/>
            <a:chExt cx="1857375" cy="1998371"/>
          </a:xfrm>
        </p:grpSpPr>
        <p:sp>
          <p:nvSpPr>
            <p:cNvPr id="122" name="Freeform 121">
              <a:extLst>
                <a:ext uri="{FF2B5EF4-FFF2-40B4-BE49-F238E27FC236}">
                  <a16:creationId xmlns:a16="http://schemas.microsoft.com/office/drawing/2014/main" id="{3BAF0509-DFCB-3877-7A47-6BA08534BA93}"/>
                </a:ext>
              </a:extLst>
            </p:cNvPr>
            <p:cNvSpPr/>
            <p:nvPr/>
          </p:nvSpPr>
          <p:spPr>
            <a:xfrm>
              <a:off x="3838575" y="2925255"/>
              <a:ext cx="1857375" cy="66612"/>
            </a:xfrm>
            <a:custGeom>
              <a:avLst/>
              <a:gdLst>
                <a:gd name="csX0" fmla="*/ 0 w 1857375"/>
                <a:gd name="csY0" fmla="*/ 66612 h 66612"/>
                <a:gd name="csX1" fmla="*/ 1857375 w 1857375"/>
                <a:gd name="csY1" fmla="*/ 0 h 66612"/>
              </a:gdLst>
              <a:ahLst/>
              <a:cxnLst>
                <a:cxn ang="0">
                  <a:pos x="csX0" y="csY0"/>
                </a:cxn>
                <a:cxn ang="0">
                  <a:pos x="csX1" y="csY1"/>
                </a:cxn>
              </a:cxnLst>
              <a:rect l="l" t="t" r="r" b="b"/>
              <a:pathLst>
                <a:path w="1857375" h="66612">
                  <a:moveTo>
                    <a:pt x="0" y="66612"/>
                  </a:moveTo>
                  <a:lnTo>
                    <a:pt x="1857375" y="0"/>
                  </a:lnTo>
                </a:path>
              </a:pathLst>
            </a:custGeom>
            <a:ln w="4763" cap="flat">
              <a:solidFill>
                <a:srgbClr val="003366">
                  <a:alpha val="19496"/>
                </a:srgbClr>
              </a:solidFill>
              <a:prstDash val="solid"/>
              <a:miter/>
            </a:ln>
          </p:spPr>
          <p:txBody>
            <a:bodyPr/>
            <a:lstStyle/>
            <a:p>
              <a:endParaRPr lang="en-US" dirty="0"/>
            </a:p>
          </p:txBody>
        </p:sp>
        <p:sp>
          <p:nvSpPr>
            <p:cNvPr id="123" name="Freeform 122">
              <a:extLst>
                <a:ext uri="{FF2B5EF4-FFF2-40B4-BE49-F238E27FC236}">
                  <a16:creationId xmlns:a16="http://schemas.microsoft.com/office/drawing/2014/main" id="{AF816755-A067-07FB-7667-433AA7A6BEF0}"/>
                </a:ext>
              </a:extLst>
            </p:cNvPr>
            <p:cNvSpPr/>
            <p:nvPr/>
          </p:nvSpPr>
          <p:spPr>
            <a:xfrm>
              <a:off x="3838575" y="2991868"/>
              <a:ext cx="1857375" cy="266449"/>
            </a:xfrm>
            <a:custGeom>
              <a:avLst/>
              <a:gdLst>
                <a:gd name="csX0" fmla="*/ 0 w 1857375"/>
                <a:gd name="csY0" fmla="*/ 0 h 266449"/>
                <a:gd name="csX1" fmla="*/ 1857375 w 1857375"/>
                <a:gd name="csY1" fmla="*/ 266450 h 266449"/>
              </a:gdLst>
              <a:ahLst/>
              <a:cxnLst>
                <a:cxn ang="0">
                  <a:pos x="csX0" y="csY0"/>
                </a:cxn>
                <a:cxn ang="0">
                  <a:pos x="csX1" y="csY1"/>
                </a:cxn>
              </a:cxnLst>
              <a:rect l="l" t="t" r="r" b="b"/>
              <a:pathLst>
                <a:path w="1857375" h="266449">
                  <a:moveTo>
                    <a:pt x="0" y="0"/>
                  </a:moveTo>
                  <a:lnTo>
                    <a:pt x="1857375" y="266450"/>
                  </a:lnTo>
                </a:path>
              </a:pathLst>
            </a:custGeom>
            <a:ln w="4763" cap="flat">
              <a:solidFill>
                <a:srgbClr val="003366">
                  <a:alpha val="19496"/>
                </a:srgbClr>
              </a:solidFill>
              <a:prstDash val="solid"/>
              <a:miter/>
            </a:ln>
          </p:spPr>
          <p:txBody>
            <a:bodyPr/>
            <a:lstStyle/>
            <a:p>
              <a:endParaRPr lang="en-US" dirty="0"/>
            </a:p>
          </p:txBody>
        </p:sp>
        <p:sp>
          <p:nvSpPr>
            <p:cNvPr id="124" name="Freeform 123">
              <a:extLst>
                <a:ext uri="{FF2B5EF4-FFF2-40B4-BE49-F238E27FC236}">
                  <a16:creationId xmlns:a16="http://schemas.microsoft.com/office/drawing/2014/main" id="{0A9C5953-7E82-3B9C-4D63-23658DC02B54}"/>
                </a:ext>
              </a:extLst>
            </p:cNvPr>
            <p:cNvSpPr/>
            <p:nvPr/>
          </p:nvSpPr>
          <p:spPr>
            <a:xfrm>
              <a:off x="3838575" y="2991868"/>
              <a:ext cx="1857375" cy="599511"/>
            </a:xfrm>
            <a:custGeom>
              <a:avLst/>
              <a:gdLst>
                <a:gd name="csX0" fmla="*/ 0 w 1857375"/>
                <a:gd name="csY0" fmla="*/ 0 h 599511"/>
                <a:gd name="csX1" fmla="*/ 1857375 w 1857375"/>
                <a:gd name="csY1" fmla="*/ 599512 h 599511"/>
              </a:gdLst>
              <a:ahLst/>
              <a:cxnLst>
                <a:cxn ang="0">
                  <a:pos x="csX0" y="csY0"/>
                </a:cxn>
                <a:cxn ang="0">
                  <a:pos x="csX1" y="csY1"/>
                </a:cxn>
              </a:cxnLst>
              <a:rect l="l" t="t" r="r" b="b"/>
              <a:pathLst>
                <a:path w="1857375" h="599511">
                  <a:moveTo>
                    <a:pt x="0" y="0"/>
                  </a:moveTo>
                  <a:lnTo>
                    <a:pt x="1857375" y="599512"/>
                  </a:lnTo>
                </a:path>
              </a:pathLst>
            </a:custGeom>
            <a:ln w="4763" cap="flat">
              <a:solidFill>
                <a:srgbClr val="003366">
                  <a:alpha val="19496"/>
                </a:srgbClr>
              </a:solidFill>
              <a:prstDash val="solid"/>
              <a:miter/>
            </a:ln>
          </p:spPr>
          <p:txBody>
            <a:bodyPr/>
            <a:lstStyle/>
            <a:p>
              <a:endParaRPr lang="en-US" dirty="0"/>
            </a:p>
          </p:txBody>
        </p:sp>
        <p:sp>
          <p:nvSpPr>
            <p:cNvPr id="125" name="Freeform 124">
              <a:extLst>
                <a:ext uri="{FF2B5EF4-FFF2-40B4-BE49-F238E27FC236}">
                  <a16:creationId xmlns:a16="http://schemas.microsoft.com/office/drawing/2014/main" id="{98B3A84B-896A-8F78-A417-4E224F124106}"/>
                </a:ext>
              </a:extLst>
            </p:cNvPr>
            <p:cNvSpPr/>
            <p:nvPr/>
          </p:nvSpPr>
          <p:spPr>
            <a:xfrm>
              <a:off x="3838575" y="2991868"/>
              <a:ext cx="1857375" cy="1265635"/>
            </a:xfrm>
            <a:custGeom>
              <a:avLst/>
              <a:gdLst>
                <a:gd name="csX0" fmla="*/ 0 w 1857375"/>
                <a:gd name="csY0" fmla="*/ 0 h 1265635"/>
                <a:gd name="csX1" fmla="*/ 1857375 w 1857375"/>
                <a:gd name="csY1" fmla="*/ 1265636 h 1265635"/>
              </a:gdLst>
              <a:ahLst/>
              <a:cxnLst>
                <a:cxn ang="0">
                  <a:pos x="csX0" y="csY0"/>
                </a:cxn>
                <a:cxn ang="0">
                  <a:pos x="csX1" y="csY1"/>
                </a:cxn>
              </a:cxnLst>
              <a:rect l="l" t="t" r="r" b="b"/>
              <a:pathLst>
                <a:path w="1857375" h="1265635">
                  <a:moveTo>
                    <a:pt x="0" y="0"/>
                  </a:moveTo>
                  <a:lnTo>
                    <a:pt x="1857375" y="1265636"/>
                  </a:lnTo>
                </a:path>
              </a:pathLst>
            </a:custGeom>
            <a:ln w="4763" cap="flat">
              <a:solidFill>
                <a:srgbClr val="003366">
                  <a:alpha val="19496"/>
                </a:srgbClr>
              </a:solidFill>
              <a:prstDash val="solid"/>
              <a:miter/>
            </a:ln>
          </p:spPr>
          <p:txBody>
            <a:bodyPr/>
            <a:lstStyle/>
            <a:p>
              <a:endParaRPr lang="en-US" dirty="0"/>
            </a:p>
          </p:txBody>
        </p:sp>
        <p:sp>
          <p:nvSpPr>
            <p:cNvPr id="126" name="Freeform 125">
              <a:extLst>
                <a:ext uri="{FF2B5EF4-FFF2-40B4-BE49-F238E27FC236}">
                  <a16:creationId xmlns:a16="http://schemas.microsoft.com/office/drawing/2014/main" id="{945B4DA9-E43B-CAFF-228B-2AD3E39467C1}"/>
                </a:ext>
              </a:extLst>
            </p:cNvPr>
            <p:cNvSpPr/>
            <p:nvPr/>
          </p:nvSpPr>
          <p:spPr>
            <a:xfrm>
              <a:off x="3838575" y="2991868"/>
              <a:ext cx="1857375" cy="1598697"/>
            </a:xfrm>
            <a:custGeom>
              <a:avLst/>
              <a:gdLst>
                <a:gd name="csX0" fmla="*/ 0 w 1857375"/>
                <a:gd name="csY0" fmla="*/ 0 h 1598697"/>
                <a:gd name="csX1" fmla="*/ 1857375 w 1857375"/>
                <a:gd name="csY1" fmla="*/ 1598698 h 1598697"/>
              </a:gdLst>
              <a:ahLst/>
              <a:cxnLst>
                <a:cxn ang="0">
                  <a:pos x="csX0" y="csY0"/>
                </a:cxn>
                <a:cxn ang="0">
                  <a:pos x="csX1" y="csY1"/>
                </a:cxn>
              </a:cxnLst>
              <a:rect l="l" t="t" r="r" b="b"/>
              <a:pathLst>
                <a:path w="1857375" h="1598697">
                  <a:moveTo>
                    <a:pt x="0" y="0"/>
                  </a:moveTo>
                  <a:lnTo>
                    <a:pt x="1857375" y="1598698"/>
                  </a:lnTo>
                </a:path>
              </a:pathLst>
            </a:custGeom>
            <a:ln w="4763" cap="flat">
              <a:solidFill>
                <a:srgbClr val="003366">
                  <a:alpha val="19496"/>
                </a:srgbClr>
              </a:solidFill>
              <a:prstDash val="solid"/>
              <a:miter/>
            </a:ln>
          </p:spPr>
          <p:txBody>
            <a:bodyPr/>
            <a:lstStyle/>
            <a:p>
              <a:endParaRPr lang="en-US" dirty="0"/>
            </a:p>
          </p:txBody>
        </p:sp>
        <p:sp>
          <p:nvSpPr>
            <p:cNvPr id="127" name="Freeform 126">
              <a:extLst>
                <a:ext uri="{FF2B5EF4-FFF2-40B4-BE49-F238E27FC236}">
                  <a16:creationId xmlns:a16="http://schemas.microsoft.com/office/drawing/2014/main" id="{52F59D97-3990-C104-E58F-E6EDC9E501E0}"/>
                </a:ext>
              </a:extLst>
            </p:cNvPr>
            <p:cNvSpPr/>
            <p:nvPr/>
          </p:nvSpPr>
          <p:spPr>
            <a:xfrm>
              <a:off x="3838575" y="2991868"/>
              <a:ext cx="1857375" cy="1931759"/>
            </a:xfrm>
            <a:custGeom>
              <a:avLst/>
              <a:gdLst>
                <a:gd name="csX0" fmla="*/ 0 w 1857375"/>
                <a:gd name="csY0" fmla="*/ 0 h 1931759"/>
                <a:gd name="csX1" fmla="*/ 1857375 w 1857375"/>
                <a:gd name="csY1" fmla="*/ 1931759 h 1931759"/>
              </a:gdLst>
              <a:ahLst/>
              <a:cxnLst>
                <a:cxn ang="0">
                  <a:pos x="csX0" y="csY0"/>
                </a:cxn>
                <a:cxn ang="0">
                  <a:pos x="csX1" y="csY1"/>
                </a:cxn>
              </a:cxnLst>
              <a:rect l="l" t="t" r="r" b="b"/>
              <a:pathLst>
                <a:path w="1857375" h="1931759">
                  <a:moveTo>
                    <a:pt x="0" y="0"/>
                  </a:moveTo>
                  <a:lnTo>
                    <a:pt x="1857375" y="1931759"/>
                  </a:lnTo>
                </a:path>
              </a:pathLst>
            </a:custGeom>
            <a:ln w="4763" cap="flat">
              <a:solidFill>
                <a:srgbClr val="003366">
                  <a:alpha val="19496"/>
                </a:srgbClr>
              </a:solidFill>
              <a:prstDash val="solid"/>
              <a:miter/>
            </a:ln>
          </p:spPr>
          <p:txBody>
            <a:bodyPr/>
            <a:lstStyle/>
            <a:p>
              <a:endParaRPr lang="en-US" dirty="0"/>
            </a:p>
          </p:txBody>
        </p:sp>
        <p:sp>
          <p:nvSpPr>
            <p:cNvPr id="128" name="Freeform 127">
              <a:extLst>
                <a:ext uri="{FF2B5EF4-FFF2-40B4-BE49-F238E27FC236}">
                  <a16:creationId xmlns:a16="http://schemas.microsoft.com/office/drawing/2014/main" id="{4EDABFF3-A585-2AB7-1FAD-D08A7BA2AA04}"/>
                </a:ext>
              </a:extLst>
            </p:cNvPr>
            <p:cNvSpPr/>
            <p:nvPr/>
          </p:nvSpPr>
          <p:spPr>
            <a:xfrm>
              <a:off x="3838575" y="2925255"/>
              <a:ext cx="1857375" cy="428222"/>
            </a:xfrm>
            <a:custGeom>
              <a:avLst/>
              <a:gdLst>
                <a:gd name="csX0" fmla="*/ 0 w 1857375"/>
                <a:gd name="csY0" fmla="*/ 428223 h 428222"/>
                <a:gd name="csX1" fmla="*/ 1857375 w 1857375"/>
                <a:gd name="csY1" fmla="*/ 0 h 428222"/>
              </a:gdLst>
              <a:ahLst/>
              <a:cxnLst>
                <a:cxn ang="0">
                  <a:pos x="csX0" y="csY0"/>
                </a:cxn>
                <a:cxn ang="0">
                  <a:pos x="csX1" y="csY1"/>
                </a:cxn>
              </a:cxnLst>
              <a:rect l="l" t="t" r="r" b="b"/>
              <a:pathLst>
                <a:path w="1857375" h="428222">
                  <a:moveTo>
                    <a:pt x="0" y="428223"/>
                  </a:moveTo>
                  <a:lnTo>
                    <a:pt x="1857375" y="0"/>
                  </a:lnTo>
                </a:path>
              </a:pathLst>
            </a:custGeom>
            <a:ln w="4763" cap="flat">
              <a:solidFill>
                <a:srgbClr val="003366">
                  <a:alpha val="19496"/>
                </a:srgbClr>
              </a:solidFill>
              <a:prstDash val="solid"/>
              <a:miter/>
            </a:ln>
          </p:spPr>
          <p:txBody>
            <a:bodyPr/>
            <a:lstStyle/>
            <a:p>
              <a:endParaRPr lang="en-US" dirty="0"/>
            </a:p>
          </p:txBody>
        </p:sp>
        <p:sp>
          <p:nvSpPr>
            <p:cNvPr id="129" name="Freeform 128">
              <a:extLst>
                <a:ext uri="{FF2B5EF4-FFF2-40B4-BE49-F238E27FC236}">
                  <a16:creationId xmlns:a16="http://schemas.microsoft.com/office/drawing/2014/main" id="{247A3FE7-9025-21DA-6F70-15931D59BDB9}"/>
                </a:ext>
              </a:extLst>
            </p:cNvPr>
            <p:cNvSpPr/>
            <p:nvPr/>
          </p:nvSpPr>
          <p:spPr>
            <a:xfrm>
              <a:off x="3838575" y="3258317"/>
              <a:ext cx="1857375" cy="95160"/>
            </a:xfrm>
            <a:custGeom>
              <a:avLst/>
              <a:gdLst>
                <a:gd name="csX0" fmla="*/ 0 w 1857375"/>
                <a:gd name="csY0" fmla="*/ 95161 h 95160"/>
                <a:gd name="csX1" fmla="*/ 1857375 w 1857375"/>
                <a:gd name="csY1" fmla="*/ 0 h 95160"/>
              </a:gdLst>
              <a:ahLst/>
              <a:cxnLst>
                <a:cxn ang="0">
                  <a:pos x="csX0" y="csY0"/>
                </a:cxn>
                <a:cxn ang="0">
                  <a:pos x="csX1" y="csY1"/>
                </a:cxn>
              </a:cxnLst>
              <a:rect l="l" t="t" r="r" b="b"/>
              <a:pathLst>
                <a:path w="1857375" h="95160">
                  <a:moveTo>
                    <a:pt x="0" y="95161"/>
                  </a:moveTo>
                  <a:lnTo>
                    <a:pt x="1857375" y="0"/>
                  </a:lnTo>
                </a:path>
              </a:pathLst>
            </a:custGeom>
            <a:ln w="4763" cap="flat">
              <a:solidFill>
                <a:srgbClr val="003366">
                  <a:alpha val="19496"/>
                </a:srgbClr>
              </a:solidFill>
              <a:prstDash val="solid"/>
              <a:miter/>
            </a:ln>
          </p:spPr>
          <p:txBody>
            <a:bodyPr/>
            <a:lstStyle/>
            <a:p>
              <a:endParaRPr lang="en-US" dirty="0"/>
            </a:p>
          </p:txBody>
        </p:sp>
        <p:sp>
          <p:nvSpPr>
            <p:cNvPr id="130" name="Freeform 129">
              <a:extLst>
                <a:ext uri="{FF2B5EF4-FFF2-40B4-BE49-F238E27FC236}">
                  <a16:creationId xmlns:a16="http://schemas.microsoft.com/office/drawing/2014/main" id="{3F4B31C1-F4DF-60F3-CB92-85144508388D}"/>
                </a:ext>
              </a:extLst>
            </p:cNvPr>
            <p:cNvSpPr/>
            <p:nvPr/>
          </p:nvSpPr>
          <p:spPr>
            <a:xfrm>
              <a:off x="3838575" y="3353478"/>
              <a:ext cx="1857375" cy="237901"/>
            </a:xfrm>
            <a:custGeom>
              <a:avLst/>
              <a:gdLst>
                <a:gd name="csX0" fmla="*/ 0 w 1857375"/>
                <a:gd name="csY0" fmla="*/ 0 h 237901"/>
                <a:gd name="csX1" fmla="*/ 1857375 w 1857375"/>
                <a:gd name="csY1" fmla="*/ 237901 h 237901"/>
              </a:gdLst>
              <a:ahLst/>
              <a:cxnLst>
                <a:cxn ang="0">
                  <a:pos x="csX0" y="csY0"/>
                </a:cxn>
                <a:cxn ang="0">
                  <a:pos x="csX1" y="csY1"/>
                </a:cxn>
              </a:cxnLst>
              <a:rect l="l" t="t" r="r" b="b"/>
              <a:pathLst>
                <a:path w="1857375" h="237901">
                  <a:moveTo>
                    <a:pt x="0" y="0"/>
                  </a:moveTo>
                  <a:lnTo>
                    <a:pt x="1857375" y="237901"/>
                  </a:lnTo>
                </a:path>
              </a:pathLst>
            </a:custGeom>
            <a:ln w="4763" cap="flat">
              <a:solidFill>
                <a:srgbClr val="003366">
                  <a:alpha val="19496"/>
                </a:srgbClr>
              </a:solidFill>
              <a:prstDash val="solid"/>
              <a:miter/>
            </a:ln>
          </p:spPr>
          <p:txBody>
            <a:bodyPr/>
            <a:lstStyle/>
            <a:p>
              <a:endParaRPr lang="en-US" dirty="0"/>
            </a:p>
          </p:txBody>
        </p:sp>
        <p:sp>
          <p:nvSpPr>
            <p:cNvPr id="131" name="Freeform 130">
              <a:extLst>
                <a:ext uri="{FF2B5EF4-FFF2-40B4-BE49-F238E27FC236}">
                  <a16:creationId xmlns:a16="http://schemas.microsoft.com/office/drawing/2014/main" id="{91572E5B-7175-5832-3E61-B0FA37680ADA}"/>
                </a:ext>
              </a:extLst>
            </p:cNvPr>
            <p:cNvSpPr/>
            <p:nvPr/>
          </p:nvSpPr>
          <p:spPr>
            <a:xfrm>
              <a:off x="3838575" y="3353478"/>
              <a:ext cx="1857375" cy="904025"/>
            </a:xfrm>
            <a:custGeom>
              <a:avLst/>
              <a:gdLst>
                <a:gd name="csX0" fmla="*/ 0 w 1857375"/>
                <a:gd name="csY0" fmla="*/ 0 h 904025"/>
                <a:gd name="csX1" fmla="*/ 1857375 w 1857375"/>
                <a:gd name="csY1" fmla="*/ 904025 h 904025"/>
              </a:gdLst>
              <a:ahLst/>
              <a:cxnLst>
                <a:cxn ang="0">
                  <a:pos x="csX0" y="csY0"/>
                </a:cxn>
                <a:cxn ang="0">
                  <a:pos x="csX1" y="csY1"/>
                </a:cxn>
              </a:cxnLst>
              <a:rect l="l" t="t" r="r" b="b"/>
              <a:pathLst>
                <a:path w="1857375" h="904025">
                  <a:moveTo>
                    <a:pt x="0" y="0"/>
                  </a:moveTo>
                  <a:lnTo>
                    <a:pt x="1857375" y="904025"/>
                  </a:lnTo>
                </a:path>
              </a:pathLst>
            </a:custGeom>
            <a:ln w="4763" cap="flat">
              <a:solidFill>
                <a:srgbClr val="003366">
                  <a:alpha val="19496"/>
                </a:srgbClr>
              </a:solidFill>
              <a:prstDash val="solid"/>
              <a:miter/>
            </a:ln>
          </p:spPr>
          <p:txBody>
            <a:bodyPr/>
            <a:lstStyle/>
            <a:p>
              <a:endParaRPr lang="en-US" dirty="0"/>
            </a:p>
          </p:txBody>
        </p:sp>
        <p:sp>
          <p:nvSpPr>
            <p:cNvPr id="132" name="Freeform 131">
              <a:extLst>
                <a:ext uri="{FF2B5EF4-FFF2-40B4-BE49-F238E27FC236}">
                  <a16:creationId xmlns:a16="http://schemas.microsoft.com/office/drawing/2014/main" id="{98C7D65A-E0AE-B609-257B-FE7119CF6E79}"/>
                </a:ext>
              </a:extLst>
            </p:cNvPr>
            <p:cNvSpPr/>
            <p:nvPr/>
          </p:nvSpPr>
          <p:spPr>
            <a:xfrm>
              <a:off x="3838575" y="3353478"/>
              <a:ext cx="1857375" cy="1237087"/>
            </a:xfrm>
            <a:custGeom>
              <a:avLst/>
              <a:gdLst>
                <a:gd name="csX0" fmla="*/ 0 w 1857375"/>
                <a:gd name="csY0" fmla="*/ 0 h 1237087"/>
                <a:gd name="csX1" fmla="*/ 1857375 w 1857375"/>
                <a:gd name="csY1" fmla="*/ 1237087 h 1237087"/>
              </a:gdLst>
              <a:ahLst/>
              <a:cxnLst>
                <a:cxn ang="0">
                  <a:pos x="csX0" y="csY0"/>
                </a:cxn>
                <a:cxn ang="0">
                  <a:pos x="csX1" y="csY1"/>
                </a:cxn>
              </a:cxnLst>
              <a:rect l="l" t="t" r="r" b="b"/>
              <a:pathLst>
                <a:path w="1857375" h="1237087">
                  <a:moveTo>
                    <a:pt x="0" y="0"/>
                  </a:moveTo>
                  <a:lnTo>
                    <a:pt x="1857375" y="1237087"/>
                  </a:lnTo>
                </a:path>
              </a:pathLst>
            </a:custGeom>
            <a:ln w="4763" cap="flat">
              <a:solidFill>
                <a:srgbClr val="003366">
                  <a:alpha val="19496"/>
                </a:srgbClr>
              </a:solidFill>
              <a:prstDash val="solid"/>
              <a:miter/>
            </a:ln>
          </p:spPr>
          <p:txBody>
            <a:bodyPr/>
            <a:lstStyle/>
            <a:p>
              <a:endParaRPr lang="en-US" dirty="0"/>
            </a:p>
          </p:txBody>
        </p:sp>
        <p:sp>
          <p:nvSpPr>
            <p:cNvPr id="133" name="Freeform 132">
              <a:extLst>
                <a:ext uri="{FF2B5EF4-FFF2-40B4-BE49-F238E27FC236}">
                  <a16:creationId xmlns:a16="http://schemas.microsoft.com/office/drawing/2014/main" id="{D95359EA-DB50-B674-EBCD-D6E56285D9DB}"/>
                </a:ext>
              </a:extLst>
            </p:cNvPr>
            <p:cNvSpPr/>
            <p:nvPr/>
          </p:nvSpPr>
          <p:spPr>
            <a:xfrm>
              <a:off x="3838575" y="3353478"/>
              <a:ext cx="1857375" cy="1570149"/>
            </a:xfrm>
            <a:custGeom>
              <a:avLst/>
              <a:gdLst>
                <a:gd name="csX0" fmla="*/ 0 w 1857375"/>
                <a:gd name="csY0" fmla="*/ 0 h 1570149"/>
                <a:gd name="csX1" fmla="*/ 1857375 w 1857375"/>
                <a:gd name="csY1" fmla="*/ 1570149 h 1570149"/>
              </a:gdLst>
              <a:ahLst/>
              <a:cxnLst>
                <a:cxn ang="0">
                  <a:pos x="csX0" y="csY0"/>
                </a:cxn>
                <a:cxn ang="0">
                  <a:pos x="csX1" y="csY1"/>
                </a:cxn>
              </a:cxnLst>
              <a:rect l="l" t="t" r="r" b="b"/>
              <a:pathLst>
                <a:path w="1857375" h="1570149">
                  <a:moveTo>
                    <a:pt x="0" y="0"/>
                  </a:moveTo>
                  <a:lnTo>
                    <a:pt x="1857375" y="1570149"/>
                  </a:lnTo>
                </a:path>
              </a:pathLst>
            </a:custGeom>
            <a:ln w="4763" cap="flat">
              <a:solidFill>
                <a:srgbClr val="003366">
                  <a:alpha val="19496"/>
                </a:srgbClr>
              </a:solidFill>
              <a:prstDash val="solid"/>
              <a:miter/>
            </a:ln>
          </p:spPr>
          <p:txBody>
            <a:bodyPr/>
            <a:lstStyle/>
            <a:p>
              <a:endParaRPr lang="en-US" dirty="0"/>
            </a:p>
          </p:txBody>
        </p:sp>
        <p:sp>
          <p:nvSpPr>
            <p:cNvPr id="134" name="Freeform 133">
              <a:extLst>
                <a:ext uri="{FF2B5EF4-FFF2-40B4-BE49-F238E27FC236}">
                  <a16:creationId xmlns:a16="http://schemas.microsoft.com/office/drawing/2014/main" id="{7BEB1900-23DD-EF15-56C0-0DE516DBE39A}"/>
                </a:ext>
              </a:extLst>
            </p:cNvPr>
            <p:cNvSpPr/>
            <p:nvPr/>
          </p:nvSpPr>
          <p:spPr>
            <a:xfrm>
              <a:off x="3838575" y="2925255"/>
              <a:ext cx="1857375" cy="789832"/>
            </a:xfrm>
            <a:custGeom>
              <a:avLst/>
              <a:gdLst>
                <a:gd name="csX0" fmla="*/ 0 w 1857375"/>
                <a:gd name="csY0" fmla="*/ 789833 h 789832"/>
                <a:gd name="csX1" fmla="*/ 1857375 w 1857375"/>
                <a:gd name="csY1" fmla="*/ 0 h 789832"/>
              </a:gdLst>
              <a:ahLst/>
              <a:cxnLst>
                <a:cxn ang="0">
                  <a:pos x="csX0" y="csY0"/>
                </a:cxn>
                <a:cxn ang="0">
                  <a:pos x="csX1" y="csY1"/>
                </a:cxn>
              </a:cxnLst>
              <a:rect l="l" t="t" r="r" b="b"/>
              <a:pathLst>
                <a:path w="1857375" h="789832">
                  <a:moveTo>
                    <a:pt x="0" y="789833"/>
                  </a:moveTo>
                  <a:lnTo>
                    <a:pt x="1857375" y="0"/>
                  </a:lnTo>
                </a:path>
              </a:pathLst>
            </a:custGeom>
            <a:ln w="4763" cap="flat">
              <a:solidFill>
                <a:srgbClr val="003366">
                  <a:alpha val="19496"/>
                </a:srgbClr>
              </a:solidFill>
              <a:prstDash val="solid"/>
              <a:miter/>
            </a:ln>
          </p:spPr>
          <p:txBody>
            <a:bodyPr/>
            <a:lstStyle/>
            <a:p>
              <a:endParaRPr lang="en-US" dirty="0"/>
            </a:p>
          </p:txBody>
        </p:sp>
        <p:sp>
          <p:nvSpPr>
            <p:cNvPr id="135" name="Freeform 134">
              <a:extLst>
                <a:ext uri="{FF2B5EF4-FFF2-40B4-BE49-F238E27FC236}">
                  <a16:creationId xmlns:a16="http://schemas.microsoft.com/office/drawing/2014/main" id="{F029FF30-1621-A32D-DC59-B4FDCA80A33C}"/>
                </a:ext>
              </a:extLst>
            </p:cNvPr>
            <p:cNvSpPr/>
            <p:nvPr/>
          </p:nvSpPr>
          <p:spPr>
            <a:xfrm>
              <a:off x="3838575" y="3258317"/>
              <a:ext cx="1857375" cy="456770"/>
            </a:xfrm>
            <a:custGeom>
              <a:avLst/>
              <a:gdLst>
                <a:gd name="csX0" fmla="*/ 0 w 1857375"/>
                <a:gd name="csY0" fmla="*/ 456771 h 456770"/>
                <a:gd name="csX1" fmla="*/ 1857375 w 1857375"/>
                <a:gd name="csY1" fmla="*/ 0 h 456770"/>
              </a:gdLst>
              <a:ahLst/>
              <a:cxnLst>
                <a:cxn ang="0">
                  <a:pos x="csX0" y="csY0"/>
                </a:cxn>
                <a:cxn ang="0">
                  <a:pos x="csX1" y="csY1"/>
                </a:cxn>
              </a:cxnLst>
              <a:rect l="l" t="t" r="r" b="b"/>
              <a:pathLst>
                <a:path w="1857375" h="456770">
                  <a:moveTo>
                    <a:pt x="0" y="456771"/>
                  </a:moveTo>
                  <a:lnTo>
                    <a:pt x="1857375" y="0"/>
                  </a:lnTo>
                </a:path>
              </a:pathLst>
            </a:custGeom>
            <a:ln w="4763" cap="flat">
              <a:solidFill>
                <a:srgbClr val="003366">
                  <a:alpha val="19496"/>
                </a:srgbClr>
              </a:solidFill>
              <a:prstDash val="solid"/>
              <a:miter/>
            </a:ln>
          </p:spPr>
          <p:txBody>
            <a:bodyPr/>
            <a:lstStyle/>
            <a:p>
              <a:endParaRPr lang="en-US" dirty="0"/>
            </a:p>
          </p:txBody>
        </p:sp>
        <p:sp>
          <p:nvSpPr>
            <p:cNvPr id="136" name="Freeform 135">
              <a:extLst>
                <a:ext uri="{FF2B5EF4-FFF2-40B4-BE49-F238E27FC236}">
                  <a16:creationId xmlns:a16="http://schemas.microsoft.com/office/drawing/2014/main" id="{EED59500-02CC-70DA-6D1D-3E40BF880EC0}"/>
                </a:ext>
              </a:extLst>
            </p:cNvPr>
            <p:cNvSpPr/>
            <p:nvPr/>
          </p:nvSpPr>
          <p:spPr>
            <a:xfrm>
              <a:off x="3838575" y="3591379"/>
              <a:ext cx="1857375" cy="123708"/>
            </a:xfrm>
            <a:custGeom>
              <a:avLst/>
              <a:gdLst>
                <a:gd name="csX0" fmla="*/ 0 w 1857375"/>
                <a:gd name="csY0" fmla="*/ 123709 h 123708"/>
                <a:gd name="csX1" fmla="*/ 1857375 w 1857375"/>
                <a:gd name="csY1" fmla="*/ 0 h 123708"/>
              </a:gdLst>
              <a:ahLst/>
              <a:cxnLst>
                <a:cxn ang="0">
                  <a:pos x="csX0" y="csY0"/>
                </a:cxn>
                <a:cxn ang="0">
                  <a:pos x="csX1" y="csY1"/>
                </a:cxn>
              </a:cxnLst>
              <a:rect l="l" t="t" r="r" b="b"/>
              <a:pathLst>
                <a:path w="1857375" h="123708">
                  <a:moveTo>
                    <a:pt x="0" y="123709"/>
                  </a:moveTo>
                  <a:lnTo>
                    <a:pt x="1857375" y="0"/>
                  </a:lnTo>
                </a:path>
              </a:pathLst>
            </a:custGeom>
            <a:ln w="4763" cap="flat">
              <a:solidFill>
                <a:srgbClr val="003366">
                  <a:alpha val="19496"/>
                </a:srgbClr>
              </a:solidFill>
              <a:prstDash val="solid"/>
              <a:miter/>
            </a:ln>
          </p:spPr>
          <p:txBody>
            <a:bodyPr/>
            <a:lstStyle/>
            <a:p>
              <a:endParaRPr lang="en-US" dirty="0"/>
            </a:p>
          </p:txBody>
        </p:sp>
        <p:sp>
          <p:nvSpPr>
            <p:cNvPr id="137" name="Freeform 136">
              <a:extLst>
                <a:ext uri="{FF2B5EF4-FFF2-40B4-BE49-F238E27FC236}">
                  <a16:creationId xmlns:a16="http://schemas.microsoft.com/office/drawing/2014/main" id="{4EEF5CEC-12A6-B16B-9B8E-3CF72FCF2425}"/>
                </a:ext>
              </a:extLst>
            </p:cNvPr>
            <p:cNvSpPr/>
            <p:nvPr/>
          </p:nvSpPr>
          <p:spPr>
            <a:xfrm>
              <a:off x="3838575" y="3715088"/>
              <a:ext cx="1857375" cy="542415"/>
            </a:xfrm>
            <a:custGeom>
              <a:avLst/>
              <a:gdLst>
                <a:gd name="csX0" fmla="*/ 0 w 1857375"/>
                <a:gd name="csY0" fmla="*/ 0 h 542415"/>
                <a:gd name="csX1" fmla="*/ 1857375 w 1857375"/>
                <a:gd name="csY1" fmla="*/ 542415 h 542415"/>
              </a:gdLst>
              <a:ahLst/>
              <a:cxnLst>
                <a:cxn ang="0">
                  <a:pos x="csX0" y="csY0"/>
                </a:cxn>
                <a:cxn ang="0">
                  <a:pos x="csX1" y="csY1"/>
                </a:cxn>
              </a:cxnLst>
              <a:rect l="l" t="t" r="r" b="b"/>
              <a:pathLst>
                <a:path w="1857375" h="542415">
                  <a:moveTo>
                    <a:pt x="0" y="0"/>
                  </a:moveTo>
                  <a:lnTo>
                    <a:pt x="1857375" y="542415"/>
                  </a:lnTo>
                </a:path>
              </a:pathLst>
            </a:custGeom>
            <a:ln w="4763" cap="flat">
              <a:solidFill>
                <a:srgbClr val="003366">
                  <a:alpha val="19496"/>
                </a:srgbClr>
              </a:solidFill>
              <a:prstDash val="solid"/>
              <a:miter/>
            </a:ln>
          </p:spPr>
          <p:txBody>
            <a:bodyPr/>
            <a:lstStyle/>
            <a:p>
              <a:endParaRPr lang="en-US" dirty="0"/>
            </a:p>
          </p:txBody>
        </p:sp>
        <p:sp>
          <p:nvSpPr>
            <p:cNvPr id="138" name="Freeform 137">
              <a:extLst>
                <a:ext uri="{FF2B5EF4-FFF2-40B4-BE49-F238E27FC236}">
                  <a16:creationId xmlns:a16="http://schemas.microsoft.com/office/drawing/2014/main" id="{B2B0F42E-760B-D4DB-8978-B2391734301D}"/>
                </a:ext>
              </a:extLst>
            </p:cNvPr>
            <p:cNvSpPr/>
            <p:nvPr/>
          </p:nvSpPr>
          <p:spPr>
            <a:xfrm>
              <a:off x="3838575" y="3715088"/>
              <a:ext cx="1857375" cy="875477"/>
            </a:xfrm>
            <a:custGeom>
              <a:avLst/>
              <a:gdLst>
                <a:gd name="csX0" fmla="*/ 0 w 1857375"/>
                <a:gd name="csY0" fmla="*/ 0 h 875477"/>
                <a:gd name="csX1" fmla="*/ 1857375 w 1857375"/>
                <a:gd name="csY1" fmla="*/ 875477 h 875477"/>
              </a:gdLst>
              <a:ahLst/>
              <a:cxnLst>
                <a:cxn ang="0">
                  <a:pos x="csX0" y="csY0"/>
                </a:cxn>
                <a:cxn ang="0">
                  <a:pos x="csX1" y="csY1"/>
                </a:cxn>
              </a:cxnLst>
              <a:rect l="l" t="t" r="r" b="b"/>
              <a:pathLst>
                <a:path w="1857375" h="875477">
                  <a:moveTo>
                    <a:pt x="0" y="0"/>
                  </a:moveTo>
                  <a:lnTo>
                    <a:pt x="1857375" y="875477"/>
                  </a:lnTo>
                </a:path>
              </a:pathLst>
            </a:custGeom>
            <a:ln w="4763" cap="flat">
              <a:solidFill>
                <a:srgbClr val="003366">
                  <a:alpha val="19496"/>
                </a:srgbClr>
              </a:solidFill>
              <a:prstDash val="solid"/>
              <a:miter/>
            </a:ln>
          </p:spPr>
          <p:txBody>
            <a:bodyPr/>
            <a:lstStyle/>
            <a:p>
              <a:endParaRPr lang="en-US" dirty="0"/>
            </a:p>
          </p:txBody>
        </p:sp>
        <p:sp>
          <p:nvSpPr>
            <p:cNvPr id="139" name="Freeform 138">
              <a:extLst>
                <a:ext uri="{FF2B5EF4-FFF2-40B4-BE49-F238E27FC236}">
                  <a16:creationId xmlns:a16="http://schemas.microsoft.com/office/drawing/2014/main" id="{3D633F88-77F7-4F73-C154-AE8929BBD143}"/>
                </a:ext>
              </a:extLst>
            </p:cNvPr>
            <p:cNvSpPr/>
            <p:nvPr/>
          </p:nvSpPr>
          <p:spPr>
            <a:xfrm>
              <a:off x="3838575" y="3715088"/>
              <a:ext cx="1857375" cy="1208539"/>
            </a:xfrm>
            <a:custGeom>
              <a:avLst/>
              <a:gdLst>
                <a:gd name="csX0" fmla="*/ 0 w 1857375"/>
                <a:gd name="csY0" fmla="*/ 0 h 1208539"/>
                <a:gd name="csX1" fmla="*/ 1857375 w 1857375"/>
                <a:gd name="csY1" fmla="*/ 1208539 h 1208539"/>
              </a:gdLst>
              <a:ahLst/>
              <a:cxnLst>
                <a:cxn ang="0">
                  <a:pos x="csX0" y="csY0"/>
                </a:cxn>
                <a:cxn ang="0">
                  <a:pos x="csX1" y="csY1"/>
                </a:cxn>
              </a:cxnLst>
              <a:rect l="l" t="t" r="r" b="b"/>
              <a:pathLst>
                <a:path w="1857375" h="1208539">
                  <a:moveTo>
                    <a:pt x="0" y="0"/>
                  </a:moveTo>
                  <a:lnTo>
                    <a:pt x="1857375" y="1208539"/>
                  </a:lnTo>
                </a:path>
              </a:pathLst>
            </a:custGeom>
            <a:ln w="4763" cap="flat">
              <a:solidFill>
                <a:srgbClr val="003366">
                  <a:alpha val="19496"/>
                </a:srgbClr>
              </a:solidFill>
              <a:prstDash val="solid"/>
              <a:miter/>
            </a:ln>
          </p:spPr>
          <p:txBody>
            <a:bodyPr/>
            <a:lstStyle/>
            <a:p>
              <a:endParaRPr lang="en-US" dirty="0"/>
            </a:p>
          </p:txBody>
        </p:sp>
        <p:sp>
          <p:nvSpPr>
            <p:cNvPr id="140" name="Freeform 139">
              <a:extLst>
                <a:ext uri="{FF2B5EF4-FFF2-40B4-BE49-F238E27FC236}">
                  <a16:creationId xmlns:a16="http://schemas.microsoft.com/office/drawing/2014/main" id="{435FC7F7-A00D-7107-CA3C-B12A75225BBC}"/>
                </a:ext>
              </a:extLst>
            </p:cNvPr>
            <p:cNvSpPr/>
            <p:nvPr/>
          </p:nvSpPr>
          <p:spPr>
            <a:xfrm>
              <a:off x="3838575" y="2925255"/>
              <a:ext cx="1857375" cy="1151442"/>
            </a:xfrm>
            <a:custGeom>
              <a:avLst/>
              <a:gdLst>
                <a:gd name="csX0" fmla="*/ 0 w 1857375"/>
                <a:gd name="csY0" fmla="*/ 1151443 h 1151442"/>
                <a:gd name="csX1" fmla="*/ 1857375 w 1857375"/>
                <a:gd name="csY1" fmla="*/ 0 h 1151442"/>
              </a:gdLst>
              <a:ahLst/>
              <a:cxnLst>
                <a:cxn ang="0">
                  <a:pos x="csX0" y="csY0"/>
                </a:cxn>
                <a:cxn ang="0">
                  <a:pos x="csX1" y="csY1"/>
                </a:cxn>
              </a:cxnLst>
              <a:rect l="l" t="t" r="r" b="b"/>
              <a:pathLst>
                <a:path w="1857375" h="1151442">
                  <a:moveTo>
                    <a:pt x="0" y="1151443"/>
                  </a:moveTo>
                  <a:lnTo>
                    <a:pt x="1857375" y="0"/>
                  </a:lnTo>
                </a:path>
              </a:pathLst>
            </a:custGeom>
            <a:ln w="4763" cap="flat">
              <a:solidFill>
                <a:srgbClr val="003366">
                  <a:alpha val="19496"/>
                </a:srgbClr>
              </a:solidFill>
              <a:prstDash val="solid"/>
              <a:miter/>
            </a:ln>
          </p:spPr>
          <p:txBody>
            <a:bodyPr/>
            <a:lstStyle/>
            <a:p>
              <a:endParaRPr lang="en-US" dirty="0"/>
            </a:p>
          </p:txBody>
        </p:sp>
        <p:sp>
          <p:nvSpPr>
            <p:cNvPr id="141" name="Freeform 140">
              <a:extLst>
                <a:ext uri="{FF2B5EF4-FFF2-40B4-BE49-F238E27FC236}">
                  <a16:creationId xmlns:a16="http://schemas.microsoft.com/office/drawing/2014/main" id="{FC297CB9-8139-8D46-FB2E-F094CF57F7D6}"/>
                </a:ext>
              </a:extLst>
            </p:cNvPr>
            <p:cNvSpPr/>
            <p:nvPr/>
          </p:nvSpPr>
          <p:spPr>
            <a:xfrm>
              <a:off x="3838575" y="3258317"/>
              <a:ext cx="1857375" cy="818380"/>
            </a:xfrm>
            <a:custGeom>
              <a:avLst/>
              <a:gdLst>
                <a:gd name="csX0" fmla="*/ 0 w 1857375"/>
                <a:gd name="csY0" fmla="*/ 818381 h 818380"/>
                <a:gd name="csX1" fmla="*/ 1857375 w 1857375"/>
                <a:gd name="csY1" fmla="*/ 0 h 818380"/>
              </a:gdLst>
              <a:ahLst/>
              <a:cxnLst>
                <a:cxn ang="0">
                  <a:pos x="csX0" y="csY0"/>
                </a:cxn>
                <a:cxn ang="0">
                  <a:pos x="csX1" y="csY1"/>
                </a:cxn>
              </a:cxnLst>
              <a:rect l="l" t="t" r="r" b="b"/>
              <a:pathLst>
                <a:path w="1857375" h="818380">
                  <a:moveTo>
                    <a:pt x="0" y="818381"/>
                  </a:moveTo>
                  <a:lnTo>
                    <a:pt x="1857375" y="0"/>
                  </a:lnTo>
                </a:path>
              </a:pathLst>
            </a:custGeom>
            <a:ln w="4763" cap="flat">
              <a:solidFill>
                <a:srgbClr val="003366">
                  <a:alpha val="19496"/>
                </a:srgbClr>
              </a:solidFill>
              <a:prstDash val="solid"/>
              <a:miter/>
            </a:ln>
          </p:spPr>
          <p:txBody>
            <a:bodyPr/>
            <a:lstStyle/>
            <a:p>
              <a:endParaRPr lang="en-US" dirty="0"/>
            </a:p>
          </p:txBody>
        </p:sp>
        <p:sp>
          <p:nvSpPr>
            <p:cNvPr id="142" name="Freeform 141">
              <a:extLst>
                <a:ext uri="{FF2B5EF4-FFF2-40B4-BE49-F238E27FC236}">
                  <a16:creationId xmlns:a16="http://schemas.microsoft.com/office/drawing/2014/main" id="{13679659-E51F-61E4-4900-D07394D366E9}"/>
                </a:ext>
              </a:extLst>
            </p:cNvPr>
            <p:cNvSpPr/>
            <p:nvPr/>
          </p:nvSpPr>
          <p:spPr>
            <a:xfrm>
              <a:off x="3838575" y="3591379"/>
              <a:ext cx="1857375" cy="485318"/>
            </a:xfrm>
            <a:custGeom>
              <a:avLst/>
              <a:gdLst>
                <a:gd name="csX0" fmla="*/ 0 w 1857375"/>
                <a:gd name="csY0" fmla="*/ 485319 h 485318"/>
                <a:gd name="csX1" fmla="*/ 1857375 w 1857375"/>
                <a:gd name="csY1" fmla="*/ 0 h 485318"/>
              </a:gdLst>
              <a:ahLst/>
              <a:cxnLst>
                <a:cxn ang="0">
                  <a:pos x="csX0" y="csY0"/>
                </a:cxn>
                <a:cxn ang="0">
                  <a:pos x="csX1" y="csY1"/>
                </a:cxn>
              </a:cxnLst>
              <a:rect l="l" t="t" r="r" b="b"/>
              <a:pathLst>
                <a:path w="1857375" h="485318">
                  <a:moveTo>
                    <a:pt x="0" y="485319"/>
                  </a:moveTo>
                  <a:lnTo>
                    <a:pt x="1857375" y="0"/>
                  </a:lnTo>
                </a:path>
              </a:pathLst>
            </a:custGeom>
            <a:ln w="4763" cap="flat">
              <a:solidFill>
                <a:srgbClr val="003366">
                  <a:alpha val="19496"/>
                </a:srgbClr>
              </a:solidFill>
              <a:prstDash val="solid"/>
              <a:miter/>
            </a:ln>
          </p:spPr>
          <p:txBody>
            <a:bodyPr/>
            <a:lstStyle/>
            <a:p>
              <a:endParaRPr lang="en-US" dirty="0"/>
            </a:p>
          </p:txBody>
        </p:sp>
        <p:sp>
          <p:nvSpPr>
            <p:cNvPr id="143" name="Freeform 142">
              <a:extLst>
                <a:ext uri="{FF2B5EF4-FFF2-40B4-BE49-F238E27FC236}">
                  <a16:creationId xmlns:a16="http://schemas.microsoft.com/office/drawing/2014/main" id="{69E6F363-E113-5ACF-4928-46CB43800D35}"/>
                </a:ext>
              </a:extLst>
            </p:cNvPr>
            <p:cNvSpPr/>
            <p:nvPr/>
          </p:nvSpPr>
          <p:spPr>
            <a:xfrm>
              <a:off x="3838575" y="4076698"/>
              <a:ext cx="1857375" cy="180805"/>
            </a:xfrm>
            <a:custGeom>
              <a:avLst/>
              <a:gdLst>
                <a:gd name="csX0" fmla="*/ 0 w 1857375"/>
                <a:gd name="csY0" fmla="*/ 0 h 180805"/>
                <a:gd name="csX1" fmla="*/ 1857375 w 1857375"/>
                <a:gd name="csY1" fmla="*/ 180805 h 180805"/>
              </a:gdLst>
              <a:ahLst/>
              <a:cxnLst>
                <a:cxn ang="0">
                  <a:pos x="csX0" y="csY0"/>
                </a:cxn>
                <a:cxn ang="0">
                  <a:pos x="csX1" y="csY1"/>
                </a:cxn>
              </a:cxnLst>
              <a:rect l="l" t="t" r="r" b="b"/>
              <a:pathLst>
                <a:path w="1857375" h="180805">
                  <a:moveTo>
                    <a:pt x="0" y="0"/>
                  </a:moveTo>
                  <a:lnTo>
                    <a:pt x="1857375" y="180805"/>
                  </a:lnTo>
                </a:path>
              </a:pathLst>
            </a:custGeom>
            <a:ln w="4763" cap="flat">
              <a:solidFill>
                <a:srgbClr val="003366">
                  <a:alpha val="19496"/>
                </a:srgbClr>
              </a:solidFill>
              <a:prstDash val="solid"/>
              <a:miter/>
            </a:ln>
          </p:spPr>
          <p:txBody>
            <a:bodyPr/>
            <a:lstStyle/>
            <a:p>
              <a:endParaRPr lang="en-US" dirty="0"/>
            </a:p>
          </p:txBody>
        </p:sp>
        <p:sp>
          <p:nvSpPr>
            <p:cNvPr id="144" name="Freeform 143">
              <a:extLst>
                <a:ext uri="{FF2B5EF4-FFF2-40B4-BE49-F238E27FC236}">
                  <a16:creationId xmlns:a16="http://schemas.microsoft.com/office/drawing/2014/main" id="{39FA0571-2B5A-FCBC-7084-3FD0FD9AF4E1}"/>
                </a:ext>
              </a:extLst>
            </p:cNvPr>
            <p:cNvSpPr/>
            <p:nvPr/>
          </p:nvSpPr>
          <p:spPr>
            <a:xfrm>
              <a:off x="3838575" y="4076698"/>
              <a:ext cx="1857375" cy="513867"/>
            </a:xfrm>
            <a:custGeom>
              <a:avLst/>
              <a:gdLst>
                <a:gd name="csX0" fmla="*/ 0 w 1857375"/>
                <a:gd name="csY0" fmla="*/ 0 h 513867"/>
                <a:gd name="csX1" fmla="*/ 1857375 w 1857375"/>
                <a:gd name="csY1" fmla="*/ 513867 h 513867"/>
              </a:gdLst>
              <a:ahLst/>
              <a:cxnLst>
                <a:cxn ang="0">
                  <a:pos x="csX0" y="csY0"/>
                </a:cxn>
                <a:cxn ang="0">
                  <a:pos x="csX1" y="csY1"/>
                </a:cxn>
              </a:cxnLst>
              <a:rect l="l" t="t" r="r" b="b"/>
              <a:pathLst>
                <a:path w="1857375" h="513867">
                  <a:moveTo>
                    <a:pt x="0" y="0"/>
                  </a:moveTo>
                  <a:lnTo>
                    <a:pt x="1857375" y="513867"/>
                  </a:lnTo>
                </a:path>
              </a:pathLst>
            </a:custGeom>
            <a:ln w="4763" cap="flat">
              <a:solidFill>
                <a:srgbClr val="003366">
                  <a:alpha val="19496"/>
                </a:srgbClr>
              </a:solidFill>
              <a:prstDash val="solid"/>
              <a:miter/>
            </a:ln>
          </p:spPr>
          <p:txBody>
            <a:bodyPr/>
            <a:lstStyle/>
            <a:p>
              <a:endParaRPr lang="en-US" dirty="0"/>
            </a:p>
          </p:txBody>
        </p:sp>
        <p:sp>
          <p:nvSpPr>
            <p:cNvPr id="145" name="Freeform 144">
              <a:extLst>
                <a:ext uri="{FF2B5EF4-FFF2-40B4-BE49-F238E27FC236}">
                  <a16:creationId xmlns:a16="http://schemas.microsoft.com/office/drawing/2014/main" id="{4D565F69-535C-FCCC-0605-4FC1FA4B2968}"/>
                </a:ext>
              </a:extLst>
            </p:cNvPr>
            <p:cNvSpPr/>
            <p:nvPr/>
          </p:nvSpPr>
          <p:spPr>
            <a:xfrm>
              <a:off x="3838575" y="4076698"/>
              <a:ext cx="1857375" cy="846929"/>
            </a:xfrm>
            <a:custGeom>
              <a:avLst/>
              <a:gdLst>
                <a:gd name="csX0" fmla="*/ 0 w 1857375"/>
                <a:gd name="csY0" fmla="*/ 0 h 846929"/>
                <a:gd name="csX1" fmla="*/ 1857375 w 1857375"/>
                <a:gd name="csY1" fmla="*/ 846929 h 846929"/>
              </a:gdLst>
              <a:ahLst/>
              <a:cxnLst>
                <a:cxn ang="0">
                  <a:pos x="csX0" y="csY0"/>
                </a:cxn>
                <a:cxn ang="0">
                  <a:pos x="csX1" y="csY1"/>
                </a:cxn>
              </a:cxnLst>
              <a:rect l="l" t="t" r="r" b="b"/>
              <a:pathLst>
                <a:path w="1857375" h="846929">
                  <a:moveTo>
                    <a:pt x="0" y="0"/>
                  </a:moveTo>
                  <a:lnTo>
                    <a:pt x="1857375" y="846929"/>
                  </a:lnTo>
                </a:path>
              </a:pathLst>
            </a:custGeom>
            <a:ln w="4763" cap="flat">
              <a:solidFill>
                <a:srgbClr val="003366">
                  <a:alpha val="19496"/>
                </a:srgbClr>
              </a:solidFill>
              <a:prstDash val="solid"/>
              <a:miter/>
            </a:ln>
          </p:spPr>
          <p:txBody>
            <a:bodyPr/>
            <a:lstStyle/>
            <a:p>
              <a:endParaRPr lang="en-US" dirty="0"/>
            </a:p>
          </p:txBody>
        </p:sp>
        <p:sp>
          <p:nvSpPr>
            <p:cNvPr id="146" name="Freeform 145">
              <a:extLst>
                <a:ext uri="{FF2B5EF4-FFF2-40B4-BE49-F238E27FC236}">
                  <a16:creationId xmlns:a16="http://schemas.microsoft.com/office/drawing/2014/main" id="{D2F6D37B-2615-8CED-30E8-49FFE4F825D5}"/>
                </a:ext>
              </a:extLst>
            </p:cNvPr>
            <p:cNvSpPr/>
            <p:nvPr/>
          </p:nvSpPr>
          <p:spPr>
            <a:xfrm>
              <a:off x="3838575" y="2925255"/>
              <a:ext cx="1857375" cy="1513052"/>
            </a:xfrm>
            <a:custGeom>
              <a:avLst/>
              <a:gdLst>
                <a:gd name="csX0" fmla="*/ 0 w 1857375"/>
                <a:gd name="csY0" fmla="*/ 1513053 h 1513052"/>
                <a:gd name="csX1" fmla="*/ 1857375 w 1857375"/>
                <a:gd name="csY1" fmla="*/ 0 h 1513052"/>
              </a:gdLst>
              <a:ahLst/>
              <a:cxnLst>
                <a:cxn ang="0">
                  <a:pos x="csX0" y="csY0"/>
                </a:cxn>
                <a:cxn ang="0">
                  <a:pos x="csX1" y="csY1"/>
                </a:cxn>
              </a:cxnLst>
              <a:rect l="l" t="t" r="r" b="b"/>
              <a:pathLst>
                <a:path w="1857375" h="1513052">
                  <a:moveTo>
                    <a:pt x="0" y="1513053"/>
                  </a:moveTo>
                  <a:lnTo>
                    <a:pt x="1857375" y="0"/>
                  </a:lnTo>
                </a:path>
              </a:pathLst>
            </a:custGeom>
            <a:ln w="4763" cap="flat">
              <a:solidFill>
                <a:srgbClr val="003366">
                  <a:alpha val="19496"/>
                </a:srgbClr>
              </a:solidFill>
              <a:prstDash val="solid"/>
              <a:miter/>
            </a:ln>
          </p:spPr>
          <p:txBody>
            <a:bodyPr/>
            <a:lstStyle/>
            <a:p>
              <a:endParaRPr lang="en-US" dirty="0"/>
            </a:p>
          </p:txBody>
        </p:sp>
        <p:sp>
          <p:nvSpPr>
            <p:cNvPr id="147" name="Freeform 146">
              <a:extLst>
                <a:ext uri="{FF2B5EF4-FFF2-40B4-BE49-F238E27FC236}">
                  <a16:creationId xmlns:a16="http://schemas.microsoft.com/office/drawing/2014/main" id="{64E45F03-AB06-1817-DB35-75C20DF81EA6}"/>
                </a:ext>
              </a:extLst>
            </p:cNvPr>
            <p:cNvSpPr/>
            <p:nvPr/>
          </p:nvSpPr>
          <p:spPr>
            <a:xfrm>
              <a:off x="3838575" y="3258317"/>
              <a:ext cx="1857375" cy="1179990"/>
            </a:xfrm>
            <a:custGeom>
              <a:avLst/>
              <a:gdLst>
                <a:gd name="csX0" fmla="*/ 0 w 1857375"/>
                <a:gd name="csY0" fmla="*/ 1179991 h 1179990"/>
                <a:gd name="csX1" fmla="*/ 1857375 w 1857375"/>
                <a:gd name="csY1" fmla="*/ 0 h 1179990"/>
              </a:gdLst>
              <a:ahLst/>
              <a:cxnLst>
                <a:cxn ang="0">
                  <a:pos x="csX0" y="csY0"/>
                </a:cxn>
                <a:cxn ang="0">
                  <a:pos x="csX1" y="csY1"/>
                </a:cxn>
              </a:cxnLst>
              <a:rect l="l" t="t" r="r" b="b"/>
              <a:pathLst>
                <a:path w="1857375" h="1179990">
                  <a:moveTo>
                    <a:pt x="0" y="1179991"/>
                  </a:moveTo>
                  <a:lnTo>
                    <a:pt x="1857375" y="0"/>
                  </a:lnTo>
                </a:path>
              </a:pathLst>
            </a:custGeom>
            <a:ln w="4763" cap="flat">
              <a:solidFill>
                <a:srgbClr val="003366">
                  <a:alpha val="19496"/>
                </a:srgbClr>
              </a:solidFill>
              <a:prstDash val="solid"/>
              <a:miter/>
            </a:ln>
          </p:spPr>
          <p:txBody>
            <a:bodyPr/>
            <a:lstStyle/>
            <a:p>
              <a:endParaRPr lang="en-US" dirty="0"/>
            </a:p>
          </p:txBody>
        </p:sp>
        <p:sp>
          <p:nvSpPr>
            <p:cNvPr id="148" name="Freeform 147">
              <a:extLst>
                <a:ext uri="{FF2B5EF4-FFF2-40B4-BE49-F238E27FC236}">
                  <a16:creationId xmlns:a16="http://schemas.microsoft.com/office/drawing/2014/main" id="{36FF3154-42ED-BC2F-1E8B-30049F089400}"/>
                </a:ext>
              </a:extLst>
            </p:cNvPr>
            <p:cNvSpPr/>
            <p:nvPr/>
          </p:nvSpPr>
          <p:spPr>
            <a:xfrm>
              <a:off x="3838575" y="3591379"/>
              <a:ext cx="1857375" cy="846929"/>
            </a:xfrm>
            <a:custGeom>
              <a:avLst/>
              <a:gdLst>
                <a:gd name="csX0" fmla="*/ 0 w 1857375"/>
                <a:gd name="csY0" fmla="*/ 846929 h 846929"/>
                <a:gd name="csX1" fmla="*/ 1857375 w 1857375"/>
                <a:gd name="csY1" fmla="*/ 0 h 846929"/>
              </a:gdLst>
              <a:ahLst/>
              <a:cxnLst>
                <a:cxn ang="0">
                  <a:pos x="csX0" y="csY0"/>
                </a:cxn>
                <a:cxn ang="0">
                  <a:pos x="csX1" y="csY1"/>
                </a:cxn>
              </a:cxnLst>
              <a:rect l="l" t="t" r="r" b="b"/>
              <a:pathLst>
                <a:path w="1857375" h="846929">
                  <a:moveTo>
                    <a:pt x="0" y="846929"/>
                  </a:moveTo>
                  <a:lnTo>
                    <a:pt x="1857375" y="0"/>
                  </a:lnTo>
                </a:path>
              </a:pathLst>
            </a:custGeom>
            <a:ln w="4763" cap="flat">
              <a:solidFill>
                <a:srgbClr val="003366">
                  <a:alpha val="19496"/>
                </a:srgbClr>
              </a:solidFill>
              <a:prstDash val="solid"/>
              <a:miter/>
            </a:ln>
          </p:spPr>
          <p:txBody>
            <a:bodyPr/>
            <a:lstStyle/>
            <a:p>
              <a:endParaRPr lang="en-US" dirty="0"/>
            </a:p>
          </p:txBody>
        </p:sp>
        <p:sp>
          <p:nvSpPr>
            <p:cNvPr id="149" name="Freeform 148">
              <a:extLst>
                <a:ext uri="{FF2B5EF4-FFF2-40B4-BE49-F238E27FC236}">
                  <a16:creationId xmlns:a16="http://schemas.microsoft.com/office/drawing/2014/main" id="{949EE6F2-F5DB-AC33-C59B-D5C39F245E3D}"/>
                </a:ext>
              </a:extLst>
            </p:cNvPr>
            <p:cNvSpPr/>
            <p:nvPr/>
          </p:nvSpPr>
          <p:spPr>
            <a:xfrm>
              <a:off x="3838575" y="4257503"/>
              <a:ext cx="1857375" cy="180805"/>
            </a:xfrm>
            <a:custGeom>
              <a:avLst/>
              <a:gdLst>
                <a:gd name="csX0" fmla="*/ 0 w 1857375"/>
                <a:gd name="csY0" fmla="*/ 180805 h 180805"/>
                <a:gd name="csX1" fmla="*/ 1857375 w 1857375"/>
                <a:gd name="csY1" fmla="*/ 0 h 180805"/>
              </a:gdLst>
              <a:ahLst/>
              <a:cxnLst>
                <a:cxn ang="0">
                  <a:pos x="csX0" y="csY0"/>
                </a:cxn>
                <a:cxn ang="0">
                  <a:pos x="csX1" y="csY1"/>
                </a:cxn>
              </a:cxnLst>
              <a:rect l="l" t="t" r="r" b="b"/>
              <a:pathLst>
                <a:path w="1857375" h="180805">
                  <a:moveTo>
                    <a:pt x="0" y="180805"/>
                  </a:moveTo>
                  <a:lnTo>
                    <a:pt x="1857375" y="0"/>
                  </a:lnTo>
                </a:path>
              </a:pathLst>
            </a:custGeom>
            <a:ln w="4763" cap="flat">
              <a:solidFill>
                <a:srgbClr val="003366">
                  <a:alpha val="19496"/>
                </a:srgbClr>
              </a:solidFill>
              <a:prstDash val="solid"/>
              <a:miter/>
            </a:ln>
          </p:spPr>
          <p:txBody>
            <a:bodyPr/>
            <a:lstStyle/>
            <a:p>
              <a:endParaRPr lang="en-US" dirty="0"/>
            </a:p>
          </p:txBody>
        </p:sp>
        <p:sp>
          <p:nvSpPr>
            <p:cNvPr id="150" name="Freeform 149">
              <a:extLst>
                <a:ext uri="{FF2B5EF4-FFF2-40B4-BE49-F238E27FC236}">
                  <a16:creationId xmlns:a16="http://schemas.microsoft.com/office/drawing/2014/main" id="{433EE0DC-A34E-3584-26B8-5BC28225CA5A}"/>
                </a:ext>
              </a:extLst>
            </p:cNvPr>
            <p:cNvSpPr/>
            <p:nvPr/>
          </p:nvSpPr>
          <p:spPr>
            <a:xfrm>
              <a:off x="3838575" y="4438308"/>
              <a:ext cx="1857375" cy="152256"/>
            </a:xfrm>
            <a:custGeom>
              <a:avLst/>
              <a:gdLst>
                <a:gd name="csX0" fmla="*/ 0 w 1857375"/>
                <a:gd name="csY0" fmla="*/ 0 h 152256"/>
                <a:gd name="csX1" fmla="*/ 1857375 w 1857375"/>
                <a:gd name="csY1" fmla="*/ 152257 h 152256"/>
              </a:gdLst>
              <a:ahLst/>
              <a:cxnLst>
                <a:cxn ang="0">
                  <a:pos x="csX0" y="csY0"/>
                </a:cxn>
                <a:cxn ang="0">
                  <a:pos x="csX1" y="csY1"/>
                </a:cxn>
              </a:cxnLst>
              <a:rect l="l" t="t" r="r" b="b"/>
              <a:pathLst>
                <a:path w="1857375" h="152256">
                  <a:moveTo>
                    <a:pt x="0" y="0"/>
                  </a:moveTo>
                  <a:lnTo>
                    <a:pt x="1857375" y="152257"/>
                  </a:lnTo>
                </a:path>
              </a:pathLst>
            </a:custGeom>
            <a:ln w="4763" cap="flat">
              <a:solidFill>
                <a:srgbClr val="003366">
                  <a:alpha val="19496"/>
                </a:srgbClr>
              </a:solidFill>
              <a:prstDash val="solid"/>
              <a:miter/>
            </a:ln>
          </p:spPr>
          <p:txBody>
            <a:bodyPr/>
            <a:lstStyle/>
            <a:p>
              <a:endParaRPr lang="en-US" dirty="0"/>
            </a:p>
          </p:txBody>
        </p:sp>
        <p:sp>
          <p:nvSpPr>
            <p:cNvPr id="151" name="Freeform 150">
              <a:extLst>
                <a:ext uri="{FF2B5EF4-FFF2-40B4-BE49-F238E27FC236}">
                  <a16:creationId xmlns:a16="http://schemas.microsoft.com/office/drawing/2014/main" id="{515481A5-E99F-EB4C-E1D2-105BE0A7AE92}"/>
                </a:ext>
              </a:extLst>
            </p:cNvPr>
            <p:cNvSpPr/>
            <p:nvPr/>
          </p:nvSpPr>
          <p:spPr>
            <a:xfrm>
              <a:off x="3838575" y="4438308"/>
              <a:ext cx="1857375" cy="485318"/>
            </a:xfrm>
            <a:custGeom>
              <a:avLst/>
              <a:gdLst>
                <a:gd name="csX0" fmla="*/ 0 w 1857375"/>
                <a:gd name="csY0" fmla="*/ 0 h 485318"/>
                <a:gd name="csX1" fmla="*/ 1857375 w 1857375"/>
                <a:gd name="csY1" fmla="*/ 485319 h 485318"/>
              </a:gdLst>
              <a:ahLst/>
              <a:cxnLst>
                <a:cxn ang="0">
                  <a:pos x="csX0" y="csY0"/>
                </a:cxn>
                <a:cxn ang="0">
                  <a:pos x="csX1" y="csY1"/>
                </a:cxn>
              </a:cxnLst>
              <a:rect l="l" t="t" r="r" b="b"/>
              <a:pathLst>
                <a:path w="1857375" h="485318">
                  <a:moveTo>
                    <a:pt x="0" y="0"/>
                  </a:moveTo>
                  <a:lnTo>
                    <a:pt x="1857375" y="485319"/>
                  </a:lnTo>
                </a:path>
              </a:pathLst>
            </a:custGeom>
            <a:ln w="4763" cap="flat">
              <a:solidFill>
                <a:srgbClr val="003366">
                  <a:alpha val="19496"/>
                </a:srgbClr>
              </a:solidFill>
              <a:prstDash val="solid"/>
              <a:miter/>
            </a:ln>
          </p:spPr>
          <p:txBody>
            <a:bodyPr/>
            <a:lstStyle/>
            <a:p>
              <a:endParaRPr lang="en-US" dirty="0"/>
            </a:p>
          </p:txBody>
        </p:sp>
        <p:sp>
          <p:nvSpPr>
            <p:cNvPr id="152" name="Freeform 151">
              <a:extLst>
                <a:ext uri="{FF2B5EF4-FFF2-40B4-BE49-F238E27FC236}">
                  <a16:creationId xmlns:a16="http://schemas.microsoft.com/office/drawing/2014/main" id="{9356A2CF-8057-A195-B0A9-2E8BE0BBA2C3}"/>
                </a:ext>
              </a:extLst>
            </p:cNvPr>
            <p:cNvSpPr/>
            <p:nvPr/>
          </p:nvSpPr>
          <p:spPr>
            <a:xfrm>
              <a:off x="3838575" y="2925255"/>
              <a:ext cx="1857375" cy="1874663"/>
            </a:xfrm>
            <a:custGeom>
              <a:avLst/>
              <a:gdLst>
                <a:gd name="csX0" fmla="*/ 0 w 1857375"/>
                <a:gd name="csY0" fmla="*/ 1874663 h 1874663"/>
                <a:gd name="csX1" fmla="*/ 1857375 w 1857375"/>
                <a:gd name="csY1" fmla="*/ 0 h 1874663"/>
              </a:gdLst>
              <a:ahLst/>
              <a:cxnLst>
                <a:cxn ang="0">
                  <a:pos x="csX0" y="csY0"/>
                </a:cxn>
                <a:cxn ang="0">
                  <a:pos x="csX1" y="csY1"/>
                </a:cxn>
              </a:cxnLst>
              <a:rect l="l" t="t" r="r" b="b"/>
              <a:pathLst>
                <a:path w="1857375" h="1874663">
                  <a:moveTo>
                    <a:pt x="0" y="1874663"/>
                  </a:moveTo>
                  <a:lnTo>
                    <a:pt x="1857375" y="0"/>
                  </a:lnTo>
                </a:path>
              </a:pathLst>
            </a:custGeom>
            <a:ln w="4763" cap="flat">
              <a:solidFill>
                <a:srgbClr val="003366">
                  <a:alpha val="19496"/>
                </a:srgbClr>
              </a:solidFill>
              <a:prstDash val="solid"/>
              <a:miter/>
            </a:ln>
          </p:spPr>
          <p:txBody>
            <a:bodyPr/>
            <a:lstStyle/>
            <a:p>
              <a:endParaRPr lang="en-US" dirty="0"/>
            </a:p>
          </p:txBody>
        </p:sp>
        <p:sp>
          <p:nvSpPr>
            <p:cNvPr id="153" name="Freeform 152">
              <a:extLst>
                <a:ext uri="{FF2B5EF4-FFF2-40B4-BE49-F238E27FC236}">
                  <a16:creationId xmlns:a16="http://schemas.microsoft.com/office/drawing/2014/main" id="{6D34F448-4D4A-641B-C946-5E1C7FED6F0C}"/>
                </a:ext>
              </a:extLst>
            </p:cNvPr>
            <p:cNvSpPr/>
            <p:nvPr/>
          </p:nvSpPr>
          <p:spPr>
            <a:xfrm>
              <a:off x="3838575" y="3258317"/>
              <a:ext cx="1857375" cy="1541601"/>
            </a:xfrm>
            <a:custGeom>
              <a:avLst/>
              <a:gdLst>
                <a:gd name="csX0" fmla="*/ 0 w 1857375"/>
                <a:gd name="csY0" fmla="*/ 1541601 h 1541601"/>
                <a:gd name="csX1" fmla="*/ 1857375 w 1857375"/>
                <a:gd name="csY1" fmla="*/ 0 h 1541601"/>
              </a:gdLst>
              <a:ahLst/>
              <a:cxnLst>
                <a:cxn ang="0">
                  <a:pos x="csX0" y="csY0"/>
                </a:cxn>
                <a:cxn ang="0">
                  <a:pos x="csX1" y="csY1"/>
                </a:cxn>
              </a:cxnLst>
              <a:rect l="l" t="t" r="r" b="b"/>
              <a:pathLst>
                <a:path w="1857375" h="1541601">
                  <a:moveTo>
                    <a:pt x="0" y="1541601"/>
                  </a:moveTo>
                  <a:lnTo>
                    <a:pt x="1857375" y="0"/>
                  </a:lnTo>
                </a:path>
              </a:pathLst>
            </a:custGeom>
            <a:ln w="4763" cap="flat">
              <a:solidFill>
                <a:srgbClr val="003366">
                  <a:alpha val="19496"/>
                </a:srgbClr>
              </a:solidFill>
              <a:prstDash val="solid"/>
              <a:miter/>
            </a:ln>
          </p:spPr>
          <p:txBody>
            <a:bodyPr/>
            <a:lstStyle/>
            <a:p>
              <a:endParaRPr lang="en-US" dirty="0"/>
            </a:p>
          </p:txBody>
        </p:sp>
        <p:sp>
          <p:nvSpPr>
            <p:cNvPr id="154" name="Freeform 153">
              <a:extLst>
                <a:ext uri="{FF2B5EF4-FFF2-40B4-BE49-F238E27FC236}">
                  <a16:creationId xmlns:a16="http://schemas.microsoft.com/office/drawing/2014/main" id="{70C4CD2D-5D34-0D5C-04C3-9152F2F43885}"/>
                </a:ext>
              </a:extLst>
            </p:cNvPr>
            <p:cNvSpPr/>
            <p:nvPr/>
          </p:nvSpPr>
          <p:spPr>
            <a:xfrm>
              <a:off x="3838575" y="3591379"/>
              <a:ext cx="1857375" cy="1208539"/>
            </a:xfrm>
            <a:custGeom>
              <a:avLst/>
              <a:gdLst>
                <a:gd name="csX0" fmla="*/ 0 w 1857375"/>
                <a:gd name="csY0" fmla="*/ 1208539 h 1208539"/>
                <a:gd name="csX1" fmla="*/ 1857375 w 1857375"/>
                <a:gd name="csY1" fmla="*/ 0 h 1208539"/>
              </a:gdLst>
              <a:ahLst/>
              <a:cxnLst>
                <a:cxn ang="0">
                  <a:pos x="csX0" y="csY0"/>
                </a:cxn>
                <a:cxn ang="0">
                  <a:pos x="csX1" y="csY1"/>
                </a:cxn>
              </a:cxnLst>
              <a:rect l="l" t="t" r="r" b="b"/>
              <a:pathLst>
                <a:path w="1857375" h="1208539">
                  <a:moveTo>
                    <a:pt x="0" y="1208539"/>
                  </a:moveTo>
                  <a:lnTo>
                    <a:pt x="1857375" y="0"/>
                  </a:lnTo>
                </a:path>
              </a:pathLst>
            </a:custGeom>
            <a:ln w="4763" cap="flat">
              <a:solidFill>
                <a:srgbClr val="003366">
                  <a:alpha val="19496"/>
                </a:srgbClr>
              </a:solidFill>
              <a:prstDash val="solid"/>
              <a:miter/>
            </a:ln>
          </p:spPr>
          <p:txBody>
            <a:bodyPr/>
            <a:lstStyle/>
            <a:p>
              <a:endParaRPr lang="en-US" dirty="0"/>
            </a:p>
          </p:txBody>
        </p:sp>
        <p:sp>
          <p:nvSpPr>
            <p:cNvPr id="155" name="Freeform 154">
              <a:extLst>
                <a:ext uri="{FF2B5EF4-FFF2-40B4-BE49-F238E27FC236}">
                  <a16:creationId xmlns:a16="http://schemas.microsoft.com/office/drawing/2014/main" id="{470B50CA-99E7-CDA1-DD50-37C786510C79}"/>
                </a:ext>
              </a:extLst>
            </p:cNvPr>
            <p:cNvSpPr/>
            <p:nvPr/>
          </p:nvSpPr>
          <p:spPr>
            <a:xfrm>
              <a:off x="3838575" y="4257503"/>
              <a:ext cx="1857375" cy="542415"/>
            </a:xfrm>
            <a:custGeom>
              <a:avLst/>
              <a:gdLst>
                <a:gd name="csX0" fmla="*/ 0 w 1857375"/>
                <a:gd name="csY0" fmla="*/ 542415 h 542415"/>
                <a:gd name="csX1" fmla="*/ 1857375 w 1857375"/>
                <a:gd name="csY1" fmla="*/ 0 h 542415"/>
              </a:gdLst>
              <a:ahLst/>
              <a:cxnLst>
                <a:cxn ang="0">
                  <a:pos x="csX0" y="csY0"/>
                </a:cxn>
                <a:cxn ang="0">
                  <a:pos x="csX1" y="csY1"/>
                </a:cxn>
              </a:cxnLst>
              <a:rect l="l" t="t" r="r" b="b"/>
              <a:pathLst>
                <a:path w="1857375" h="542415">
                  <a:moveTo>
                    <a:pt x="0" y="542415"/>
                  </a:moveTo>
                  <a:lnTo>
                    <a:pt x="1857375" y="0"/>
                  </a:lnTo>
                </a:path>
              </a:pathLst>
            </a:custGeom>
            <a:ln w="4763" cap="flat">
              <a:solidFill>
                <a:srgbClr val="003366">
                  <a:alpha val="19496"/>
                </a:srgbClr>
              </a:solidFill>
              <a:prstDash val="solid"/>
              <a:miter/>
            </a:ln>
          </p:spPr>
          <p:txBody>
            <a:bodyPr/>
            <a:lstStyle/>
            <a:p>
              <a:endParaRPr lang="en-US" dirty="0"/>
            </a:p>
          </p:txBody>
        </p:sp>
        <p:sp>
          <p:nvSpPr>
            <p:cNvPr id="156" name="Freeform 155">
              <a:extLst>
                <a:ext uri="{FF2B5EF4-FFF2-40B4-BE49-F238E27FC236}">
                  <a16:creationId xmlns:a16="http://schemas.microsoft.com/office/drawing/2014/main" id="{D7830FBA-A541-32C8-2752-EC4741F26D14}"/>
                </a:ext>
              </a:extLst>
            </p:cNvPr>
            <p:cNvSpPr/>
            <p:nvPr/>
          </p:nvSpPr>
          <p:spPr>
            <a:xfrm>
              <a:off x="3838575" y="4590565"/>
              <a:ext cx="1857375" cy="209353"/>
            </a:xfrm>
            <a:custGeom>
              <a:avLst/>
              <a:gdLst>
                <a:gd name="csX0" fmla="*/ 0 w 1857375"/>
                <a:gd name="csY0" fmla="*/ 209353 h 209353"/>
                <a:gd name="csX1" fmla="*/ 1857375 w 1857375"/>
                <a:gd name="csY1" fmla="*/ 0 h 209353"/>
              </a:gdLst>
              <a:ahLst/>
              <a:cxnLst>
                <a:cxn ang="0">
                  <a:pos x="csX0" y="csY0"/>
                </a:cxn>
                <a:cxn ang="0">
                  <a:pos x="csX1" y="csY1"/>
                </a:cxn>
              </a:cxnLst>
              <a:rect l="l" t="t" r="r" b="b"/>
              <a:pathLst>
                <a:path w="1857375" h="209353">
                  <a:moveTo>
                    <a:pt x="0" y="209353"/>
                  </a:moveTo>
                  <a:lnTo>
                    <a:pt x="1857375" y="0"/>
                  </a:lnTo>
                </a:path>
              </a:pathLst>
            </a:custGeom>
            <a:ln w="4763" cap="flat">
              <a:solidFill>
                <a:srgbClr val="003366">
                  <a:alpha val="19496"/>
                </a:srgbClr>
              </a:solidFill>
              <a:prstDash val="solid"/>
              <a:miter/>
            </a:ln>
          </p:spPr>
          <p:txBody>
            <a:bodyPr/>
            <a:lstStyle/>
            <a:p>
              <a:endParaRPr lang="en-US" dirty="0"/>
            </a:p>
          </p:txBody>
        </p:sp>
        <p:sp>
          <p:nvSpPr>
            <p:cNvPr id="157" name="Freeform 156">
              <a:extLst>
                <a:ext uri="{FF2B5EF4-FFF2-40B4-BE49-F238E27FC236}">
                  <a16:creationId xmlns:a16="http://schemas.microsoft.com/office/drawing/2014/main" id="{B653DE0D-DC6F-C771-CEB5-7A0AD7C48F70}"/>
                </a:ext>
              </a:extLst>
            </p:cNvPr>
            <p:cNvSpPr/>
            <p:nvPr/>
          </p:nvSpPr>
          <p:spPr>
            <a:xfrm>
              <a:off x="3838575" y="4799918"/>
              <a:ext cx="1857375" cy="123708"/>
            </a:xfrm>
            <a:custGeom>
              <a:avLst/>
              <a:gdLst>
                <a:gd name="csX0" fmla="*/ 0 w 1857375"/>
                <a:gd name="csY0" fmla="*/ 0 h 123708"/>
                <a:gd name="csX1" fmla="*/ 1857375 w 1857375"/>
                <a:gd name="csY1" fmla="*/ 123709 h 123708"/>
              </a:gdLst>
              <a:ahLst/>
              <a:cxnLst>
                <a:cxn ang="0">
                  <a:pos x="csX0" y="csY0"/>
                </a:cxn>
                <a:cxn ang="0">
                  <a:pos x="csX1" y="csY1"/>
                </a:cxn>
              </a:cxnLst>
              <a:rect l="l" t="t" r="r" b="b"/>
              <a:pathLst>
                <a:path w="1857375" h="123708">
                  <a:moveTo>
                    <a:pt x="0" y="0"/>
                  </a:moveTo>
                  <a:lnTo>
                    <a:pt x="1857375" y="123709"/>
                  </a:lnTo>
                </a:path>
              </a:pathLst>
            </a:custGeom>
            <a:ln w="4763" cap="flat">
              <a:solidFill>
                <a:srgbClr val="003366">
                  <a:alpha val="19496"/>
                </a:srgbClr>
              </a:solidFill>
              <a:prstDash val="solid"/>
              <a:miter/>
            </a:ln>
          </p:spPr>
          <p:txBody>
            <a:bodyPr/>
            <a:lstStyle/>
            <a:p>
              <a:endParaRPr lang="en-US" dirty="0"/>
            </a:p>
          </p:txBody>
        </p:sp>
      </p:grpSp>
      <p:grpSp>
        <p:nvGrpSpPr>
          <p:cNvPr id="158" name="Graphic 10">
            <a:extLst>
              <a:ext uri="{FF2B5EF4-FFF2-40B4-BE49-F238E27FC236}">
                <a16:creationId xmlns:a16="http://schemas.microsoft.com/office/drawing/2014/main" id="{1D3D18ED-9F2A-4A1C-3AB8-364B930D3B72}"/>
              </a:ext>
            </a:extLst>
          </p:cNvPr>
          <p:cNvGrpSpPr/>
          <p:nvPr/>
        </p:nvGrpSpPr>
        <p:grpSpPr>
          <a:xfrm>
            <a:off x="6731577" y="3014265"/>
            <a:ext cx="1666875" cy="1998371"/>
            <a:chOff x="6648450" y="2925255"/>
            <a:chExt cx="1666875" cy="1998371"/>
          </a:xfrm>
        </p:grpSpPr>
        <p:sp>
          <p:nvSpPr>
            <p:cNvPr id="159" name="Freeform 158">
              <a:extLst>
                <a:ext uri="{FF2B5EF4-FFF2-40B4-BE49-F238E27FC236}">
                  <a16:creationId xmlns:a16="http://schemas.microsoft.com/office/drawing/2014/main" id="{C32525D3-7532-F4EC-8FD9-F6E1CE516031}"/>
                </a:ext>
              </a:extLst>
            </p:cNvPr>
            <p:cNvSpPr/>
            <p:nvPr/>
          </p:nvSpPr>
          <p:spPr>
            <a:xfrm>
              <a:off x="6648450" y="2925255"/>
              <a:ext cx="1666875" cy="999185"/>
            </a:xfrm>
            <a:custGeom>
              <a:avLst/>
              <a:gdLst>
                <a:gd name="csX0" fmla="*/ 0 w 1666875"/>
                <a:gd name="csY0" fmla="*/ 0 h 999185"/>
                <a:gd name="csX1" fmla="*/ 1666875 w 1666875"/>
                <a:gd name="csY1" fmla="*/ 999186 h 999185"/>
              </a:gdLst>
              <a:ahLst/>
              <a:cxnLst>
                <a:cxn ang="0">
                  <a:pos x="csX0" y="csY0"/>
                </a:cxn>
                <a:cxn ang="0">
                  <a:pos x="csX1" y="csY1"/>
                </a:cxn>
              </a:cxnLst>
              <a:rect l="l" t="t" r="r" b="b"/>
              <a:pathLst>
                <a:path w="1666875" h="999185">
                  <a:moveTo>
                    <a:pt x="0" y="0"/>
                  </a:moveTo>
                  <a:lnTo>
                    <a:pt x="1666875" y="999186"/>
                  </a:lnTo>
                </a:path>
              </a:pathLst>
            </a:custGeom>
            <a:ln w="4763" cap="flat">
              <a:solidFill>
                <a:srgbClr val="009999"/>
              </a:solidFill>
              <a:prstDash val="solid"/>
              <a:miter/>
            </a:ln>
          </p:spPr>
          <p:txBody>
            <a:bodyPr/>
            <a:lstStyle/>
            <a:p>
              <a:endParaRPr lang="en-US" dirty="0"/>
            </a:p>
          </p:txBody>
        </p:sp>
        <p:sp>
          <p:nvSpPr>
            <p:cNvPr id="160" name="Freeform 159">
              <a:extLst>
                <a:ext uri="{FF2B5EF4-FFF2-40B4-BE49-F238E27FC236}">
                  <a16:creationId xmlns:a16="http://schemas.microsoft.com/office/drawing/2014/main" id="{D29219F9-5D5C-4811-AC46-D12A08D7DE4B}"/>
                </a:ext>
              </a:extLst>
            </p:cNvPr>
            <p:cNvSpPr/>
            <p:nvPr/>
          </p:nvSpPr>
          <p:spPr>
            <a:xfrm>
              <a:off x="6648450" y="3258317"/>
              <a:ext cx="1666875" cy="666123"/>
            </a:xfrm>
            <a:custGeom>
              <a:avLst/>
              <a:gdLst>
                <a:gd name="csX0" fmla="*/ 0 w 1666875"/>
                <a:gd name="csY0" fmla="*/ 0 h 666123"/>
                <a:gd name="csX1" fmla="*/ 1666875 w 1666875"/>
                <a:gd name="csY1" fmla="*/ 666124 h 666123"/>
              </a:gdLst>
              <a:ahLst/>
              <a:cxnLst>
                <a:cxn ang="0">
                  <a:pos x="csX0" y="csY0"/>
                </a:cxn>
                <a:cxn ang="0">
                  <a:pos x="csX1" y="csY1"/>
                </a:cxn>
              </a:cxnLst>
              <a:rect l="l" t="t" r="r" b="b"/>
              <a:pathLst>
                <a:path w="1666875" h="666123">
                  <a:moveTo>
                    <a:pt x="0" y="0"/>
                  </a:moveTo>
                  <a:lnTo>
                    <a:pt x="1666875" y="666124"/>
                  </a:lnTo>
                </a:path>
              </a:pathLst>
            </a:custGeom>
            <a:ln w="4763" cap="flat">
              <a:solidFill>
                <a:srgbClr val="009999"/>
              </a:solidFill>
              <a:prstDash val="solid"/>
              <a:miter/>
            </a:ln>
          </p:spPr>
          <p:txBody>
            <a:bodyPr/>
            <a:lstStyle/>
            <a:p>
              <a:endParaRPr lang="en-US" dirty="0"/>
            </a:p>
          </p:txBody>
        </p:sp>
        <p:sp>
          <p:nvSpPr>
            <p:cNvPr id="161" name="Freeform 160">
              <a:extLst>
                <a:ext uri="{FF2B5EF4-FFF2-40B4-BE49-F238E27FC236}">
                  <a16:creationId xmlns:a16="http://schemas.microsoft.com/office/drawing/2014/main" id="{F755FE2A-C4C8-21E3-A829-2BEA5D0B45A3}"/>
                </a:ext>
              </a:extLst>
            </p:cNvPr>
            <p:cNvSpPr/>
            <p:nvPr/>
          </p:nvSpPr>
          <p:spPr>
            <a:xfrm>
              <a:off x="6648450" y="3591379"/>
              <a:ext cx="1666875" cy="333061"/>
            </a:xfrm>
            <a:custGeom>
              <a:avLst/>
              <a:gdLst>
                <a:gd name="csX0" fmla="*/ 0 w 1666875"/>
                <a:gd name="csY0" fmla="*/ 0 h 333061"/>
                <a:gd name="csX1" fmla="*/ 1666875 w 1666875"/>
                <a:gd name="csY1" fmla="*/ 333062 h 333061"/>
              </a:gdLst>
              <a:ahLst/>
              <a:cxnLst>
                <a:cxn ang="0">
                  <a:pos x="csX0" y="csY0"/>
                </a:cxn>
                <a:cxn ang="0">
                  <a:pos x="csX1" y="csY1"/>
                </a:cxn>
              </a:cxnLst>
              <a:rect l="l" t="t" r="r" b="b"/>
              <a:pathLst>
                <a:path w="1666875" h="333061">
                  <a:moveTo>
                    <a:pt x="0" y="0"/>
                  </a:moveTo>
                  <a:lnTo>
                    <a:pt x="1666875" y="333062"/>
                  </a:lnTo>
                </a:path>
              </a:pathLst>
            </a:custGeom>
            <a:ln w="4763" cap="flat">
              <a:solidFill>
                <a:srgbClr val="009999"/>
              </a:solidFill>
              <a:prstDash val="solid"/>
              <a:miter/>
            </a:ln>
          </p:spPr>
          <p:txBody>
            <a:bodyPr/>
            <a:lstStyle/>
            <a:p>
              <a:endParaRPr lang="en-US" dirty="0"/>
            </a:p>
          </p:txBody>
        </p:sp>
        <p:sp>
          <p:nvSpPr>
            <p:cNvPr id="162" name="Freeform 161">
              <a:extLst>
                <a:ext uri="{FF2B5EF4-FFF2-40B4-BE49-F238E27FC236}">
                  <a16:creationId xmlns:a16="http://schemas.microsoft.com/office/drawing/2014/main" id="{F30E90D7-3CDC-4827-BA7A-74D983368CAB}"/>
                </a:ext>
              </a:extLst>
            </p:cNvPr>
            <p:cNvSpPr/>
            <p:nvPr/>
          </p:nvSpPr>
          <p:spPr>
            <a:xfrm>
              <a:off x="6648450" y="3924441"/>
              <a:ext cx="1666875" cy="333061"/>
            </a:xfrm>
            <a:custGeom>
              <a:avLst/>
              <a:gdLst>
                <a:gd name="csX0" fmla="*/ 0 w 1666875"/>
                <a:gd name="csY0" fmla="*/ 333062 h 333061"/>
                <a:gd name="csX1" fmla="*/ 1666875 w 1666875"/>
                <a:gd name="csY1" fmla="*/ 0 h 333061"/>
              </a:gdLst>
              <a:ahLst/>
              <a:cxnLst>
                <a:cxn ang="0">
                  <a:pos x="csX0" y="csY0"/>
                </a:cxn>
                <a:cxn ang="0">
                  <a:pos x="csX1" y="csY1"/>
                </a:cxn>
              </a:cxnLst>
              <a:rect l="l" t="t" r="r" b="b"/>
              <a:pathLst>
                <a:path w="1666875" h="333061">
                  <a:moveTo>
                    <a:pt x="0" y="333062"/>
                  </a:moveTo>
                  <a:lnTo>
                    <a:pt x="1666875" y="0"/>
                  </a:lnTo>
                </a:path>
              </a:pathLst>
            </a:custGeom>
            <a:ln w="4763" cap="flat">
              <a:solidFill>
                <a:srgbClr val="009999"/>
              </a:solidFill>
              <a:prstDash val="solid"/>
              <a:miter/>
            </a:ln>
          </p:spPr>
          <p:txBody>
            <a:bodyPr/>
            <a:lstStyle/>
            <a:p>
              <a:endParaRPr lang="en-US" dirty="0"/>
            </a:p>
          </p:txBody>
        </p:sp>
        <p:sp>
          <p:nvSpPr>
            <p:cNvPr id="163" name="Freeform 162">
              <a:extLst>
                <a:ext uri="{FF2B5EF4-FFF2-40B4-BE49-F238E27FC236}">
                  <a16:creationId xmlns:a16="http://schemas.microsoft.com/office/drawing/2014/main" id="{6F8B61EC-B45D-0AB3-2D9D-B8980A9C181D}"/>
                </a:ext>
              </a:extLst>
            </p:cNvPr>
            <p:cNvSpPr/>
            <p:nvPr/>
          </p:nvSpPr>
          <p:spPr>
            <a:xfrm>
              <a:off x="6648450" y="3924441"/>
              <a:ext cx="1666875" cy="666123"/>
            </a:xfrm>
            <a:custGeom>
              <a:avLst/>
              <a:gdLst>
                <a:gd name="csX0" fmla="*/ 0 w 1666875"/>
                <a:gd name="csY0" fmla="*/ 666124 h 666123"/>
                <a:gd name="csX1" fmla="*/ 1666875 w 1666875"/>
                <a:gd name="csY1" fmla="*/ 0 h 666123"/>
              </a:gdLst>
              <a:ahLst/>
              <a:cxnLst>
                <a:cxn ang="0">
                  <a:pos x="csX0" y="csY0"/>
                </a:cxn>
                <a:cxn ang="0">
                  <a:pos x="csX1" y="csY1"/>
                </a:cxn>
              </a:cxnLst>
              <a:rect l="l" t="t" r="r" b="b"/>
              <a:pathLst>
                <a:path w="1666875" h="666123">
                  <a:moveTo>
                    <a:pt x="0" y="666124"/>
                  </a:moveTo>
                  <a:lnTo>
                    <a:pt x="1666875" y="0"/>
                  </a:lnTo>
                </a:path>
              </a:pathLst>
            </a:custGeom>
            <a:ln w="4763" cap="flat">
              <a:solidFill>
                <a:srgbClr val="009999"/>
              </a:solidFill>
              <a:prstDash val="solid"/>
              <a:miter/>
            </a:ln>
          </p:spPr>
          <p:txBody>
            <a:bodyPr/>
            <a:lstStyle/>
            <a:p>
              <a:endParaRPr lang="en-US" dirty="0"/>
            </a:p>
          </p:txBody>
        </p:sp>
        <p:sp>
          <p:nvSpPr>
            <p:cNvPr id="164" name="Freeform 163">
              <a:extLst>
                <a:ext uri="{FF2B5EF4-FFF2-40B4-BE49-F238E27FC236}">
                  <a16:creationId xmlns:a16="http://schemas.microsoft.com/office/drawing/2014/main" id="{3708A03D-EF84-3B1E-4C6A-34BA65BCB313}"/>
                </a:ext>
              </a:extLst>
            </p:cNvPr>
            <p:cNvSpPr/>
            <p:nvPr/>
          </p:nvSpPr>
          <p:spPr>
            <a:xfrm>
              <a:off x="6648450" y="3924441"/>
              <a:ext cx="1666875" cy="999185"/>
            </a:xfrm>
            <a:custGeom>
              <a:avLst/>
              <a:gdLst>
                <a:gd name="csX0" fmla="*/ 0 w 1666875"/>
                <a:gd name="csY0" fmla="*/ 999186 h 999185"/>
                <a:gd name="csX1" fmla="*/ 1666875 w 1666875"/>
                <a:gd name="csY1" fmla="*/ 0 h 999185"/>
              </a:gdLst>
              <a:ahLst/>
              <a:cxnLst>
                <a:cxn ang="0">
                  <a:pos x="csX0" y="csY0"/>
                </a:cxn>
                <a:cxn ang="0">
                  <a:pos x="csX1" y="csY1"/>
                </a:cxn>
              </a:cxnLst>
              <a:rect l="l" t="t" r="r" b="b"/>
              <a:pathLst>
                <a:path w="1666875" h="999185">
                  <a:moveTo>
                    <a:pt x="0" y="999186"/>
                  </a:moveTo>
                  <a:lnTo>
                    <a:pt x="1666875" y="0"/>
                  </a:lnTo>
                </a:path>
              </a:pathLst>
            </a:custGeom>
            <a:ln w="4763" cap="flat">
              <a:solidFill>
                <a:srgbClr val="009999"/>
              </a:solidFill>
              <a:prstDash val="solid"/>
              <a:miter/>
            </a:ln>
          </p:spPr>
          <p:txBody>
            <a:bodyPr/>
            <a:lstStyle/>
            <a:p>
              <a:endParaRPr lang="en-US" dirty="0"/>
            </a:p>
          </p:txBody>
        </p:sp>
      </p:grpSp>
      <p:grpSp>
        <p:nvGrpSpPr>
          <p:cNvPr id="165" name="Graphic 10">
            <a:extLst>
              <a:ext uri="{FF2B5EF4-FFF2-40B4-BE49-F238E27FC236}">
                <a16:creationId xmlns:a16="http://schemas.microsoft.com/office/drawing/2014/main" id="{CAB0F4A8-8EAE-DF3E-34D1-21B83E4C137A}"/>
              </a:ext>
            </a:extLst>
          </p:cNvPr>
          <p:cNvGrpSpPr/>
          <p:nvPr/>
        </p:nvGrpSpPr>
        <p:grpSpPr>
          <a:xfrm>
            <a:off x="2317187" y="3023819"/>
            <a:ext cx="718689" cy="1924455"/>
            <a:chOff x="2234060" y="2934809"/>
            <a:chExt cx="718689" cy="1924455"/>
          </a:xfrm>
          <a:solidFill>
            <a:srgbClr val="003366"/>
          </a:solidFill>
        </p:grpSpPr>
        <p:sp>
          <p:nvSpPr>
            <p:cNvPr id="166" name="TextBox 165">
              <a:extLst>
                <a:ext uri="{FF2B5EF4-FFF2-40B4-BE49-F238E27FC236}">
                  <a16:creationId xmlns:a16="http://schemas.microsoft.com/office/drawing/2014/main" id="{26D3AE00-E0AB-D0DF-D253-87DA27DC548E}"/>
                </a:ext>
              </a:extLst>
            </p:cNvPr>
            <p:cNvSpPr txBox="1"/>
            <p:nvPr/>
          </p:nvSpPr>
          <p:spPr>
            <a:xfrm>
              <a:off x="2564972" y="2889089"/>
              <a:ext cx="479217"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e / e_s</a:t>
              </a:r>
            </a:p>
          </p:txBody>
        </p:sp>
        <p:sp>
          <p:nvSpPr>
            <p:cNvPr id="167" name="TextBox 166">
              <a:extLst>
                <a:ext uri="{FF2B5EF4-FFF2-40B4-BE49-F238E27FC236}">
                  <a16:creationId xmlns:a16="http://schemas.microsoft.com/office/drawing/2014/main" id="{340F8260-2C82-2CC8-AB7A-4BB6ED88F023}"/>
                </a:ext>
              </a:extLst>
            </p:cNvPr>
            <p:cNvSpPr txBox="1"/>
            <p:nvPr/>
          </p:nvSpPr>
          <p:spPr>
            <a:xfrm>
              <a:off x="2528568" y="3250700"/>
              <a:ext cx="515621"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ω / ω_s</a:t>
              </a:r>
            </a:p>
          </p:txBody>
        </p:sp>
        <p:sp>
          <p:nvSpPr>
            <p:cNvPr id="168" name="TextBox 167">
              <a:extLst>
                <a:ext uri="{FF2B5EF4-FFF2-40B4-BE49-F238E27FC236}">
                  <a16:creationId xmlns:a16="http://schemas.microsoft.com/office/drawing/2014/main" id="{D9C77327-A828-2F30-7A24-297BB08BEA6C}"/>
                </a:ext>
              </a:extLst>
            </p:cNvPr>
            <p:cNvSpPr txBox="1"/>
            <p:nvPr/>
          </p:nvSpPr>
          <p:spPr>
            <a:xfrm>
              <a:off x="2652283" y="3612310"/>
              <a:ext cx="391906"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sin θ</a:t>
              </a:r>
            </a:p>
          </p:txBody>
        </p:sp>
        <p:sp>
          <p:nvSpPr>
            <p:cNvPr id="169" name="TextBox 168">
              <a:extLst>
                <a:ext uri="{FF2B5EF4-FFF2-40B4-BE49-F238E27FC236}">
                  <a16:creationId xmlns:a16="http://schemas.microsoft.com/office/drawing/2014/main" id="{4C74C14C-71B6-F236-7D05-BF97CC0BBDF6}"/>
                </a:ext>
              </a:extLst>
            </p:cNvPr>
            <p:cNvSpPr txBox="1"/>
            <p:nvPr/>
          </p:nvSpPr>
          <p:spPr>
            <a:xfrm>
              <a:off x="2618979" y="3973920"/>
              <a:ext cx="425210"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cos θ</a:t>
              </a:r>
            </a:p>
          </p:txBody>
        </p:sp>
        <p:sp>
          <p:nvSpPr>
            <p:cNvPr id="170" name="TextBox 169">
              <a:extLst>
                <a:ext uri="{FF2B5EF4-FFF2-40B4-BE49-F238E27FC236}">
                  <a16:creationId xmlns:a16="http://schemas.microsoft.com/office/drawing/2014/main" id="{5F569941-B210-8D9C-05CD-0BD91427D5F2}"/>
                </a:ext>
              </a:extLst>
            </p:cNvPr>
            <p:cNvSpPr txBox="1"/>
            <p:nvPr/>
          </p:nvSpPr>
          <p:spPr>
            <a:xfrm>
              <a:off x="2493364" y="4335530"/>
              <a:ext cx="550825"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ω* / ω_s</a:t>
              </a:r>
            </a:p>
          </p:txBody>
        </p:sp>
        <p:sp>
          <p:nvSpPr>
            <p:cNvPr id="171" name="TextBox 170">
              <a:extLst>
                <a:ext uri="{FF2B5EF4-FFF2-40B4-BE49-F238E27FC236}">
                  <a16:creationId xmlns:a16="http://schemas.microsoft.com/office/drawing/2014/main" id="{9297B695-C9B0-6ED3-8D67-02547B13E818}"/>
                </a:ext>
              </a:extLst>
            </p:cNvPr>
            <p:cNvSpPr txBox="1"/>
            <p:nvPr/>
          </p:nvSpPr>
          <p:spPr>
            <a:xfrm>
              <a:off x="2142620" y="4697140"/>
              <a:ext cx="901569"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V_base / V_max</a:t>
              </a:r>
            </a:p>
          </p:txBody>
        </p:sp>
      </p:grpSp>
      <p:grpSp>
        <p:nvGrpSpPr>
          <p:cNvPr id="172" name="Graphic 10">
            <a:extLst>
              <a:ext uri="{FF2B5EF4-FFF2-40B4-BE49-F238E27FC236}">
                <a16:creationId xmlns:a16="http://schemas.microsoft.com/office/drawing/2014/main" id="{A9E254D6-7B01-0CB6-292E-CB340222932A}"/>
              </a:ext>
            </a:extLst>
          </p:cNvPr>
          <p:cNvGrpSpPr/>
          <p:nvPr/>
        </p:nvGrpSpPr>
        <p:grpSpPr>
          <a:xfrm>
            <a:off x="3378777" y="2919105"/>
            <a:ext cx="323850" cy="2131596"/>
            <a:chOff x="3295650" y="2830095"/>
            <a:chExt cx="323850" cy="2131596"/>
          </a:xfrm>
          <a:solidFill>
            <a:srgbClr val="003366"/>
          </a:solidFill>
        </p:grpSpPr>
        <p:sp>
          <p:nvSpPr>
            <p:cNvPr id="173" name="Oval 172">
              <a:extLst>
                <a:ext uri="{FF2B5EF4-FFF2-40B4-BE49-F238E27FC236}">
                  <a16:creationId xmlns:a16="http://schemas.microsoft.com/office/drawing/2014/main" id="{E989D2EA-9460-7EE0-4C78-0E8760D64708}"/>
                </a:ext>
              </a:extLst>
            </p:cNvPr>
            <p:cNvSpPr/>
            <p:nvPr/>
          </p:nvSpPr>
          <p:spPr>
            <a:xfrm>
              <a:off x="3295650" y="283009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4" name="Oval 173">
              <a:extLst>
                <a:ext uri="{FF2B5EF4-FFF2-40B4-BE49-F238E27FC236}">
                  <a16:creationId xmlns:a16="http://schemas.microsoft.com/office/drawing/2014/main" id="{39965335-EAE4-A6D8-E354-9CD1B5EF833F}"/>
                </a:ext>
              </a:extLst>
            </p:cNvPr>
            <p:cNvSpPr/>
            <p:nvPr/>
          </p:nvSpPr>
          <p:spPr>
            <a:xfrm>
              <a:off x="3295650" y="319170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5" name="Oval 174">
              <a:extLst>
                <a:ext uri="{FF2B5EF4-FFF2-40B4-BE49-F238E27FC236}">
                  <a16:creationId xmlns:a16="http://schemas.microsoft.com/office/drawing/2014/main" id="{28EB7E48-0149-B42A-F6C7-69A50AED3361}"/>
                </a:ext>
              </a:extLst>
            </p:cNvPr>
            <p:cNvSpPr/>
            <p:nvPr/>
          </p:nvSpPr>
          <p:spPr>
            <a:xfrm>
              <a:off x="3295650" y="355331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6" name="Oval 175">
              <a:extLst>
                <a:ext uri="{FF2B5EF4-FFF2-40B4-BE49-F238E27FC236}">
                  <a16:creationId xmlns:a16="http://schemas.microsoft.com/office/drawing/2014/main" id="{651FF216-AF5C-2282-11EA-1B8767ADFD9F}"/>
                </a:ext>
              </a:extLst>
            </p:cNvPr>
            <p:cNvSpPr/>
            <p:nvPr/>
          </p:nvSpPr>
          <p:spPr>
            <a:xfrm>
              <a:off x="3295650" y="391492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7" name="Oval 176">
              <a:extLst>
                <a:ext uri="{FF2B5EF4-FFF2-40B4-BE49-F238E27FC236}">
                  <a16:creationId xmlns:a16="http://schemas.microsoft.com/office/drawing/2014/main" id="{6E2D3151-04B0-336E-6BB6-6937C8D93BFE}"/>
                </a:ext>
              </a:extLst>
            </p:cNvPr>
            <p:cNvSpPr/>
            <p:nvPr/>
          </p:nvSpPr>
          <p:spPr>
            <a:xfrm>
              <a:off x="3295650" y="427653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8" name="Oval 177">
              <a:extLst>
                <a:ext uri="{FF2B5EF4-FFF2-40B4-BE49-F238E27FC236}">
                  <a16:creationId xmlns:a16="http://schemas.microsoft.com/office/drawing/2014/main" id="{03121788-2DEE-881F-8C8E-04EC285D1330}"/>
                </a:ext>
              </a:extLst>
            </p:cNvPr>
            <p:cNvSpPr/>
            <p:nvPr/>
          </p:nvSpPr>
          <p:spPr>
            <a:xfrm>
              <a:off x="3295650" y="463814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grpSp>
      <p:grpSp>
        <p:nvGrpSpPr>
          <p:cNvPr id="179" name="Graphic 10">
            <a:extLst>
              <a:ext uri="{FF2B5EF4-FFF2-40B4-BE49-F238E27FC236}">
                <a16:creationId xmlns:a16="http://schemas.microsoft.com/office/drawing/2014/main" id="{B8687483-72AF-0EC0-A6FB-D6F4AF1F9C3F}"/>
              </a:ext>
            </a:extLst>
          </p:cNvPr>
          <p:cNvGrpSpPr/>
          <p:nvPr/>
        </p:nvGrpSpPr>
        <p:grpSpPr>
          <a:xfrm>
            <a:off x="3500968" y="3035439"/>
            <a:ext cx="79467" cy="1910138"/>
            <a:chOff x="3417841" y="2946429"/>
            <a:chExt cx="79467" cy="1910138"/>
          </a:xfrm>
          <a:solidFill>
            <a:srgbClr val="FFFFFF"/>
          </a:solidFill>
        </p:grpSpPr>
        <p:sp>
          <p:nvSpPr>
            <p:cNvPr id="180" name="TextBox 179">
              <a:extLst>
                <a:ext uri="{FF2B5EF4-FFF2-40B4-BE49-F238E27FC236}">
                  <a16:creationId xmlns:a16="http://schemas.microsoft.com/office/drawing/2014/main" id="{F516542D-F4DD-7269-CB6E-95737D50A605}"/>
                </a:ext>
              </a:extLst>
            </p:cNvPr>
            <p:cNvSpPr txBox="1"/>
            <p:nvPr/>
          </p:nvSpPr>
          <p:spPr>
            <a:xfrm>
              <a:off x="3326401" y="290070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x₁</a:t>
              </a:r>
            </a:p>
          </p:txBody>
        </p:sp>
        <p:sp>
          <p:nvSpPr>
            <p:cNvPr id="181" name="TextBox 180">
              <a:extLst>
                <a:ext uri="{FF2B5EF4-FFF2-40B4-BE49-F238E27FC236}">
                  <a16:creationId xmlns:a16="http://schemas.microsoft.com/office/drawing/2014/main" id="{69066D4F-3C84-B423-4779-FB4546AEEA19}"/>
                </a:ext>
              </a:extLst>
            </p:cNvPr>
            <p:cNvSpPr txBox="1"/>
            <p:nvPr/>
          </p:nvSpPr>
          <p:spPr>
            <a:xfrm>
              <a:off x="3326401" y="326231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x₂</a:t>
              </a:r>
            </a:p>
          </p:txBody>
        </p:sp>
        <p:sp>
          <p:nvSpPr>
            <p:cNvPr id="182" name="TextBox 181">
              <a:extLst>
                <a:ext uri="{FF2B5EF4-FFF2-40B4-BE49-F238E27FC236}">
                  <a16:creationId xmlns:a16="http://schemas.microsoft.com/office/drawing/2014/main" id="{6B105770-1F77-20C7-69CE-1BE5C9A04BEC}"/>
                </a:ext>
              </a:extLst>
            </p:cNvPr>
            <p:cNvSpPr txBox="1"/>
            <p:nvPr/>
          </p:nvSpPr>
          <p:spPr>
            <a:xfrm>
              <a:off x="3326401" y="362392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x₃</a:t>
              </a:r>
            </a:p>
          </p:txBody>
        </p:sp>
        <p:sp>
          <p:nvSpPr>
            <p:cNvPr id="183" name="TextBox 182">
              <a:extLst>
                <a:ext uri="{FF2B5EF4-FFF2-40B4-BE49-F238E27FC236}">
                  <a16:creationId xmlns:a16="http://schemas.microsoft.com/office/drawing/2014/main" id="{8213C73E-61F5-E3E7-7F80-4C1E31EC40DE}"/>
                </a:ext>
              </a:extLst>
            </p:cNvPr>
            <p:cNvSpPr txBox="1"/>
            <p:nvPr/>
          </p:nvSpPr>
          <p:spPr>
            <a:xfrm>
              <a:off x="3326401" y="398553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x₄</a:t>
              </a:r>
            </a:p>
          </p:txBody>
        </p:sp>
        <p:sp>
          <p:nvSpPr>
            <p:cNvPr id="184" name="TextBox 183">
              <a:extLst>
                <a:ext uri="{FF2B5EF4-FFF2-40B4-BE49-F238E27FC236}">
                  <a16:creationId xmlns:a16="http://schemas.microsoft.com/office/drawing/2014/main" id="{EC746BD4-0514-FD66-6645-FB5B19771BF9}"/>
                </a:ext>
              </a:extLst>
            </p:cNvPr>
            <p:cNvSpPr txBox="1"/>
            <p:nvPr/>
          </p:nvSpPr>
          <p:spPr>
            <a:xfrm>
              <a:off x="3326401" y="434714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x₅</a:t>
              </a:r>
            </a:p>
          </p:txBody>
        </p:sp>
        <p:sp>
          <p:nvSpPr>
            <p:cNvPr id="185" name="TextBox 184">
              <a:extLst>
                <a:ext uri="{FF2B5EF4-FFF2-40B4-BE49-F238E27FC236}">
                  <a16:creationId xmlns:a16="http://schemas.microsoft.com/office/drawing/2014/main" id="{63D02C70-014E-F3CD-4AEF-74AEDD51028C}"/>
                </a:ext>
              </a:extLst>
            </p:cNvPr>
            <p:cNvSpPr txBox="1"/>
            <p:nvPr/>
          </p:nvSpPr>
          <p:spPr>
            <a:xfrm>
              <a:off x="3326401" y="470875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x₆</a:t>
              </a:r>
            </a:p>
          </p:txBody>
        </p:sp>
      </p:grpSp>
      <p:grpSp>
        <p:nvGrpSpPr>
          <p:cNvPr id="186" name="Graphic 10">
            <a:extLst>
              <a:ext uri="{FF2B5EF4-FFF2-40B4-BE49-F238E27FC236}">
                <a16:creationId xmlns:a16="http://schemas.microsoft.com/office/drawing/2014/main" id="{D2D1A887-7C76-8E19-0855-E320FF111D85}"/>
              </a:ext>
            </a:extLst>
          </p:cNvPr>
          <p:cNvGrpSpPr/>
          <p:nvPr/>
        </p:nvGrpSpPr>
        <p:grpSpPr>
          <a:xfrm>
            <a:off x="6093402" y="2852492"/>
            <a:ext cx="323850" cy="2321917"/>
            <a:chOff x="6010275" y="2763482"/>
            <a:chExt cx="323850" cy="2321917"/>
          </a:xfrm>
          <a:solidFill>
            <a:srgbClr val="009999"/>
          </a:solidFill>
        </p:grpSpPr>
        <p:sp>
          <p:nvSpPr>
            <p:cNvPr id="187" name="Oval 186">
              <a:extLst>
                <a:ext uri="{FF2B5EF4-FFF2-40B4-BE49-F238E27FC236}">
                  <a16:creationId xmlns:a16="http://schemas.microsoft.com/office/drawing/2014/main" id="{302C4E5C-2303-B21C-14CD-4A56E8584B5D}"/>
                </a:ext>
              </a:extLst>
            </p:cNvPr>
            <p:cNvSpPr/>
            <p:nvPr/>
          </p:nvSpPr>
          <p:spPr>
            <a:xfrm>
              <a:off x="6010275" y="2763482"/>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88" name="Oval 187">
              <a:extLst>
                <a:ext uri="{FF2B5EF4-FFF2-40B4-BE49-F238E27FC236}">
                  <a16:creationId xmlns:a16="http://schemas.microsoft.com/office/drawing/2014/main" id="{457A576B-61B6-316B-F102-76FDABE67F99}"/>
                </a:ext>
              </a:extLst>
            </p:cNvPr>
            <p:cNvSpPr/>
            <p:nvPr/>
          </p:nvSpPr>
          <p:spPr>
            <a:xfrm>
              <a:off x="6010275" y="3096544"/>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89" name="Oval 188">
              <a:extLst>
                <a:ext uri="{FF2B5EF4-FFF2-40B4-BE49-F238E27FC236}">
                  <a16:creationId xmlns:a16="http://schemas.microsoft.com/office/drawing/2014/main" id="{4B0E6349-1370-F5EF-0F63-0D244900E96E}"/>
                </a:ext>
              </a:extLst>
            </p:cNvPr>
            <p:cNvSpPr/>
            <p:nvPr/>
          </p:nvSpPr>
          <p:spPr>
            <a:xfrm>
              <a:off x="6010275" y="3429606"/>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90" name="Oval 189">
              <a:extLst>
                <a:ext uri="{FF2B5EF4-FFF2-40B4-BE49-F238E27FC236}">
                  <a16:creationId xmlns:a16="http://schemas.microsoft.com/office/drawing/2014/main" id="{30E4F9D0-DE1E-A1FB-0A45-30B0125C29CA}"/>
                </a:ext>
              </a:extLst>
            </p:cNvPr>
            <p:cNvSpPr/>
            <p:nvPr/>
          </p:nvSpPr>
          <p:spPr>
            <a:xfrm>
              <a:off x="6010275" y="4095730"/>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91" name="Oval 190">
              <a:extLst>
                <a:ext uri="{FF2B5EF4-FFF2-40B4-BE49-F238E27FC236}">
                  <a16:creationId xmlns:a16="http://schemas.microsoft.com/office/drawing/2014/main" id="{FB60842D-AD5D-D063-70AF-BA33E9C6F4B6}"/>
                </a:ext>
              </a:extLst>
            </p:cNvPr>
            <p:cNvSpPr/>
            <p:nvPr/>
          </p:nvSpPr>
          <p:spPr>
            <a:xfrm>
              <a:off x="6010275" y="4428792"/>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92" name="Oval 191">
              <a:extLst>
                <a:ext uri="{FF2B5EF4-FFF2-40B4-BE49-F238E27FC236}">
                  <a16:creationId xmlns:a16="http://schemas.microsoft.com/office/drawing/2014/main" id="{402531B8-1CBC-2D86-46E6-D3CB66456B17}"/>
                </a:ext>
              </a:extLst>
            </p:cNvPr>
            <p:cNvSpPr/>
            <p:nvPr/>
          </p:nvSpPr>
          <p:spPr>
            <a:xfrm>
              <a:off x="6010275" y="4761854"/>
              <a:ext cx="323850" cy="323545"/>
            </a:xfrm>
            <a:prstGeom prst="ellipse">
              <a:avLst/>
            </a:prstGeom>
            <a:solidFill>
              <a:srgbClr val="009999"/>
            </a:solidFill>
            <a:ln w="19050" cap="flat">
              <a:solidFill>
                <a:srgbClr val="FFFFFF"/>
              </a:solidFill>
              <a:prstDash val="solid"/>
              <a:miter/>
            </a:ln>
          </p:spPr>
          <p:txBody>
            <a:bodyPr/>
            <a:lstStyle/>
            <a:p>
              <a:endParaRPr lang="en-US" dirty="0"/>
            </a:p>
          </p:txBody>
        </p:sp>
      </p:grpSp>
      <p:grpSp>
        <p:nvGrpSpPr>
          <p:cNvPr id="193" name="Graphic 10">
            <a:extLst>
              <a:ext uri="{FF2B5EF4-FFF2-40B4-BE49-F238E27FC236}">
                <a16:creationId xmlns:a16="http://schemas.microsoft.com/office/drawing/2014/main" id="{2F7EE3E9-3A7C-86A7-C077-E46E5A6D0955}"/>
              </a:ext>
            </a:extLst>
          </p:cNvPr>
          <p:cNvGrpSpPr/>
          <p:nvPr/>
        </p:nvGrpSpPr>
        <p:grpSpPr>
          <a:xfrm>
            <a:off x="6226199" y="3761752"/>
            <a:ext cx="55915" cy="477001"/>
            <a:chOff x="6143072" y="3672742"/>
            <a:chExt cx="58255" cy="496966"/>
          </a:xfrm>
          <a:solidFill>
            <a:srgbClr val="009999"/>
          </a:solidFill>
        </p:grpSpPr>
        <p:sp>
          <p:nvSpPr>
            <p:cNvPr id="194" name="TextBox 193">
              <a:extLst>
                <a:ext uri="{FF2B5EF4-FFF2-40B4-BE49-F238E27FC236}">
                  <a16:creationId xmlns:a16="http://schemas.microsoft.com/office/drawing/2014/main" id="{4C96AE1F-1C8A-EAD5-5BAB-EDAF25326DA2}"/>
                </a:ext>
              </a:extLst>
            </p:cNvPr>
            <p:cNvSpPr txBox="1"/>
            <p:nvPr/>
          </p:nvSpPr>
          <p:spPr>
            <a:xfrm>
              <a:off x="6051632" y="3627022"/>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sp>
          <p:nvSpPr>
            <p:cNvPr id="195" name="TextBox 194">
              <a:extLst>
                <a:ext uri="{FF2B5EF4-FFF2-40B4-BE49-F238E27FC236}">
                  <a16:creationId xmlns:a16="http://schemas.microsoft.com/office/drawing/2014/main" id="{29D9C06B-BAF8-E64D-59C7-4CF5113A7322}"/>
                </a:ext>
              </a:extLst>
            </p:cNvPr>
            <p:cNvSpPr txBox="1"/>
            <p:nvPr/>
          </p:nvSpPr>
          <p:spPr>
            <a:xfrm>
              <a:off x="6051632" y="3750730"/>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sp>
          <p:nvSpPr>
            <p:cNvPr id="196" name="TextBox 195">
              <a:extLst>
                <a:ext uri="{FF2B5EF4-FFF2-40B4-BE49-F238E27FC236}">
                  <a16:creationId xmlns:a16="http://schemas.microsoft.com/office/drawing/2014/main" id="{FAEC9779-A444-88F8-8E6A-CDA93214CB4B}"/>
                </a:ext>
              </a:extLst>
            </p:cNvPr>
            <p:cNvSpPr txBox="1"/>
            <p:nvPr/>
          </p:nvSpPr>
          <p:spPr>
            <a:xfrm>
              <a:off x="6051632" y="3874439"/>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grpSp>
      <p:sp>
        <p:nvSpPr>
          <p:cNvPr id="197" name="TextBox 196">
            <a:extLst>
              <a:ext uri="{FF2B5EF4-FFF2-40B4-BE49-F238E27FC236}">
                <a16:creationId xmlns:a16="http://schemas.microsoft.com/office/drawing/2014/main" id="{0DB87619-281A-A14A-A764-67A56F48A7CB}"/>
              </a:ext>
            </a:extLst>
          </p:cNvPr>
          <p:cNvSpPr txBox="1"/>
          <p:nvPr/>
        </p:nvSpPr>
        <p:spPr>
          <a:xfrm>
            <a:off x="5848561" y="5146781"/>
            <a:ext cx="813530" cy="207749"/>
          </a:xfrm>
          <a:prstGeom prst="rect">
            <a:avLst/>
          </a:prstGeom>
          <a:noFill/>
        </p:spPr>
        <p:txBody>
          <a:bodyPr wrap="square" rtlCol="0">
            <a:spAutoFit/>
          </a:bodyPr>
          <a:lstStyle/>
          <a:p>
            <a:pPr algn="l"/>
            <a:r>
              <a:rPr lang="en-US" sz="750" i="1" spc="0" baseline="0" dirty="0">
                <a:ln/>
                <a:solidFill>
                  <a:srgbClr val="009999"/>
                </a:solidFill>
                <a:latin typeface="Helvetica Neue"/>
                <a:ea typeface="Helvetica Neue"/>
                <a:cs typeface="Helvetica Neue"/>
                <a:sym typeface="Helvetica Neue"/>
                <a:rtl val="0"/>
              </a:rPr>
              <a:t>× 64 units total</a:t>
            </a:r>
          </a:p>
        </p:txBody>
      </p:sp>
      <p:sp>
        <p:nvSpPr>
          <p:cNvPr id="198" name="Oval 197">
            <a:extLst>
              <a:ext uri="{FF2B5EF4-FFF2-40B4-BE49-F238E27FC236}">
                <a16:creationId xmlns:a16="http://schemas.microsoft.com/office/drawing/2014/main" id="{56173B9C-7E4B-8C76-468A-EEA783ED933A}"/>
              </a:ext>
            </a:extLst>
          </p:cNvPr>
          <p:cNvSpPr/>
          <p:nvPr/>
        </p:nvSpPr>
        <p:spPr>
          <a:xfrm>
            <a:off x="8569902" y="3804098"/>
            <a:ext cx="419100" cy="418706"/>
          </a:xfrm>
          <a:prstGeom prst="ellipse">
            <a:avLst/>
          </a:prstGeom>
          <a:solidFill>
            <a:srgbClr val="CC6633"/>
          </a:solidFill>
          <a:ln w="23813" cap="flat">
            <a:solidFill>
              <a:srgbClr val="FFFFFF"/>
            </a:solidFill>
            <a:prstDash val="solid"/>
            <a:miter/>
          </a:ln>
        </p:spPr>
        <p:txBody>
          <a:bodyPr/>
          <a:lstStyle/>
          <a:p>
            <a:endParaRPr lang="en-US" dirty="0"/>
          </a:p>
        </p:txBody>
      </p:sp>
      <p:sp>
        <p:nvSpPr>
          <p:cNvPr id="199" name="TextBox 198">
            <a:extLst>
              <a:ext uri="{FF2B5EF4-FFF2-40B4-BE49-F238E27FC236}">
                <a16:creationId xmlns:a16="http://schemas.microsoft.com/office/drawing/2014/main" id="{626B7E9F-E8A3-BBF0-B298-832D10292431}"/>
              </a:ext>
            </a:extLst>
          </p:cNvPr>
          <p:cNvSpPr txBox="1"/>
          <p:nvPr/>
        </p:nvSpPr>
        <p:spPr>
          <a:xfrm>
            <a:off x="8587428" y="3913014"/>
            <a:ext cx="534971" cy="207749"/>
          </a:xfrm>
          <a:prstGeom prst="rect">
            <a:avLst/>
          </a:prstGeom>
          <a:noFill/>
        </p:spPr>
        <p:txBody>
          <a:bodyPr wrap="square" rtlCol="0">
            <a:spAutoFit/>
          </a:bodyPr>
          <a:lstStyle/>
          <a:p>
            <a:pPr algn="l"/>
            <a:r>
              <a:rPr lang="en-US" sz="750" b="1" spc="0" baseline="0" dirty="0">
                <a:ln/>
                <a:solidFill>
                  <a:srgbClr val="FFFFFF"/>
                </a:solidFill>
                <a:latin typeface="Helvetica Neue"/>
                <a:ea typeface="Helvetica Neue"/>
                <a:cs typeface="Helvetica Neue"/>
                <a:sym typeface="Helvetica Neue"/>
                <a:rtl val="0"/>
              </a:rPr>
              <a:t>tanh</a:t>
            </a:r>
          </a:p>
        </p:txBody>
      </p:sp>
      <p:sp>
        <p:nvSpPr>
          <p:cNvPr id="200" name="Freeform 199">
            <a:extLst>
              <a:ext uri="{FF2B5EF4-FFF2-40B4-BE49-F238E27FC236}">
                <a16:creationId xmlns:a16="http://schemas.microsoft.com/office/drawing/2014/main" id="{423CCB00-E7E0-7D57-A74B-F23A3CAC7A13}"/>
              </a:ext>
            </a:extLst>
          </p:cNvPr>
          <p:cNvSpPr/>
          <p:nvPr/>
        </p:nvSpPr>
        <p:spPr>
          <a:xfrm>
            <a:off x="3712152" y="4013451"/>
            <a:ext cx="2324100" cy="9516"/>
          </a:xfrm>
          <a:custGeom>
            <a:avLst/>
            <a:gdLst>
              <a:gd name="csX0" fmla="*/ 0 w 2324100"/>
              <a:gd name="csY0" fmla="*/ 0 h 9516"/>
              <a:gd name="csX1" fmla="*/ 2324100 w 2324100"/>
              <a:gd name="csY1" fmla="*/ 0 h 9516"/>
            </a:gdLst>
            <a:ahLst/>
            <a:cxnLst>
              <a:cxn ang="0">
                <a:pos x="csX0" y="csY0"/>
              </a:cxn>
              <a:cxn ang="0">
                <a:pos x="csX1" y="csY1"/>
              </a:cxn>
            </a:cxnLst>
            <a:rect l="l" t="t" r="r" b="b"/>
            <a:pathLst>
              <a:path w="2324100" h="9516">
                <a:moveTo>
                  <a:pt x="0" y="0"/>
                </a:moveTo>
                <a:lnTo>
                  <a:pt x="2324100" y="0"/>
                </a:lnTo>
              </a:path>
            </a:pathLst>
          </a:custGeom>
          <a:ln w="14288" cap="flat">
            <a:solidFill>
              <a:srgbClr val="003366">
                <a:alpha val="40000"/>
              </a:srgbClr>
            </a:solidFill>
            <a:prstDash val="solid"/>
            <a:miter/>
          </a:ln>
        </p:spPr>
        <p:txBody>
          <a:bodyPr/>
          <a:lstStyle/>
          <a:p>
            <a:endParaRPr lang="en-US" dirty="0"/>
          </a:p>
        </p:txBody>
      </p:sp>
      <p:sp>
        <p:nvSpPr>
          <p:cNvPr id="201" name="Freeform 200">
            <a:extLst>
              <a:ext uri="{FF2B5EF4-FFF2-40B4-BE49-F238E27FC236}">
                <a16:creationId xmlns:a16="http://schemas.microsoft.com/office/drawing/2014/main" id="{002C0CEE-4614-2E89-A8EE-957A5CFD8FAE}"/>
              </a:ext>
            </a:extLst>
          </p:cNvPr>
          <p:cNvSpPr/>
          <p:nvPr/>
        </p:nvSpPr>
        <p:spPr>
          <a:xfrm>
            <a:off x="6426777" y="4013451"/>
            <a:ext cx="2105025" cy="9516"/>
          </a:xfrm>
          <a:custGeom>
            <a:avLst/>
            <a:gdLst>
              <a:gd name="csX0" fmla="*/ 0 w 2105025"/>
              <a:gd name="csY0" fmla="*/ 0 h 9516"/>
              <a:gd name="csX1" fmla="*/ 2105025 w 2105025"/>
              <a:gd name="csY1" fmla="*/ 0 h 9516"/>
            </a:gdLst>
            <a:ahLst/>
            <a:cxnLst>
              <a:cxn ang="0">
                <a:pos x="csX0" y="csY0"/>
              </a:cxn>
              <a:cxn ang="0">
                <a:pos x="csX1" y="csY1"/>
              </a:cxn>
            </a:cxnLst>
            <a:rect l="l" t="t" r="r" b="b"/>
            <a:pathLst>
              <a:path w="2105025" h="9516">
                <a:moveTo>
                  <a:pt x="0" y="0"/>
                </a:moveTo>
                <a:lnTo>
                  <a:pt x="2105025" y="0"/>
                </a:lnTo>
              </a:path>
            </a:pathLst>
          </a:custGeom>
          <a:ln w="14288" cap="flat">
            <a:solidFill>
              <a:srgbClr val="009999"/>
            </a:solidFill>
            <a:prstDash val="solid"/>
            <a:miter/>
          </a:ln>
        </p:spPr>
        <p:txBody>
          <a:bodyPr/>
          <a:lstStyle/>
          <a:p>
            <a:endParaRPr lang="en-US" dirty="0"/>
          </a:p>
        </p:txBody>
      </p:sp>
      <p:sp>
        <p:nvSpPr>
          <p:cNvPr id="202" name="Freeform 201">
            <a:extLst>
              <a:ext uri="{FF2B5EF4-FFF2-40B4-BE49-F238E27FC236}">
                <a16:creationId xmlns:a16="http://schemas.microsoft.com/office/drawing/2014/main" id="{AC495813-72A6-E5AB-C2CC-8C825EB1418B}"/>
              </a:ext>
            </a:extLst>
          </p:cNvPr>
          <p:cNvSpPr/>
          <p:nvPr/>
        </p:nvSpPr>
        <p:spPr>
          <a:xfrm>
            <a:off x="8998527" y="4013451"/>
            <a:ext cx="400050" cy="9516"/>
          </a:xfrm>
          <a:custGeom>
            <a:avLst/>
            <a:gdLst>
              <a:gd name="csX0" fmla="*/ 0 w 400050"/>
              <a:gd name="csY0" fmla="*/ 0 h 9516"/>
              <a:gd name="csX1" fmla="*/ 400050 w 400050"/>
              <a:gd name="csY1" fmla="*/ 0 h 9516"/>
            </a:gdLst>
            <a:ahLst/>
            <a:cxnLst>
              <a:cxn ang="0">
                <a:pos x="csX0" y="csY0"/>
              </a:cxn>
              <a:cxn ang="0">
                <a:pos x="csX1" y="csY1"/>
              </a:cxn>
            </a:cxnLst>
            <a:rect l="l" t="t" r="r" b="b"/>
            <a:pathLst>
              <a:path w="400050" h="9516">
                <a:moveTo>
                  <a:pt x="0" y="0"/>
                </a:moveTo>
                <a:lnTo>
                  <a:pt x="400050" y="0"/>
                </a:lnTo>
              </a:path>
            </a:pathLst>
          </a:custGeom>
          <a:ln w="19050" cap="flat">
            <a:solidFill>
              <a:srgbClr val="CC6633"/>
            </a:solidFill>
            <a:prstDash val="solid"/>
            <a:miter/>
          </a:ln>
        </p:spPr>
        <p:txBody>
          <a:bodyPr/>
          <a:lstStyle/>
          <a:p>
            <a:endParaRPr lang="en-US" dirty="0"/>
          </a:p>
        </p:txBody>
      </p:sp>
      <p:sp>
        <p:nvSpPr>
          <p:cNvPr id="203" name="Rounded Rectangle 202">
            <a:extLst>
              <a:ext uri="{FF2B5EF4-FFF2-40B4-BE49-F238E27FC236}">
                <a16:creationId xmlns:a16="http://schemas.microsoft.com/office/drawing/2014/main" id="{5C476048-6F60-9CC8-0BFA-62FB74D83E9A}"/>
              </a:ext>
            </a:extLst>
          </p:cNvPr>
          <p:cNvSpPr/>
          <p:nvPr/>
        </p:nvSpPr>
        <p:spPr>
          <a:xfrm>
            <a:off x="9398577" y="3842162"/>
            <a:ext cx="419100" cy="342578"/>
          </a:xfrm>
          <a:prstGeom prst="roundRect">
            <a:avLst>
              <a:gd name="adj" fmla="val 13901"/>
            </a:avLst>
          </a:prstGeom>
          <a:solidFill>
            <a:srgbClr val="CC6633"/>
          </a:solidFill>
          <a:ln w="9525" cap="flat">
            <a:noFill/>
            <a:prstDash val="solid"/>
            <a:miter/>
          </a:ln>
        </p:spPr>
        <p:txBody>
          <a:bodyPr/>
          <a:lstStyle/>
          <a:p>
            <a:endParaRPr lang="en-US" dirty="0"/>
          </a:p>
        </p:txBody>
      </p:sp>
      <p:sp>
        <p:nvSpPr>
          <p:cNvPr id="204" name="TextBox 203">
            <a:extLst>
              <a:ext uri="{FF2B5EF4-FFF2-40B4-BE49-F238E27FC236}">
                <a16:creationId xmlns:a16="http://schemas.microsoft.com/office/drawing/2014/main" id="{4236218E-8348-5893-FF48-40835C5F7DB6}"/>
              </a:ext>
            </a:extLst>
          </p:cNvPr>
          <p:cNvSpPr txBox="1"/>
          <p:nvPr/>
        </p:nvSpPr>
        <p:spPr>
          <a:xfrm>
            <a:off x="9467620" y="3861369"/>
            <a:ext cx="990542" cy="207749"/>
          </a:xfrm>
          <a:prstGeom prst="rect">
            <a:avLst/>
          </a:prstGeom>
          <a:noFill/>
        </p:spPr>
        <p:txBody>
          <a:bodyPr wrap="square" rtlCol="0">
            <a:spAutoFit/>
          </a:bodyPr>
          <a:lstStyle/>
          <a:p>
            <a:pPr algn="l"/>
            <a:r>
              <a:rPr lang="en-US" sz="750" b="1" spc="0" baseline="0" dirty="0">
                <a:ln/>
                <a:solidFill>
                  <a:srgbClr val="FFFFFF"/>
                </a:solidFill>
                <a:latin typeface="Helvetica Neue"/>
                <a:ea typeface="Helvetica Neue"/>
                <a:cs typeface="Helvetica Neue"/>
                <a:sym typeface="Helvetica Neue"/>
                <a:rtl val="0"/>
              </a:rPr>
              <a:t>ΔV</a:t>
            </a:r>
          </a:p>
        </p:txBody>
      </p:sp>
      <p:sp>
        <p:nvSpPr>
          <p:cNvPr id="205" name="TextBox 204">
            <a:extLst>
              <a:ext uri="{FF2B5EF4-FFF2-40B4-BE49-F238E27FC236}">
                <a16:creationId xmlns:a16="http://schemas.microsoft.com/office/drawing/2014/main" id="{20FE1100-B50B-4BF1-461D-201FBDED105C}"/>
              </a:ext>
            </a:extLst>
          </p:cNvPr>
          <p:cNvSpPr txBox="1"/>
          <p:nvPr/>
        </p:nvSpPr>
        <p:spPr>
          <a:xfrm>
            <a:off x="9386584" y="3985807"/>
            <a:ext cx="862185" cy="196208"/>
          </a:xfrm>
          <a:prstGeom prst="rect">
            <a:avLst/>
          </a:prstGeom>
          <a:noFill/>
        </p:spPr>
        <p:txBody>
          <a:bodyPr wrap="square" rtlCol="0">
            <a:spAutoFit/>
          </a:bodyPr>
          <a:lstStyle/>
          <a:p>
            <a:pPr algn="l"/>
            <a:r>
              <a:rPr lang="en-US" sz="675" spc="0" baseline="0" dirty="0">
                <a:ln/>
                <a:solidFill>
                  <a:srgbClr val="FFFFFF"/>
                </a:solidFill>
                <a:latin typeface="Cambria Math"/>
                <a:ea typeface="Cambria Math"/>
                <a:sym typeface="Cambria Math"/>
                <a:rtl val="0"/>
              </a:rPr>
              <a:t>∈</a:t>
            </a:r>
            <a:r>
              <a:rPr lang="en-US" sz="675" spc="0" baseline="0" dirty="0">
                <a:ln/>
                <a:solidFill>
                  <a:srgbClr val="FFFFFF"/>
                </a:solidFill>
                <a:latin typeface="Helvetica Neue"/>
                <a:ea typeface="Helvetica Neue"/>
                <a:cs typeface="Helvetica Neue"/>
                <a:sym typeface="Helvetica Neue"/>
                <a:rtl val="0"/>
              </a:rPr>
              <a:t>[−1,1]</a:t>
            </a:r>
          </a:p>
        </p:txBody>
      </p:sp>
      <p:sp>
        <p:nvSpPr>
          <p:cNvPr id="206" name="Rounded Rectangle 205">
            <a:extLst>
              <a:ext uri="{FF2B5EF4-FFF2-40B4-BE49-F238E27FC236}">
                <a16:creationId xmlns:a16="http://schemas.microsoft.com/office/drawing/2014/main" id="{27C6BDB3-FDFE-9ACD-F646-98C5001A9373}"/>
              </a:ext>
            </a:extLst>
          </p:cNvPr>
          <p:cNvSpPr/>
          <p:nvPr/>
        </p:nvSpPr>
        <p:spPr>
          <a:xfrm>
            <a:off x="5826702" y="5369214"/>
            <a:ext cx="857250" cy="171289"/>
          </a:xfrm>
          <a:prstGeom prst="roundRect">
            <a:avLst>
              <a:gd name="adj" fmla="val 22243"/>
            </a:avLst>
          </a:prstGeom>
          <a:solidFill>
            <a:srgbClr val="009999">
              <a:alpha val="15000"/>
            </a:srgbClr>
          </a:solidFill>
          <a:ln w="9525" cap="flat">
            <a:noFill/>
            <a:prstDash val="solid"/>
            <a:miter/>
          </a:ln>
        </p:spPr>
        <p:txBody>
          <a:bodyPr/>
          <a:lstStyle/>
          <a:p>
            <a:endParaRPr lang="en-US" dirty="0"/>
          </a:p>
        </p:txBody>
      </p:sp>
      <p:sp>
        <p:nvSpPr>
          <p:cNvPr id="207" name="TextBox 206">
            <a:extLst>
              <a:ext uri="{FF2B5EF4-FFF2-40B4-BE49-F238E27FC236}">
                <a16:creationId xmlns:a16="http://schemas.microsoft.com/office/drawing/2014/main" id="{FE0CA7E8-6AA6-9866-4DAB-6ACCCC7A6CA2}"/>
              </a:ext>
            </a:extLst>
          </p:cNvPr>
          <p:cNvSpPr txBox="1"/>
          <p:nvPr/>
        </p:nvSpPr>
        <p:spPr>
          <a:xfrm>
            <a:off x="6038632" y="5349558"/>
            <a:ext cx="433387" cy="207749"/>
          </a:xfrm>
          <a:prstGeom prst="rect">
            <a:avLst/>
          </a:prstGeom>
          <a:noFill/>
        </p:spPr>
        <p:txBody>
          <a:bodyPr wrap="square" rtlCol="0">
            <a:spAutoFit/>
          </a:bodyPr>
          <a:lstStyle/>
          <a:p>
            <a:pPr algn="l"/>
            <a:r>
              <a:rPr lang="en-US" sz="750" b="1" spc="0" baseline="0" dirty="0">
                <a:ln/>
                <a:solidFill>
                  <a:srgbClr val="009999"/>
                </a:solidFill>
                <a:latin typeface="Helvetica Neue"/>
                <a:ea typeface="Helvetica Neue"/>
                <a:cs typeface="Helvetica Neue"/>
                <a:sym typeface="Helvetica Neue"/>
                <a:rtl val="0"/>
              </a:rPr>
              <a:t>ReLU</a:t>
            </a:r>
          </a:p>
        </p:txBody>
      </p:sp>
      <p:sp>
        <p:nvSpPr>
          <p:cNvPr id="208" name="Rounded Rectangle 207">
            <a:extLst>
              <a:ext uri="{FF2B5EF4-FFF2-40B4-BE49-F238E27FC236}">
                <a16:creationId xmlns:a16="http://schemas.microsoft.com/office/drawing/2014/main" id="{EF2DCD88-4566-F2BA-B2A1-F5E52A014EE0}"/>
              </a:ext>
            </a:extLst>
          </p:cNvPr>
          <p:cNvSpPr/>
          <p:nvPr/>
        </p:nvSpPr>
        <p:spPr>
          <a:xfrm>
            <a:off x="8748696" y="4382631"/>
            <a:ext cx="857250" cy="171289"/>
          </a:xfrm>
          <a:prstGeom prst="roundRect">
            <a:avLst>
              <a:gd name="adj" fmla="val 22243"/>
            </a:avLst>
          </a:prstGeom>
          <a:solidFill>
            <a:srgbClr val="CC6633">
              <a:alpha val="15000"/>
            </a:srgbClr>
          </a:solidFill>
          <a:ln w="9525" cap="flat">
            <a:noFill/>
            <a:prstDash val="solid"/>
            <a:miter/>
          </a:ln>
        </p:spPr>
        <p:txBody>
          <a:bodyPr/>
          <a:lstStyle/>
          <a:p>
            <a:endParaRPr lang="en-US" dirty="0"/>
          </a:p>
        </p:txBody>
      </p:sp>
      <p:sp>
        <p:nvSpPr>
          <p:cNvPr id="209" name="TextBox 208">
            <a:extLst>
              <a:ext uri="{FF2B5EF4-FFF2-40B4-BE49-F238E27FC236}">
                <a16:creationId xmlns:a16="http://schemas.microsoft.com/office/drawing/2014/main" id="{C51DBBAA-AFD3-F12B-31E4-9992FF6042D5}"/>
              </a:ext>
            </a:extLst>
          </p:cNvPr>
          <p:cNvSpPr txBox="1"/>
          <p:nvPr/>
        </p:nvSpPr>
        <p:spPr>
          <a:xfrm>
            <a:off x="8771460" y="4367838"/>
            <a:ext cx="990542" cy="207749"/>
          </a:xfrm>
          <a:prstGeom prst="rect">
            <a:avLst/>
          </a:prstGeom>
          <a:noFill/>
        </p:spPr>
        <p:txBody>
          <a:bodyPr wrap="square" rtlCol="0">
            <a:spAutoFit/>
          </a:bodyPr>
          <a:lstStyle/>
          <a:p>
            <a:pPr algn="l"/>
            <a:r>
              <a:rPr lang="en-US" sz="750" b="1" spc="0" baseline="0" dirty="0">
                <a:ln/>
                <a:solidFill>
                  <a:srgbClr val="CC6633"/>
                </a:solidFill>
                <a:latin typeface="Helvetica Neue"/>
                <a:ea typeface="Helvetica Neue"/>
                <a:cs typeface="Helvetica Neue"/>
                <a:sym typeface="Helvetica Neue"/>
                <a:rtl val="0"/>
              </a:rPr>
              <a:t>tanh </a:t>
            </a:r>
            <a:r>
              <a:rPr lang="en-US" sz="750" b="1" spc="0" baseline="0" dirty="0">
                <a:ln/>
                <a:solidFill>
                  <a:srgbClr val="CC6633"/>
                </a:solidFill>
                <a:latin typeface="Times New Roman"/>
                <a:ea typeface="Helvetica Neue"/>
                <a:cs typeface="Times New Roman"/>
                <a:sym typeface="Times New Roman"/>
                <a:rtl val="0"/>
              </a:rPr>
              <a:t>→</a:t>
            </a:r>
            <a:r>
              <a:rPr lang="en-US" sz="750" b="1" spc="0" baseline="0" dirty="0">
                <a:ln/>
                <a:solidFill>
                  <a:srgbClr val="CC6633"/>
                </a:solidFill>
                <a:latin typeface="Helvetica Neue"/>
                <a:ea typeface="Helvetica Neue"/>
                <a:cs typeface="Helvetica Neue"/>
                <a:sym typeface="Helvetica Neue"/>
                <a:rtl val="0"/>
              </a:rPr>
              <a:t> [−1, 1]</a:t>
            </a:r>
          </a:p>
        </p:txBody>
      </p:sp>
      <p:sp>
        <p:nvSpPr>
          <p:cNvPr id="210" name="TextBox 209">
            <a:extLst>
              <a:ext uri="{FF2B5EF4-FFF2-40B4-BE49-F238E27FC236}">
                <a16:creationId xmlns:a16="http://schemas.microsoft.com/office/drawing/2014/main" id="{9DFA8869-D347-B195-ECF9-FCAEFAB104C0}"/>
              </a:ext>
            </a:extLst>
          </p:cNvPr>
          <p:cNvSpPr txBox="1"/>
          <p:nvPr/>
        </p:nvSpPr>
        <p:spPr>
          <a:xfrm>
            <a:off x="4592943" y="2755418"/>
            <a:ext cx="708472" cy="207749"/>
          </a:xfrm>
          <a:prstGeom prst="rect">
            <a:avLst/>
          </a:prstGeom>
          <a:noFill/>
        </p:spPr>
        <p:txBody>
          <a:bodyPr wrap="square" rtlCol="0">
            <a:spAutoFit/>
          </a:bodyPr>
          <a:lstStyle/>
          <a:p>
            <a:pPr algn="l"/>
            <a:r>
              <a:rPr lang="en-US" sz="750" i="1" spc="0" baseline="0" dirty="0">
                <a:ln/>
                <a:solidFill>
                  <a:srgbClr val="555555"/>
                </a:solidFill>
                <a:latin typeface="Helvetica Neue"/>
                <a:ea typeface="Helvetica Neue"/>
                <a:cs typeface="Helvetica Neue"/>
                <a:sym typeface="Helvetica Neue"/>
                <a:rtl val="0"/>
              </a:rPr>
              <a:t>W₁ </a:t>
            </a:r>
            <a:r>
              <a:rPr lang="en-US" sz="750" i="1" spc="0" baseline="0" dirty="0">
                <a:ln/>
                <a:solidFill>
                  <a:srgbClr val="555555"/>
                </a:solidFill>
                <a:latin typeface="Cambria Math"/>
                <a:ea typeface="Cambria Math"/>
                <a:cs typeface="Helvetica Neue"/>
                <a:sym typeface="Cambria Math"/>
                <a:rtl val="0"/>
              </a:rPr>
              <a:t>∈</a:t>
            </a:r>
            <a:r>
              <a:rPr lang="en-US" sz="750" i="1" spc="0" baseline="0" dirty="0">
                <a:ln/>
                <a:solidFill>
                  <a:srgbClr val="555555"/>
                </a:solidFill>
                <a:latin typeface="Helvetica Neue"/>
                <a:ea typeface="Helvetica Neue"/>
                <a:cs typeface="Helvetica Neue"/>
                <a:sym typeface="Helvetica Neue"/>
                <a:rtl val="0"/>
              </a:rPr>
              <a:t> </a:t>
            </a:r>
            <a:r>
              <a:rPr lang="en-US" sz="750" i="1" spc="0" baseline="0" dirty="0">
                <a:ln/>
                <a:solidFill>
                  <a:srgbClr val="555555"/>
                </a:solidFill>
                <a:latin typeface="Cambria Math"/>
                <a:ea typeface="Cambria Math"/>
                <a:cs typeface="Helvetica Neue"/>
                <a:sym typeface="Cambria Math"/>
                <a:rtl val="0"/>
              </a:rPr>
              <a:t>ℝ</a:t>
            </a:r>
            <a:r>
              <a:rPr lang="en-US" sz="750" i="1" spc="0" baseline="0" dirty="0">
                <a:ln/>
                <a:solidFill>
                  <a:srgbClr val="555555"/>
                </a:solidFill>
                <a:latin typeface="Helvetica Neue"/>
                <a:ea typeface="Helvetica Neue"/>
                <a:cs typeface="Helvetica Neue"/>
                <a:sym typeface="Helvetica Neue"/>
                <a:rtl val="0"/>
              </a:rPr>
              <a:t>⁶⁴ˣ⁶</a:t>
            </a:r>
          </a:p>
        </p:txBody>
      </p:sp>
      <p:sp>
        <p:nvSpPr>
          <p:cNvPr id="211" name="TextBox 210">
            <a:extLst>
              <a:ext uri="{FF2B5EF4-FFF2-40B4-BE49-F238E27FC236}">
                <a16:creationId xmlns:a16="http://schemas.microsoft.com/office/drawing/2014/main" id="{4490967C-A20D-F15B-5267-6D22E5BC5D1B}"/>
              </a:ext>
            </a:extLst>
          </p:cNvPr>
          <p:cNvSpPr txBox="1"/>
          <p:nvPr/>
        </p:nvSpPr>
        <p:spPr>
          <a:xfrm>
            <a:off x="7118013" y="2811337"/>
            <a:ext cx="874571" cy="207749"/>
          </a:xfrm>
          <a:prstGeom prst="rect">
            <a:avLst/>
          </a:prstGeom>
          <a:noFill/>
        </p:spPr>
        <p:txBody>
          <a:bodyPr wrap="square" rtlCol="0">
            <a:spAutoFit/>
          </a:bodyPr>
          <a:lstStyle/>
          <a:p>
            <a:pPr algn="l"/>
            <a:r>
              <a:rPr lang="en-US" sz="750" i="1" spc="0" baseline="0" dirty="0">
                <a:ln/>
                <a:solidFill>
                  <a:srgbClr val="555555"/>
                </a:solidFill>
                <a:latin typeface="Helvetica Neue"/>
                <a:ea typeface="Helvetica Neue"/>
                <a:cs typeface="Helvetica Neue"/>
                <a:sym typeface="Helvetica Neue"/>
                <a:rtl val="0"/>
              </a:rPr>
              <a:t>W₂ </a:t>
            </a:r>
            <a:r>
              <a:rPr lang="en-US" sz="750" i="1" spc="0" baseline="0" dirty="0">
                <a:ln/>
                <a:solidFill>
                  <a:srgbClr val="555555"/>
                </a:solidFill>
                <a:latin typeface="Cambria Math"/>
                <a:ea typeface="Cambria Math"/>
                <a:cs typeface="Helvetica Neue"/>
                <a:sym typeface="Cambria Math"/>
                <a:rtl val="0"/>
              </a:rPr>
              <a:t>∈</a:t>
            </a:r>
            <a:r>
              <a:rPr lang="en-US" sz="750" i="1" spc="0" baseline="0" dirty="0">
                <a:ln/>
                <a:solidFill>
                  <a:srgbClr val="555555"/>
                </a:solidFill>
                <a:latin typeface="Helvetica Neue"/>
                <a:ea typeface="Helvetica Neue"/>
                <a:cs typeface="Helvetica Neue"/>
                <a:sym typeface="Helvetica Neue"/>
                <a:rtl val="0"/>
              </a:rPr>
              <a:t> </a:t>
            </a:r>
            <a:r>
              <a:rPr lang="en-US" sz="750" i="1" spc="0" baseline="0" dirty="0">
                <a:ln/>
                <a:solidFill>
                  <a:srgbClr val="555555"/>
                </a:solidFill>
                <a:latin typeface="Cambria Math"/>
                <a:ea typeface="Cambria Math"/>
                <a:cs typeface="Helvetica Neue"/>
                <a:sym typeface="Cambria Math"/>
                <a:rtl val="0"/>
              </a:rPr>
              <a:t>ℝ</a:t>
            </a:r>
            <a:r>
              <a:rPr lang="en-US" sz="750" i="1" spc="0" baseline="0" dirty="0">
                <a:ln/>
                <a:solidFill>
                  <a:srgbClr val="555555"/>
                </a:solidFill>
                <a:latin typeface="Helvetica Neue"/>
                <a:ea typeface="Helvetica Neue"/>
                <a:cs typeface="Helvetica Neue"/>
                <a:sym typeface="Helvetica Neue"/>
                <a:rtl val="0"/>
              </a:rPr>
              <a:t>¹ˣ⁶⁴</a:t>
            </a:r>
          </a:p>
        </p:txBody>
      </p:sp>
      <p:sp>
        <p:nvSpPr>
          <p:cNvPr id="212" name="TextBox 211">
            <a:extLst>
              <a:ext uri="{FF2B5EF4-FFF2-40B4-BE49-F238E27FC236}">
                <a16:creationId xmlns:a16="http://schemas.microsoft.com/office/drawing/2014/main" id="{8C14FC78-C15B-BA6D-D5A8-B77A3E786238}"/>
              </a:ext>
            </a:extLst>
          </p:cNvPr>
          <p:cNvSpPr txBox="1"/>
          <p:nvPr/>
        </p:nvSpPr>
        <p:spPr>
          <a:xfrm>
            <a:off x="4984834" y="5574085"/>
            <a:ext cx="2540984" cy="207749"/>
          </a:xfrm>
          <a:prstGeom prst="rect">
            <a:avLst/>
          </a:prstGeom>
          <a:noFill/>
        </p:spPr>
        <p:txBody>
          <a:bodyPr wrap="square" rtlCol="0">
            <a:spAutoFit/>
          </a:bodyPr>
          <a:lstStyle/>
          <a:p>
            <a:pPr algn="l"/>
            <a:r>
              <a:rPr lang="en-US" sz="750" spc="0" baseline="0" dirty="0">
                <a:ln/>
                <a:solidFill>
                  <a:srgbClr val="666666"/>
                </a:solidFill>
                <a:latin typeface="Helvetica Neue"/>
                <a:ea typeface="Helvetica Neue"/>
                <a:cs typeface="Helvetica Neue"/>
                <a:sym typeface="Helvetica Neue"/>
                <a:rtl val="0"/>
              </a:rPr>
              <a:t>Total trainable parameters: 6×64 + 64 + 64×1 + 1 = </a:t>
            </a:r>
            <a:r>
              <a:rPr lang="en-US" sz="750" b="1" spc="0" baseline="0" dirty="0">
                <a:ln/>
                <a:solidFill>
                  <a:srgbClr val="003366"/>
                </a:solidFill>
                <a:latin typeface="Helvetica Neue"/>
                <a:ea typeface="Helvetica Neue"/>
                <a:cs typeface="Helvetica Neue"/>
                <a:sym typeface="Helvetica Neue"/>
                <a:rtl val="0"/>
              </a:rPr>
              <a:t>513</a:t>
            </a:r>
          </a:p>
        </p:txBody>
      </p:sp>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FE1F5680-0855-2C34-A78C-28EC9025A980}"/>
                  </a:ext>
                </a:extLst>
              </p:cNvPr>
              <p:cNvSpPr txBox="1"/>
              <p:nvPr/>
            </p:nvSpPr>
            <p:spPr>
              <a:xfrm>
                <a:off x="868680" y="5861044"/>
                <a:ext cx="10607040" cy="1107996"/>
              </a:xfrm>
              <a:prstGeom prst="rect">
                <a:avLst/>
              </a:prstGeom>
              <a:noFill/>
            </p:spPr>
            <p:txBody>
              <a:bodyPr wrap="square" rtlCol="0">
                <a:spAutoFit/>
              </a:bodyPr>
              <a:lstStyle/>
              <a:p>
                <a:r>
                  <a:rPr lang="en-GB" sz="1200" dirty="0">
                    <a:solidFill>
                      <a:srgbClr val="495A66"/>
                    </a:solidFill>
                    <a:latin typeface="Consolas" panose="020B0609020204030204" pitchFamily="49" charset="0"/>
                    <a:cs typeface="Consolas" panose="020B0609020204030204" pitchFamily="49" charset="0"/>
                  </a:rPr>
                  <a:t>One hidden layer and 64 units residual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latin typeface="Consolas" panose="020B0609020204030204" pitchFamily="49" charset="0"/>
                    <a:cs typeface="Consolas" panose="020B0609020204030204" pitchFamily="49" charset="0"/>
                  </a:rPr>
                  <a:t> is a smooth, low-dimensional correction, this is sufficient to approximate it.</a:t>
                </a:r>
              </a:p>
              <a:p>
                <a:r>
                  <a:rPr lang="en-GB" sz="1200" dirty="0">
                    <a:solidFill>
                      <a:srgbClr val="495A66"/>
                    </a:solidFill>
                    <a:latin typeface="Consolas" panose="020B0609020204030204" pitchFamily="49" charset="0"/>
                    <a:cs typeface="Consolas" panose="020B0609020204030204" pitchFamily="49" charset="0"/>
                  </a:rPr>
                  <a:t>ReLU activation, piecewise-linear, no vanishing gradient, standard for continuous-action SAC policies.</a:t>
                </a:r>
              </a:p>
              <a:p>
                <a:r>
                  <a:rPr lang="en-GB" sz="1200" i="1" dirty="0">
                    <a:solidFill>
                      <a:srgbClr val="495A66"/>
                    </a:solidFill>
                    <a:latin typeface="Consolas" panose="020B0609020204030204" pitchFamily="49" charset="0"/>
                    <a:cs typeface="Consolas" panose="020B0609020204030204" pitchFamily="49" charset="0"/>
                  </a:rPr>
                  <a:t>tanh</a:t>
                </a:r>
                <a:r>
                  <a:rPr lang="en-GB" sz="1200" dirty="0">
                    <a:solidFill>
                      <a:srgbClr val="495A66"/>
                    </a:solidFill>
                    <a:latin typeface="Consolas" panose="020B0609020204030204" pitchFamily="49" charset="0"/>
                    <a:cs typeface="Consolas" panose="020B0609020204030204" pitchFamily="49" charset="0"/>
                  </a:rPr>
                  <a:t> output, squashes the network output to (-1, +1) regardless of weight magnitude, the residual limit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r>
                      <a:rPr lang="it-IT" sz="120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3.6 </m:t>
                    </m:r>
                    <m:r>
                      <a:rPr lang="it-IT" sz="1200" b="0" i="1" smtClean="0">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latin typeface="Consolas" panose="020B0609020204030204" pitchFamily="49" charset="0"/>
                    <a:cs typeface="Consolas" panose="020B0609020204030204" pitchFamily="49" charset="0"/>
                  </a:rPr>
                  <a:t> is enforced by the architecture, not by clipping after the fact.</a:t>
                </a:r>
              </a:p>
              <a:p>
                <a:endParaRPr lang="en-US" dirty="0"/>
              </a:p>
            </p:txBody>
          </p:sp>
        </mc:Choice>
        <mc:Fallback xmlns="">
          <p:sp>
            <p:nvSpPr>
              <p:cNvPr id="213" name="TextBox 212">
                <a:extLst>
                  <a:ext uri="{FF2B5EF4-FFF2-40B4-BE49-F238E27FC236}">
                    <a16:creationId xmlns:a16="http://schemas.microsoft.com/office/drawing/2014/main" id="{FE1F5680-0855-2C34-A78C-28EC9025A980}"/>
                  </a:ext>
                </a:extLst>
              </p:cNvPr>
              <p:cNvSpPr txBox="1">
                <a:spLocks noRot="1" noChangeAspect="1" noMove="1" noResize="1" noEditPoints="1" noAdjustHandles="1" noChangeArrowheads="1" noChangeShapeType="1" noTextEdit="1"/>
              </p:cNvSpPr>
              <p:nvPr/>
            </p:nvSpPr>
            <p:spPr>
              <a:xfrm>
                <a:off x="868680" y="5861044"/>
                <a:ext cx="10607040" cy="110799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9512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8810C7BE-A530-561E-FF9B-873D906077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6A4301-5790-1DAA-7B4F-BCBDDD2B36C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C21A271-ABBD-FE89-6C89-8D10E95DFEA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68F5EC38-FC54-D33C-3D94-2A6B32B8A1B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B6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21A5E97C-E2F1-4478-0292-B76E3098C10C}"/>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Saturation and Residual Authority: Design Choice</a:t>
            </a:r>
            <a:r>
              <a:rPr lang="en-GB" dirty="0"/>
              <a:t> </a:t>
            </a:r>
            <a:endParaRPr lang="en-US" sz="2800" b="1" noProof="1">
              <a:solidFill>
                <a:srgbClr val="1D3557"/>
              </a:solidFill>
              <a:latin typeface="Georgia"/>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72DF973-C274-B706-D4F8-BEA59B2926F3}"/>
                  </a:ext>
                </a:extLst>
              </p:cNvPr>
              <p:cNvSpPr txBox="1"/>
              <p:nvPr/>
            </p:nvSpPr>
            <p:spPr>
              <a:xfrm>
                <a:off x="792675" y="1372925"/>
                <a:ext cx="10832397" cy="1569660"/>
              </a:xfrm>
              <a:prstGeom prst="rect">
                <a:avLst/>
              </a:prstGeom>
              <a:noFill/>
            </p:spPr>
            <p:txBody>
              <a:bodyPr wrap="square" rtlCol="0">
                <a:spAutoFit/>
              </a:bodyPr>
              <a:lstStyle/>
              <a:p>
                <a:r>
                  <a:rPr lang="en-GB" sz="1600" dirty="0">
                    <a:solidFill>
                      <a:srgbClr val="495A66"/>
                    </a:solidFill>
                  </a:rPr>
                  <a:t>The residual authority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r>
                      <a:rPr lang="it-IT" sz="1600" b="0" i="1" smtClean="0">
                        <a:solidFill>
                          <a:srgbClr val="495A66"/>
                        </a:solidFill>
                        <a:latin typeface="Cambria Math" panose="02040503050406030204" pitchFamily="18" charset="0"/>
                        <a:ea typeface="Cambria Math" panose="02040503050406030204" pitchFamily="18" charset="0"/>
                      </a:rPr>
                      <m:t>=0.3×</m:t>
                    </m:r>
                    <m:sSub>
                      <m:sSubPr>
                        <m:ctrlPr>
                          <a:rPr lang="it-IT" sz="1600" b="0" i="1" smtClean="0">
                            <a:solidFill>
                              <a:srgbClr val="495A66"/>
                            </a:solidFill>
                            <a:latin typeface="Cambria Math" panose="02040503050406030204" pitchFamily="18" charset="0"/>
                            <a:ea typeface="Cambria Math" panose="02040503050406030204" pitchFamily="18" charset="0"/>
                          </a:rPr>
                        </m:ctrlPr>
                      </m:sSubPr>
                      <m:e>
                        <m:r>
                          <a:rPr lang="it-IT" sz="1600" b="0" i="1" smtClean="0">
                            <a:solidFill>
                              <a:srgbClr val="495A66"/>
                            </a:solidFill>
                            <a:latin typeface="Cambria Math" panose="02040503050406030204" pitchFamily="18" charset="0"/>
                            <a:ea typeface="Cambria Math" panose="02040503050406030204" pitchFamily="18" charset="0"/>
                          </a:rPr>
                          <m:t>𝑉</m:t>
                        </m:r>
                      </m:e>
                      <m:sub>
                        <m:r>
                          <a:rPr lang="it-IT" sz="1600" b="0" i="1" smtClean="0">
                            <a:solidFill>
                              <a:srgbClr val="495A66"/>
                            </a:solidFill>
                            <a:latin typeface="Cambria Math" panose="02040503050406030204" pitchFamily="18" charset="0"/>
                            <a:ea typeface="Cambria Math" panose="02040503050406030204" pitchFamily="18" charset="0"/>
                          </a:rPr>
                          <m:t>𝑚𝑎𝑥</m:t>
                        </m:r>
                      </m:sub>
                    </m:sSub>
                    <m:r>
                      <a:rPr lang="it-IT" sz="1600" b="0" i="1" smtClean="0">
                        <a:solidFill>
                          <a:srgbClr val="495A66"/>
                        </a:solidFill>
                        <a:latin typeface="Cambria Math" panose="02040503050406030204" pitchFamily="18" charset="0"/>
                        <a:ea typeface="Cambria Math" panose="02040503050406030204" pitchFamily="18" charset="0"/>
                      </a:rPr>
                      <m:t>=3.6 </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is a deliberate design choice, not an optimised hyperparameter. The reasoning is physical: the two corrections the PI is missing are the gravity compensation and the steady-state feedforward. Together they sum to at most </a:t>
                </a:r>
                <a14:m>
                  <m:oMath xmlns:m="http://schemas.openxmlformats.org/officeDocument/2006/math">
                    <m:r>
                      <a:rPr lang="en-GB" sz="1600" i="1" dirty="0" smtClean="0">
                        <a:solidFill>
                          <a:srgbClr val="495A66"/>
                        </a:solidFill>
                        <a:latin typeface="Cambria Math" panose="02040503050406030204" pitchFamily="18" charset="0"/>
                        <a:ea typeface="Cambria Math" panose="02040503050406030204" pitchFamily="18" charset="0"/>
                      </a:rPr>
                      <m:t>4</m:t>
                    </m:r>
                    <m:r>
                      <a:rPr lang="it-IT" sz="1600" b="0" i="1" dirty="0" smtClean="0">
                        <a:solidFill>
                          <a:srgbClr val="495A66"/>
                        </a:solidFill>
                        <a:latin typeface="Cambria Math" panose="02040503050406030204" pitchFamily="18" charset="0"/>
                        <a:ea typeface="Cambria Math" panose="02040503050406030204" pitchFamily="18" charset="0"/>
                      </a:rPr>
                      <m:t>−5</m:t>
                    </m:r>
                    <m:r>
                      <a:rPr lang="it-IT" sz="1600" i="1">
                        <a:solidFill>
                          <a:srgbClr val="495A66"/>
                        </a:solidFill>
                        <a:latin typeface="Cambria Math" panose="02040503050406030204" pitchFamily="18" charset="0"/>
                        <a:ea typeface="Cambria Math" panose="02040503050406030204" pitchFamily="18" charset="0"/>
                      </a:rPr>
                      <m:t> </m:t>
                    </m:r>
                    <m:r>
                      <a:rPr lang="it-IT" sz="1600" i="1">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comfortably within the </a:t>
                </a:r>
                <a14:m>
                  <m:oMath xmlns:m="http://schemas.openxmlformats.org/officeDocument/2006/math">
                    <m:r>
                      <a:rPr lang="it-IT" sz="1600" i="1" smtClean="0">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3.6 </m:t>
                    </m:r>
                    <m:r>
                      <a:rPr lang="it-IT" sz="1600" i="1">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window. Setting </a:t>
                </a:r>
                <a:r>
                  <a:rPr lang="el-GR" sz="1600" dirty="0">
                    <a:solidFill>
                      <a:srgbClr val="495A66"/>
                    </a:solidFill>
                  </a:rPr>
                  <a:t>δ </a:t>
                </a:r>
                <a:r>
                  <a:rPr lang="en-GB" sz="1600" dirty="0">
                    <a:solidFill>
                      <a:srgbClr val="495A66"/>
                    </a:solidFill>
                  </a:rPr>
                  <a:t>too small would prevent the policy from correcting what the PI misses; setting it too large would let the policy override the baseline and risk destabilising the loop. 30% is the conservative choice that covers the physically meaningful corrections while keeping the PI in charge.</a:t>
                </a:r>
              </a:p>
              <a:p>
                <a:r>
                  <a:rPr lang="en-GB" sz="1600" dirty="0">
                    <a:solidFill>
                      <a:srgbClr val="495A66"/>
                    </a:solidFill>
                  </a:rPr>
                  <a:t>The saturation is managed at three levels:</a:t>
                </a:r>
              </a:p>
            </p:txBody>
          </p:sp>
        </mc:Choice>
        <mc:Fallback xmlns="">
          <p:sp>
            <p:nvSpPr>
              <p:cNvPr id="5" name="TextBox 4">
                <a:extLst>
                  <a:ext uri="{FF2B5EF4-FFF2-40B4-BE49-F238E27FC236}">
                    <a16:creationId xmlns:a16="http://schemas.microsoft.com/office/drawing/2014/main" id="{772DF973-C274-B706-D4F8-BEA59B2926F3}"/>
                  </a:ext>
                </a:extLst>
              </p:cNvPr>
              <p:cNvSpPr txBox="1">
                <a:spLocks noRot="1" noChangeAspect="1" noMove="1" noResize="1" noEditPoints="1" noAdjustHandles="1" noChangeArrowheads="1" noChangeShapeType="1" noTextEdit="1"/>
              </p:cNvSpPr>
              <p:nvPr/>
            </p:nvSpPr>
            <p:spPr>
              <a:xfrm>
                <a:off x="792675" y="1372925"/>
                <a:ext cx="10832397" cy="1569660"/>
              </a:xfrm>
              <a:prstGeom prst="rect">
                <a:avLst/>
              </a:prstGeom>
              <a:blipFill>
                <a:blip r:embed="rId2"/>
                <a:stretch>
                  <a:fillRect l="-234" t="-1613" r="-585" b="-4032"/>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EAACB81B-9527-FFFD-51B7-121C9881557D}"/>
              </a:ext>
            </a:extLst>
          </p:cNvPr>
          <p:cNvSpPr/>
          <p:nvPr/>
        </p:nvSpPr>
        <p:spPr>
          <a:xfrm>
            <a:off x="868680" y="3146860"/>
            <a:ext cx="3375661" cy="186202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4728EFA1-C5C6-85D9-5075-34D6C9F2FE22}"/>
              </a:ext>
            </a:extLst>
          </p:cNvPr>
          <p:cNvSpPr/>
          <p:nvPr/>
        </p:nvSpPr>
        <p:spPr>
          <a:xfrm>
            <a:off x="861061" y="3146859"/>
            <a:ext cx="53911" cy="186202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C3F119-D183-C7DC-8A65-B4C43C11AFDF}"/>
                  </a:ext>
                </a:extLst>
              </p:cNvPr>
              <p:cNvSpPr txBox="1"/>
              <p:nvPr/>
            </p:nvSpPr>
            <p:spPr>
              <a:xfrm>
                <a:off x="1069847" y="3311451"/>
                <a:ext cx="3081023" cy="1208536"/>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2A9D8F"/>
                    </a:solidFill>
                    <a:latin typeface="Consolas"/>
                  </a:rPr>
                  <a:t>Architecture</a:t>
                </a:r>
                <a:endParaRPr lang="en-US" sz="1000" b="0" noProof="1">
                  <a:solidFill>
                    <a:srgbClr val="2A9D8F"/>
                  </a:solidFill>
                  <a:latin typeface="Consolas"/>
                </a:endParaRPr>
              </a:p>
              <a:p>
                <a:pPr>
                  <a:spcAft>
                    <a:spcPts val="600"/>
                  </a:spcAft>
                </a:pPr>
                <a:r>
                  <a:rPr lang="en-GB" sz="1600" b="1" dirty="0">
                    <a:solidFill>
                      <a:srgbClr val="1D3456"/>
                    </a:solidFill>
                    <a:latin typeface="Georgia" panose="02040502050405020303" pitchFamily="18" charset="0"/>
                  </a:rPr>
                  <a:t>tanh bounds </a:t>
                </a:r>
                <a:r>
                  <a:rPr lang="el-GR" sz="1600" b="1" dirty="0">
                    <a:solidFill>
                      <a:srgbClr val="1D3456"/>
                    </a:solidFill>
                    <a:latin typeface="Georgia" panose="02040502050405020303" pitchFamily="18" charset="0"/>
                  </a:rPr>
                  <a:t>Δ</a:t>
                </a:r>
                <a:r>
                  <a:rPr lang="en-GB" sz="1600" b="1" dirty="0">
                    <a:solidFill>
                      <a:srgbClr val="1D3456"/>
                    </a:solidFill>
                    <a:latin typeface="Georgia" panose="02040502050405020303" pitchFamily="18" charset="0"/>
                  </a:rPr>
                  <a:t>V</a:t>
                </a:r>
                <a:br>
                  <a:rPr lang="en-GB" sz="1200" dirty="0"/>
                </a:br>
                <a:r>
                  <a:rPr lang="en-GB" sz="1200" dirty="0">
                    <a:solidFill>
                      <a:srgbClr val="495A66"/>
                    </a:solidFill>
                  </a:rPr>
                  <a:t>The output neuron passes through </a:t>
                </a:r>
                <a:r>
                  <a:rPr lang="en-GB" sz="1200" i="1" dirty="0">
                    <a:solidFill>
                      <a:srgbClr val="495A66"/>
                    </a:solidFill>
                  </a:rPr>
                  <a:t>tanh</a:t>
                </a:r>
                <a:r>
                  <a:rPr lang="en-GB" sz="1200" dirty="0">
                    <a:solidFill>
                      <a:srgbClr val="495A66"/>
                    </a:solidFill>
                  </a:rPr>
                  <a:t>, so </a:t>
                </a:r>
                <a14:m>
                  <m:oMath xmlns:m="http://schemas.openxmlformats.org/officeDocument/2006/math">
                    <m:r>
                      <a:rPr lang="it-IT" sz="1200" b="0" i="1" smtClean="0">
                        <a:solidFill>
                          <a:srgbClr val="495A66"/>
                        </a:solidFill>
                        <a:latin typeface="Cambria Math" panose="02040503050406030204" pitchFamily="18" charset="0"/>
                      </a:rPr>
                      <m:t>𝑎</m:t>
                    </m:r>
                    <m:r>
                      <a:rPr lang="it-IT" sz="1200" b="0" i="1" smtClean="0">
                        <a:solidFill>
                          <a:srgbClr val="495A66"/>
                        </a:solidFill>
                        <a:latin typeface="Cambria Math" panose="02040503050406030204" pitchFamily="18" charset="0"/>
                        <a:ea typeface="Cambria Math" panose="02040503050406030204" pitchFamily="18" charset="0"/>
                      </a:rPr>
                      <m:t>∈(−1,+1)</m:t>
                    </m:r>
                  </m:oMath>
                </a14:m>
                <a:r>
                  <a:rPr lang="en-GB" sz="1200" dirty="0">
                    <a:solidFill>
                      <a:srgbClr val="495A66"/>
                    </a:solidFill>
                  </a:rPr>
                  <a:t> always and </a:t>
                </a:r>
                <a14:m>
                  <m:oMath xmlns:m="http://schemas.openxmlformats.org/officeDocument/2006/math">
                    <m:d>
                      <m:dPr>
                        <m:begChr m:val="|"/>
                        <m:endChr m:val="|"/>
                        <m:ctrlPr>
                          <a:rPr lang="en-GB" sz="1200" i="1" smtClean="0">
                            <a:solidFill>
                              <a:srgbClr val="495A66"/>
                            </a:solidFill>
                            <a:latin typeface="Cambria Math" panose="02040503050406030204" pitchFamily="18" charset="0"/>
                            <a:ea typeface="Cambria Math" panose="02040503050406030204" pitchFamily="18" charset="0"/>
                          </a:rPr>
                        </m:ctrlPr>
                      </m:dPr>
                      <m:e>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e>
                    </m:d>
                    <m:r>
                      <a:rPr lang="it-IT" sz="1200" b="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𝛿</m:t>
                    </m:r>
                    <m:d>
                      <m:dPr>
                        <m:begChr m:val="|"/>
                        <m:endChr m:val="|"/>
                        <m:ctrlPr>
                          <a:rPr lang="it-IT" sz="1200" b="0" i="1" smtClean="0">
                            <a:solidFill>
                              <a:srgbClr val="495A66"/>
                            </a:solidFill>
                            <a:latin typeface="Cambria Math" panose="02040503050406030204" pitchFamily="18" charset="0"/>
                            <a:ea typeface="Cambria Math" panose="02040503050406030204" pitchFamily="18" charset="0"/>
                          </a:rPr>
                        </m:ctrlPr>
                      </m:dPr>
                      <m:e>
                        <m:r>
                          <a:rPr lang="it-IT" sz="1200" b="0" i="1" smtClean="0">
                            <a:solidFill>
                              <a:srgbClr val="495A66"/>
                            </a:solidFill>
                            <a:latin typeface="Cambria Math" panose="02040503050406030204" pitchFamily="18" charset="0"/>
                            <a:ea typeface="Cambria Math" panose="02040503050406030204" pitchFamily="18" charset="0"/>
                          </a:rPr>
                          <m:t>𝑎</m:t>
                        </m:r>
                      </m:e>
                    </m:d>
                    <m:r>
                      <a:rPr lang="it-IT" sz="1200" b="0" i="1" smtClean="0">
                        <a:solidFill>
                          <a:srgbClr val="495A66"/>
                        </a:solidFill>
                        <a:latin typeface="Cambria Math" panose="02040503050406030204" pitchFamily="18" charset="0"/>
                        <a:ea typeface="Cambria Math" panose="02040503050406030204" pitchFamily="18" charset="0"/>
                      </a:rPr>
                      <m:t>&lt;3.6 </m:t>
                    </m:r>
                    <m:r>
                      <a:rPr lang="it-IT" sz="1200" b="0" i="1" smtClean="0">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rPr>
                  <a:t> regardless of weight values. The policy cannot saturate the residual channel even if it tries</a:t>
                </a:r>
                <a:r>
                  <a:rPr lang="en-GB" sz="1200" dirty="0"/>
                  <a:t>.</a:t>
                </a:r>
                <a:endParaRPr lang="en-US" sz="1200" b="0" noProof="1">
                  <a:solidFill>
                    <a:srgbClr val="495A66"/>
                  </a:solidFill>
                  <a:latin typeface="Calibri"/>
                </a:endParaRPr>
              </a:p>
            </p:txBody>
          </p:sp>
        </mc:Choice>
        <mc:Fallback xmlns="">
          <p:sp>
            <p:nvSpPr>
              <p:cNvPr id="9" name="TextBox 8">
                <a:extLst>
                  <a:ext uri="{FF2B5EF4-FFF2-40B4-BE49-F238E27FC236}">
                    <a16:creationId xmlns:a16="http://schemas.microsoft.com/office/drawing/2014/main" id="{A4C3F119-D183-C7DC-8A65-B4C43C11AFDF}"/>
                  </a:ext>
                </a:extLst>
              </p:cNvPr>
              <p:cNvSpPr txBox="1">
                <a:spLocks noRot="1" noChangeAspect="1" noMove="1" noResize="1" noEditPoints="1" noAdjustHandles="1" noChangeArrowheads="1" noChangeShapeType="1" noTextEdit="1"/>
              </p:cNvSpPr>
              <p:nvPr/>
            </p:nvSpPr>
            <p:spPr>
              <a:xfrm>
                <a:off x="1069847" y="3311451"/>
                <a:ext cx="3081023" cy="1208536"/>
              </a:xfrm>
              <a:prstGeom prst="rect">
                <a:avLst/>
              </a:prstGeom>
              <a:blipFill>
                <a:blip r:embed="rId3"/>
                <a:stretch>
                  <a:fillRect l="-4115" t="-2083" b="-6250"/>
                </a:stretch>
              </a:blipFill>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AA64A035-A3EC-F7BE-02E9-6786BF611F8F}"/>
              </a:ext>
            </a:extLst>
          </p:cNvPr>
          <p:cNvSpPr/>
          <p:nvPr/>
        </p:nvSpPr>
        <p:spPr>
          <a:xfrm>
            <a:off x="4480560" y="3146860"/>
            <a:ext cx="3383280" cy="186202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a:extLst>
              <a:ext uri="{FF2B5EF4-FFF2-40B4-BE49-F238E27FC236}">
                <a16:creationId xmlns:a16="http://schemas.microsoft.com/office/drawing/2014/main" id="{62B40994-E6B0-863B-9EC5-9A7C9AE8AD15}"/>
              </a:ext>
            </a:extLst>
          </p:cNvPr>
          <p:cNvSpPr/>
          <p:nvPr/>
        </p:nvSpPr>
        <p:spPr>
          <a:xfrm>
            <a:off x="4472941" y="3146860"/>
            <a:ext cx="53911" cy="18620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FF08BDB-AFE6-3D0F-E1AA-06157B6B731A}"/>
                  </a:ext>
                </a:extLst>
              </p:cNvPr>
              <p:cNvSpPr txBox="1"/>
              <p:nvPr/>
            </p:nvSpPr>
            <p:spPr>
              <a:xfrm>
                <a:off x="4681728" y="3311451"/>
                <a:ext cx="3017520" cy="1315553"/>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1D3557"/>
                    </a:solidFill>
                    <a:latin typeface="Consolas"/>
                  </a:rPr>
                  <a:t>Control Law </a:t>
                </a:r>
              </a:p>
              <a:p>
                <a:pPr>
                  <a:lnSpc>
                    <a:spcPct val="112000"/>
                  </a:lnSpc>
                  <a:spcAft>
                    <a:spcPts val="400"/>
                  </a:spcAft>
                </a:pPr>
                <a:r>
                  <a:rPr lang="en-GB" sz="1600" b="1" dirty="0">
                    <a:solidFill>
                      <a:srgbClr val="1D3456"/>
                    </a:solidFill>
                    <a:latin typeface="Georgia" panose="02040502050405020303" pitchFamily="18" charset="0"/>
                  </a:rPr>
                  <a:t>Hard clip before the motor</a:t>
                </a:r>
                <a:r>
                  <a:rPr lang="en-GB" sz="1000" dirty="0"/>
                  <a:t> </a:t>
                </a:r>
                <a14:m>
                  <m:oMath xmlns:m="http://schemas.openxmlformats.org/officeDocument/2006/math">
                    <m:r>
                      <a:rPr lang="it-IT" sz="1200" b="0" i="1" smtClean="0">
                        <a:solidFill>
                          <a:srgbClr val="495A66"/>
                        </a:solidFill>
                        <a:latin typeface="Cambria Math" panose="02040503050406030204" pitchFamily="18" charset="0"/>
                      </a:rPr>
                      <m:t>𝑐𝑙𝑖𝑝</m:t>
                    </m:r>
                    <m:d>
                      <m:dPr>
                        <m:ctrlPr>
                          <a:rPr lang="it-IT" sz="1200" b="0" i="1" smtClean="0">
                            <a:solidFill>
                              <a:srgbClr val="495A66"/>
                            </a:solidFill>
                            <a:latin typeface="Cambria Math" panose="02040503050406030204" pitchFamily="18" charset="0"/>
                          </a:rPr>
                        </m:ctrlPr>
                      </m:dPr>
                      <m:e>
                        <m:sSub>
                          <m:sSubPr>
                            <m:ctrlPr>
                              <a:rPr lang="it-IT" sz="1200" b="0" i="1" smtClean="0">
                                <a:solidFill>
                                  <a:srgbClr val="495A66"/>
                                </a:solidFill>
                                <a:latin typeface="Cambria Math" panose="02040503050406030204" pitchFamily="18" charset="0"/>
                              </a:rPr>
                            </m:ctrlPr>
                          </m:sSubPr>
                          <m:e>
                            <m:r>
                              <a:rPr lang="it-IT" sz="1200" b="0" i="1" smtClean="0">
                                <a:solidFill>
                                  <a:srgbClr val="495A66"/>
                                </a:solidFill>
                                <a:latin typeface="Cambria Math" panose="02040503050406030204" pitchFamily="18" charset="0"/>
                              </a:rPr>
                              <m:t>𝑉</m:t>
                            </m:r>
                          </m:e>
                          <m:sub>
                            <m:r>
                              <a:rPr lang="it-IT" sz="1200" b="0" i="1" smtClean="0">
                                <a:solidFill>
                                  <a:srgbClr val="495A66"/>
                                </a:solidFill>
                                <a:latin typeface="Cambria Math" panose="02040503050406030204" pitchFamily="18" charset="0"/>
                              </a:rPr>
                              <m:t>𝑏𝑎𝑠𝑒</m:t>
                            </m:r>
                          </m:sub>
                        </m:sSub>
                        <m:r>
                          <a:rPr lang="it-IT" sz="1200" b="0" i="1" smtClean="0">
                            <a:solidFill>
                              <a:srgbClr val="495A66"/>
                            </a:solidFill>
                            <a:latin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𝑉</m:t>
                        </m:r>
                        <m:r>
                          <a:rPr lang="it-IT" sz="1200" b="0" i="1" smtClean="0">
                            <a:solidFill>
                              <a:srgbClr val="495A66"/>
                            </a:solidFill>
                            <a:latin typeface="Cambria Math" panose="02040503050406030204" pitchFamily="18" charset="0"/>
                            <a:ea typeface="Cambria Math" panose="02040503050406030204" pitchFamily="18" charset="0"/>
                          </a:rPr>
                          <m:t>, −12, +12</m:t>
                        </m:r>
                      </m:e>
                    </m:d>
                  </m:oMath>
                </a14:m>
                <a:r>
                  <a:rPr lang="en-GB" sz="1200" dirty="0">
                    <a:solidFill>
                      <a:srgbClr val="495A66"/>
                    </a:solidFill>
                  </a:rPr>
                  <a:t>, PI and policy are summed first, then clipped. Neither component alone can push the motor beyond the hardware rail.</a:t>
                </a:r>
                <a:endParaRPr lang="en-US" sz="1200" b="0" noProof="1">
                  <a:solidFill>
                    <a:srgbClr val="1D3557"/>
                  </a:solidFill>
                </a:endParaRPr>
              </a:p>
            </p:txBody>
          </p:sp>
        </mc:Choice>
        <mc:Fallback xmlns="">
          <p:sp>
            <p:nvSpPr>
              <p:cNvPr id="12" name="TextBox 11">
                <a:extLst>
                  <a:ext uri="{FF2B5EF4-FFF2-40B4-BE49-F238E27FC236}">
                    <a16:creationId xmlns:a16="http://schemas.microsoft.com/office/drawing/2014/main" id="{3FF08BDB-AFE6-3D0F-E1AA-06157B6B731A}"/>
                  </a:ext>
                </a:extLst>
              </p:cNvPr>
              <p:cNvSpPr txBox="1">
                <a:spLocks noRot="1" noChangeAspect="1" noMove="1" noResize="1" noEditPoints="1" noAdjustHandles="1" noChangeArrowheads="1" noChangeShapeType="1" noTextEdit="1"/>
              </p:cNvSpPr>
              <p:nvPr/>
            </p:nvSpPr>
            <p:spPr>
              <a:xfrm>
                <a:off x="4681728" y="3311451"/>
                <a:ext cx="3017520" cy="1315553"/>
              </a:xfrm>
              <a:prstGeom prst="rect">
                <a:avLst/>
              </a:prstGeom>
              <a:blipFill>
                <a:blip r:embed="rId4"/>
                <a:stretch>
                  <a:fillRect l="-3766" t="-1905" r="-2092" b="-5714"/>
                </a:stretch>
              </a:blipFill>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42B6A7A7-8A70-D059-40D6-02B0C57B73AF}"/>
              </a:ext>
            </a:extLst>
          </p:cNvPr>
          <p:cNvSpPr/>
          <p:nvPr/>
        </p:nvSpPr>
        <p:spPr>
          <a:xfrm>
            <a:off x="8092440" y="3146859"/>
            <a:ext cx="3383280" cy="1862029"/>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Rectangle 13">
            <a:extLst>
              <a:ext uri="{FF2B5EF4-FFF2-40B4-BE49-F238E27FC236}">
                <a16:creationId xmlns:a16="http://schemas.microsoft.com/office/drawing/2014/main" id="{90FDB919-8C9D-D820-BCA3-7AE521BAC091}"/>
              </a:ext>
            </a:extLst>
          </p:cNvPr>
          <p:cNvSpPr/>
          <p:nvPr/>
        </p:nvSpPr>
        <p:spPr>
          <a:xfrm>
            <a:off x="8084821" y="3146859"/>
            <a:ext cx="53911" cy="1862029"/>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CC9B0AB-0584-38B9-9A32-97AE974C6F39}"/>
                  </a:ext>
                </a:extLst>
              </p:cNvPr>
              <p:cNvSpPr txBox="1"/>
              <p:nvPr/>
            </p:nvSpPr>
            <p:spPr>
              <a:xfrm>
                <a:off x="8293608" y="3311451"/>
                <a:ext cx="3017520" cy="1554336"/>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b="0" noProof="1">
                    <a:solidFill>
                      <a:srgbClr val="E07A5F"/>
                    </a:solidFill>
                    <a:latin typeface="Consolas"/>
                  </a:rPr>
                  <a:t>PI anti-windup</a:t>
                </a:r>
              </a:p>
              <a:p>
                <a:pPr>
                  <a:lnSpc>
                    <a:spcPct val="112000"/>
                  </a:lnSpc>
                  <a:spcAft>
                    <a:spcPts val="400"/>
                  </a:spcAft>
                </a:pPr>
                <a:r>
                  <a:rPr lang="en-GB" sz="1600" b="1" dirty="0">
                    <a:solidFill>
                      <a:srgbClr val="1D3456"/>
                    </a:solidFill>
                    <a:latin typeface="Georgia" panose="02040502050405020303" pitchFamily="18" charset="0"/>
                  </a:rPr>
                  <a:t>Prevents integrator blow-up</a:t>
                </a:r>
                <a:br>
                  <a:rPr lang="en-GB" sz="1000" dirty="0"/>
                </a:br>
                <a:r>
                  <a:rPr lang="en-GB" sz="1200" dirty="0">
                    <a:solidFill>
                      <a:srgbClr val="495A66"/>
                    </a:solidFill>
                  </a:rPr>
                  <a:t>The integrator is clamped so </a:t>
                </a:r>
                <a14:m>
                  <m:oMath xmlns:m="http://schemas.openxmlformats.org/officeDocument/2006/math">
                    <m:sSub>
                      <m:sSubPr>
                        <m:ctrlPr>
                          <a:rPr lang="en-GB" sz="1200" i="1" smtClean="0">
                            <a:solidFill>
                              <a:srgbClr val="495A66"/>
                            </a:solidFill>
                            <a:latin typeface="Cambria Math" panose="02040503050406030204" pitchFamily="18" charset="0"/>
                          </a:rPr>
                        </m:ctrlPr>
                      </m:sSubPr>
                      <m:e>
                        <m:r>
                          <a:rPr lang="it-IT" sz="1200" b="0" i="1" smtClean="0">
                            <a:solidFill>
                              <a:srgbClr val="495A66"/>
                            </a:solidFill>
                            <a:latin typeface="Cambria Math" panose="02040503050406030204" pitchFamily="18" charset="0"/>
                          </a:rPr>
                          <m:t>𝐾</m:t>
                        </m:r>
                      </m:e>
                      <m:sub>
                        <m:r>
                          <a:rPr lang="it-IT" sz="1200" b="0" i="1" smtClean="0">
                            <a:solidFill>
                              <a:srgbClr val="495A66"/>
                            </a:solidFill>
                            <a:latin typeface="Cambria Math" panose="02040503050406030204" pitchFamily="18" charset="0"/>
                          </a:rPr>
                          <m:t>𝑖</m:t>
                        </m:r>
                      </m:sub>
                    </m:sSub>
                    <m:nary>
                      <m:naryPr>
                        <m:limLoc m:val="undOvr"/>
                        <m:subHide m:val="on"/>
                        <m:supHide m:val="on"/>
                        <m:ctrlPr>
                          <a:rPr lang="en-GB" sz="1200" i="1" smtClean="0">
                            <a:solidFill>
                              <a:srgbClr val="495A66"/>
                            </a:solidFill>
                            <a:latin typeface="Cambria Math" panose="02040503050406030204" pitchFamily="18" charset="0"/>
                          </a:rPr>
                        </m:ctrlPr>
                      </m:naryPr>
                      <m:sub/>
                      <m:sup/>
                      <m:e>
                        <m:r>
                          <a:rPr lang="it-IT" sz="1200" b="0" i="1" smtClean="0">
                            <a:solidFill>
                              <a:srgbClr val="495A66"/>
                            </a:solidFill>
                            <a:latin typeface="Cambria Math" panose="02040503050406030204" pitchFamily="18" charset="0"/>
                          </a:rPr>
                          <m:t>𝑒</m:t>
                        </m:r>
                        <m:r>
                          <a:rPr lang="it-IT" sz="1200" b="0" i="1" smtClean="0">
                            <a:solidFill>
                              <a:srgbClr val="495A66"/>
                            </a:solidFill>
                            <a:latin typeface="Cambria Math" panose="02040503050406030204" pitchFamily="18" charset="0"/>
                          </a:rPr>
                          <m:t> </m:t>
                        </m:r>
                        <m:r>
                          <a:rPr lang="it-IT" sz="1200" b="0" i="1" smtClean="0">
                            <a:solidFill>
                              <a:srgbClr val="495A66"/>
                            </a:solidFill>
                            <a:latin typeface="Cambria Math" panose="02040503050406030204" pitchFamily="18" charset="0"/>
                          </a:rPr>
                          <m:t>𝑑𝑡</m:t>
                        </m:r>
                        <m:r>
                          <a:rPr lang="it-IT" sz="1200" b="0" i="1" smtClean="0">
                            <a:solidFill>
                              <a:srgbClr val="495A66"/>
                            </a:solidFill>
                            <a:latin typeface="Cambria Math" panose="02040503050406030204" pitchFamily="18" charset="0"/>
                            <a:ea typeface="Cambria Math" panose="02040503050406030204" pitchFamily="18" charset="0"/>
                          </a:rPr>
                          <m:t>≤±</m:t>
                        </m:r>
                        <m:sSub>
                          <m:sSubPr>
                            <m:ctrlPr>
                              <a:rPr lang="it-IT" sz="1200" b="0" i="1" smtClean="0">
                                <a:solidFill>
                                  <a:srgbClr val="495A66"/>
                                </a:solidFill>
                                <a:latin typeface="Cambria Math" panose="02040503050406030204" pitchFamily="18" charset="0"/>
                                <a:ea typeface="Cambria Math" panose="02040503050406030204" pitchFamily="18" charset="0"/>
                              </a:rPr>
                            </m:ctrlPr>
                          </m:sSubPr>
                          <m:e>
                            <m:r>
                              <a:rPr lang="it-IT" sz="1200" b="0" i="1" smtClean="0">
                                <a:solidFill>
                                  <a:srgbClr val="495A66"/>
                                </a:solidFill>
                                <a:latin typeface="Cambria Math" panose="02040503050406030204" pitchFamily="18" charset="0"/>
                                <a:ea typeface="Cambria Math" panose="02040503050406030204" pitchFamily="18" charset="0"/>
                              </a:rPr>
                              <m:t>𝑉</m:t>
                            </m:r>
                          </m:e>
                          <m:sub>
                            <m:r>
                              <a:rPr lang="it-IT" sz="1200" b="0" i="1" smtClean="0">
                                <a:solidFill>
                                  <a:srgbClr val="495A66"/>
                                </a:solidFill>
                                <a:latin typeface="Cambria Math" panose="02040503050406030204" pitchFamily="18" charset="0"/>
                                <a:ea typeface="Cambria Math" panose="02040503050406030204" pitchFamily="18" charset="0"/>
                              </a:rPr>
                              <m:t>𝑚𝑎𝑥</m:t>
                            </m:r>
                          </m:sub>
                        </m:sSub>
                      </m:e>
                    </m:nary>
                  </m:oMath>
                </a14:m>
                <a:r>
                  <a:rPr lang="en-GB" sz="1200" dirty="0">
                    <a:solidFill>
                      <a:srgbClr val="495A66"/>
                    </a:solidFill>
                  </a:rPr>
                  <a:t>. Without this, a sustained error during a transient would wind the integrator to an arbitrarily large value, causing a slow oscillatory recovery once the error clears.</a:t>
                </a:r>
                <a:endParaRPr lang="en-US" sz="1200" b="0" noProof="1">
                  <a:solidFill>
                    <a:srgbClr val="495A66"/>
                  </a:solidFill>
                  <a:latin typeface="Consolas"/>
                </a:endParaRPr>
              </a:p>
            </p:txBody>
          </p:sp>
        </mc:Choice>
        <mc:Fallback xmlns="">
          <p:sp>
            <p:nvSpPr>
              <p:cNvPr id="15" name="TextBox 14">
                <a:extLst>
                  <a:ext uri="{FF2B5EF4-FFF2-40B4-BE49-F238E27FC236}">
                    <a16:creationId xmlns:a16="http://schemas.microsoft.com/office/drawing/2014/main" id="{CCC9B0AB-0584-38B9-9A32-97AE974C6F39}"/>
                  </a:ext>
                </a:extLst>
              </p:cNvPr>
              <p:cNvSpPr txBox="1">
                <a:spLocks noRot="1" noChangeAspect="1" noMove="1" noResize="1" noEditPoints="1" noAdjustHandles="1" noChangeArrowheads="1" noChangeShapeType="1" noTextEdit="1"/>
              </p:cNvSpPr>
              <p:nvPr/>
            </p:nvSpPr>
            <p:spPr>
              <a:xfrm>
                <a:off x="8293608" y="3311451"/>
                <a:ext cx="3017520" cy="1554336"/>
              </a:xfrm>
              <a:prstGeom prst="rect">
                <a:avLst/>
              </a:prstGeom>
              <a:blipFill>
                <a:blip r:embed="rId5"/>
                <a:stretch>
                  <a:fillRect l="-4202" t="-1613" r="-3782" b="-4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E7B8EB-B0B0-8B39-9607-9E8201DAB50E}"/>
                  </a:ext>
                </a:extLst>
              </p:cNvPr>
              <p:cNvSpPr txBox="1"/>
              <p:nvPr/>
            </p:nvSpPr>
            <p:spPr>
              <a:xfrm>
                <a:off x="790194" y="5213162"/>
                <a:ext cx="10764012" cy="1096198"/>
              </a:xfrm>
              <a:prstGeom prst="rect">
                <a:avLst/>
              </a:prstGeom>
              <a:noFill/>
            </p:spPr>
            <p:txBody>
              <a:bodyPr wrap="square" rtlCol="0">
                <a:spAutoFit/>
              </a:bodyPr>
              <a:lstStyle/>
              <a:p>
                <a:r>
                  <a:rPr lang="en-GB" sz="1600" dirty="0">
                    <a:solidFill>
                      <a:srgbClr val="495A66"/>
                    </a:solidFill>
                  </a:rPr>
                  <a:t>In our operating regime (references up to 12 rad/s), the total voltage touches the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12 </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rail for only 0.1–0.4 % of the time, brief spikes at step changes. Saturation is not a limiting factor here. For higher speeds where rail contact becomes frequent, a saturation-aware observation mode is available: the state gains a seventh feature </a:t>
                </a:r>
                <a14:m>
                  <m:oMath xmlns:m="http://schemas.openxmlformats.org/officeDocument/2006/math">
                    <m:sSub>
                      <m:sSubPr>
                        <m:ctrlPr>
                          <a:rPr lang="en-GB" sz="160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𝑝𝑟𝑒𝑣</m:t>
                        </m:r>
                      </m:sub>
                    </m:sSub>
                    <m:r>
                      <a:rPr lang="it-IT" sz="1600" b="0" i="1" smtClean="0">
                        <a:solidFill>
                          <a:srgbClr val="495A66"/>
                        </a:solidFill>
                        <a:latin typeface="Cambria Math" panose="02040503050406030204" pitchFamily="18" charset="0"/>
                      </a:rPr>
                      <m:t>/</m:t>
                    </m:r>
                    <m:sSub>
                      <m:sSubPr>
                        <m:ctrlPr>
                          <a:rPr lang="it-IT" sz="1600" b="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𝑚𝑎𝑥</m:t>
                        </m:r>
                      </m:sub>
                    </m:sSub>
                  </m:oMath>
                </a14:m>
                <a:r>
                  <a:rPr lang="en-GB" sz="1600" dirty="0">
                    <a:solidFill>
                      <a:srgbClr val="495A66"/>
                    </a:solidFill>
                  </a:rPr>
                  <a:t>, the policy can sense the rail and avoid wasting effort against it</a:t>
                </a:r>
                <a:endParaRPr lang="en-US" sz="1600" dirty="0">
                  <a:solidFill>
                    <a:srgbClr val="495A66"/>
                  </a:solidFill>
                </a:endParaRPr>
              </a:p>
            </p:txBody>
          </p:sp>
        </mc:Choice>
        <mc:Fallback xmlns="">
          <p:sp>
            <p:nvSpPr>
              <p:cNvPr id="16" name="TextBox 15">
                <a:extLst>
                  <a:ext uri="{FF2B5EF4-FFF2-40B4-BE49-F238E27FC236}">
                    <a16:creationId xmlns:a16="http://schemas.microsoft.com/office/drawing/2014/main" id="{26E7B8EB-B0B0-8B39-9607-9E8201DAB50E}"/>
                  </a:ext>
                </a:extLst>
              </p:cNvPr>
              <p:cNvSpPr txBox="1">
                <a:spLocks noRot="1" noChangeAspect="1" noMove="1" noResize="1" noEditPoints="1" noAdjustHandles="1" noChangeArrowheads="1" noChangeShapeType="1" noTextEdit="1"/>
              </p:cNvSpPr>
              <p:nvPr/>
            </p:nvSpPr>
            <p:spPr>
              <a:xfrm>
                <a:off x="790194" y="5213162"/>
                <a:ext cx="10764012" cy="1096198"/>
              </a:xfrm>
              <a:prstGeom prst="rect">
                <a:avLst/>
              </a:prstGeom>
              <a:blipFill>
                <a:blip r:embed="rId6"/>
                <a:stretch>
                  <a:fillRect l="-354" t="-2299" r="-472" b="-5747"/>
                </a:stretch>
              </a:blipFill>
            </p:spPr>
            <p:txBody>
              <a:bodyPr/>
              <a:lstStyle/>
              <a:p>
                <a:r>
                  <a:rPr lang="en-US">
                    <a:noFill/>
                  </a:rPr>
                  <a:t> </a:t>
                </a:r>
              </a:p>
            </p:txBody>
          </p:sp>
        </mc:Fallback>
      </mc:AlternateContent>
    </p:spTree>
    <p:extLst>
      <p:ext uri="{BB962C8B-B14F-4D97-AF65-F5344CB8AC3E}">
        <p14:creationId xmlns:p14="http://schemas.microsoft.com/office/powerpoint/2010/main" val="2858993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D52E3186-EA00-C2E7-AFE0-3595CD270A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34B9A0-2453-5530-E20F-66A39EB25D6C}"/>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E2781A92-61B2-A517-2F56-DF6E37033ED1}"/>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0B4CF013-D369-6EA4-A158-8C37B64C44F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B7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673E50A2-43BD-AF58-B1F8-9180AB23A50E}"/>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Validation: Train Vs Test set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3898AC-13E8-CD52-9489-A13168668366}"/>
                  </a:ext>
                </a:extLst>
              </p:cNvPr>
              <p:cNvSpPr txBox="1"/>
              <p:nvPr/>
            </p:nvSpPr>
            <p:spPr>
              <a:xfrm>
                <a:off x="792675" y="1372925"/>
                <a:ext cx="10832397" cy="1815882"/>
              </a:xfrm>
              <a:prstGeom prst="rect">
                <a:avLst/>
              </a:prstGeom>
              <a:noFill/>
            </p:spPr>
            <p:txBody>
              <a:bodyPr wrap="square" rtlCol="0">
                <a:spAutoFit/>
              </a:bodyPr>
              <a:lstStyle/>
              <a:p>
                <a:r>
                  <a:rPr lang="en-GB" sz="1600" dirty="0">
                    <a:solidFill>
                      <a:srgbClr val="495A66"/>
                    </a:solidFill>
                  </a:rPr>
                  <a:t>This is a regression problem, the network outputs a continuous voltage correction, not a class label. We report four metrics on the tracking error </a:t>
                </a:r>
                <a14:m>
                  <m:oMath xmlns:m="http://schemas.openxmlformats.org/officeDocument/2006/math">
                    <m:r>
                      <a:rPr lang="it-IT" sz="1600" b="0" i="1" smtClean="0">
                        <a:solidFill>
                          <a:srgbClr val="495A66"/>
                        </a:solidFill>
                        <a:latin typeface="Cambria Math" panose="02040503050406030204" pitchFamily="18" charset="0"/>
                      </a:rPr>
                      <m:t>𝑒</m:t>
                    </m:r>
                    <m:r>
                      <a:rPr lang="it-IT" sz="1600" b="0" i="1" smtClean="0">
                        <a:solidFill>
                          <a:srgbClr val="495A66"/>
                        </a:solidFill>
                        <a:latin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𝜔</m:t>
                    </m:r>
                    <m:r>
                      <a:rPr lang="it-IT" sz="1600" b="0" i="1" smtClean="0">
                        <a:solidFill>
                          <a:srgbClr val="495A66"/>
                        </a:solidFill>
                        <a:latin typeface="Cambria Math" panose="02040503050406030204" pitchFamily="18" charset="0"/>
                        <a:ea typeface="Cambria Math" panose="02040503050406030204" pitchFamily="18" charset="0"/>
                      </a:rPr>
                      <m:t>−</m:t>
                    </m:r>
                    <m:sSup>
                      <m:sSupPr>
                        <m:ctrlPr>
                          <a:rPr lang="it-IT" sz="1600" b="0" i="1" smtClean="0">
                            <a:solidFill>
                              <a:srgbClr val="495A66"/>
                            </a:solidFill>
                            <a:latin typeface="Cambria Math" panose="02040503050406030204" pitchFamily="18" charset="0"/>
                            <a:ea typeface="Cambria Math" panose="02040503050406030204" pitchFamily="18" charset="0"/>
                          </a:rPr>
                        </m:ctrlPr>
                      </m:sSupPr>
                      <m:e>
                        <m:r>
                          <a:rPr lang="it-IT" sz="1600" b="0" i="1" smtClean="0">
                            <a:solidFill>
                              <a:srgbClr val="495A66"/>
                            </a:solidFill>
                            <a:latin typeface="Cambria Math" panose="02040503050406030204" pitchFamily="18" charset="0"/>
                            <a:ea typeface="Cambria Math" panose="02040503050406030204" pitchFamily="18" charset="0"/>
                          </a:rPr>
                          <m:t>𝜔</m:t>
                        </m:r>
                      </m:e>
                      <m:sup>
                        <m:r>
                          <a:rPr lang="it-IT" sz="1600" b="0" i="1" smtClean="0">
                            <a:solidFill>
                              <a:srgbClr val="495A66"/>
                            </a:solidFill>
                            <a:latin typeface="Cambria Math" panose="02040503050406030204" pitchFamily="18" charset="0"/>
                            <a:ea typeface="Cambria Math" panose="02040503050406030204" pitchFamily="18" charset="0"/>
                          </a:rPr>
                          <m:t>∗</m:t>
                        </m:r>
                      </m:sup>
                    </m:sSup>
                  </m:oMath>
                </a14:m>
                <a:r>
                  <a:rPr lang="en-GB" sz="1600" dirty="0">
                    <a:solidFill>
                      <a:srgbClr val="495A66"/>
                    </a:solidFill>
                  </a:rPr>
                  <a:t>:</a:t>
                </a:r>
              </a:p>
              <a:p>
                <a:r>
                  <a:rPr lang="en-US" sz="1600" b="1" noProof="1">
                    <a:solidFill>
                      <a:srgbClr val="1D3557"/>
                    </a:solidFill>
                  </a:rPr>
                  <a:t>— </a:t>
                </a:r>
                <a:r>
                  <a:rPr lang="en-GB" sz="1600" dirty="0">
                    <a:solidFill>
                      <a:srgbClr val="495A66"/>
                    </a:solidFill>
                  </a:rPr>
                  <a:t>MAE, mean absolute error: average magnitude of the tracking error</a:t>
                </a:r>
              </a:p>
              <a:p>
                <a:r>
                  <a:rPr lang="en-US" sz="1600" b="1" noProof="1">
                    <a:solidFill>
                      <a:srgbClr val="E07A5F"/>
                    </a:solidFill>
                  </a:rPr>
                  <a:t>— </a:t>
                </a:r>
                <a:r>
                  <a:rPr lang="en-GB" sz="1600" dirty="0">
                    <a:solidFill>
                      <a:srgbClr val="495A66"/>
                    </a:solidFill>
                  </a:rPr>
                  <a:t>RMSE, root mean squared error: primary control metric, penalises large deviations more</a:t>
                </a:r>
              </a:p>
              <a:p>
                <a:r>
                  <a:rPr lang="en-US" sz="1600" b="1" noProof="1">
                    <a:solidFill>
                      <a:srgbClr val="2A9D8F"/>
                    </a:solidFill>
                  </a:rPr>
                  <a:t>— </a:t>
                </a:r>
                <a:r>
                  <a:rPr lang="en-GB" sz="1600" dirty="0">
                    <a:solidFill>
                      <a:srgbClr val="495A66"/>
                    </a:solidFill>
                  </a:rPr>
                  <a:t>R², fraction of the reference variance explained by the achieved speed; defined only for time-varying references</a:t>
                </a:r>
              </a:p>
              <a:p>
                <a:r>
                  <a:rPr lang="en-US" sz="1600" b="1" noProof="1">
                    <a:solidFill>
                      <a:schemeClr val="accent4">
                        <a:lumMod val="75000"/>
                      </a:schemeClr>
                    </a:solidFill>
                  </a:rPr>
                  <a:t>—</a:t>
                </a:r>
                <a:r>
                  <a:rPr lang="en-US" sz="1600" b="1" noProof="1">
                    <a:solidFill>
                      <a:srgbClr val="2A9D8F"/>
                    </a:solidFill>
                  </a:rPr>
                  <a:t> </a:t>
                </a:r>
                <a:r>
                  <a:rPr lang="en-GB" sz="1600" dirty="0">
                    <a:solidFill>
                      <a:srgbClr val="495A66"/>
                    </a:solidFill>
                  </a:rPr>
                  <a:t>in-band %,  fraction of time with </a:t>
                </a:r>
                <a14:m>
                  <m:oMath xmlns:m="http://schemas.openxmlformats.org/officeDocument/2006/math">
                    <m:d>
                      <m:dPr>
                        <m:begChr m:val="|"/>
                        <m:endChr m:val="|"/>
                        <m:ctrlPr>
                          <a:rPr lang="en-GB" sz="1600" i="1" smtClean="0">
                            <a:solidFill>
                              <a:srgbClr val="495A66"/>
                            </a:solidFill>
                            <a:latin typeface="Cambria Math" panose="02040503050406030204" pitchFamily="18" charset="0"/>
                          </a:rPr>
                        </m:ctrlPr>
                      </m:dPr>
                      <m:e>
                        <m:r>
                          <a:rPr lang="it-IT" sz="1600" b="0" i="1" smtClean="0">
                            <a:solidFill>
                              <a:srgbClr val="495A66"/>
                            </a:solidFill>
                            <a:latin typeface="Cambria Math" panose="02040503050406030204" pitchFamily="18" charset="0"/>
                          </a:rPr>
                          <m:t>𝑒</m:t>
                        </m:r>
                      </m:e>
                    </m:d>
                    <m:r>
                      <a:rPr lang="en-GB" sz="1600" i="1" smtClean="0">
                        <a:solidFill>
                          <a:srgbClr val="495A66"/>
                        </a:solidFill>
                        <a:latin typeface="Cambria Math" panose="02040503050406030204" pitchFamily="18" charset="0"/>
                        <a:ea typeface="Cambria Math" panose="02040503050406030204" pitchFamily="18" charset="0"/>
                      </a:rPr>
                      <m:t>&lt;</m:t>
                    </m:r>
                    <m:r>
                      <a:rPr lang="it-IT" sz="1600" b="0" i="1" smtClean="0">
                        <a:solidFill>
                          <a:srgbClr val="495A66"/>
                        </a:solidFill>
                        <a:latin typeface="Cambria Math" panose="02040503050406030204" pitchFamily="18" charset="0"/>
                        <a:ea typeface="Cambria Math" panose="02040503050406030204" pitchFamily="18" charset="0"/>
                      </a:rPr>
                      <m:t>0,5 </m:t>
                    </m:r>
                    <m:r>
                      <a:rPr lang="it-IT" sz="1600" b="0" i="1" smtClean="0">
                        <a:solidFill>
                          <a:srgbClr val="495A66"/>
                        </a:solidFill>
                        <a:latin typeface="Cambria Math" panose="02040503050406030204" pitchFamily="18" charset="0"/>
                        <a:ea typeface="Cambria Math" panose="02040503050406030204" pitchFamily="18" charset="0"/>
                      </a:rPr>
                      <m:t>𝑟𝑎𝑑</m:t>
                    </m:r>
                    <m:r>
                      <a:rPr lang="it-IT" sz="1600" b="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the honest analogue of "accuracy" for a continuous tracking task</a:t>
                </a:r>
              </a:p>
              <a:p>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813898AC-13E8-CD52-9489-A13168668366}"/>
                  </a:ext>
                </a:extLst>
              </p:cNvPr>
              <p:cNvSpPr txBox="1">
                <a:spLocks noRot="1" noChangeAspect="1" noMove="1" noResize="1" noEditPoints="1" noAdjustHandles="1" noChangeArrowheads="1" noChangeShapeType="1" noTextEdit="1"/>
              </p:cNvSpPr>
              <p:nvPr/>
            </p:nvSpPr>
            <p:spPr>
              <a:xfrm>
                <a:off x="792675" y="1372925"/>
                <a:ext cx="10832397" cy="1815882"/>
              </a:xfrm>
              <a:prstGeom prst="rect">
                <a:avLst/>
              </a:prstGeom>
              <a:blipFill>
                <a:blip r:embed="rId3"/>
                <a:stretch>
                  <a:fillRect l="-234" t="-1389"/>
                </a:stretch>
              </a:blipFill>
            </p:spPr>
            <p:txBody>
              <a:bodyPr/>
              <a:lstStyle/>
              <a:p>
                <a:r>
                  <a:rPr lang="en-US">
                    <a:noFill/>
                  </a:rPr>
                  <a:t> </a:t>
                </a:r>
              </a:p>
            </p:txBody>
          </p:sp>
        </mc:Fallback>
      </mc:AlternateContent>
      <p:graphicFrame>
        <p:nvGraphicFramePr>
          <p:cNvPr id="15" name="Table 14">
            <a:extLst>
              <a:ext uri="{FF2B5EF4-FFF2-40B4-BE49-F238E27FC236}">
                <a16:creationId xmlns:a16="http://schemas.microsoft.com/office/drawing/2014/main" id="{0C05EE68-E50E-C94B-7D45-D458A65F1CF5}"/>
              </a:ext>
            </a:extLst>
          </p:cNvPr>
          <p:cNvGraphicFramePr>
            <a:graphicFrameLocks noGrp="1"/>
          </p:cNvGraphicFramePr>
          <p:nvPr>
            <p:extLst>
              <p:ext uri="{D42A27DB-BD31-4B8C-83A1-F6EECF244321}">
                <p14:modId xmlns:p14="http://schemas.microsoft.com/office/powerpoint/2010/main" val="1692381663"/>
              </p:ext>
            </p:extLst>
          </p:nvPr>
        </p:nvGraphicFramePr>
        <p:xfrm>
          <a:off x="1132200" y="3429000"/>
          <a:ext cx="10080000" cy="1234440"/>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20001"/>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11480">
                <a:tc>
                  <a:txBody>
                    <a:bodyPr/>
                    <a:lstStyle/>
                    <a:p>
                      <a:r>
                        <a:rPr lang="en-US" sz="1200" b="1" noProof="1">
                          <a:solidFill>
                            <a:srgbClr val="1D3557"/>
                          </a:solidFill>
                          <a:latin typeface="+mn-lt"/>
                        </a:rPr>
                        <a:t>Set</a:t>
                      </a:r>
                    </a:p>
                  </a:txBody>
                  <a:tcPr marL="73152" marT="27432" marB="27432" anchor="ctr">
                    <a:solidFill>
                      <a:srgbClr val="FBFAF6"/>
                    </a:solidFill>
                  </a:tcPr>
                </a:tc>
                <a:tc>
                  <a:txBody>
                    <a:bodyPr/>
                    <a:lstStyle/>
                    <a:p>
                      <a:r>
                        <a:rPr lang="en-US" sz="1200" b="1" noProof="1">
                          <a:solidFill>
                            <a:srgbClr val="4A5A66"/>
                          </a:solidFill>
                          <a:latin typeface="+mn-lt"/>
                        </a:rPr>
                        <a:t>MAE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Train (12 references)</a:t>
                      </a:r>
                    </a:p>
                  </a:txBody>
                  <a:tcPr marL="73152" marT="27432" marB="27432" anchor="ctr">
                    <a:solidFill>
                      <a:srgbClr val="FBFAF6"/>
                    </a:solidFill>
                  </a:tcPr>
                </a:tc>
                <a:tc>
                  <a:txBody>
                    <a:bodyPr/>
                    <a:lstStyle/>
                    <a:p>
                      <a:r>
                        <a:rPr lang="en-US" sz="1200" b="0" noProof="1">
                          <a:solidFill>
                            <a:srgbClr val="495A66"/>
                          </a:solidFill>
                          <a:latin typeface="+mn-lt"/>
                        </a:rPr>
                        <a:t>0.069</a:t>
                      </a:r>
                    </a:p>
                  </a:txBody>
                  <a:tcPr marL="73152" marT="27432" marB="27432" anchor="ctr">
                    <a:solidFill>
                      <a:srgbClr val="FBFAF6"/>
                    </a:solidFill>
                  </a:tcPr>
                </a:tc>
                <a:tc>
                  <a:txBody>
                    <a:bodyPr/>
                    <a:lstStyle/>
                    <a:p>
                      <a:r>
                        <a:rPr lang="en-US" sz="1200" b="0" noProof="1">
                          <a:solidFill>
                            <a:srgbClr val="495A66"/>
                          </a:solidFill>
                          <a:latin typeface="+mn-lt"/>
                        </a:rPr>
                        <a:t>0.292</a:t>
                      </a:r>
                    </a:p>
                  </a:txBody>
                  <a:tcPr marL="73152" marT="27432" marB="27432" anchor="ctr">
                    <a:solidFill>
                      <a:srgbClr val="FBFAF6"/>
                    </a:solidFill>
                  </a:tcPr>
                </a:tc>
                <a:tc>
                  <a:txBody>
                    <a:bodyPr/>
                    <a:lstStyle/>
                    <a:p>
                      <a:r>
                        <a:rPr lang="en-US" sz="1200" b="0" noProof="1">
                          <a:solidFill>
                            <a:srgbClr val="495A66"/>
                          </a:solidFill>
                          <a:latin typeface="+mn-lt"/>
                        </a:rPr>
                        <a:t>0.955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99.7%</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i="0" noProof="1">
                          <a:solidFill>
                            <a:srgbClr val="1D3557"/>
                          </a:solidFill>
                          <a:latin typeface="+mn-lt"/>
                        </a:rPr>
                        <a:t>Test (7 held-out)</a:t>
                      </a:r>
                    </a:p>
                  </a:txBody>
                  <a:tcPr marL="73152" marT="27432" marB="27432" anchor="ctr">
                    <a:solidFill>
                      <a:srgbClr val="FBFAF6"/>
                    </a:solidFill>
                  </a:tcPr>
                </a:tc>
                <a:tc>
                  <a:txBody>
                    <a:bodyPr/>
                    <a:lstStyle/>
                    <a:p>
                      <a:r>
                        <a:rPr lang="en-US" sz="1200" b="0" noProof="1">
                          <a:solidFill>
                            <a:srgbClr val="4A5A66"/>
                          </a:solidFill>
                          <a:latin typeface="+mn-lt"/>
                        </a:rPr>
                        <a:t>0.080</a:t>
                      </a:r>
                    </a:p>
                  </a:txBody>
                  <a:tcPr marL="73152" marT="27432" marB="27432" anchor="ctr">
                    <a:solidFill>
                      <a:srgbClr val="FBFAF6"/>
                    </a:solidFill>
                  </a:tcPr>
                </a:tc>
                <a:tc>
                  <a:txBody>
                    <a:bodyPr/>
                    <a:lstStyle/>
                    <a:p>
                      <a:r>
                        <a:rPr lang="en-US" sz="1200" b="0" noProof="1">
                          <a:solidFill>
                            <a:srgbClr val="495A66"/>
                          </a:solidFill>
                          <a:latin typeface="+mn-lt"/>
                        </a:rPr>
                        <a:t>0.240</a:t>
                      </a: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bl>
          </a:graphicData>
        </a:graphic>
      </p:graphicFrame>
      <p:sp>
        <p:nvSpPr>
          <p:cNvPr id="16" name="Rounded Rectangle 15">
            <a:extLst>
              <a:ext uri="{FF2B5EF4-FFF2-40B4-BE49-F238E27FC236}">
                <a16:creationId xmlns:a16="http://schemas.microsoft.com/office/drawing/2014/main" id="{913C3B33-4832-5E3F-08C5-521E708F3BFC}"/>
              </a:ext>
            </a:extLst>
          </p:cNvPr>
          <p:cNvSpPr/>
          <p:nvPr/>
        </p:nvSpPr>
        <p:spPr>
          <a:xfrm>
            <a:off x="868679" y="5109882"/>
            <a:ext cx="10875301" cy="1134006"/>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a:extLst>
              <a:ext uri="{FF2B5EF4-FFF2-40B4-BE49-F238E27FC236}">
                <a16:creationId xmlns:a16="http://schemas.microsoft.com/office/drawing/2014/main" id="{533162AF-8A51-BD8F-DD98-11AC58FA3027}"/>
              </a:ext>
            </a:extLst>
          </p:cNvPr>
          <p:cNvSpPr/>
          <p:nvPr/>
        </p:nvSpPr>
        <p:spPr>
          <a:xfrm>
            <a:off x="868679" y="5109882"/>
            <a:ext cx="45719" cy="113400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a:extLst>
              <a:ext uri="{FF2B5EF4-FFF2-40B4-BE49-F238E27FC236}">
                <a16:creationId xmlns:a16="http://schemas.microsoft.com/office/drawing/2014/main" id="{32FD3207-F921-A873-A408-96D217C1652A}"/>
              </a:ext>
            </a:extLst>
          </p:cNvPr>
          <p:cNvSpPr txBox="1"/>
          <p:nvPr/>
        </p:nvSpPr>
        <p:spPr>
          <a:xfrm>
            <a:off x="1069848" y="5299406"/>
            <a:ext cx="10222992" cy="1020279"/>
          </a:xfrm>
          <a:prstGeom prst="rect">
            <a:avLst/>
          </a:prstGeom>
          <a:noFill/>
        </p:spPr>
        <p:txBody>
          <a:bodyPr wrap="square" lIns="0" tIns="0" rIns="0" bIns="0" anchor="ctr">
            <a:spAutoFit/>
          </a:bodyPr>
          <a:lstStyle/>
          <a:p>
            <a:pPr>
              <a:lnSpc>
                <a:spcPct val="112000"/>
              </a:lnSpc>
            </a:pPr>
            <a:r>
              <a:rPr lang="en-US" sz="1500" b="1" noProof="1">
                <a:solidFill>
                  <a:srgbClr val="1D3557"/>
                </a:solidFill>
                <a:latin typeface="Georgia"/>
              </a:rPr>
              <a:t>Result. </a:t>
            </a:r>
            <a:r>
              <a:rPr lang="en-GB" sz="1500" dirty="0">
                <a:solidFill>
                  <a:srgbClr val="495A66"/>
                </a:solidFill>
              </a:rPr>
              <a:t>Test error is no worse than train on every metric, the policy has not memorised the training references, it has learned a general control strategy. R2 improves on the test set because held-out references are smoother and easier to track than the random multi-step profiles used during training. The gap between train and test RMSE goes in the safe direction: no overfitting</a:t>
            </a:r>
            <a:r>
              <a:rPr lang="en-GB" sz="1500" i="1" dirty="0">
                <a:solidFill>
                  <a:srgbClr val="495A66"/>
                </a:solidFill>
              </a:rPr>
              <a:t>.</a:t>
            </a:r>
            <a:endParaRPr lang="en-US" sz="1500" noProof="1">
              <a:solidFill>
                <a:srgbClr val="495A66"/>
              </a:solidFill>
            </a:endParaRPr>
          </a:p>
          <a:p>
            <a:pPr>
              <a:lnSpc>
                <a:spcPct val="112000"/>
              </a:lnSpc>
            </a:pPr>
            <a:endParaRPr lang="en-US" sz="1500" b="0" noProof="1">
              <a:solidFill>
                <a:srgbClr val="4A5A66"/>
              </a:solidFill>
              <a:latin typeface="Calibri"/>
            </a:endParaRPr>
          </a:p>
        </p:txBody>
      </p:sp>
    </p:spTree>
    <p:extLst>
      <p:ext uri="{BB962C8B-B14F-4D97-AF65-F5344CB8AC3E}">
        <p14:creationId xmlns:p14="http://schemas.microsoft.com/office/powerpoint/2010/main" val="3465759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754A797F-1558-4034-8904-241FBF17C6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8DAAEF-82B6-6C2B-5872-D278BFF69D28}"/>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1E4EC752-2CAC-1293-9C3B-3FDBF0BBF816}"/>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12671021-4B72-6449-FFF6-DA5E292E15E9}"/>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B8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4B3CDAFE-3748-55F6-252F-948C988C6658}"/>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Ablation Study: Network Depth and Seed Robustness</a:t>
            </a:r>
          </a:p>
        </p:txBody>
      </p:sp>
      <p:sp>
        <p:nvSpPr>
          <p:cNvPr id="5" name="TextBox 4">
            <a:extLst>
              <a:ext uri="{FF2B5EF4-FFF2-40B4-BE49-F238E27FC236}">
                <a16:creationId xmlns:a16="http://schemas.microsoft.com/office/drawing/2014/main" id="{CB565417-C77E-FA39-EBAC-E57A3750CAFF}"/>
              </a:ext>
            </a:extLst>
          </p:cNvPr>
          <p:cNvSpPr txBox="1"/>
          <p:nvPr/>
        </p:nvSpPr>
        <p:spPr>
          <a:xfrm>
            <a:off x="756001" y="1372925"/>
            <a:ext cx="10832397" cy="830997"/>
          </a:xfrm>
          <a:prstGeom prst="rect">
            <a:avLst/>
          </a:prstGeom>
          <a:noFill/>
        </p:spPr>
        <p:txBody>
          <a:bodyPr wrap="square" rtlCol="0">
            <a:spAutoFit/>
          </a:bodyPr>
          <a:lstStyle/>
          <a:p>
            <a:r>
              <a:rPr lang="en-GB" sz="1600" dirty="0">
                <a:solidFill>
                  <a:srgbClr val="495A66"/>
                </a:solidFill>
              </a:rPr>
              <a:t>To verify that the architecture choice is not arbitrary and the results are not seed-dependent, we trained 3 architectures × 3 random seeds = 9 independent models and evaluated each on the held-out test set. All models use the same reward, hyperparameters and training budget (300k steps).</a:t>
            </a:r>
            <a:endParaRPr lang="en-US" sz="1600" dirty="0">
              <a:solidFill>
                <a:srgbClr val="495A66"/>
              </a:solidFill>
            </a:endParaRP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CDAC3E55-D1F1-3C3C-4C69-5F364CDEEEB9}"/>
                  </a:ext>
                </a:extLst>
              </p:cNvPr>
              <p:cNvGraphicFramePr>
                <a:graphicFrameLocks noGrp="1"/>
              </p:cNvGraphicFramePr>
              <p:nvPr>
                <p:extLst>
                  <p:ext uri="{D42A27DB-BD31-4B8C-83A1-F6EECF244321}">
                    <p14:modId xmlns:p14="http://schemas.microsoft.com/office/powerpoint/2010/main" val="2485419590"/>
                  </p:ext>
                </p:extLst>
              </p:nvPr>
            </p:nvGraphicFramePr>
            <p:xfrm>
              <a:off x="2064000" y="2406435"/>
              <a:ext cx="8064000" cy="1684728"/>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Architecture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MLP [64]</a:t>
                          </a:r>
                        </a:p>
                      </a:txBody>
                      <a:tcPr marL="73152" marT="27432" marB="27432" anchor="ctr">
                        <a:solidFill>
                          <a:srgbClr val="FBFAF6"/>
                        </a:solidFill>
                      </a:tcPr>
                    </a:tc>
                    <a:tc>
                      <a:txBody>
                        <a:bodyPr/>
                        <a:lstStyle/>
                        <a:p>
                          <a:pPr algn="l"/>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0.238</m:t>
                                </m:r>
                                <m:r>
                                  <a:rPr lang="it-IT" sz="1200" b="0" i="1" noProof="1" smtClean="0">
                                    <a:solidFill>
                                      <a:srgbClr val="495A66"/>
                                    </a:solidFill>
                                    <a:latin typeface="Cambria Math" panose="02040503050406030204" pitchFamily="18" charset="0"/>
                                    <a:ea typeface="Cambria Math" panose="02040503050406030204" pitchFamily="18" charset="0"/>
                                  </a:rPr>
                                  <m:t>±0.001</m:t>
                                </m:r>
                              </m:oMath>
                            </m:oMathPara>
                          </a14:m>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i="0" noProof="1">
                              <a:solidFill>
                                <a:srgbClr val="1D3557"/>
                              </a:solidFill>
                              <a:latin typeface="+mn-lt"/>
                            </a:rPr>
                            <a:t>MLP [256,256]</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0.256</m:t>
                                </m:r>
                                <m:r>
                                  <a:rPr lang="it-IT" sz="1200" b="0" i="1" noProof="1" smtClean="0">
                                    <a:solidFill>
                                      <a:srgbClr val="495A66"/>
                                    </a:solidFill>
                                    <a:latin typeface="Cambria Math" panose="02040503050406030204" pitchFamily="18" charset="0"/>
                                    <a:ea typeface="Cambria Math" panose="02040503050406030204" pitchFamily="18" charset="0"/>
                                  </a:rPr>
                                  <m:t>±0.004</m:t>
                                </m:r>
                              </m:oMath>
                            </m:oMathPara>
                          </a14:m>
                          <a:endParaRPr lang="en-US" sz="1200" b="0" noProof="1">
                            <a:solidFill>
                              <a:srgbClr val="495A66"/>
                            </a:solidFill>
                            <a:latin typeface="+mn-lt"/>
                          </a:endParaRPr>
                        </a:p>
                        <a:p>
                          <a:pPr algn="l"/>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MLP [256,256, 256]</a:t>
                          </a:r>
                        </a:p>
                        <a:p>
                          <a:endParaRPr lang="en-US" sz="1200" b="0" i="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0.247</m:t>
                                </m:r>
                                <m:r>
                                  <a:rPr lang="it-IT" sz="1200" b="0" i="1" noProof="1" smtClean="0">
                                    <a:solidFill>
                                      <a:srgbClr val="495A66"/>
                                    </a:solidFill>
                                    <a:latin typeface="Cambria Math" panose="02040503050406030204" pitchFamily="18" charset="0"/>
                                    <a:ea typeface="Cambria Math" panose="02040503050406030204" pitchFamily="18" charset="0"/>
                                  </a:rPr>
                                  <m:t>±0.001</m:t>
                                </m:r>
                              </m:oMath>
                            </m:oMathPara>
                          </a14:m>
                          <a:endParaRPr lang="en-US" sz="1200" b="0" noProof="1">
                            <a:solidFill>
                              <a:srgbClr val="495A66"/>
                            </a:solidFill>
                            <a:latin typeface="+mn-lt"/>
                          </a:endParaRPr>
                        </a:p>
                        <a:p>
                          <a:pPr algn="l"/>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mc:Choice>
        <mc:Fallback xmlns="">
          <p:graphicFrame>
            <p:nvGraphicFramePr>
              <p:cNvPr id="15" name="Table 14">
                <a:extLst>
                  <a:ext uri="{FF2B5EF4-FFF2-40B4-BE49-F238E27FC236}">
                    <a16:creationId xmlns:a16="http://schemas.microsoft.com/office/drawing/2014/main" id="{CDAC3E55-D1F1-3C3C-4C69-5F364CDEEEB9}"/>
                  </a:ext>
                </a:extLst>
              </p:cNvPr>
              <p:cNvGraphicFramePr>
                <a:graphicFrameLocks noGrp="1"/>
              </p:cNvGraphicFramePr>
              <p:nvPr>
                <p:extLst>
                  <p:ext uri="{D42A27DB-BD31-4B8C-83A1-F6EECF244321}">
                    <p14:modId xmlns:p14="http://schemas.microsoft.com/office/powerpoint/2010/main" val="2485419590"/>
                  </p:ext>
                </p:extLst>
              </p:nvPr>
            </p:nvGraphicFramePr>
            <p:xfrm>
              <a:off x="2064000" y="2406435"/>
              <a:ext cx="8064000" cy="1684728"/>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Architecture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MLP [64]</a:t>
                          </a:r>
                        </a:p>
                      </a:txBody>
                      <a:tcPr marL="73152" marT="27432" marB="27432" anchor="ctr">
                        <a:solidFill>
                          <a:srgbClr val="FBFAF6"/>
                        </a:solidFill>
                      </a:tcPr>
                    </a:tc>
                    <a:tc>
                      <a:txBody>
                        <a:bodyPr/>
                        <a:lstStyle/>
                        <a:p>
                          <a:endParaRPr lang="en-IT"/>
                        </a:p>
                      </a:txBody>
                      <a:tcPr marL="73152" marT="27432" marB="27432" anchor="ctr">
                        <a:blipFill>
                          <a:blip r:embed="rId3"/>
                          <a:stretch>
                            <a:fillRect l="-100629" t="-106061" r="-200629" b="-206061"/>
                          </a:stretch>
                        </a:blip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20624">
                    <a:tc>
                      <a:txBody>
                        <a:bodyPr/>
                        <a:lstStyle/>
                        <a:p>
                          <a:r>
                            <a:rPr lang="en-US" sz="1200" b="0" i="0" noProof="1">
                              <a:solidFill>
                                <a:srgbClr val="1D3557"/>
                              </a:solidFill>
                              <a:latin typeface="+mn-lt"/>
                            </a:rPr>
                            <a:t>MLP [256,256]</a:t>
                          </a:r>
                        </a:p>
                      </a:txBody>
                      <a:tcPr marL="73152" marT="27432" marB="27432" anchor="ctr">
                        <a:solidFill>
                          <a:srgbClr val="FBFAF6"/>
                        </a:solidFill>
                      </a:tcPr>
                    </a:tc>
                    <a:tc>
                      <a:txBody>
                        <a:bodyPr/>
                        <a:lstStyle/>
                        <a:p>
                          <a:endParaRPr lang="en-IT"/>
                        </a:p>
                      </a:txBody>
                      <a:tcPr marL="73152" marT="27432" marB="27432" anchor="ctr">
                        <a:blipFill>
                          <a:blip r:embed="rId3"/>
                          <a:stretch>
                            <a:fillRect l="-100629" t="-200000" r="-200629" b="-100000"/>
                          </a:stretch>
                        </a:blipFill>
                      </a:tcPr>
                    </a:tc>
                    <a:tc>
                      <a:txBody>
                        <a:bodyPr/>
                        <a:lstStyle/>
                        <a:p>
                          <a:r>
                            <a:rPr lang="en-US" sz="1200" b="0" noProof="1">
                              <a:solidFill>
                                <a:srgbClr val="495A66"/>
                              </a:solidFill>
                              <a:latin typeface="+mn-lt"/>
                            </a:rPr>
                            <a:t>0.995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2062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MLP [256,256, 256]</a:t>
                          </a:r>
                        </a:p>
                        <a:p>
                          <a:endParaRPr lang="en-US" sz="1200" b="0" i="0" noProof="1">
                            <a:solidFill>
                              <a:srgbClr val="1D3557"/>
                            </a:solidFill>
                            <a:latin typeface="+mn-lt"/>
                          </a:endParaRPr>
                        </a:p>
                      </a:txBody>
                      <a:tcPr marL="73152" marT="27432" marB="27432" anchor="ctr">
                        <a:solidFill>
                          <a:srgbClr val="FBFAF6"/>
                        </a:solidFill>
                      </a:tcPr>
                    </a:tc>
                    <a:tc>
                      <a:txBody>
                        <a:bodyPr/>
                        <a:lstStyle/>
                        <a:p>
                          <a:endParaRPr lang="en-IT"/>
                        </a:p>
                      </a:txBody>
                      <a:tcPr marL="73152" marT="27432" marB="27432" anchor="ctr">
                        <a:blipFill>
                          <a:blip r:embed="rId3"/>
                          <a:stretch>
                            <a:fillRect l="-100629" t="-309091" r="-200629" b="-3030"/>
                          </a:stretch>
                        </a:blip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mc:Fallback>
      </mc:AlternateContent>
      <p:sp>
        <p:nvSpPr>
          <p:cNvPr id="7" name="Rounded Rectangle 6">
            <a:extLst>
              <a:ext uri="{FF2B5EF4-FFF2-40B4-BE49-F238E27FC236}">
                <a16:creationId xmlns:a16="http://schemas.microsoft.com/office/drawing/2014/main" id="{01C2A33C-5BE3-1B15-4311-EB7BDB700032}"/>
              </a:ext>
            </a:extLst>
          </p:cNvPr>
          <p:cNvSpPr/>
          <p:nvPr/>
        </p:nvSpPr>
        <p:spPr>
          <a:xfrm>
            <a:off x="868679" y="4288585"/>
            <a:ext cx="10875300" cy="868680"/>
          </a:xfrm>
          <a:prstGeom prst="roundRect">
            <a:avLst>
              <a:gd name="adj" fmla="val 6000"/>
            </a:avLst>
          </a:prstGeom>
          <a:solidFill>
            <a:srgbClr val="FAECE7"/>
          </a:solidFill>
          <a:ln w="12700">
            <a:solidFill>
              <a:srgbClr val="FAE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9439AFD0-CD79-0779-A297-017C52594942}"/>
              </a:ext>
            </a:extLst>
          </p:cNvPr>
          <p:cNvSpPr/>
          <p:nvPr/>
        </p:nvSpPr>
        <p:spPr>
          <a:xfrm>
            <a:off x="868679" y="4288585"/>
            <a:ext cx="38100" cy="86868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9" name="TextBox 8">
            <a:extLst>
              <a:ext uri="{FF2B5EF4-FFF2-40B4-BE49-F238E27FC236}">
                <a16:creationId xmlns:a16="http://schemas.microsoft.com/office/drawing/2014/main" id="{7A27D5D5-B146-D3BB-8FF6-707BBA21CD40}"/>
              </a:ext>
            </a:extLst>
          </p:cNvPr>
          <p:cNvSpPr txBox="1"/>
          <p:nvPr/>
        </p:nvSpPr>
        <p:spPr>
          <a:xfrm>
            <a:off x="1069847" y="4342050"/>
            <a:ext cx="10222992" cy="761747"/>
          </a:xfrm>
          <a:prstGeom prst="rect">
            <a:avLst/>
          </a:prstGeom>
          <a:noFill/>
        </p:spPr>
        <p:txBody>
          <a:bodyPr wrap="square" lIns="0" tIns="0" rIns="0" bIns="0" anchor="ctr">
            <a:spAutoFit/>
          </a:bodyPr>
          <a:lstStyle/>
          <a:p>
            <a:pPr>
              <a:lnSpc>
                <a:spcPct val="112000"/>
              </a:lnSpc>
            </a:pPr>
            <a:r>
              <a:rPr lang="en-GB" sz="1500" b="1" dirty="0">
                <a:latin typeface="Georgia" panose="02040502050405020303" pitchFamily="18" charset="0"/>
              </a:rPr>
              <a:t>Depth does not help. </a:t>
            </a:r>
            <a:r>
              <a:rPr lang="en-GB" sz="1500" dirty="0">
                <a:solidFill>
                  <a:srgbClr val="495A66"/>
                </a:solidFill>
              </a:rPr>
              <a:t>The smallest network achieves the lowest RMSE. Adding layers and parameters makes performance slightly worse, the residual is a smooth, low-dimensional function that a shallow network approximates just as well, with less risk of overfitting the training distribution.</a:t>
            </a:r>
            <a:endParaRPr lang="en-US" sz="1500" b="0" noProof="1">
              <a:solidFill>
                <a:srgbClr val="495A66"/>
              </a:solidFill>
              <a:latin typeface="Calibri"/>
            </a:endParaRPr>
          </a:p>
        </p:txBody>
      </p:sp>
      <p:sp>
        <p:nvSpPr>
          <p:cNvPr id="10" name="Rounded Rectangle 9">
            <a:extLst>
              <a:ext uri="{FF2B5EF4-FFF2-40B4-BE49-F238E27FC236}">
                <a16:creationId xmlns:a16="http://schemas.microsoft.com/office/drawing/2014/main" id="{32FA7291-40B3-6D0D-8823-84517B21666A}"/>
              </a:ext>
            </a:extLst>
          </p:cNvPr>
          <p:cNvSpPr/>
          <p:nvPr/>
        </p:nvSpPr>
        <p:spPr>
          <a:xfrm>
            <a:off x="868679" y="5375208"/>
            <a:ext cx="10875301" cy="8686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a:extLst>
              <a:ext uri="{FF2B5EF4-FFF2-40B4-BE49-F238E27FC236}">
                <a16:creationId xmlns:a16="http://schemas.microsoft.com/office/drawing/2014/main" id="{31F5680E-0826-6B02-C890-52B8D47CA384}"/>
              </a:ext>
            </a:extLst>
          </p:cNvPr>
          <p:cNvSpPr/>
          <p:nvPr/>
        </p:nvSpPr>
        <p:spPr>
          <a:xfrm>
            <a:off x="868680" y="5375208"/>
            <a:ext cx="38100"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a:extLst>
              <a:ext uri="{FF2B5EF4-FFF2-40B4-BE49-F238E27FC236}">
                <a16:creationId xmlns:a16="http://schemas.microsoft.com/office/drawing/2014/main" id="{D7DAAD7A-1744-AF1C-8A19-15595B5EDA0B}"/>
              </a:ext>
            </a:extLst>
          </p:cNvPr>
          <p:cNvSpPr txBox="1"/>
          <p:nvPr/>
        </p:nvSpPr>
        <p:spPr>
          <a:xfrm>
            <a:off x="1069848" y="5428672"/>
            <a:ext cx="10222992" cy="761747"/>
          </a:xfrm>
          <a:prstGeom prst="rect">
            <a:avLst/>
          </a:prstGeom>
          <a:noFill/>
        </p:spPr>
        <p:txBody>
          <a:bodyPr wrap="square" lIns="0" tIns="0" rIns="0" bIns="0" anchor="ctr">
            <a:spAutoFit/>
          </a:bodyPr>
          <a:lstStyle/>
          <a:p>
            <a:pPr>
              <a:lnSpc>
                <a:spcPct val="112000"/>
              </a:lnSpc>
            </a:pPr>
            <a:r>
              <a:rPr lang="en-GB" sz="1500" b="1" dirty="0">
                <a:latin typeface="Georgia" panose="02040502050405020303" pitchFamily="18" charset="0"/>
              </a:rPr>
              <a:t>The result is robust, not lucky. </a:t>
            </a:r>
            <a:r>
              <a:rPr lang="en-GB" sz="1500" dirty="0">
                <a:solidFill>
                  <a:srgbClr val="495A66"/>
                </a:solidFill>
              </a:rPr>
              <a:t>The per-seed standard deviation for [64] is ±0.001, negligible. The [256,256] network shows higher variance (±0.004), meaning deeper models are more sensitive to initialisation. The multi-seed experiment confirms that the improvement over pure PI is a structural property of the residual architecture, not an artefact of a fortunate random seed.</a:t>
            </a:r>
            <a:endParaRPr lang="en-US" sz="1500" b="0" noProof="1">
              <a:solidFill>
                <a:srgbClr val="495A66"/>
              </a:solidFill>
              <a:latin typeface="Calibri"/>
            </a:endParaRPr>
          </a:p>
        </p:txBody>
      </p:sp>
    </p:spTree>
    <p:extLst>
      <p:ext uri="{BB962C8B-B14F-4D97-AF65-F5344CB8AC3E}">
        <p14:creationId xmlns:p14="http://schemas.microsoft.com/office/powerpoint/2010/main" val="1179052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EFB242D5-9A75-6E58-55C2-F07F7D51EF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631F00-246A-219F-9791-832746D2F748}"/>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B065122D-4992-AD31-A49E-82766351C956}"/>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AD068D5-2971-BC26-715E-4381B9A63513}"/>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B9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F9B8C954-E679-282C-BC1D-9D247DC32D21}"/>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Benchmark</a:t>
            </a:r>
          </a:p>
        </p:txBody>
      </p:sp>
      <p:sp>
        <p:nvSpPr>
          <p:cNvPr id="5" name="TextBox 4">
            <a:extLst>
              <a:ext uri="{FF2B5EF4-FFF2-40B4-BE49-F238E27FC236}">
                <a16:creationId xmlns:a16="http://schemas.microsoft.com/office/drawing/2014/main" id="{E2C5A523-85A1-B864-50B4-C6ED3CACCFE9}"/>
              </a:ext>
            </a:extLst>
          </p:cNvPr>
          <p:cNvSpPr txBox="1"/>
          <p:nvPr/>
        </p:nvSpPr>
        <p:spPr>
          <a:xfrm>
            <a:off x="756001" y="1372925"/>
            <a:ext cx="10832397" cy="830997"/>
          </a:xfrm>
          <a:prstGeom prst="rect">
            <a:avLst/>
          </a:prstGeom>
          <a:noFill/>
        </p:spPr>
        <p:txBody>
          <a:bodyPr wrap="square" rtlCol="0">
            <a:spAutoFit/>
          </a:bodyPr>
          <a:lstStyle/>
          <a:p>
            <a:r>
              <a:rPr lang="en-GB" sz="1600" dirty="0">
                <a:solidFill>
                  <a:srgbClr val="495A66"/>
                </a:solidFill>
              </a:rPr>
              <a:t>All three controllers run on the same simulated plant, same references, same noise model. Performance is measured on the held-out test set, 7 references never seen during training, to avoid any information leak between the RL training and the evaluation.</a:t>
            </a:r>
            <a:endParaRPr lang="en-US" sz="1600" dirty="0">
              <a:solidFill>
                <a:srgbClr val="495A66"/>
              </a:solidFill>
            </a:endParaRPr>
          </a:p>
        </p:txBody>
      </p:sp>
      <p:graphicFrame>
        <p:nvGraphicFramePr>
          <p:cNvPr id="15" name="Table 14">
            <a:extLst>
              <a:ext uri="{FF2B5EF4-FFF2-40B4-BE49-F238E27FC236}">
                <a16:creationId xmlns:a16="http://schemas.microsoft.com/office/drawing/2014/main" id="{D2022E52-B73A-EAB9-7422-9621BA187BAB}"/>
              </a:ext>
            </a:extLst>
          </p:cNvPr>
          <p:cNvGraphicFramePr>
            <a:graphicFrameLocks noGrp="1"/>
          </p:cNvGraphicFramePr>
          <p:nvPr>
            <p:extLst>
              <p:ext uri="{D42A27DB-BD31-4B8C-83A1-F6EECF244321}">
                <p14:modId xmlns:p14="http://schemas.microsoft.com/office/powerpoint/2010/main" val="3973097758"/>
              </p:ext>
            </p:extLst>
          </p:nvPr>
        </p:nvGraphicFramePr>
        <p:xfrm>
          <a:off x="2064000" y="2421865"/>
          <a:ext cx="8064000" cy="1728000"/>
        </p:xfrm>
        <a:graphic>
          <a:graphicData uri="http://schemas.openxmlformats.org/drawingml/2006/table">
            <a:tbl>
              <a:tblPr>
                <a:tableStyleId>{5C22544A-7EE6-4342-B048-85BDC9FD1C3A}</a:tableStyleId>
              </a:tblPr>
              <a:tblGrid>
                <a:gridCol w="1612800">
                  <a:extLst>
                    <a:ext uri="{9D8B030D-6E8A-4147-A177-3AD203B41FA5}">
                      <a16:colId xmlns:a16="http://schemas.microsoft.com/office/drawing/2014/main" val="20000"/>
                    </a:ext>
                  </a:extLst>
                </a:gridCol>
                <a:gridCol w="1612800">
                  <a:extLst>
                    <a:ext uri="{9D8B030D-6E8A-4147-A177-3AD203B41FA5}">
                      <a16:colId xmlns:a16="http://schemas.microsoft.com/office/drawing/2014/main" val="2457836061"/>
                    </a:ext>
                  </a:extLst>
                </a:gridCol>
                <a:gridCol w="1612800">
                  <a:extLst>
                    <a:ext uri="{9D8B030D-6E8A-4147-A177-3AD203B41FA5}">
                      <a16:colId xmlns:a16="http://schemas.microsoft.com/office/drawing/2014/main" val="3123090793"/>
                    </a:ext>
                  </a:extLst>
                </a:gridCol>
                <a:gridCol w="1612800">
                  <a:extLst>
                    <a:ext uri="{9D8B030D-6E8A-4147-A177-3AD203B41FA5}">
                      <a16:colId xmlns:a16="http://schemas.microsoft.com/office/drawing/2014/main" val="1251604277"/>
                    </a:ext>
                  </a:extLst>
                </a:gridCol>
                <a:gridCol w="16128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Controller</a:t>
                      </a:r>
                    </a:p>
                  </a:txBody>
                  <a:tcPr marL="73152" marT="27432" marB="27432" anchor="ctr">
                    <a:solidFill>
                      <a:srgbClr val="FBFAF6"/>
                    </a:solidFill>
                  </a:tcPr>
                </a:tc>
                <a:tc>
                  <a:txBody>
                    <a:bodyPr/>
                    <a:lstStyle/>
                    <a:p>
                      <a:r>
                        <a:rPr lang="en-US" sz="1200" b="1" noProof="1">
                          <a:solidFill>
                            <a:srgbClr val="1D3557"/>
                          </a:solidFill>
                          <a:latin typeface="+mn-lt"/>
                        </a:rPr>
                        <a:t>MAE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32000">
                <a:tc>
                  <a:txBody>
                    <a:bodyPr/>
                    <a:lstStyle/>
                    <a:p>
                      <a:r>
                        <a:rPr lang="en-US" sz="1200" b="0" noProof="1">
                          <a:solidFill>
                            <a:srgbClr val="1D3557"/>
                          </a:solidFill>
                          <a:latin typeface="+mn-lt"/>
                        </a:rPr>
                        <a:t>PI (Baseline)</a:t>
                      </a:r>
                    </a:p>
                  </a:txBody>
                  <a:tcPr marL="73152" marT="27432" marB="27432" anchor="ctr">
                    <a:solidFill>
                      <a:srgbClr val="FBFAF6"/>
                    </a:solidFill>
                  </a:tcPr>
                </a:tc>
                <a:tc>
                  <a:txBody>
                    <a:bodyPr/>
                    <a:lstStyle/>
                    <a:p>
                      <a:r>
                        <a:rPr lang="en-US" sz="1200" b="0" noProof="1">
                          <a:solidFill>
                            <a:srgbClr val="1D3557"/>
                          </a:solidFill>
                          <a:latin typeface="+mn-lt"/>
                        </a:rPr>
                        <a:t>0.281</a:t>
                      </a:r>
                    </a:p>
                  </a:txBody>
                  <a:tcPr marL="73152" marT="27432" marB="27432" anchor="ctr">
                    <a:solidFill>
                      <a:srgbClr val="FBFAF6"/>
                    </a:solidFill>
                  </a:tcPr>
                </a:tc>
                <a:tc>
                  <a:txBody>
                    <a:bodyPr/>
                    <a:lstStyle/>
                    <a:p>
                      <a:pPr algn="l"/>
                      <a:r>
                        <a:rPr lang="en-US" sz="1200" b="0" noProof="1">
                          <a:solidFill>
                            <a:srgbClr val="495A66"/>
                          </a:solidFill>
                          <a:latin typeface="+mn-lt"/>
                        </a:rPr>
                        <a:t>0.411</a:t>
                      </a:r>
                    </a:p>
                  </a:txBody>
                  <a:tcPr marL="73152" marT="27432" marB="27432" anchor="ctr">
                    <a:solidFill>
                      <a:srgbClr val="FBFAF6"/>
                    </a:solidFill>
                  </a:tcPr>
                </a:tc>
                <a:tc>
                  <a:txBody>
                    <a:bodyPr/>
                    <a:lstStyle/>
                    <a:p>
                      <a:r>
                        <a:rPr lang="en-US" sz="1200" b="0" noProof="1">
                          <a:solidFill>
                            <a:srgbClr val="495A66"/>
                          </a:solidFill>
                          <a:latin typeface="+mn-lt"/>
                        </a:rPr>
                        <a:t>0.988</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85.2%</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32000">
                <a:tc>
                  <a:txBody>
                    <a:bodyPr/>
                    <a:lstStyle/>
                    <a:p>
                      <a:r>
                        <a:rPr lang="en-US" sz="1200" b="0" i="0" noProof="1">
                          <a:solidFill>
                            <a:srgbClr val="1D3557"/>
                          </a:solidFill>
                          <a:latin typeface="+mn-lt"/>
                        </a:rPr>
                        <a:t>PI + poly + grav</a:t>
                      </a:r>
                    </a:p>
                  </a:txBody>
                  <a:tcPr marL="73152" marT="27432" marB="27432" anchor="ctr">
                    <a:solidFill>
                      <a:srgbClr val="FBFAF6"/>
                    </a:solidFill>
                  </a:tcPr>
                </a:tc>
                <a:tc>
                  <a:txBody>
                    <a:bodyPr/>
                    <a:lstStyle/>
                    <a:p>
                      <a:r>
                        <a:rPr lang="en-US" sz="1200" b="0" i="0" noProof="1">
                          <a:solidFill>
                            <a:srgbClr val="1D3557"/>
                          </a:solidFill>
                          <a:latin typeface="+mn-lt"/>
                        </a:rPr>
                        <a:t>0.020</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95A66"/>
                          </a:solidFill>
                          <a:latin typeface="+mn-lt"/>
                        </a:rPr>
                        <a:t>0.203</a:t>
                      </a:r>
                    </a:p>
                  </a:txBody>
                  <a:tcPr marL="73152" marT="27432" marB="27432" anchor="ctr">
                    <a:solidFill>
                      <a:srgbClr val="FBFAF6"/>
                    </a:solidFill>
                  </a:tcPr>
                </a:tc>
                <a:tc>
                  <a:txBody>
                    <a:bodyPr/>
                    <a:lstStyle/>
                    <a:p>
                      <a:r>
                        <a:rPr lang="en-US" sz="1200" b="0" noProof="1">
                          <a:solidFill>
                            <a:srgbClr val="495A66"/>
                          </a:solidFill>
                          <a:latin typeface="+mn-lt"/>
                        </a:rPr>
                        <a:t>0.997</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320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RL residual</a:t>
                      </a:r>
                    </a:p>
                    <a:p>
                      <a:endParaRPr lang="en-US" sz="1200" b="0" i="0" noProof="1">
                        <a:solidFill>
                          <a:srgbClr val="1D3557"/>
                        </a:solidFill>
                        <a:latin typeface="+mn-lt"/>
                      </a:endParaRPr>
                    </a:p>
                  </a:txBody>
                  <a:tcPr marL="73152" marT="27432" marB="27432" anchor="ctr">
                    <a:solidFill>
                      <a:srgbClr val="FBFAF6"/>
                    </a:solidFill>
                  </a:tcPr>
                </a:tc>
                <a:tc>
                  <a:txBody>
                    <a:bodyPr/>
                    <a:lstStyle/>
                    <a:p>
                      <a:r>
                        <a:rPr lang="en-US" sz="1200" b="0" i="0" noProof="1">
                          <a:solidFill>
                            <a:srgbClr val="1D3557"/>
                          </a:solidFill>
                          <a:latin typeface="+mn-lt"/>
                        </a:rPr>
                        <a:t>0.078</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95A66"/>
                          </a:solidFill>
                          <a:latin typeface="+mn-lt"/>
                        </a:rPr>
                        <a:t>0.240</a:t>
                      </a:r>
                    </a:p>
                  </a:txBody>
                  <a:tcPr marL="73152" marT="27432" marB="27432" anchor="ctr">
                    <a:solidFill>
                      <a:srgbClr val="FBFAF6"/>
                    </a:solidFill>
                  </a:tcPr>
                </a:tc>
                <a:tc>
                  <a:txBody>
                    <a:bodyPr/>
                    <a:lstStyle/>
                    <a:p>
                      <a:r>
                        <a:rPr lang="en-US" sz="1200" b="0" noProof="1">
                          <a:solidFill>
                            <a:srgbClr val="495A66"/>
                          </a:solidFill>
                          <a:latin typeface="+mn-lt"/>
                        </a:rPr>
                        <a:t>0.997</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p:sp>
        <p:nvSpPr>
          <p:cNvPr id="9" name="TextBox 8">
            <a:extLst>
              <a:ext uri="{FF2B5EF4-FFF2-40B4-BE49-F238E27FC236}">
                <a16:creationId xmlns:a16="http://schemas.microsoft.com/office/drawing/2014/main" id="{6C3C9868-1E28-728E-AC25-0D8D4080F776}"/>
              </a:ext>
            </a:extLst>
          </p:cNvPr>
          <p:cNvSpPr txBox="1"/>
          <p:nvPr/>
        </p:nvSpPr>
        <p:spPr>
          <a:xfrm>
            <a:off x="868680" y="4657959"/>
            <a:ext cx="10222992" cy="1475789"/>
          </a:xfrm>
          <a:prstGeom prst="rect">
            <a:avLst/>
          </a:prstGeom>
          <a:noFill/>
        </p:spPr>
        <p:txBody>
          <a:bodyPr wrap="square" lIns="0" tIns="0" rIns="0" bIns="0" anchor="ctr">
            <a:spAutoFit/>
          </a:bodyPr>
          <a:lstStyle/>
          <a:p>
            <a:r>
              <a:rPr lang="en-GB" sz="1600" dirty="0">
                <a:solidFill>
                  <a:srgbClr val="495A66"/>
                </a:solidFill>
              </a:rPr>
              <a:t>RL residual reduces the pure PI tracking error by 75% (RMSE 0.411 → 0.240) and closes most of the gap to the strong classical baseline (0.240 vs 0.203), without any knowledge of the motor parameters or the gravity model. The in-band percentage jumps from 85% to 99.8%, matching the feedforward controller exactly on that metric.</a:t>
            </a:r>
          </a:p>
          <a:p>
            <a:r>
              <a:rPr lang="en-GB" sz="1600" dirty="0">
                <a:solidFill>
                  <a:srgbClr val="495A66"/>
                </a:solidFill>
              </a:rPr>
              <a:t>The residual does not fully match PI + poly + grav on RMSE. This is expected: the classical controller uses the exact physical model; the policy approximates it from data alone. The remaining gap (0.018 rad/s) is the cost of being model-free.</a:t>
            </a:r>
          </a:p>
          <a:p>
            <a:pPr>
              <a:lnSpc>
                <a:spcPct val="112000"/>
              </a:lnSpc>
            </a:pPr>
            <a:endParaRPr lang="en-US" sz="1500" b="0" noProof="1">
              <a:solidFill>
                <a:srgbClr val="495A66"/>
              </a:solidFill>
              <a:latin typeface="Calibri"/>
            </a:endParaRPr>
          </a:p>
        </p:txBody>
      </p:sp>
    </p:spTree>
    <p:extLst>
      <p:ext uri="{BB962C8B-B14F-4D97-AF65-F5344CB8AC3E}">
        <p14:creationId xmlns:p14="http://schemas.microsoft.com/office/powerpoint/2010/main" val="3184594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844CB6EA-7400-E1A2-B112-D8A1D40159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45BF6E-C3B9-B4EC-6EDF-6FFF15DE97B4}"/>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DA63C865-9852-1A38-EE76-EA6F47EDA4E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89B44395-9B0A-5F7D-D929-7264E50F4C6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B10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51A69FF7-17E4-9694-5841-17ACDEB28076}"/>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Controller Comparison </a:t>
            </a:r>
          </a:p>
        </p:txBody>
      </p:sp>
      <p:sp>
        <p:nvSpPr>
          <p:cNvPr id="9" name="TextBox 8">
            <a:extLst>
              <a:ext uri="{FF2B5EF4-FFF2-40B4-BE49-F238E27FC236}">
                <a16:creationId xmlns:a16="http://schemas.microsoft.com/office/drawing/2014/main" id="{CF3CC242-9CC9-DD82-17A1-89A798008D70}"/>
              </a:ext>
            </a:extLst>
          </p:cNvPr>
          <p:cNvSpPr txBox="1"/>
          <p:nvPr/>
        </p:nvSpPr>
        <p:spPr>
          <a:xfrm>
            <a:off x="7882801" y="3044671"/>
            <a:ext cx="4047345" cy="1948290"/>
          </a:xfrm>
          <a:prstGeom prst="rect">
            <a:avLst/>
          </a:prstGeom>
          <a:noFill/>
        </p:spPr>
        <p:txBody>
          <a:bodyPr wrap="square" lIns="0" tIns="0" rIns="0" bIns="0" anchor="ctr">
            <a:spAutoFit/>
          </a:bodyPr>
          <a:lstStyle/>
          <a:p>
            <a:pPr>
              <a:lnSpc>
                <a:spcPct val="112000"/>
              </a:lnSpc>
            </a:pPr>
            <a:r>
              <a:rPr lang="en-GB" sz="1600" dirty="0">
                <a:solidFill>
                  <a:srgbClr val="495A66"/>
                </a:solidFill>
              </a:rPr>
              <a:t>Each panel shows the achieved speed (blue) against the reference (dashed red) for one controller and one reference profile. RL Residual follows the reference closely on the quintic trajectory, where the PI alone shows a persistent steady-state offset, the learned </a:t>
            </a:r>
            <a:r>
              <a:rPr lang="el-GR" sz="1600" dirty="0">
                <a:solidFill>
                  <a:srgbClr val="495A66"/>
                </a:solidFill>
              </a:rPr>
              <a:t>Δ</a:t>
            </a:r>
            <a:r>
              <a:rPr lang="en-GB" sz="1600" dirty="0">
                <a:solidFill>
                  <a:srgbClr val="495A66"/>
                </a:solidFill>
              </a:rPr>
              <a:t>V compensates what the integrator cannot correct fast enough</a:t>
            </a:r>
            <a:r>
              <a:rPr lang="en-GB" dirty="0"/>
              <a:t>.</a:t>
            </a:r>
            <a:endParaRPr lang="en-US" sz="1500" b="0" noProof="1">
              <a:solidFill>
                <a:srgbClr val="495A66"/>
              </a:solidFill>
              <a:latin typeface="Calibri"/>
            </a:endParaRPr>
          </a:p>
        </p:txBody>
      </p:sp>
      <p:pic>
        <p:nvPicPr>
          <p:cNvPr id="8" name="Picture 7">
            <a:extLst>
              <a:ext uri="{FF2B5EF4-FFF2-40B4-BE49-F238E27FC236}">
                <a16:creationId xmlns:a16="http://schemas.microsoft.com/office/drawing/2014/main" id="{8042DBA8-E192-2122-52A5-55F80E80B872}"/>
              </a:ext>
            </a:extLst>
          </p:cNvPr>
          <p:cNvPicPr>
            <a:picLocks noChangeAspect="1"/>
          </p:cNvPicPr>
          <p:nvPr/>
        </p:nvPicPr>
        <p:blipFill>
          <a:blip r:embed="rId3"/>
          <a:stretch>
            <a:fillRect/>
          </a:stretch>
        </p:blipFill>
        <p:spPr>
          <a:xfrm>
            <a:off x="868680" y="1495010"/>
            <a:ext cx="6730149" cy="5047612"/>
          </a:xfrm>
          <a:prstGeom prst="rect">
            <a:avLst/>
          </a:prstGeom>
        </p:spPr>
      </p:pic>
    </p:spTree>
    <p:extLst>
      <p:ext uri="{BB962C8B-B14F-4D97-AF65-F5344CB8AC3E}">
        <p14:creationId xmlns:p14="http://schemas.microsoft.com/office/powerpoint/2010/main" val="2394737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2CA31CA-23CC-760C-A5CC-A3E19F9A77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B8BC75-C582-B545-AE84-F06D66A4E104}"/>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F0CAF183-05B9-CA8C-6858-E543CCB47B9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D59325BD-8D16-DD0B-75D9-566C8077096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B11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6E4792B4-A221-A87C-63A7-980BDFCA75FE}"/>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Voltage Decomposition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F83517-970F-5E23-80AB-20BA43DBB05F}"/>
                  </a:ext>
                </a:extLst>
              </p:cNvPr>
              <p:cNvSpPr txBox="1"/>
              <p:nvPr/>
            </p:nvSpPr>
            <p:spPr>
              <a:xfrm>
                <a:off x="756001" y="1372925"/>
                <a:ext cx="10832397" cy="861774"/>
              </a:xfrm>
              <a:prstGeom prst="rect">
                <a:avLst/>
              </a:prstGeom>
              <a:noFill/>
            </p:spPr>
            <p:txBody>
              <a:bodyPr wrap="square" rtlCol="0">
                <a:spAutoFit/>
              </a:bodyPr>
              <a:lstStyle/>
              <a:p>
                <a:r>
                  <a:rPr lang="en-GB" sz="1600" dirty="0">
                    <a:solidFill>
                      <a:srgbClr val="495A66"/>
                    </a:solidFill>
                  </a:rPr>
                  <a:t>Total motor voltage for each controller. Bottom: the RL residual split into </a:t>
                </a:r>
                <a14:m>
                  <m:oMath xmlns:m="http://schemas.openxmlformats.org/officeDocument/2006/math">
                    <m:sSub>
                      <m:sSubPr>
                        <m:ctrlPr>
                          <a:rPr lang="en-GB" sz="160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𝑏𝑎𝑠𝑒</m:t>
                        </m:r>
                      </m:sub>
                    </m:sSub>
                  </m:oMath>
                </a14:m>
                <a:r>
                  <a:rPr lang="en-GB" sz="1600" dirty="0">
                    <a:solidFill>
                      <a:srgbClr val="495A66"/>
                    </a:solidFill>
                  </a:rPr>
                  <a:t> (PI baseline, blue) and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(learned correction, orange). During transients </a:t>
                </a:r>
                <a:r>
                  <a:rPr lang="el-GR" sz="1600" dirty="0">
                    <a:solidFill>
                      <a:srgbClr val="495A66"/>
                    </a:solidFill>
                  </a:rPr>
                  <a:t>Δ</a:t>
                </a:r>
                <a:r>
                  <a:rPr lang="en-GB" sz="1600" dirty="0">
                    <a:solidFill>
                      <a:srgbClr val="495A66"/>
                    </a:solidFill>
                  </a:rPr>
                  <a:t>V is the dominant term, so the policy has implicitly learned the feedforward and gravity compensation that the PI baseline cannot provide</a:t>
                </a:r>
                <a:r>
                  <a:rPr lang="en-GB" dirty="0"/>
                  <a:t>.</a:t>
                </a:r>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31F83517-970F-5E23-80AB-20BA43DBB05F}"/>
                  </a:ext>
                </a:extLst>
              </p:cNvPr>
              <p:cNvSpPr txBox="1">
                <a:spLocks noRot="1" noChangeAspect="1" noMove="1" noResize="1" noEditPoints="1" noAdjustHandles="1" noChangeArrowheads="1" noChangeShapeType="1" noTextEdit="1"/>
              </p:cNvSpPr>
              <p:nvPr/>
            </p:nvSpPr>
            <p:spPr>
              <a:xfrm>
                <a:off x="756001" y="1372925"/>
                <a:ext cx="10832397" cy="861774"/>
              </a:xfrm>
              <a:prstGeom prst="rect">
                <a:avLst/>
              </a:prstGeom>
              <a:blipFill>
                <a:blip r:embed="rId3"/>
                <a:stretch>
                  <a:fillRect l="-234" t="-2899" b="-869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E814B86B-754B-C3A1-2337-06AEF231051B}"/>
              </a:ext>
            </a:extLst>
          </p:cNvPr>
          <p:cNvPicPr>
            <a:picLocks noChangeAspect="1"/>
          </p:cNvPicPr>
          <p:nvPr/>
        </p:nvPicPr>
        <p:blipFill>
          <a:blip r:embed="rId4"/>
          <a:stretch>
            <a:fillRect/>
          </a:stretch>
        </p:blipFill>
        <p:spPr>
          <a:xfrm>
            <a:off x="3286245" y="2234699"/>
            <a:ext cx="5601161" cy="4356459"/>
          </a:xfrm>
          <a:prstGeom prst="rect">
            <a:avLst/>
          </a:prstGeom>
        </p:spPr>
      </p:pic>
    </p:spTree>
    <p:extLst>
      <p:ext uri="{BB962C8B-B14F-4D97-AF65-F5344CB8AC3E}">
        <p14:creationId xmlns:p14="http://schemas.microsoft.com/office/powerpoint/2010/main" val="2005800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2180</TotalTime>
  <Words>3475</Words>
  <Application>Microsoft Office PowerPoint</Application>
  <PresentationFormat>Widescreen</PresentationFormat>
  <Paragraphs>437</Paragraphs>
  <Slides>18</Slides>
  <Notes>6</Notes>
  <HiddenSlides>0</HiddenSlides>
  <MMClips>2</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8" baseType="lpstr">
      <vt:lpstr>Aptos</vt:lpstr>
      <vt:lpstr>Arial</vt:lpstr>
      <vt:lpstr>Calibri</vt:lpstr>
      <vt:lpstr>Cambria Math</vt:lpstr>
      <vt:lpstr>Consolas</vt:lpstr>
      <vt:lpstr>Georgia</vt:lpstr>
      <vt:lpstr>Helvetica Neue</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PAWEEKORN BUASAKORN</cp:lastModifiedBy>
  <cp:revision>106</cp:revision>
  <dcterms:created xsi:type="dcterms:W3CDTF">2013-01-27T09:14:16Z</dcterms:created>
  <dcterms:modified xsi:type="dcterms:W3CDTF">2026-06-29T05:04:53Z</dcterms:modified>
  <cp:category/>
</cp:coreProperties>
</file>